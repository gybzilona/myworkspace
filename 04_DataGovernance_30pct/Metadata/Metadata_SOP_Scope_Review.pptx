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2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600E9-E8B9-7683-213F-EC6ED4A24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54BA3-8CBD-8F82-1A9C-8186F7F9C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FA3C3-20A6-725B-BD5A-8E69898F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E112-BF30-8CD9-8EF5-AE73CC20E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88764-47D5-B0B9-5A41-74D5F77A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7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8D7D-FA46-DD3A-A3F4-96EF3FB4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276F2-A5CD-E9F5-3D7E-CE97E91C2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DC5E2-8B6B-F607-E119-9C5CD6D9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C2A4C-575F-3FD8-FA47-4A1C1ED8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62EDC-68A9-7CA6-6B29-2FAA9A1E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FA24-485E-2B42-B32A-3CAFFC36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329F6-03C2-B462-BE9E-1EAEEEFC8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67418-B449-FB22-AE98-E8410325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708B0-4D59-070B-2E00-20F75199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DBBB3-8B8A-DF3E-580C-B75785AE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5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8DC6-323A-BA98-F72C-E51F0FFB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9C71C-FB5D-42C5-FAC6-ACB46D067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8C9A2-4C12-A516-7F4B-4799B82B8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464D8-46B0-CDF1-805C-D5314D3A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3739F-F26D-980C-826A-30494F4E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BE06B-C794-D88F-CD46-AFA23325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3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F69B-5B44-9732-0AC3-44D9633B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671EA-8CFB-DD9D-226A-1286107B6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2BAD3-AE6A-1269-8BFB-440850FE2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43CD8-3908-3A9C-FC2D-F6B85990E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2F3D1-5769-3AA5-9C86-C5AA26CD0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A3EC9-646C-ABA6-B42E-C98FA2BD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A04F6-4690-DDA1-90A5-C19C5AD6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8920A-E4E6-EA96-7D52-1966566D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63F0-29BE-1B63-B55B-24AFF19D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4BB0-605D-5538-374E-9CE27C7E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59B28-03AF-CA87-4134-BC88C4B89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EA487-5440-99E4-8DF9-D7D40C5B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0B442-6509-404F-48F0-1176F06D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25B8A-C72A-1962-3B0A-3EC64CFD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44DE2-3531-B2C6-1D56-D0651A85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7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3B37C-F65D-6AEB-809A-C26B4474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BA32-AA5A-176A-B7C0-97762B286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D0A4-45C4-4481-FEC5-C32C9EDD4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604E7-0D0C-579A-7152-1988D5EF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4A61A-12AE-2F7C-EB78-497C71A5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86327-9BE1-41BA-74CC-5E2CCCEC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7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1B8D-0BB7-F97A-505D-86585F0C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DF1573-58D7-6945-F44C-ED39A3C62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0BD41-22F2-D988-4B36-E901DFB5A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BE831-F91A-42A5-3F31-224CC466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78911-4595-1878-6EE3-3E3FF8D9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DC401-58D7-4122-B653-EDD42862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6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3C3A-0319-899C-F9C7-9E30BF87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8D10E-A2F2-3223-2E6E-5DFD1995B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8EE7E-6C48-B6D6-9629-26620BA4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634EC-34B1-0098-D084-067D3E250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4413-06F3-E851-96D9-8239FAFC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0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D4B13-3D5B-90D2-31EE-78D8644B4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6F00D-F314-4EB4-0788-529235092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6A919-59D0-7E55-ABC7-7D44ABA8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B18A2-D395-F3C2-14AF-B0C8A1AA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0CA2C-0E25-9BCE-DFAD-D3DA2EB8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7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B7117-4B3C-2B17-1799-243F3955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DF668-6F81-6025-B056-6238A7A52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F30B6-253A-C76B-6137-C26229BD4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340B6-031F-4709-8375-BF3D01A2C294}" type="datetimeFigureOut">
              <a:rPr lang="en-US" smtClean="0"/>
              <a:t>13/05/2026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3C91C-A094-61A0-AA10-0B9C383CE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95D69-5244-6706-7165-441738994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4FABD-7B62-4665-A923-3F13A399E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A93511-7135-DEC7-BE9A-C730DD0A04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08C7D-9837-1C18-43E3-08FC25373667}"/>
              </a:ext>
            </a:extLst>
          </p:cNvPr>
          <p:cNvSpPr/>
          <p:nvPr/>
        </p:nvSpPr>
        <p:spPr>
          <a:xfrm>
            <a:off x="0" y="4826000"/>
            <a:ext cx="12192000" cy="127000"/>
          </a:xfrm>
          <a:prstGeom prst="rect">
            <a:avLst/>
          </a:prstGeom>
          <a:solidFill>
            <a:srgbClr val="115AC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D43D7-030E-9A59-0ED7-490270CC6069}"/>
              </a:ext>
            </a:extLst>
          </p:cNvPr>
          <p:cNvSpPr txBox="1"/>
          <p:nvPr/>
        </p:nvSpPr>
        <p:spPr>
          <a:xfrm>
            <a:off x="762000" y="1143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</a:rPr>
              <a:t>Metadata Management SOP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E91D8-923A-C7E1-BB20-0D7E4DD90521}"/>
              </a:ext>
            </a:extLst>
          </p:cNvPr>
          <p:cNvSpPr txBox="1"/>
          <p:nvPr/>
        </p:nvSpPr>
        <p:spPr>
          <a:xfrm>
            <a:off x="762000" y="2095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800">
                <a:solidFill>
                  <a:srgbClr val="EED7BD"/>
                </a:solidFill>
              </a:rPr>
              <a:t>Scope Review &amp; Proposed Changes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7A2DE-0C9D-5A44-83EA-5CAC96156F81}"/>
              </a:ext>
            </a:extLst>
          </p:cNvPr>
          <p:cNvSpPr txBox="1"/>
          <p:nvPr/>
        </p:nvSpPr>
        <p:spPr>
          <a:xfrm>
            <a:off x="762000" y="304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>
                <a:solidFill>
                  <a:srgbClr val="E6C39D"/>
                </a:solidFill>
              </a:rPr>
              <a:t>SPW-BDSI-SP-002  |  Governance Team Meeting  |  May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D9C6E-867B-3EBB-2C80-C89BC77AC26C}"/>
              </a:ext>
            </a:extLst>
          </p:cNvPr>
          <p:cNvSpPr txBox="1"/>
          <p:nvPr/>
        </p:nvSpPr>
        <p:spPr>
          <a:xfrm>
            <a:off x="762000" y="5334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>
                <a:solidFill>
                  <a:srgbClr val="E6C39D"/>
                </a:solidFill>
              </a:rPr>
              <a:t>BDSI · IT · XPO</a:t>
            </a:r>
          </a:p>
        </p:txBody>
      </p:sp>
    </p:spTree>
    <p:extLst>
      <p:ext uri="{BB962C8B-B14F-4D97-AF65-F5344CB8AC3E}">
        <p14:creationId xmlns:p14="http://schemas.microsoft.com/office/powerpoint/2010/main" val="342058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DB6F8F-AAF9-79AA-9A69-2BE344DBAAC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8C271-373D-57A0-028D-69228E4CCFAD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E09DB-4235-0A5C-C9D1-0D7B8C29DF24}"/>
              </a:ext>
            </a:extLst>
          </p:cNvPr>
          <p:cNvSpPr txBox="1"/>
          <p:nvPr/>
        </p:nvSpPr>
        <p:spPr>
          <a:xfrm>
            <a:off x="762000" y="1397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64381F"/>
                </a:solidFill>
              </a:rPr>
              <a:t>1.  Background &amp; Why We Are Reviewing the SOP
2.  Current Scope vs. Practical First-Phase Needs
3.  10 Proposed Change Points
4.  What We Keep (Necessary Scope)
5.  Priority Tables for Chat-to-Data
6.  Benefits of the Revised Approach
7.  Next Steps &amp; Q&amp;A</a:t>
            </a:r>
          </a:p>
        </p:txBody>
      </p:sp>
    </p:spTree>
    <p:extLst>
      <p:ext uri="{BB962C8B-B14F-4D97-AF65-F5344CB8AC3E}">
        <p14:creationId xmlns:p14="http://schemas.microsoft.com/office/powerpoint/2010/main" val="3012398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65441E-56A4-0ACF-9FA2-63E967C9C93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ED25E-C5FE-FC6C-92CD-0FD6E5E5086B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Background &amp;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5C4A63-0935-3135-EE0D-F4952CD754D3}"/>
              </a:ext>
            </a:extLst>
          </p:cNvPr>
          <p:cNvSpPr/>
          <p:nvPr/>
        </p:nvSpPr>
        <p:spPr>
          <a:xfrm>
            <a:off x="508000" y="1270000"/>
            <a:ext cx="5334000" cy="48260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62959-6A82-F870-6BE2-1C46037F7727}"/>
              </a:ext>
            </a:extLst>
          </p:cNvPr>
          <p:cNvSpPr txBox="1"/>
          <p:nvPr/>
        </p:nvSpPr>
        <p:spPr>
          <a:xfrm>
            <a:off x="635000" y="1460500"/>
            <a:ext cx="508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64381F"/>
                </a:solidFill>
              </a:rPr>
              <a:t>Current SOP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5DE8A-8B86-2221-CFFA-45F32A92ABA7}"/>
              </a:ext>
            </a:extLst>
          </p:cNvPr>
          <p:cNvSpPr txBox="1"/>
          <p:nvPr/>
        </p:nvSpPr>
        <p:spPr>
          <a:xfrm>
            <a:off x="698500" y="1905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381F"/>
                </a:solidFill>
              </a:rPr>
              <a:t>• Full enterprise metadata governance
• Covers ALL Siam Piwat data assets
• Business, technical &amp; operational metadata
• Formal approval workflow + segregation of duties
• DGC escalation for all cross-domain issues
• Complete audit evidence &amp; immutable logs
• Full PRC table &amp; RACI matrix
• Retirement &amp; archiving policy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E72606-FFED-E774-1508-38CFA3896F9F}"/>
              </a:ext>
            </a:extLst>
          </p:cNvPr>
          <p:cNvSpPr/>
          <p:nvPr/>
        </p:nvSpPr>
        <p:spPr>
          <a:xfrm>
            <a:off x="6350000" y="1270000"/>
            <a:ext cx="5334000" cy="4826000"/>
          </a:xfrm>
          <a:prstGeom prst="rect">
            <a:avLst/>
          </a:prstGeom>
          <a:solidFill>
            <a:srgbClr val="CC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46FCD4-F56F-9B84-43D5-9FEA31E1E848}"/>
              </a:ext>
            </a:extLst>
          </p:cNvPr>
          <p:cNvSpPr txBox="1"/>
          <p:nvPr/>
        </p:nvSpPr>
        <p:spPr>
          <a:xfrm>
            <a:off x="6477000" y="1460500"/>
            <a:ext cx="508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115AC5"/>
                </a:solidFill>
              </a:rPr>
              <a:t>Immediate Need (Phase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5254B-A01B-394D-59CD-36D9A7916263}"/>
              </a:ext>
            </a:extLst>
          </p:cNvPr>
          <p:cNvSpPr txBox="1"/>
          <p:nvPr/>
        </p:nvSpPr>
        <p:spPr>
          <a:xfrm>
            <a:off x="6477000" y="1905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381F"/>
                </a:solidFill>
              </a:rPr>
              <a:t>• AI chat-to-data assistant for business users
• Focus: mart_viz_self_service and 4 related tables
• Bot must understand tables well enough to query &amp; explain data
• Limited timeline – must be practical
• Not yet building full catalog platform
• Governance rigor must be proportionate to phase</a:t>
            </a:r>
          </a:p>
        </p:txBody>
      </p:sp>
    </p:spTree>
    <p:extLst>
      <p:ext uri="{BB962C8B-B14F-4D97-AF65-F5344CB8AC3E}">
        <p14:creationId xmlns:p14="http://schemas.microsoft.com/office/powerpoint/2010/main" val="421076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3C8AF1-902B-B513-CD50-1DFAFE475CC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3C715-8B0B-52A0-1173-2467B0188D65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Why Scope Reduction Is Necessary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835667-4BF2-DCAD-E7A7-60EC0B4263D1}"/>
              </a:ext>
            </a:extLst>
          </p:cNvPr>
          <p:cNvSpPr/>
          <p:nvPr/>
        </p:nvSpPr>
        <p:spPr>
          <a:xfrm>
            <a:off x="508000" y="1270000"/>
            <a:ext cx="11176000" cy="11430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085FE-4420-55DC-46B0-340352CA4C28}"/>
              </a:ext>
            </a:extLst>
          </p:cNvPr>
          <p:cNvSpPr txBox="1"/>
          <p:nvPr/>
        </p:nvSpPr>
        <p:spPr>
          <a:xfrm>
            <a:off x="698500" y="137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64381F"/>
                </a:solidFill>
              </a:rPr>
              <a:t>Limited Timeline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80680-9BE9-E1D9-DCB0-F4C709D33721}"/>
              </a:ext>
            </a:extLst>
          </p:cNvPr>
          <p:cNvSpPr txBox="1"/>
          <p:nvPr/>
        </p:nvSpPr>
        <p:spPr>
          <a:xfrm>
            <a:off x="3365500" y="1371600"/>
            <a:ext cx="819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381F"/>
                </a:solidFill>
              </a:rPr>
              <a:t>Delivering full enterprise governance in phase 1 is not achievable within the available timeline. A scoped version enables faster, reliable delivery.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6EC8A-074D-74A0-3E98-56B30551E7FC}"/>
              </a:ext>
            </a:extLst>
          </p:cNvPr>
          <p:cNvSpPr/>
          <p:nvPr/>
        </p:nvSpPr>
        <p:spPr>
          <a:xfrm>
            <a:off x="508000" y="2540000"/>
            <a:ext cx="11176000" cy="11430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12F88-2BB8-E3C2-9EA2-078B672929FD}"/>
              </a:ext>
            </a:extLst>
          </p:cNvPr>
          <p:cNvSpPr txBox="1"/>
          <p:nvPr/>
        </p:nvSpPr>
        <p:spPr>
          <a:xfrm>
            <a:off x="698500" y="264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64381F"/>
                </a:solidFill>
              </a:rPr>
              <a:t>Right-Sized Governance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92A09-D244-5CEA-F66C-32AEBF0135E2}"/>
              </a:ext>
            </a:extLst>
          </p:cNvPr>
          <p:cNvSpPr txBox="1"/>
          <p:nvPr/>
        </p:nvSpPr>
        <p:spPr>
          <a:xfrm>
            <a:off x="3365500" y="2641600"/>
            <a:ext cx="819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381F"/>
                </a:solidFill>
              </a:rPr>
              <a:t>Governance rigor should match the risk and complexity of each phase. Chat-to-data needs metadata for query accuracy, not full enterprise controls.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988CF-7C8E-C2E7-9D63-CA547962BE25}"/>
              </a:ext>
            </a:extLst>
          </p:cNvPr>
          <p:cNvSpPr/>
          <p:nvPr/>
        </p:nvSpPr>
        <p:spPr>
          <a:xfrm>
            <a:off x="508000" y="3810000"/>
            <a:ext cx="11176000" cy="11430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8FB84-0EA0-DB08-4078-28D63F1B8542}"/>
              </a:ext>
            </a:extLst>
          </p:cNvPr>
          <p:cNvSpPr txBox="1"/>
          <p:nvPr/>
        </p:nvSpPr>
        <p:spPr>
          <a:xfrm>
            <a:off x="698500" y="391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64381F"/>
                </a:solidFill>
              </a:rPr>
              <a:t>Practical First 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E4663-F614-60A2-98E4-171B2FBF9F17}"/>
              </a:ext>
            </a:extLst>
          </p:cNvPr>
          <p:cNvSpPr txBox="1"/>
          <p:nvPr/>
        </p:nvSpPr>
        <p:spPr>
          <a:xfrm>
            <a:off x="3365500" y="3911600"/>
            <a:ext cx="819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381F"/>
                </a:solidFill>
              </a:rPr>
              <a:t>Starting with 5 priority tables lets the team validate the approach, collect real feedback, and expand iteratively without over-engineering.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4FC4BC-5EBE-152A-6391-D2EB268F42D5}"/>
              </a:ext>
            </a:extLst>
          </p:cNvPr>
          <p:cNvSpPr/>
          <p:nvPr/>
        </p:nvSpPr>
        <p:spPr>
          <a:xfrm>
            <a:off x="508000" y="5080000"/>
            <a:ext cx="11176000" cy="11430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24E964-D862-0C20-A36B-16E76357FC25}"/>
              </a:ext>
            </a:extLst>
          </p:cNvPr>
          <p:cNvSpPr txBox="1"/>
          <p:nvPr/>
        </p:nvSpPr>
        <p:spPr>
          <a:xfrm>
            <a:off x="698500" y="518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64381F"/>
                </a:solidFill>
              </a:rPr>
              <a:t>Avoid Blocking Progress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472D82-3655-5FE8-9117-ECF1B4DB02E3}"/>
              </a:ext>
            </a:extLst>
          </p:cNvPr>
          <p:cNvSpPr txBox="1"/>
          <p:nvPr/>
        </p:nvSpPr>
        <p:spPr>
          <a:xfrm>
            <a:off x="3365500" y="5181600"/>
            <a:ext cx="819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381F"/>
                </a:solidFill>
              </a:rPr>
              <a:t>Requiring formal approval workflows, full RACI, and audit trails before the platform is built would block the project unnecessarily.</a:t>
            </a:r>
          </a:p>
        </p:txBody>
      </p:sp>
    </p:spTree>
    <p:extLst>
      <p:ext uri="{BB962C8B-B14F-4D97-AF65-F5344CB8AC3E}">
        <p14:creationId xmlns:p14="http://schemas.microsoft.com/office/powerpoint/2010/main" val="286454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F00B2C-73A4-6F89-1FBF-8AFD4A8BBD5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26A22-C3E6-A0E2-451B-0E7E4D666D94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10 Proposed Change Points –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FE471C-81D6-E836-ADC6-A1577FCBA2EF}"/>
              </a:ext>
            </a:extLst>
          </p:cNvPr>
          <p:cNvSpPr/>
          <p:nvPr/>
        </p:nvSpPr>
        <p:spPr>
          <a:xfrm>
            <a:off x="381000" y="12065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1FE57-1FC2-A5BE-1DAE-41AEF380172A}"/>
              </a:ext>
            </a:extLst>
          </p:cNvPr>
          <p:cNvSpPr txBox="1"/>
          <p:nvPr/>
        </p:nvSpPr>
        <p:spPr>
          <a:xfrm>
            <a:off x="444500" y="12700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CE533-4BCC-77C8-FF33-AF227C796091}"/>
              </a:ext>
            </a:extLst>
          </p:cNvPr>
          <p:cNvSpPr txBox="1"/>
          <p:nvPr/>
        </p:nvSpPr>
        <p:spPr>
          <a:xfrm>
            <a:off x="990600" y="12446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CC53-F397-7594-FD22-8A6801645F5E}"/>
              </a:ext>
            </a:extLst>
          </p:cNvPr>
          <p:cNvSpPr txBox="1"/>
          <p:nvPr/>
        </p:nvSpPr>
        <p:spPr>
          <a:xfrm>
            <a:off x="990600" y="14859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ALL assets → 5 priority tables for chat-to-data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326EC7-D7DE-E369-1CC5-E6EDE53365DF}"/>
              </a:ext>
            </a:extLst>
          </p:cNvPr>
          <p:cNvSpPr/>
          <p:nvPr/>
        </p:nvSpPr>
        <p:spPr>
          <a:xfrm>
            <a:off x="6286500" y="12065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05D02-7C8E-DD42-2C59-0963E6DA5559}"/>
              </a:ext>
            </a:extLst>
          </p:cNvPr>
          <p:cNvSpPr txBox="1"/>
          <p:nvPr/>
        </p:nvSpPr>
        <p:spPr>
          <a:xfrm>
            <a:off x="6350000" y="12700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C87EE7-1A38-6B3C-EEFC-2860F81B22AB}"/>
              </a:ext>
            </a:extLst>
          </p:cNvPr>
          <p:cNvSpPr txBox="1"/>
          <p:nvPr/>
        </p:nvSpPr>
        <p:spPr>
          <a:xfrm>
            <a:off x="6896100" y="12446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Formal Approval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49F48-65B3-D910-2B3A-AB8FE83862AC}"/>
              </a:ext>
            </a:extLst>
          </p:cNvPr>
          <p:cNvSpPr txBox="1"/>
          <p:nvPr/>
        </p:nvSpPr>
        <p:spPr>
          <a:xfrm>
            <a:off x="6896100" y="14859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SOD enforcement → simplified owner/status/reviewer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2DD83D-193B-3D4F-770E-5E89305F0A6A}"/>
              </a:ext>
            </a:extLst>
          </p:cNvPr>
          <p:cNvSpPr/>
          <p:nvPr/>
        </p:nvSpPr>
        <p:spPr>
          <a:xfrm>
            <a:off x="381000" y="18161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C0B720-ABA3-2D9D-62AE-870730832ADB}"/>
              </a:ext>
            </a:extLst>
          </p:cNvPr>
          <p:cNvSpPr txBox="1"/>
          <p:nvPr/>
        </p:nvSpPr>
        <p:spPr>
          <a:xfrm>
            <a:off x="444500" y="18796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C0759C-1FC7-3BBB-15D2-43192B4BF1C3}"/>
              </a:ext>
            </a:extLst>
          </p:cNvPr>
          <p:cNvSpPr txBox="1"/>
          <p:nvPr/>
        </p:nvSpPr>
        <p:spPr>
          <a:xfrm>
            <a:off x="990600" y="18542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DGC Escalation Steps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C2E1D7-3D1E-7B1D-CE3F-DC1A170F3C6F}"/>
              </a:ext>
            </a:extLst>
          </p:cNvPr>
          <p:cNvSpPr txBox="1"/>
          <p:nvPr/>
        </p:nvSpPr>
        <p:spPr>
          <a:xfrm>
            <a:off x="990600" y="20955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workflow steps → keep sensitivity flags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86692F-EBC0-D75E-B904-A6CCCBF3CB63}"/>
              </a:ext>
            </a:extLst>
          </p:cNvPr>
          <p:cNvSpPr/>
          <p:nvPr/>
        </p:nvSpPr>
        <p:spPr>
          <a:xfrm>
            <a:off x="6286500" y="18161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90D972-6162-6A3D-16FF-FEC34F8A8FBD}"/>
              </a:ext>
            </a:extLst>
          </p:cNvPr>
          <p:cNvSpPr txBox="1"/>
          <p:nvPr/>
        </p:nvSpPr>
        <p:spPr>
          <a:xfrm>
            <a:off x="6350000" y="18796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C9E1A5-BA93-B705-BFDF-FD705E604294}"/>
              </a:ext>
            </a:extLst>
          </p:cNvPr>
          <p:cNvSpPr txBox="1"/>
          <p:nvPr/>
        </p:nvSpPr>
        <p:spPr>
          <a:xfrm>
            <a:off x="6896100" y="18542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Full Audit Evidence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CCE235-DD27-C766-AF5B-2A23F5693B3B}"/>
              </a:ext>
            </a:extLst>
          </p:cNvPr>
          <p:cNvSpPr txBox="1"/>
          <p:nvPr/>
        </p:nvSpPr>
        <p:spPr>
          <a:xfrm>
            <a:off x="6896100" y="20955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immutable logs → keep last_updated, change_summary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281688-5696-B5DA-255C-CD0D5F3EF8E8}"/>
              </a:ext>
            </a:extLst>
          </p:cNvPr>
          <p:cNvSpPr/>
          <p:nvPr/>
        </p:nvSpPr>
        <p:spPr>
          <a:xfrm>
            <a:off x="381000" y="24257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23F136-8B62-AFC0-9EF4-5798FF2824F5}"/>
              </a:ext>
            </a:extLst>
          </p:cNvPr>
          <p:cNvSpPr txBox="1"/>
          <p:nvPr/>
        </p:nvSpPr>
        <p:spPr>
          <a:xfrm>
            <a:off x="444500" y="24892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87EFEF-5F26-E0DA-3CE2-B2A8EAF75268}"/>
              </a:ext>
            </a:extLst>
          </p:cNvPr>
          <p:cNvSpPr txBox="1"/>
          <p:nvPr/>
        </p:nvSpPr>
        <p:spPr>
          <a:xfrm>
            <a:off x="990600" y="24638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Retirement &amp; Archiving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09DF38-A6D3-76C5-CF69-16A59EDC423F}"/>
              </a:ext>
            </a:extLst>
          </p:cNvPr>
          <p:cNvSpPr txBox="1"/>
          <p:nvPr/>
        </p:nvSpPr>
        <p:spPr>
          <a:xfrm>
            <a:off x="990600" y="27051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full policy → keep active/deprecated status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C52581-B8D7-E8D2-4B79-4F216A9B43F7}"/>
              </a:ext>
            </a:extLst>
          </p:cNvPr>
          <p:cNvSpPr/>
          <p:nvPr/>
        </p:nvSpPr>
        <p:spPr>
          <a:xfrm>
            <a:off x="6286500" y="24257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22BF83-A9B8-2DA1-7776-418ED1BEDEA7}"/>
              </a:ext>
            </a:extLst>
          </p:cNvPr>
          <p:cNvSpPr txBox="1"/>
          <p:nvPr/>
        </p:nvSpPr>
        <p:spPr>
          <a:xfrm>
            <a:off x="6350000" y="24892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149E4D-A02A-4C29-40B1-7ACE9EBBC78C}"/>
              </a:ext>
            </a:extLst>
          </p:cNvPr>
          <p:cNvSpPr txBox="1"/>
          <p:nvPr/>
        </p:nvSpPr>
        <p:spPr>
          <a:xfrm>
            <a:off x="6896100" y="24638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Issue SLA Tracking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D8B1A1-C5DD-364A-22C4-BB1798C22436}"/>
              </a:ext>
            </a:extLst>
          </p:cNvPr>
          <p:cNvSpPr txBox="1"/>
          <p:nvPr/>
        </p:nvSpPr>
        <p:spPr>
          <a:xfrm>
            <a:off x="6896100" y="27051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SLA workflow → keep simple caveats section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CF2946-EBA0-FDBE-3FCC-89BF1DAE530A}"/>
              </a:ext>
            </a:extLst>
          </p:cNvPr>
          <p:cNvSpPr/>
          <p:nvPr/>
        </p:nvSpPr>
        <p:spPr>
          <a:xfrm>
            <a:off x="381000" y="30353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C3AC38-569B-2647-5049-7856D0821764}"/>
              </a:ext>
            </a:extLst>
          </p:cNvPr>
          <p:cNvSpPr txBox="1"/>
          <p:nvPr/>
        </p:nvSpPr>
        <p:spPr>
          <a:xfrm>
            <a:off x="444500" y="30988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D435DE-E977-5548-77B1-7A37164DCDA3}"/>
              </a:ext>
            </a:extLst>
          </p:cNvPr>
          <p:cNvSpPr txBox="1"/>
          <p:nvPr/>
        </p:nvSpPr>
        <p:spPr>
          <a:xfrm>
            <a:off x="990600" y="30734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Full PRC Table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3CDD03-D45A-B884-CD3A-8D39E2BF2463}"/>
              </a:ext>
            </a:extLst>
          </p:cNvPr>
          <p:cNvSpPr txBox="1"/>
          <p:nvPr/>
        </p:nvSpPr>
        <p:spPr>
          <a:xfrm>
            <a:off x="990600" y="33147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9-item enterprise PRC → keep 5 practical query risks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17C7BD-770C-C311-2990-733152747881}"/>
              </a:ext>
            </a:extLst>
          </p:cNvPr>
          <p:cNvSpPr/>
          <p:nvPr/>
        </p:nvSpPr>
        <p:spPr>
          <a:xfrm>
            <a:off x="6286500" y="30353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723327-F4B4-DEA7-7C90-03A2C20660DD}"/>
              </a:ext>
            </a:extLst>
          </p:cNvPr>
          <p:cNvSpPr txBox="1"/>
          <p:nvPr/>
        </p:nvSpPr>
        <p:spPr>
          <a:xfrm>
            <a:off x="6350000" y="30988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B885D9-A238-0411-97D8-2C754AFFF46E}"/>
              </a:ext>
            </a:extLst>
          </p:cNvPr>
          <p:cNvSpPr txBox="1"/>
          <p:nvPr/>
        </p:nvSpPr>
        <p:spPr>
          <a:xfrm>
            <a:off x="6896100" y="30734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RACI 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BB97BC-6977-5878-10A1-15E4384F34E9}"/>
              </a:ext>
            </a:extLst>
          </p:cNvPr>
          <p:cNvSpPr txBox="1"/>
          <p:nvPr/>
        </p:nvSpPr>
        <p:spPr>
          <a:xfrm>
            <a:off x="6896100" y="33147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full RACI → keep owner/steward/custodian contact only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3AFB5B-E195-8B8F-1081-20F52E98C2E3}"/>
              </a:ext>
            </a:extLst>
          </p:cNvPr>
          <p:cNvSpPr/>
          <p:nvPr/>
        </p:nvSpPr>
        <p:spPr>
          <a:xfrm>
            <a:off x="381000" y="36449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3B3411-B3FB-0546-9987-39280A033B1E}"/>
              </a:ext>
            </a:extLst>
          </p:cNvPr>
          <p:cNvSpPr txBox="1"/>
          <p:nvPr/>
        </p:nvSpPr>
        <p:spPr>
          <a:xfrm>
            <a:off x="444500" y="37084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C7E606-A997-CF17-CF63-9152B873E06C}"/>
              </a:ext>
            </a:extLst>
          </p:cNvPr>
          <p:cNvSpPr txBox="1"/>
          <p:nvPr/>
        </p:nvSpPr>
        <p:spPr>
          <a:xfrm>
            <a:off x="990600" y="36830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Publication Enforcement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195A71-7CFA-CEDE-0CC0-C4DBEF0FF292}"/>
              </a:ext>
            </a:extLst>
          </p:cNvPr>
          <p:cNvSpPr txBox="1"/>
          <p:nvPr/>
        </p:nvSpPr>
        <p:spPr>
          <a:xfrm>
            <a:off x="990600" y="39243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system RBAC → keep safe_for_chat_to_data flag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5C0AA2-0C0D-6EE6-18F8-3B73E993F4E5}"/>
              </a:ext>
            </a:extLst>
          </p:cNvPr>
          <p:cNvSpPr/>
          <p:nvPr/>
        </p:nvSpPr>
        <p:spPr>
          <a:xfrm>
            <a:off x="6286500" y="3644900"/>
            <a:ext cx="5715000" cy="5588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61514D-85E9-3231-5899-52C458F07FFD}"/>
              </a:ext>
            </a:extLst>
          </p:cNvPr>
          <p:cNvSpPr txBox="1"/>
          <p:nvPr/>
        </p:nvSpPr>
        <p:spPr>
          <a:xfrm>
            <a:off x="6350000" y="37084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B6752E"/>
                </a:solidFill>
              </a:rPr>
              <a:t>#10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B56834-ECE3-4328-4DBC-A9D8C19CB28A}"/>
              </a:ext>
            </a:extLst>
          </p:cNvPr>
          <p:cNvSpPr txBox="1"/>
          <p:nvPr/>
        </p:nvSpPr>
        <p:spPr>
          <a:xfrm>
            <a:off x="6896100" y="36830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64381F"/>
                </a:solidFill>
              </a:rPr>
              <a:t>Broad Operational Metadata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5F4AFE-DC03-9020-E5EF-1B09D0B64D67}"/>
              </a:ext>
            </a:extLst>
          </p:cNvPr>
          <p:cNvSpPr txBox="1"/>
          <p:nvPr/>
        </p:nvSpPr>
        <p:spPr>
          <a:xfrm>
            <a:off x="6896100" y="39243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 platform internals → keep only query-relevant fields</a:t>
            </a:r>
          </a:p>
        </p:txBody>
      </p:sp>
    </p:spTree>
    <p:extLst>
      <p:ext uri="{BB962C8B-B14F-4D97-AF65-F5344CB8AC3E}">
        <p14:creationId xmlns:p14="http://schemas.microsoft.com/office/powerpoint/2010/main" val="287778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B84D47-C9B6-2FDB-BF96-AAC2FA48C18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04F84-3705-8DC3-A0E6-4E669896CFE2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Change Details: #1 to #4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0ECE38-3F82-00BE-B651-EC0C45A897CC}"/>
              </a:ext>
            </a:extLst>
          </p:cNvPr>
          <p:cNvSpPr/>
          <p:nvPr/>
        </p:nvSpPr>
        <p:spPr>
          <a:xfrm>
            <a:off x="381000" y="12065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A86E4-9DAF-5E42-4E2A-C50E99306A9F}"/>
              </a:ext>
            </a:extLst>
          </p:cNvPr>
          <p:cNvSpPr txBox="1"/>
          <p:nvPr/>
        </p:nvSpPr>
        <p:spPr>
          <a:xfrm>
            <a:off x="508000" y="1270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#1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3C3FE-E548-4EF5-97D1-8D5FB32144AA}"/>
              </a:ext>
            </a:extLst>
          </p:cNvPr>
          <p:cNvSpPr txBox="1"/>
          <p:nvPr/>
        </p:nvSpPr>
        <p:spPr>
          <a:xfrm>
            <a:off x="2349500" y="12700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Coverage of all master data, transactional data, analytical datasets, reports, dashboards, AI use cases, and all platforms.
KEEP: Focus on 5 tables – mart_viz_self_service (priority), viz_newsystem, vlc_master_uid_customer_profile, vlc_master_t_uid_profile, vlc_mart_cx_spending.
REASON: Limited timeline; the bot only needs metadata for the tables it actually queries.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9E69D-9DB7-2E62-6098-3257AD1EDD5B}"/>
              </a:ext>
            </a:extLst>
          </p:cNvPr>
          <p:cNvSpPr/>
          <p:nvPr/>
        </p:nvSpPr>
        <p:spPr>
          <a:xfrm>
            <a:off x="381000" y="25400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86473-87C6-AD94-8B1E-8368A8749686}"/>
              </a:ext>
            </a:extLst>
          </p:cNvPr>
          <p:cNvSpPr txBox="1"/>
          <p:nvPr/>
        </p:nvSpPr>
        <p:spPr>
          <a:xfrm>
            <a:off x="508000" y="26035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#2 Formal Approval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BFAFB-0AD8-2F39-A681-313D767505E0}"/>
              </a:ext>
            </a:extLst>
          </p:cNvPr>
          <p:cNvSpPr txBox="1"/>
          <p:nvPr/>
        </p:nvSpPr>
        <p:spPr>
          <a:xfrm>
            <a:off x="2349500" y="26035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Data Steward prepares → Data Owner approves → same person cannot approve own work (system-enforced SOD).
KEEP: owner/contact, metadata_status (draft/reviewed/approved), last_reviewed_date, reviewer_name.
REASON: The bot needs approved meaning, not workflow mechanics. Platform not yet built.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F16FE2-AE0D-BD73-C6DE-9A70D46CAA80}"/>
              </a:ext>
            </a:extLst>
          </p:cNvPr>
          <p:cNvSpPr/>
          <p:nvPr/>
        </p:nvSpPr>
        <p:spPr>
          <a:xfrm>
            <a:off x="381000" y="38735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D59DA-6CB5-3D05-977A-661CD70FABBF}"/>
              </a:ext>
            </a:extLst>
          </p:cNvPr>
          <p:cNvSpPr txBox="1"/>
          <p:nvPr/>
        </p:nvSpPr>
        <p:spPr>
          <a:xfrm>
            <a:off x="508000" y="3937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#3 DGC Escalation Steps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65F810-B574-6EFF-D3ED-59BDDFA5461F}"/>
              </a:ext>
            </a:extLst>
          </p:cNvPr>
          <p:cNvSpPr txBox="1"/>
          <p:nvPr/>
        </p:nvSpPr>
        <p:spPr>
          <a:xfrm>
            <a:off x="2349500" y="39370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Detailed escalation routing steps to DGC for cross-domain or high-risk metadata.
KEEP: Sensitivity flags per table/column: risk_level, pdpa_flag, allowed_usage, restricted_columns, ask-owner-before-sharing note.
REASON: Escalation steps are operational governance, not query understanding. The bot just needs to know what NOT to expose.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A267E5-2B16-3A78-1D75-28F9210293D1}"/>
              </a:ext>
            </a:extLst>
          </p:cNvPr>
          <p:cNvSpPr/>
          <p:nvPr/>
        </p:nvSpPr>
        <p:spPr>
          <a:xfrm>
            <a:off x="381000" y="52070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9E2EE-8C0E-4044-24C1-0DA491E0C4A5}"/>
              </a:ext>
            </a:extLst>
          </p:cNvPr>
          <p:cNvSpPr txBox="1"/>
          <p:nvPr/>
        </p:nvSpPr>
        <p:spPr>
          <a:xfrm>
            <a:off x="508000" y="52705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#4 Full Audit Evidence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9487C8-F922-03F8-8FBE-B94B56B2E7C3}"/>
              </a:ext>
            </a:extLst>
          </p:cNvPr>
          <p:cNvSpPr txBox="1"/>
          <p:nvPr/>
        </p:nvSpPr>
        <p:spPr>
          <a:xfrm>
            <a:off x="2349500" y="52705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System logs, approval timestamps, immutable records, retention controls.
KEEP: last_updated, source_verified_from, change_summary, related_task_history, validated_against_live_schema (yes/no).
REASON: Full audit evidence is disproportionate for a metadata file used by an AI. Simplified traceability is sufficient.</a:t>
            </a:r>
          </a:p>
        </p:txBody>
      </p:sp>
    </p:spTree>
    <p:extLst>
      <p:ext uri="{BB962C8B-B14F-4D97-AF65-F5344CB8AC3E}">
        <p14:creationId xmlns:p14="http://schemas.microsoft.com/office/powerpoint/2010/main" val="314071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2F57E8-B4A5-D38E-EDA1-91241007341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BB43E-4FA5-292E-796D-43F0769C204E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Change Details: #5 to #8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E456D-91EB-FC83-F645-9DCD9866BE1C}"/>
              </a:ext>
            </a:extLst>
          </p:cNvPr>
          <p:cNvSpPr/>
          <p:nvPr/>
        </p:nvSpPr>
        <p:spPr>
          <a:xfrm>
            <a:off x="381000" y="12065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A4064-4AEC-A240-8455-D1A52F353814}"/>
              </a:ext>
            </a:extLst>
          </p:cNvPr>
          <p:cNvSpPr txBox="1"/>
          <p:nvPr/>
        </p:nvSpPr>
        <p:spPr>
          <a:xfrm>
            <a:off x="508000" y="1270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#5 Retirement &amp; Archiving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55495-65B8-151F-A278-BBAA5D2F3919}"/>
              </a:ext>
            </a:extLst>
          </p:cNvPr>
          <p:cNvSpPr txBox="1"/>
          <p:nvPr/>
        </p:nvSpPr>
        <p:spPr>
          <a:xfrm>
            <a:off x="2349500" y="12700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Full retirement workflow, deprecated marking, read-only archive, retention policy.
KEEP: status (active/deprecated), replacement_table, do_not_use_reason.
REASON: We are documenting active tables in phase 1. Retirement policy is not relevant yet.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48968B-E638-CA25-E279-B07646DE447B}"/>
              </a:ext>
            </a:extLst>
          </p:cNvPr>
          <p:cNvSpPr/>
          <p:nvPr/>
        </p:nvSpPr>
        <p:spPr>
          <a:xfrm>
            <a:off x="381000" y="25400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283ED-7963-D267-ED79-FD1BF5D5540D}"/>
              </a:ext>
            </a:extLst>
          </p:cNvPr>
          <p:cNvSpPr txBox="1"/>
          <p:nvPr/>
        </p:nvSpPr>
        <p:spPr>
          <a:xfrm>
            <a:off x="508000" y="26035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#6 Issue SLA Tracking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FC1C9-0381-480A-093E-02834AD3BDDA}"/>
              </a:ext>
            </a:extLst>
          </p:cNvPr>
          <p:cNvSpPr txBox="1"/>
          <p:nvPr/>
        </p:nvSpPr>
        <p:spPr>
          <a:xfrm>
            <a:off x="2349500" y="26035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Issue logging system, SLA timelines, escalation matrix for overdue issues.
KEEP: Simple caveats section per table – known data quality issues, stale fields, columns not trusted, open questions, owner to confirm.
REASON: SLA tracking is operational governance. The bot needs practical warnings, not ticket workflows.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0EDD00-2C35-684D-6519-01C1CBF41D47}"/>
              </a:ext>
            </a:extLst>
          </p:cNvPr>
          <p:cNvSpPr/>
          <p:nvPr/>
        </p:nvSpPr>
        <p:spPr>
          <a:xfrm>
            <a:off x="381000" y="38735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4B755-200C-8F22-A8C0-CD36BB49C48A}"/>
              </a:ext>
            </a:extLst>
          </p:cNvPr>
          <p:cNvSpPr txBox="1"/>
          <p:nvPr/>
        </p:nvSpPr>
        <p:spPr>
          <a:xfrm>
            <a:off x="508000" y="3937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#7 Full PRC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E6339A-4DC7-5705-2B34-2418C42835C0}"/>
              </a:ext>
            </a:extLst>
          </p:cNvPr>
          <p:cNvSpPr txBox="1"/>
          <p:nvPr/>
        </p:nvSpPr>
        <p:spPr>
          <a:xfrm>
            <a:off x="2349500" y="39370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9-process enterprise Process Risk &amp; Control table.
KEEP: 5 practical query risks – wrong metric, sensitive data, stale data, join duplication, incorrect filter (e.g. canonical spending predicate warning).
REASON: Enterprise PRC is too formal. The bot needs query-specific risks, not process governance controls.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9C5DEF-7A41-6373-667F-66E061DF3AFE}"/>
              </a:ext>
            </a:extLst>
          </p:cNvPr>
          <p:cNvSpPr/>
          <p:nvPr/>
        </p:nvSpPr>
        <p:spPr>
          <a:xfrm>
            <a:off x="381000" y="52070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C4F48-02A9-B376-2FBF-8DD12DA45418}"/>
              </a:ext>
            </a:extLst>
          </p:cNvPr>
          <p:cNvSpPr txBox="1"/>
          <p:nvPr/>
        </p:nvSpPr>
        <p:spPr>
          <a:xfrm>
            <a:off x="508000" y="52705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#8 RACI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51241D-722A-E125-9DC5-A7984A7F39A7}"/>
              </a:ext>
            </a:extLst>
          </p:cNvPr>
          <p:cNvSpPr txBox="1"/>
          <p:nvPr/>
        </p:nvSpPr>
        <p:spPr>
          <a:xfrm>
            <a:off x="2349500" y="52705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R/A/C/I assignments across standards, onboarding, validation, approval, publication, maintenance, monitoring, retirement.
KEEP: Business owner, Technical owner, Data steward/contact, Upstream job owner.
REASON: Full RACI adds governance detail without improving query accuracy for phase 1.</a:t>
            </a:r>
          </a:p>
        </p:txBody>
      </p:sp>
    </p:spTree>
    <p:extLst>
      <p:ext uri="{BB962C8B-B14F-4D97-AF65-F5344CB8AC3E}">
        <p14:creationId xmlns:p14="http://schemas.microsoft.com/office/powerpoint/2010/main" val="188370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7AD35A-24CF-2519-FE6A-8A0AFB23043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25998-B692-BBAB-68F4-1A3E200908FE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Change Details: #9 &amp; #10 + Decision Rule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8C828-02D1-E8F3-716D-F3664AB4E356}"/>
              </a:ext>
            </a:extLst>
          </p:cNvPr>
          <p:cNvSpPr/>
          <p:nvPr/>
        </p:nvSpPr>
        <p:spPr>
          <a:xfrm>
            <a:off x="381000" y="12065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82851-3E3A-022F-1488-5395912EF3F8}"/>
              </a:ext>
            </a:extLst>
          </p:cNvPr>
          <p:cNvSpPr txBox="1"/>
          <p:nvPr/>
        </p:nvSpPr>
        <p:spPr>
          <a:xfrm>
            <a:off x="508000" y="1270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#9 Publication Enforcement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6AD3B-8532-BE87-1954-7B26766D4797}"/>
              </a:ext>
            </a:extLst>
          </p:cNvPr>
          <p:cNvSpPr txBox="1"/>
          <p:nvPr/>
        </p:nvSpPr>
        <p:spPr>
          <a:xfrm>
            <a:off x="2349500" y="12700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System-enforced RBAC ensuring only approved metadata is used in production.
KEEP: usage_status, safe_for_chat_to_data (yes/no), reason_if_no, restricted_columns_list.
REASON: Platform RBAC enforcement is out of scope for phase 1. Flags are enough for the bot to decide whether to answer, refuse, or escalate.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9A6AAE-2AE6-3E3D-7EBC-A41A55FDB37E}"/>
              </a:ext>
            </a:extLst>
          </p:cNvPr>
          <p:cNvSpPr/>
          <p:nvPr/>
        </p:nvSpPr>
        <p:spPr>
          <a:xfrm>
            <a:off x="381000" y="2540000"/>
            <a:ext cx="11430000" cy="12700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5C80A-9803-3771-58E8-7FE571A597F4}"/>
              </a:ext>
            </a:extLst>
          </p:cNvPr>
          <p:cNvSpPr txBox="1"/>
          <p:nvPr/>
        </p:nvSpPr>
        <p:spPr>
          <a:xfrm>
            <a:off x="508000" y="26035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B6752E"/>
                </a:solidFill>
              </a:rPr>
              <a:t>#10 Broad Operational Metadata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ACB41-99A9-EC62-D74F-5168A964FF58}"/>
              </a:ext>
            </a:extLst>
          </p:cNvPr>
          <p:cNvSpPr txBox="1"/>
          <p:nvPr/>
        </p:nvSpPr>
        <p:spPr>
          <a:xfrm>
            <a:off x="2349500" y="260350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REMOVE: Platform internals, system logs, processing controls, integration mechanisms.
KEEP: refresh_frequency, owning_DAG/job, last_successful_refresh, date_range_covered, partition/date_column, row_grain, known_latency, upstream_dependencies.
REASON: Only operational metadata that affects query answers is needed. Platform internals do not help the bot.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99CCE7-8B07-226C-8EA9-EC9E8EBA767A}"/>
              </a:ext>
            </a:extLst>
          </p:cNvPr>
          <p:cNvSpPr/>
          <p:nvPr/>
        </p:nvSpPr>
        <p:spPr>
          <a:xfrm>
            <a:off x="381000" y="3937000"/>
            <a:ext cx="11430000" cy="2286000"/>
          </a:xfrm>
          <a:prstGeom prst="rect">
            <a:avLst/>
          </a:prstGeom>
          <a:solidFill>
            <a:srgbClr val="CC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603C4-3864-D52A-86C0-F14ED67758D2}"/>
              </a:ext>
            </a:extLst>
          </p:cNvPr>
          <p:cNvSpPr txBox="1"/>
          <p:nvPr/>
        </p:nvSpPr>
        <p:spPr>
          <a:xfrm>
            <a:off x="571500" y="40386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115AC5"/>
                </a:solidFill>
              </a:rPr>
              <a:t>Practical Decision Rule for Phase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BB8CB-D672-6482-0D73-3039A38D8A3B}"/>
              </a:ext>
            </a:extLst>
          </p:cNvPr>
          <p:cNvSpPr txBox="1"/>
          <p:nvPr/>
        </p:nvSpPr>
        <p:spPr>
          <a:xfrm>
            <a:off x="571500" y="4381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381F"/>
                </a:solidFill>
              </a:rPr>
              <a:t>Include metadata ONLY if it helps the bot to:
   • Choose the correct table          • Choose the correct column          • Apply the correct filter
   • Avoid sensitive data leakage    • Explain metric meaning correctly    • Know data freshness and caveats</a:t>
            </a:r>
          </a:p>
        </p:txBody>
      </p:sp>
    </p:spTree>
    <p:extLst>
      <p:ext uri="{BB962C8B-B14F-4D97-AF65-F5344CB8AC3E}">
        <p14:creationId xmlns:p14="http://schemas.microsoft.com/office/powerpoint/2010/main" val="239039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EE86EA-2B6D-70DC-FC37-C133CBD0726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97B6E-F59C-84A9-BC8C-E115A0D57D0D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What We Keep – Necessary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6BC0A0-065A-7CF0-B941-B9D5EFF7B098}"/>
              </a:ext>
            </a:extLst>
          </p:cNvPr>
          <p:cNvSpPr/>
          <p:nvPr/>
        </p:nvSpPr>
        <p:spPr>
          <a:xfrm>
            <a:off x="381000" y="12065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376C4-B1FF-3FA6-E0E3-8E4346F9934E}"/>
              </a:ext>
            </a:extLst>
          </p:cNvPr>
          <p:cNvSpPr txBox="1"/>
          <p:nvPr/>
        </p:nvSpPr>
        <p:spPr>
          <a:xfrm>
            <a:off x="482600" y="12573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Table Purpose &amp; Meaning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AD796-F508-3502-8253-CAFC6B8F1736}"/>
              </a:ext>
            </a:extLst>
          </p:cNvPr>
          <p:cNvSpPr txBox="1"/>
          <p:nvPr/>
        </p:nvSpPr>
        <p:spPr>
          <a:xfrm>
            <a:off x="482600" y="14859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Business definition of each table and its intended 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1DEDF-F10F-7564-DA43-AD1454E96875}"/>
              </a:ext>
            </a:extLst>
          </p:cNvPr>
          <p:cNvSpPr/>
          <p:nvPr/>
        </p:nvSpPr>
        <p:spPr>
          <a:xfrm>
            <a:off x="6286500" y="12065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2ACB3-392D-9549-16A2-F46D116FBCD5}"/>
              </a:ext>
            </a:extLst>
          </p:cNvPr>
          <p:cNvSpPr txBox="1"/>
          <p:nvPr/>
        </p:nvSpPr>
        <p:spPr>
          <a:xfrm>
            <a:off x="6388100" y="12573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Column Definitions &amp; Synonyms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B231D-C47F-5102-9C76-A97DA49E757E}"/>
              </a:ext>
            </a:extLst>
          </p:cNvPr>
          <p:cNvSpPr txBox="1"/>
          <p:nvPr/>
        </p:nvSpPr>
        <p:spPr>
          <a:xfrm>
            <a:off x="6388100" y="14859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Field names, business terms users may ask, and descriptions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94298D-2CD6-C14E-37E3-44A2CB2369A8}"/>
              </a:ext>
            </a:extLst>
          </p:cNvPr>
          <p:cNvSpPr/>
          <p:nvPr/>
        </p:nvSpPr>
        <p:spPr>
          <a:xfrm>
            <a:off x="381000" y="17907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53D8E-1668-01F7-8C45-DA06C42F1D9C}"/>
              </a:ext>
            </a:extLst>
          </p:cNvPr>
          <p:cNvSpPr txBox="1"/>
          <p:nvPr/>
        </p:nvSpPr>
        <p:spPr>
          <a:xfrm>
            <a:off x="482600" y="18415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Grain, Keys &amp; Date Fields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39151-C65E-4FB3-14DD-ED86FB71C079}"/>
              </a:ext>
            </a:extLst>
          </p:cNvPr>
          <p:cNvSpPr txBox="1"/>
          <p:nvPr/>
        </p:nvSpPr>
        <p:spPr>
          <a:xfrm>
            <a:off x="482600" y="20701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Row grain, primary keys, date/time columns for filtering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DB911-5D57-B74A-16B6-12CCE6052D26}"/>
              </a:ext>
            </a:extLst>
          </p:cNvPr>
          <p:cNvSpPr/>
          <p:nvPr/>
        </p:nvSpPr>
        <p:spPr>
          <a:xfrm>
            <a:off x="6286500" y="17907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53C23-B92D-BB0F-E0BE-5FAFB3677E9F}"/>
              </a:ext>
            </a:extLst>
          </p:cNvPr>
          <p:cNvSpPr txBox="1"/>
          <p:nvPr/>
        </p:nvSpPr>
        <p:spPr>
          <a:xfrm>
            <a:off x="6388100" y="18415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Refresh Schedule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D3753-8613-B892-B01C-A8FE07A06947}"/>
              </a:ext>
            </a:extLst>
          </p:cNvPr>
          <p:cNvSpPr txBox="1"/>
          <p:nvPr/>
        </p:nvSpPr>
        <p:spPr>
          <a:xfrm>
            <a:off x="6388100" y="20701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Update frequency, owning DAG/job, last successful refresh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835AB7-85B0-AAFA-8D37-A2181D8A63C1}"/>
              </a:ext>
            </a:extLst>
          </p:cNvPr>
          <p:cNvSpPr/>
          <p:nvPr/>
        </p:nvSpPr>
        <p:spPr>
          <a:xfrm>
            <a:off x="381000" y="23749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8D6DC1-9291-A542-69ED-A8D52DDC9AA6}"/>
              </a:ext>
            </a:extLst>
          </p:cNvPr>
          <p:cNvSpPr txBox="1"/>
          <p:nvPr/>
        </p:nvSpPr>
        <p:spPr>
          <a:xfrm>
            <a:off x="482600" y="24257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Source &amp; Lineage 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57B538-67EE-DB1A-1769-9F55F14FA841}"/>
              </a:ext>
            </a:extLst>
          </p:cNvPr>
          <p:cNvSpPr txBox="1"/>
          <p:nvPr/>
        </p:nvSpPr>
        <p:spPr>
          <a:xfrm>
            <a:off x="482600" y="26543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Where data comes from and key upstream dependencies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FA49F3-EBCB-0B03-A0B8-FDECBA22D9E3}"/>
              </a:ext>
            </a:extLst>
          </p:cNvPr>
          <p:cNvSpPr/>
          <p:nvPr/>
        </p:nvSpPr>
        <p:spPr>
          <a:xfrm>
            <a:off x="6286500" y="23749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3DB04-84C9-14B7-A9D4-AFA9ECB4CAC1}"/>
              </a:ext>
            </a:extLst>
          </p:cNvPr>
          <p:cNvSpPr txBox="1"/>
          <p:nvPr/>
        </p:nvSpPr>
        <p:spPr>
          <a:xfrm>
            <a:off x="6388100" y="24257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Join Rules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416F1-3F71-A0E5-7D23-D18EC717E9E9}"/>
              </a:ext>
            </a:extLst>
          </p:cNvPr>
          <p:cNvSpPr txBox="1"/>
          <p:nvPr/>
        </p:nvSpPr>
        <p:spPr>
          <a:xfrm>
            <a:off x="6388100" y="26543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How to join tables correctly, especially to mart_viz_self_service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C70FA4-ECA1-F6B4-D7EA-4A6CBD768AD6}"/>
              </a:ext>
            </a:extLst>
          </p:cNvPr>
          <p:cNvSpPr/>
          <p:nvPr/>
        </p:nvSpPr>
        <p:spPr>
          <a:xfrm>
            <a:off x="381000" y="29591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71A865-A31E-89CB-50DC-C73B90C44A39}"/>
              </a:ext>
            </a:extLst>
          </p:cNvPr>
          <p:cNvSpPr txBox="1"/>
          <p:nvPr/>
        </p:nvSpPr>
        <p:spPr>
          <a:xfrm>
            <a:off x="482600" y="30099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Metric Definitions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8D9B34-B5F3-531E-B5DA-F96B4B4A9033}"/>
              </a:ext>
            </a:extLst>
          </p:cNvPr>
          <p:cNvSpPr txBox="1"/>
          <p:nvPr/>
        </p:nvSpPr>
        <p:spPr>
          <a:xfrm>
            <a:off x="482600" y="32385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Spending, earn, burn, tier, segment – with canonical predicates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106404-8FF3-EB60-032E-157CA6795D9E}"/>
              </a:ext>
            </a:extLst>
          </p:cNvPr>
          <p:cNvSpPr/>
          <p:nvPr/>
        </p:nvSpPr>
        <p:spPr>
          <a:xfrm>
            <a:off x="6286500" y="29591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95D262-9703-C843-5038-65E4F311ECCA}"/>
              </a:ext>
            </a:extLst>
          </p:cNvPr>
          <p:cNvSpPr txBox="1"/>
          <p:nvPr/>
        </p:nvSpPr>
        <p:spPr>
          <a:xfrm>
            <a:off x="6388100" y="30099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PDPA / Data Classification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93B13-B19F-23ED-DA4C-9755BBC1841A}"/>
              </a:ext>
            </a:extLst>
          </p:cNvPr>
          <p:cNvSpPr txBox="1"/>
          <p:nvPr/>
        </p:nvSpPr>
        <p:spPr>
          <a:xfrm>
            <a:off x="6388100" y="32385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Sensitivity flags, restricted columns, allowed usage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3C1A2A-3DE4-7F00-9819-A6718486C2D4}"/>
              </a:ext>
            </a:extLst>
          </p:cNvPr>
          <p:cNvSpPr/>
          <p:nvPr/>
        </p:nvSpPr>
        <p:spPr>
          <a:xfrm>
            <a:off x="381000" y="35433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7D44CA-0845-67DD-E784-989480A80D92}"/>
              </a:ext>
            </a:extLst>
          </p:cNvPr>
          <p:cNvSpPr txBox="1"/>
          <p:nvPr/>
        </p:nvSpPr>
        <p:spPr>
          <a:xfrm>
            <a:off x="482600" y="35941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Example Questions &amp; Safe SQL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8676D5-65FA-0BCE-7D84-4B9714FB2EFC}"/>
              </a:ext>
            </a:extLst>
          </p:cNvPr>
          <p:cNvSpPr txBox="1"/>
          <p:nvPr/>
        </p:nvSpPr>
        <p:spPr>
          <a:xfrm>
            <a:off x="482600" y="38227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Validated question patterns the bot can use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E8546D-ECDE-9484-7D4F-2B352C2001E3}"/>
              </a:ext>
            </a:extLst>
          </p:cNvPr>
          <p:cNvSpPr/>
          <p:nvPr/>
        </p:nvSpPr>
        <p:spPr>
          <a:xfrm>
            <a:off x="6286500" y="3543300"/>
            <a:ext cx="5715000" cy="533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0136FF-D7F3-352D-11A3-6D9286FC7E7E}"/>
              </a:ext>
            </a:extLst>
          </p:cNvPr>
          <p:cNvSpPr txBox="1"/>
          <p:nvPr/>
        </p:nvSpPr>
        <p:spPr>
          <a:xfrm>
            <a:off x="6388100" y="35941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235637"/>
                </a:solidFill>
              </a:rPr>
              <a:t>Known Caveats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B35B22-BEAA-09F3-4204-A6B1BDE7FF29}"/>
              </a:ext>
            </a:extLst>
          </p:cNvPr>
          <p:cNvSpPr txBox="1"/>
          <p:nvPr/>
        </p:nvSpPr>
        <p:spPr>
          <a:xfrm>
            <a:off x="6388100" y="38227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Stale fields, untrusted columns, open items, owner notes</a:t>
            </a:r>
          </a:p>
        </p:txBody>
      </p:sp>
    </p:spTree>
    <p:extLst>
      <p:ext uri="{BB962C8B-B14F-4D97-AF65-F5344CB8AC3E}">
        <p14:creationId xmlns:p14="http://schemas.microsoft.com/office/powerpoint/2010/main" val="10447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35F907-BA32-38C0-D3CC-BCBAB6C69DF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4A969-498A-56FE-03CD-F5D5E20A8A59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Phase 1 Priority Tables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55D9BB-D220-23D1-793F-986FADD70EF1}"/>
              </a:ext>
            </a:extLst>
          </p:cNvPr>
          <p:cNvSpPr/>
          <p:nvPr/>
        </p:nvSpPr>
        <p:spPr>
          <a:xfrm>
            <a:off x="381000" y="1206500"/>
            <a:ext cx="11430000" cy="914400"/>
          </a:xfrm>
          <a:prstGeom prst="rect">
            <a:avLst/>
          </a:prstGeom>
          <a:solidFill>
            <a:srgbClr val="CC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0CE3C-E132-C2ED-324A-6F99A6031A70}"/>
              </a:ext>
            </a:extLst>
          </p:cNvPr>
          <p:cNvSpPr txBox="1"/>
          <p:nvPr/>
        </p:nvSpPr>
        <p:spPr>
          <a:xfrm>
            <a:off x="508000" y="13335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B6752E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A56D1-C424-72E9-E74B-FA5A912EAB46}"/>
              </a:ext>
            </a:extLst>
          </p:cNvPr>
          <p:cNvSpPr txBox="1"/>
          <p:nvPr/>
        </p:nvSpPr>
        <p:spPr>
          <a:xfrm>
            <a:off x="1016000" y="13081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mart_viz_self_service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00712-A97C-182B-1783-6091ED2D494B}"/>
              </a:ext>
            </a:extLst>
          </p:cNvPr>
          <p:cNvSpPr txBox="1"/>
          <p:nvPr/>
        </p:nvSpPr>
        <p:spPr>
          <a:xfrm>
            <a:off x="1016000" y="16510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115AC5"/>
                </a:solidFill>
              </a:rPr>
              <a:t>FIRST PRIORITY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C1C49-CB9E-A94A-DA87-0C60B5658A03}"/>
              </a:ext>
            </a:extLst>
          </p:cNvPr>
          <p:cNvSpPr txBox="1"/>
          <p:nvPr/>
        </p:nvSpPr>
        <p:spPr>
          <a:xfrm>
            <a:off x="5334000" y="14605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64381F"/>
                </a:solidFill>
              </a:rPr>
              <a:t>Core self-service analytics mart. Primary table the bot must understand to answer business questions.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6B0DFC-877E-6B34-11FF-7551FBC7B54D}"/>
              </a:ext>
            </a:extLst>
          </p:cNvPr>
          <p:cNvSpPr/>
          <p:nvPr/>
        </p:nvSpPr>
        <p:spPr>
          <a:xfrm>
            <a:off x="381000" y="2184400"/>
            <a:ext cx="11430000" cy="9144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15ACF-8B02-70EB-3EDA-D534D16E51C4}"/>
              </a:ext>
            </a:extLst>
          </p:cNvPr>
          <p:cNvSpPr txBox="1"/>
          <p:nvPr/>
        </p:nvSpPr>
        <p:spPr>
          <a:xfrm>
            <a:off x="508000" y="23114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B6752E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06D43-D678-1315-25A3-7485E067A463}"/>
              </a:ext>
            </a:extLst>
          </p:cNvPr>
          <p:cNvSpPr txBox="1"/>
          <p:nvPr/>
        </p:nvSpPr>
        <p:spPr>
          <a:xfrm>
            <a:off x="1016000" y="22860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viz_newsystem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21908-675F-1642-CBFC-6CECCE06B68D}"/>
              </a:ext>
            </a:extLst>
          </p:cNvPr>
          <p:cNvSpPr txBox="1"/>
          <p:nvPr/>
        </p:nvSpPr>
        <p:spPr>
          <a:xfrm>
            <a:off x="1016000" y="26289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115AC5"/>
                </a:solidFill>
              </a:rPr>
              <a:t>HIGH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479F2D-0CCD-A1A8-ADC5-3506FE811B94}"/>
              </a:ext>
            </a:extLst>
          </p:cNvPr>
          <p:cNvSpPr txBox="1"/>
          <p:nvPr/>
        </p:nvSpPr>
        <p:spPr>
          <a:xfrm>
            <a:off x="5334000" y="2438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64381F"/>
                </a:solidFill>
              </a:rPr>
              <a:t>New-system visualization table. Secondary query target for reporting use cases.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3D769B-FBEB-44D9-63F7-2806D2AF1F86}"/>
              </a:ext>
            </a:extLst>
          </p:cNvPr>
          <p:cNvSpPr/>
          <p:nvPr/>
        </p:nvSpPr>
        <p:spPr>
          <a:xfrm>
            <a:off x="381000" y="3162300"/>
            <a:ext cx="11430000" cy="9144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1A5016-592B-4E9D-F70D-4FB3E91078F5}"/>
              </a:ext>
            </a:extLst>
          </p:cNvPr>
          <p:cNvSpPr txBox="1"/>
          <p:nvPr/>
        </p:nvSpPr>
        <p:spPr>
          <a:xfrm>
            <a:off x="508000" y="32893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B6752E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F03747-9568-D65B-2CF5-77D2350A65D7}"/>
              </a:ext>
            </a:extLst>
          </p:cNvPr>
          <p:cNvSpPr txBox="1"/>
          <p:nvPr/>
        </p:nvSpPr>
        <p:spPr>
          <a:xfrm>
            <a:off x="1016000" y="32639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vlc_master_uid_customer_profile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B802C5-03EA-A8E9-A327-4B478C8B7E88}"/>
              </a:ext>
            </a:extLst>
          </p:cNvPr>
          <p:cNvSpPr txBox="1"/>
          <p:nvPr/>
        </p:nvSpPr>
        <p:spPr>
          <a:xfrm>
            <a:off x="1016000" y="3606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115AC5"/>
                </a:solidFill>
              </a:rPr>
              <a:t>HIGH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EBC69E-23E3-6123-DB8C-83796745E97A}"/>
              </a:ext>
            </a:extLst>
          </p:cNvPr>
          <p:cNvSpPr txBox="1"/>
          <p:nvPr/>
        </p:nvSpPr>
        <p:spPr>
          <a:xfrm>
            <a:off x="5334000" y="34163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64381F"/>
                </a:solidFill>
              </a:rPr>
              <a:t>Master customer profile by UID. Needed for customer-level analysis and segmentation.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7FB6-F188-35B6-EE94-26D01791206E}"/>
              </a:ext>
            </a:extLst>
          </p:cNvPr>
          <p:cNvSpPr/>
          <p:nvPr/>
        </p:nvSpPr>
        <p:spPr>
          <a:xfrm>
            <a:off x="381000" y="4140200"/>
            <a:ext cx="11430000" cy="9144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4D49A0-EE03-D422-A83F-A1F964DE5116}"/>
              </a:ext>
            </a:extLst>
          </p:cNvPr>
          <p:cNvSpPr txBox="1"/>
          <p:nvPr/>
        </p:nvSpPr>
        <p:spPr>
          <a:xfrm>
            <a:off x="508000" y="42672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B6752E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8FBE2A-86DC-3F3C-57B6-BBE02EFDA1EA}"/>
              </a:ext>
            </a:extLst>
          </p:cNvPr>
          <p:cNvSpPr txBox="1"/>
          <p:nvPr/>
        </p:nvSpPr>
        <p:spPr>
          <a:xfrm>
            <a:off x="1016000" y="42418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vlc_master_t_uid_profile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8E1F64-5E03-A5F9-C12E-18A80DC417C3}"/>
              </a:ext>
            </a:extLst>
          </p:cNvPr>
          <p:cNvSpPr txBox="1"/>
          <p:nvPr/>
        </p:nvSpPr>
        <p:spPr>
          <a:xfrm>
            <a:off x="1016000" y="45847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115AC5"/>
                </a:solidFill>
              </a:rPr>
              <a:t>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A3721B-7D58-C47F-F28E-F8E910A0F2A5}"/>
              </a:ext>
            </a:extLst>
          </p:cNvPr>
          <p:cNvSpPr txBox="1"/>
          <p:nvPr/>
        </p:nvSpPr>
        <p:spPr>
          <a:xfrm>
            <a:off x="5334000" y="43942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64381F"/>
                </a:solidFill>
              </a:rPr>
              <a:t>Master UID profile table. Required for tier, segment, and customer journey queries.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88DABA-1215-A175-E397-83481FA8E4DF}"/>
              </a:ext>
            </a:extLst>
          </p:cNvPr>
          <p:cNvSpPr/>
          <p:nvPr/>
        </p:nvSpPr>
        <p:spPr>
          <a:xfrm>
            <a:off x="381000" y="5118100"/>
            <a:ext cx="11430000" cy="914400"/>
          </a:xfrm>
          <a:prstGeom prst="rect">
            <a:avLst/>
          </a:prstGeom>
          <a:solidFill>
            <a:srgbClr val="FB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1E2485-D1FB-DD49-A367-5BF5A35111B5}"/>
              </a:ext>
            </a:extLst>
          </p:cNvPr>
          <p:cNvSpPr txBox="1"/>
          <p:nvPr/>
        </p:nvSpPr>
        <p:spPr>
          <a:xfrm>
            <a:off x="508000" y="52451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B6752E"/>
                </a:solidFill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BFD5C1-2F13-1BCE-ABEA-2CCA182188C2}"/>
              </a:ext>
            </a:extLst>
          </p:cNvPr>
          <p:cNvSpPr txBox="1"/>
          <p:nvPr/>
        </p:nvSpPr>
        <p:spPr>
          <a:xfrm>
            <a:off x="1016000" y="52197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vlc_mart_cx_spending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FD32C5-AB2A-D25F-FEE6-E892B04FA350}"/>
              </a:ext>
            </a:extLst>
          </p:cNvPr>
          <p:cNvSpPr txBox="1"/>
          <p:nvPr/>
        </p:nvSpPr>
        <p:spPr>
          <a:xfrm>
            <a:off x="1016000" y="5562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115AC5"/>
                </a:solidFill>
              </a:rPr>
              <a:t>HIGH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2791BC-90C6-94FF-9073-0A6CA07406FA}"/>
              </a:ext>
            </a:extLst>
          </p:cNvPr>
          <p:cNvSpPr txBox="1"/>
          <p:nvPr/>
        </p:nvSpPr>
        <p:spPr>
          <a:xfrm>
            <a:off x="5334000" y="53721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64381F"/>
                </a:solidFill>
              </a:rPr>
              <a:t>Customer experience spending mart. Key table for spending metrics and canonical spending predicate.</a:t>
            </a:r>
          </a:p>
        </p:txBody>
      </p:sp>
    </p:spTree>
    <p:extLst>
      <p:ext uri="{BB962C8B-B14F-4D97-AF65-F5344CB8AC3E}">
        <p14:creationId xmlns:p14="http://schemas.microsoft.com/office/powerpoint/2010/main" val="255185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38CF20-EDF1-01F6-9BC0-D4903C1BAE8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98454D-9D70-9DCC-E6BA-AD1A8CC4DADE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Benefits of the Revised Approach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95BD03-D196-A16B-BCE7-56B08C1006C1}"/>
              </a:ext>
            </a:extLst>
          </p:cNvPr>
          <p:cNvSpPr/>
          <p:nvPr/>
        </p:nvSpPr>
        <p:spPr>
          <a:xfrm>
            <a:off x="381000" y="1206500"/>
            <a:ext cx="11430000" cy="914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50DC5-27E6-07CC-14BB-DB322D34B670}"/>
              </a:ext>
            </a:extLst>
          </p:cNvPr>
          <p:cNvSpPr txBox="1"/>
          <p:nvPr/>
        </p:nvSpPr>
        <p:spPr>
          <a:xfrm>
            <a:off x="571500" y="13335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235637"/>
                </a:solidFill>
              </a:rPr>
              <a:t>✓  Faster Delivery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A85C3-EC46-6D61-C663-4937785DC847}"/>
              </a:ext>
            </a:extLst>
          </p:cNvPr>
          <p:cNvSpPr txBox="1"/>
          <p:nvPr/>
        </p:nvSpPr>
        <p:spPr>
          <a:xfrm>
            <a:off x="3238500" y="1397000"/>
            <a:ext cx="844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64381F"/>
                </a:solidFill>
              </a:rPr>
              <a:t>Scoped metadata for 5 tables can be prepared, reviewed, and approved quickly. Full enterprise coverage would take months.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E5F04-1CCE-0973-F712-E46490F1E161}"/>
              </a:ext>
            </a:extLst>
          </p:cNvPr>
          <p:cNvSpPr/>
          <p:nvPr/>
        </p:nvSpPr>
        <p:spPr>
          <a:xfrm>
            <a:off x="381000" y="2184400"/>
            <a:ext cx="11430000" cy="914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19569-63DD-6F34-DFE8-1961CDA0C0DA}"/>
              </a:ext>
            </a:extLst>
          </p:cNvPr>
          <p:cNvSpPr txBox="1"/>
          <p:nvPr/>
        </p:nvSpPr>
        <p:spPr>
          <a:xfrm>
            <a:off x="571500" y="2311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235637"/>
                </a:solidFill>
              </a:rPr>
              <a:t>✓  Practical &amp; Actionable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950AB-6A9B-5628-AF42-2F980E5652D4}"/>
              </a:ext>
            </a:extLst>
          </p:cNvPr>
          <p:cNvSpPr txBox="1"/>
          <p:nvPr/>
        </p:nvSpPr>
        <p:spPr>
          <a:xfrm>
            <a:off x="3238500" y="2374900"/>
            <a:ext cx="844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64381F"/>
                </a:solidFill>
              </a:rPr>
              <a:t>Every metadata field directly supports bot decision-making. No unused governance overhead.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54F864-B169-F9E4-1071-67553A4C5086}"/>
              </a:ext>
            </a:extLst>
          </p:cNvPr>
          <p:cNvSpPr/>
          <p:nvPr/>
        </p:nvSpPr>
        <p:spPr>
          <a:xfrm>
            <a:off x="381000" y="3162300"/>
            <a:ext cx="11430000" cy="914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911DA-21F9-82D3-FF83-676A8B1E6420}"/>
              </a:ext>
            </a:extLst>
          </p:cNvPr>
          <p:cNvSpPr txBox="1"/>
          <p:nvPr/>
        </p:nvSpPr>
        <p:spPr>
          <a:xfrm>
            <a:off x="571500" y="32893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235637"/>
                </a:solidFill>
              </a:rPr>
              <a:t>✓  Proportionate Risk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94387-F3C0-81FA-3B98-7883A27CB0CA}"/>
              </a:ext>
            </a:extLst>
          </p:cNvPr>
          <p:cNvSpPr txBox="1"/>
          <p:nvPr/>
        </p:nvSpPr>
        <p:spPr>
          <a:xfrm>
            <a:off x="3238500" y="3352800"/>
            <a:ext cx="844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64381F"/>
                </a:solidFill>
              </a:rPr>
              <a:t>Sensitivity flags and caveats protect against data leakage without requiring platform enforcement.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C2A783-75CF-EDD6-AB3F-FB1BAA3D85A7}"/>
              </a:ext>
            </a:extLst>
          </p:cNvPr>
          <p:cNvSpPr/>
          <p:nvPr/>
        </p:nvSpPr>
        <p:spPr>
          <a:xfrm>
            <a:off x="381000" y="4140200"/>
            <a:ext cx="11430000" cy="914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EAC0EE-CAE2-B1F1-1EA7-1A9B8EF1A71F}"/>
              </a:ext>
            </a:extLst>
          </p:cNvPr>
          <p:cNvSpPr txBox="1"/>
          <p:nvPr/>
        </p:nvSpPr>
        <p:spPr>
          <a:xfrm>
            <a:off x="571500" y="4267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235637"/>
                </a:solidFill>
              </a:rPr>
              <a:t>✓  Iterative Expansion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9A50C0-E37F-9AD0-E3C7-BB0002152947}"/>
              </a:ext>
            </a:extLst>
          </p:cNvPr>
          <p:cNvSpPr txBox="1"/>
          <p:nvPr/>
        </p:nvSpPr>
        <p:spPr>
          <a:xfrm>
            <a:off x="3238500" y="4330700"/>
            <a:ext cx="844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64381F"/>
                </a:solidFill>
              </a:rPr>
              <a:t>Phase 1 validates the approach. Governance can be extended systematically to more tables and full enterprise scope in later phases.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461BEF-E87C-07EC-3D35-7FFEDFED6885}"/>
              </a:ext>
            </a:extLst>
          </p:cNvPr>
          <p:cNvSpPr/>
          <p:nvPr/>
        </p:nvSpPr>
        <p:spPr>
          <a:xfrm>
            <a:off x="381000" y="5118100"/>
            <a:ext cx="11430000" cy="914400"/>
          </a:xfrm>
          <a:prstGeom prst="rect">
            <a:avLst/>
          </a:prstGeom>
          <a:solidFill>
            <a:srgbClr val="DAEF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A5F15-6F1B-9296-0D7B-8DEE9717F700}"/>
              </a:ext>
            </a:extLst>
          </p:cNvPr>
          <p:cNvSpPr txBox="1"/>
          <p:nvPr/>
        </p:nvSpPr>
        <p:spPr>
          <a:xfrm>
            <a:off x="571500" y="5245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235637"/>
                </a:solidFill>
              </a:rPr>
              <a:t>✓  Governance Credibility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91DD63-EAAC-C574-C9C5-49666617ECD8}"/>
              </a:ext>
            </a:extLst>
          </p:cNvPr>
          <p:cNvSpPr txBox="1"/>
          <p:nvPr/>
        </p:nvSpPr>
        <p:spPr>
          <a:xfrm>
            <a:off x="3238500" y="5308600"/>
            <a:ext cx="844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64381F"/>
                </a:solidFill>
              </a:rPr>
              <a:t>Delivering a working, well-governed phase 1 builds trust with stakeholders faster than a delayed full-scope delivery.</a:t>
            </a:r>
          </a:p>
        </p:txBody>
      </p:sp>
    </p:spTree>
    <p:extLst>
      <p:ext uri="{BB962C8B-B14F-4D97-AF65-F5344CB8AC3E}">
        <p14:creationId xmlns:p14="http://schemas.microsoft.com/office/powerpoint/2010/main" val="3370321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72581C-F713-746D-F13C-F647DC69207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3247D-0D47-025A-0C15-95BD71D94136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D765D-E968-1CD3-0F80-5E133D557157}"/>
              </a:ext>
            </a:extLst>
          </p:cNvPr>
          <p:cNvSpPr/>
          <p:nvPr/>
        </p:nvSpPr>
        <p:spPr>
          <a:xfrm>
            <a:off x="381000" y="1206500"/>
            <a:ext cx="11430000" cy="9144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1B459-A566-50A3-412F-1C01B9BE6152}"/>
              </a:ext>
            </a:extLst>
          </p:cNvPr>
          <p:cNvSpPr txBox="1"/>
          <p:nvPr/>
        </p:nvSpPr>
        <p:spPr>
          <a:xfrm>
            <a:off x="508000" y="14605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B6752E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BB0FD-DD11-3450-E2CF-ACAF4A3E6972}"/>
              </a:ext>
            </a:extLst>
          </p:cNvPr>
          <p:cNvSpPr txBox="1"/>
          <p:nvPr/>
        </p:nvSpPr>
        <p:spPr>
          <a:xfrm>
            <a:off x="1016000" y="13081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Governance Team Reviews Proposed Changes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263BF-2BA9-798B-6336-3DD794045E56}"/>
              </a:ext>
            </a:extLst>
          </p:cNvPr>
          <p:cNvSpPr txBox="1"/>
          <p:nvPr/>
        </p:nvSpPr>
        <p:spPr>
          <a:xfrm>
            <a:off x="1016000" y="1651000"/>
            <a:ext cx="711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Review the 10 change points and confirm agreement on revised scope.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C9F81-D42E-7256-0CAE-9BDFCFE83145}"/>
              </a:ext>
            </a:extLst>
          </p:cNvPr>
          <p:cNvSpPr/>
          <p:nvPr/>
        </p:nvSpPr>
        <p:spPr>
          <a:xfrm>
            <a:off x="8382000" y="1435100"/>
            <a:ext cx="3238500" cy="4572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77424-1741-4C52-EC29-CD3E6A9A11DC}"/>
              </a:ext>
            </a:extLst>
          </p:cNvPr>
          <p:cNvSpPr txBox="1"/>
          <p:nvPr/>
        </p:nvSpPr>
        <p:spPr>
          <a:xfrm>
            <a:off x="8445500" y="15240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B6752E"/>
                </a:solidFill>
              </a:rPr>
              <a:t>Today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E1CDAE-5088-5A92-9953-D348B57B7F3A}"/>
              </a:ext>
            </a:extLst>
          </p:cNvPr>
          <p:cNvSpPr/>
          <p:nvPr/>
        </p:nvSpPr>
        <p:spPr>
          <a:xfrm>
            <a:off x="381000" y="2184400"/>
            <a:ext cx="11430000" cy="9144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6EBB2-E89A-B9D3-D0C3-FF1A08058105}"/>
              </a:ext>
            </a:extLst>
          </p:cNvPr>
          <p:cNvSpPr txBox="1"/>
          <p:nvPr/>
        </p:nvSpPr>
        <p:spPr>
          <a:xfrm>
            <a:off x="508000" y="24384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B6752E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9EF20-E251-52ED-A2D0-DE76FF77AD3C}"/>
              </a:ext>
            </a:extLst>
          </p:cNvPr>
          <p:cNvSpPr txBox="1"/>
          <p:nvPr/>
        </p:nvSpPr>
        <p:spPr>
          <a:xfrm>
            <a:off x="1016000" y="2286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Revised SOP Approved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BB282A-87E0-6A14-7C51-597B5ECFD6B7}"/>
              </a:ext>
            </a:extLst>
          </p:cNvPr>
          <p:cNvSpPr txBox="1"/>
          <p:nvPr/>
        </p:nvSpPr>
        <p:spPr>
          <a:xfrm>
            <a:off x="1016000" y="2628900"/>
            <a:ext cx="711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DGC reviews and approves the phase 1 scoped SOP (SPW-BDSI-SP-002 Rev 1).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7DE018-2D37-B5E3-D6A6-91C34E594998}"/>
              </a:ext>
            </a:extLst>
          </p:cNvPr>
          <p:cNvSpPr/>
          <p:nvPr/>
        </p:nvSpPr>
        <p:spPr>
          <a:xfrm>
            <a:off x="8382000" y="2413000"/>
            <a:ext cx="3238500" cy="4572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CE7959-95FA-4594-ED2F-DBB7D02BB2E3}"/>
              </a:ext>
            </a:extLst>
          </p:cNvPr>
          <p:cNvSpPr txBox="1"/>
          <p:nvPr/>
        </p:nvSpPr>
        <p:spPr>
          <a:xfrm>
            <a:off x="8445500" y="25019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B6752E"/>
                </a:solidFill>
              </a:rPr>
              <a:t>Within 2 weeks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35E19-16AA-36FC-387E-6EA801E0CA30}"/>
              </a:ext>
            </a:extLst>
          </p:cNvPr>
          <p:cNvSpPr/>
          <p:nvPr/>
        </p:nvSpPr>
        <p:spPr>
          <a:xfrm>
            <a:off x="381000" y="3162300"/>
            <a:ext cx="11430000" cy="9144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17460-D812-9B48-90C0-5CF73BBDA001}"/>
              </a:ext>
            </a:extLst>
          </p:cNvPr>
          <p:cNvSpPr txBox="1"/>
          <p:nvPr/>
        </p:nvSpPr>
        <p:spPr>
          <a:xfrm>
            <a:off x="508000" y="34163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B6752E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E2FF45-5A46-B6B2-1BB1-91E667D718DA}"/>
              </a:ext>
            </a:extLst>
          </p:cNvPr>
          <p:cNvSpPr txBox="1"/>
          <p:nvPr/>
        </p:nvSpPr>
        <p:spPr>
          <a:xfrm>
            <a:off x="1016000" y="32639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Metadata Preparation for 5 Tables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24C17D-97FB-990D-1CAA-69ABADAB9906}"/>
              </a:ext>
            </a:extLst>
          </p:cNvPr>
          <p:cNvSpPr txBox="1"/>
          <p:nvPr/>
        </p:nvSpPr>
        <p:spPr>
          <a:xfrm>
            <a:off x="1016000" y="3606800"/>
            <a:ext cx="711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Data Stewards and Custodians complete metadata for priority tables.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BF7458-286D-7798-6C8E-1148598F056E}"/>
              </a:ext>
            </a:extLst>
          </p:cNvPr>
          <p:cNvSpPr/>
          <p:nvPr/>
        </p:nvSpPr>
        <p:spPr>
          <a:xfrm>
            <a:off x="8382000" y="3390900"/>
            <a:ext cx="3238500" cy="4572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10359-9411-73D3-978C-8D7DB80A4BDF}"/>
              </a:ext>
            </a:extLst>
          </p:cNvPr>
          <p:cNvSpPr txBox="1"/>
          <p:nvPr/>
        </p:nvSpPr>
        <p:spPr>
          <a:xfrm>
            <a:off x="8445500" y="34798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B6752E"/>
                </a:solidFill>
              </a:rPr>
              <a:t>Weeks 3-4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F7130A-B04B-86BC-6EB7-76672D278A16}"/>
              </a:ext>
            </a:extLst>
          </p:cNvPr>
          <p:cNvSpPr/>
          <p:nvPr/>
        </p:nvSpPr>
        <p:spPr>
          <a:xfrm>
            <a:off x="381000" y="4140200"/>
            <a:ext cx="11430000" cy="9144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BB47B0-CD26-B62E-40D2-D1C5D1E3A9FD}"/>
              </a:ext>
            </a:extLst>
          </p:cNvPr>
          <p:cNvSpPr txBox="1"/>
          <p:nvPr/>
        </p:nvSpPr>
        <p:spPr>
          <a:xfrm>
            <a:off x="508000" y="43942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B6752E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2FAF93-2F74-895D-095B-EB727A697545}"/>
              </a:ext>
            </a:extLst>
          </p:cNvPr>
          <p:cNvSpPr txBox="1"/>
          <p:nvPr/>
        </p:nvSpPr>
        <p:spPr>
          <a:xfrm>
            <a:off x="1016000" y="42418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Validation &amp; Sign-off by Data Owners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DF3D96-22C2-5966-9958-DDEDD03ADF81}"/>
              </a:ext>
            </a:extLst>
          </p:cNvPr>
          <p:cNvSpPr txBox="1"/>
          <p:nvPr/>
        </p:nvSpPr>
        <p:spPr>
          <a:xfrm>
            <a:off x="1016000" y="4584700"/>
            <a:ext cx="711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Data Owners review and confirm metadata accuracy for each table.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BB0C97-D06E-2E58-360C-CF939DB324E6}"/>
              </a:ext>
            </a:extLst>
          </p:cNvPr>
          <p:cNvSpPr/>
          <p:nvPr/>
        </p:nvSpPr>
        <p:spPr>
          <a:xfrm>
            <a:off x="8382000" y="4368800"/>
            <a:ext cx="3238500" cy="4572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4798AA-B7F3-CB86-AD96-C72DB540561A}"/>
              </a:ext>
            </a:extLst>
          </p:cNvPr>
          <p:cNvSpPr txBox="1"/>
          <p:nvPr/>
        </p:nvSpPr>
        <p:spPr>
          <a:xfrm>
            <a:off x="8445500" y="44577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B6752E"/>
                </a:solidFill>
              </a:rPr>
              <a:t>Week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8C912D-5E33-5526-0613-4601EC81DCF5}"/>
              </a:ext>
            </a:extLst>
          </p:cNvPr>
          <p:cNvSpPr/>
          <p:nvPr/>
        </p:nvSpPr>
        <p:spPr>
          <a:xfrm>
            <a:off x="381000" y="5118100"/>
            <a:ext cx="11430000" cy="914400"/>
          </a:xfrm>
          <a:prstGeom prst="rect">
            <a:avLst/>
          </a:prstGeom>
          <a:solidFill>
            <a:srgbClr val="F7EB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AF40D9-ED5C-831F-2D4F-E9928615C22B}"/>
              </a:ext>
            </a:extLst>
          </p:cNvPr>
          <p:cNvSpPr txBox="1"/>
          <p:nvPr/>
        </p:nvSpPr>
        <p:spPr>
          <a:xfrm>
            <a:off x="508000" y="53721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B6752E"/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F45279-0AAF-A77A-705E-ED3FCD0B3EB6}"/>
              </a:ext>
            </a:extLst>
          </p:cNvPr>
          <p:cNvSpPr txBox="1"/>
          <p:nvPr/>
        </p:nvSpPr>
        <p:spPr>
          <a:xfrm>
            <a:off x="1016000" y="52197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64381F"/>
                </a:solidFill>
              </a:rPr>
              <a:t>Bot Integration &amp; Testing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35DEE-F17E-15E6-F376-5E914B39B9D2}"/>
              </a:ext>
            </a:extLst>
          </p:cNvPr>
          <p:cNvSpPr txBox="1"/>
          <p:nvPr/>
        </p:nvSpPr>
        <p:spPr>
          <a:xfrm>
            <a:off x="1016000" y="5562600"/>
            <a:ext cx="711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381F"/>
                </a:solidFill>
              </a:rPr>
              <a:t>Approved metadata loaded; chat-to-data bot tested against business questions.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B8D87B-F6E1-0319-D65D-34ABDD00E26A}"/>
              </a:ext>
            </a:extLst>
          </p:cNvPr>
          <p:cNvSpPr/>
          <p:nvPr/>
        </p:nvSpPr>
        <p:spPr>
          <a:xfrm>
            <a:off x="8382000" y="5346700"/>
            <a:ext cx="3238500" cy="457200"/>
          </a:xfrm>
          <a:prstGeom prst="rect">
            <a:avLst/>
          </a:prstGeom>
          <a:solidFill>
            <a:srgbClr val="F0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7EE6C8-E823-8C8E-0ADC-168963F813B6}"/>
              </a:ext>
            </a:extLst>
          </p:cNvPr>
          <p:cNvSpPr txBox="1"/>
          <p:nvPr/>
        </p:nvSpPr>
        <p:spPr>
          <a:xfrm>
            <a:off x="8445500" y="54356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B6752E"/>
                </a:solidFill>
              </a:rPr>
              <a:t>Weeks 5-6</a:t>
            </a:r>
          </a:p>
        </p:txBody>
      </p:sp>
    </p:spTree>
    <p:extLst>
      <p:ext uri="{BB962C8B-B14F-4D97-AF65-F5344CB8AC3E}">
        <p14:creationId xmlns:p14="http://schemas.microsoft.com/office/powerpoint/2010/main" val="918050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2520AB-A2D6-468A-583C-71DF842A2A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38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6CB53-FDA1-8A7E-BEFA-0FF4E7977F85}"/>
              </a:ext>
            </a:extLst>
          </p:cNvPr>
          <p:cNvSpPr/>
          <p:nvPr/>
        </p:nvSpPr>
        <p:spPr>
          <a:xfrm>
            <a:off x="0" y="4826000"/>
            <a:ext cx="12192000" cy="127000"/>
          </a:xfrm>
          <a:prstGeom prst="rect">
            <a:avLst/>
          </a:prstGeom>
          <a:solidFill>
            <a:srgbClr val="115AC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5C749-F3AB-C1CE-D68B-1E25C2748955}"/>
              </a:ext>
            </a:extLst>
          </p:cNvPr>
          <p:cNvSpPr txBox="1"/>
          <p:nvPr/>
        </p:nvSpPr>
        <p:spPr>
          <a:xfrm>
            <a:off x="762000" y="203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910D0-2A73-6E76-8B24-1CA7B2A99228}"/>
              </a:ext>
            </a:extLst>
          </p:cNvPr>
          <p:cNvSpPr txBox="1"/>
          <p:nvPr/>
        </p:nvSpPr>
        <p:spPr>
          <a:xfrm>
            <a:off x="762000" y="3238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>
                <a:solidFill>
                  <a:srgbClr val="EED7BD"/>
                </a:solidFill>
              </a:rPr>
              <a:t>Thank you for your time and review.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1DA81-4C9A-0C90-CCE8-0106EE351D9E}"/>
              </a:ext>
            </a:extLst>
          </p:cNvPr>
          <p:cNvSpPr txBox="1"/>
          <p:nvPr/>
        </p:nvSpPr>
        <p:spPr>
          <a:xfrm>
            <a:off x="762000" y="5334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>
                <a:solidFill>
                  <a:srgbClr val="E6C39D"/>
                </a:solidFill>
              </a:rPr>
              <a:t>SPW-BDSI-SP-002  |  Metadata Management Procedure  |  May 2026</a:t>
            </a:r>
          </a:p>
        </p:txBody>
      </p:sp>
    </p:spTree>
    <p:extLst>
      <p:ext uri="{BB962C8B-B14F-4D97-AF65-F5344CB8AC3E}">
        <p14:creationId xmlns:p14="http://schemas.microsoft.com/office/powerpoint/2010/main" val="2354936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1785</Words>
  <Application>Microsoft Office PowerPoint</Application>
  <PresentationFormat>Custom</PresentationFormat>
  <Paragraphs>153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Sowan Yuthyuenyong</dc:creator>
  <cp:lastModifiedBy>Sowan Yuthyuenyong</cp:lastModifiedBy>
  <cp:revision>1</cp:revision>
  <dcterms:created xsi:type="dcterms:W3CDTF">2026-05-13T04:42:51Z</dcterms:created>
  <dcterms:modified xsi:type="dcterms:W3CDTF">2026-05-13T04:42:51Z</dcterms:modified>
</cp:coreProperties>
</file>