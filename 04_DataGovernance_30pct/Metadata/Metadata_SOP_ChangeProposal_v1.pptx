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4" d="100"/>
          <a:sy n="84" d="100"/>
        </p:scale>
        <p:origin x="37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2BD93B-2D55-79A7-0C4A-C8D2A89E391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6744FDC-77CB-390E-1205-E7371466AEB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11D1661-A458-71CB-03B1-3E8520FC4D63}"/>
              </a:ext>
            </a:extLst>
          </p:cNvPr>
          <p:cNvSpPr>
            <a:spLocks noGrp="1"/>
          </p:cNvSpPr>
          <p:nvPr>
            <p:ph type="dt" sz="half" idx="10"/>
          </p:nvPr>
        </p:nvSpPr>
        <p:spPr/>
        <p:txBody>
          <a:bodyPr/>
          <a:lstStyle/>
          <a:p>
            <a:fld id="{5D1ED17B-B2D9-4DC8-B452-FDF5ED6E243E}" type="datetimeFigureOut">
              <a:rPr lang="en-US" smtClean="0"/>
              <a:t>16/05/2026</a:t>
            </a:fld>
            <a:endParaRPr lang="en-US"/>
          </a:p>
        </p:txBody>
      </p:sp>
      <p:sp>
        <p:nvSpPr>
          <p:cNvPr id="5" name="Footer Placeholder 4">
            <a:extLst>
              <a:ext uri="{FF2B5EF4-FFF2-40B4-BE49-F238E27FC236}">
                <a16:creationId xmlns:a16="http://schemas.microsoft.com/office/drawing/2014/main" id="{61CD9F88-09E5-F9A8-A3CF-0DEDEC1D18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1C6C1E0-F0CF-6C4F-49A5-7AEE115A7D5D}"/>
              </a:ext>
            </a:extLst>
          </p:cNvPr>
          <p:cNvSpPr>
            <a:spLocks noGrp="1"/>
          </p:cNvSpPr>
          <p:nvPr>
            <p:ph type="sldNum" sz="quarter" idx="12"/>
          </p:nvPr>
        </p:nvSpPr>
        <p:spPr/>
        <p:txBody>
          <a:bodyPr/>
          <a:lstStyle/>
          <a:p>
            <a:fld id="{1BFEC23D-6FE0-4C48-97A6-8B30269E3E9B}" type="slidenum">
              <a:rPr lang="en-US" smtClean="0"/>
              <a:t>‹#›</a:t>
            </a:fld>
            <a:endParaRPr lang="en-US"/>
          </a:p>
        </p:txBody>
      </p:sp>
    </p:spTree>
    <p:extLst>
      <p:ext uri="{BB962C8B-B14F-4D97-AF65-F5344CB8AC3E}">
        <p14:creationId xmlns:p14="http://schemas.microsoft.com/office/powerpoint/2010/main" val="40823610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707DD7-231C-E9F1-1BD4-D0F5A4DD95E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E96086-AEDF-235A-6F56-A66D757AA12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569F9C9-4016-17E6-CB8E-65C5189D00A3}"/>
              </a:ext>
            </a:extLst>
          </p:cNvPr>
          <p:cNvSpPr>
            <a:spLocks noGrp="1"/>
          </p:cNvSpPr>
          <p:nvPr>
            <p:ph type="dt" sz="half" idx="10"/>
          </p:nvPr>
        </p:nvSpPr>
        <p:spPr/>
        <p:txBody>
          <a:bodyPr/>
          <a:lstStyle/>
          <a:p>
            <a:fld id="{5D1ED17B-B2D9-4DC8-B452-FDF5ED6E243E}" type="datetimeFigureOut">
              <a:rPr lang="en-US" smtClean="0"/>
              <a:t>16/05/2026</a:t>
            </a:fld>
            <a:endParaRPr lang="en-US"/>
          </a:p>
        </p:txBody>
      </p:sp>
      <p:sp>
        <p:nvSpPr>
          <p:cNvPr id="5" name="Footer Placeholder 4">
            <a:extLst>
              <a:ext uri="{FF2B5EF4-FFF2-40B4-BE49-F238E27FC236}">
                <a16:creationId xmlns:a16="http://schemas.microsoft.com/office/drawing/2014/main" id="{67E4C3B9-4F3E-3DDA-FBFF-047458700F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54C064-2B1E-5E7A-7E76-948BACC290BF}"/>
              </a:ext>
            </a:extLst>
          </p:cNvPr>
          <p:cNvSpPr>
            <a:spLocks noGrp="1"/>
          </p:cNvSpPr>
          <p:nvPr>
            <p:ph type="sldNum" sz="quarter" idx="12"/>
          </p:nvPr>
        </p:nvSpPr>
        <p:spPr/>
        <p:txBody>
          <a:bodyPr/>
          <a:lstStyle/>
          <a:p>
            <a:fld id="{1BFEC23D-6FE0-4C48-97A6-8B30269E3E9B}" type="slidenum">
              <a:rPr lang="en-US" smtClean="0"/>
              <a:t>‹#›</a:t>
            </a:fld>
            <a:endParaRPr lang="en-US"/>
          </a:p>
        </p:txBody>
      </p:sp>
    </p:spTree>
    <p:extLst>
      <p:ext uri="{BB962C8B-B14F-4D97-AF65-F5344CB8AC3E}">
        <p14:creationId xmlns:p14="http://schemas.microsoft.com/office/powerpoint/2010/main" val="30256873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085A7-AB96-35F8-3D9F-09554B46AF6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7D8A614-39B8-129D-CE3D-18C599721F8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DF79AC8-1396-C8A5-A664-B404D8187232}"/>
              </a:ext>
            </a:extLst>
          </p:cNvPr>
          <p:cNvSpPr>
            <a:spLocks noGrp="1"/>
          </p:cNvSpPr>
          <p:nvPr>
            <p:ph type="dt" sz="half" idx="10"/>
          </p:nvPr>
        </p:nvSpPr>
        <p:spPr/>
        <p:txBody>
          <a:bodyPr/>
          <a:lstStyle/>
          <a:p>
            <a:fld id="{5D1ED17B-B2D9-4DC8-B452-FDF5ED6E243E}" type="datetimeFigureOut">
              <a:rPr lang="en-US" smtClean="0"/>
              <a:t>16/05/2026</a:t>
            </a:fld>
            <a:endParaRPr lang="en-US"/>
          </a:p>
        </p:txBody>
      </p:sp>
      <p:sp>
        <p:nvSpPr>
          <p:cNvPr id="5" name="Footer Placeholder 4">
            <a:extLst>
              <a:ext uri="{FF2B5EF4-FFF2-40B4-BE49-F238E27FC236}">
                <a16:creationId xmlns:a16="http://schemas.microsoft.com/office/drawing/2014/main" id="{A4DD1A39-ECD3-B110-E0F4-7D4F05CF151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25F87B-0FC6-B36E-956F-BD429F8E063D}"/>
              </a:ext>
            </a:extLst>
          </p:cNvPr>
          <p:cNvSpPr>
            <a:spLocks noGrp="1"/>
          </p:cNvSpPr>
          <p:nvPr>
            <p:ph type="sldNum" sz="quarter" idx="12"/>
          </p:nvPr>
        </p:nvSpPr>
        <p:spPr/>
        <p:txBody>
          <a:bodyPr/>
          <a:lstStyle/>
          <a:p>
            <a:fld id="{1BFEC23D-6FE0-4C48-97A6-8B30269E3E9B}" type="slidenum">
              <a:rPr lang="en-US" smtClean="0"/>
              <a:t>‹#›</a:t>
            </a:fld>
            <a:endParaRPr lang="en-US"/>
          </a:p>
        </p:txBody>
      </p:sp>
    </p:spTree>
    <p:extLst>
      <p:ext uri="{BB962C8B-B14F-4D97-AF65-F5344CB8AC3E}">
        <p14:creationId xmlns:p14="http://schemas.microsoft.com/office/powerpoint/2010/main" val="2169366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C3ABEB-DD80-7120-480F-B969B47B508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CAB1D2A-6F4C-75F7-8F58-6CEE8073BF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A9F8A67-2E3F-BE43-80CD-A4BD974F62B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40BEAD4-07C8-992E-5C56-726AC5C39F1D}"/>
              </a:ext>
            </a:extLst>
          </p:cNvPr>
          <p:cNvSpPr>
            <a:spLocks noGrp="1"/>
          </p:cNvSpPr>
          <p:nvPr>
            <p:ph type="dt" sz="half" idx="10"/>
          </p:nvPr>
        </p:nvSpPr>
        <p:spPr/>
        <p:txBody>
          <a:bodyPr/>
          <a:lstStyle/>
          <a:p>
            <a:fld id="{5D1ED17B-B2D9-4DC8-B452-FDF5ED6E243E}" type="datetimeFigureOut">
              <a:rPr lang="en-US" smtClean="0"/>
              <a:t>16/05/2026</a:t>
            </a:fld>
            <a:endParaRPr lang="en-US"/>
          </a:p>
        </p:txBody>
      </p:sp>
      <p:sp>
        <p:nvSpPr>
          <p:cNvPr id="6" name="Footer Placeholder 5">
            <a:extLst>
              <a:ext uri="{FF2B5EF4-FFF2-40B4-BE49-F238E27FC236}">
                <a16:creationId xmlns:a16="http://schemas.microsoft.com/office/drawing/2014/main" id="{243C9CE4-F411-124A-02D8-EFA77D265FB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9233763-9771-84CE-8F7C-0ED586B4C2B0}"/>
              </a:ext>
            </a:extLst>
          </p:cNvPr>
          <p:cNvSpPr>
            <a:spLocks noGrp="1"/>
          </p:cNvSpPr>
          <p:nvPr>
            <p:ph type="sldNum" sz="quarter" idx="12"/>
          </p:nvPr>
        </p:nvSpPr>
        <p:spPr/>
        <p:txBody>
          <a:bodyPr/>
          <a:lstStyle/>
          <a:p>
            <a:fld id="{1BFEC23D-6FE0-4C48-97A6-8B30269E3E9B}" type="slidenum">
              <a:rPr lang="en-US" smtClean="0"/>
              <a:t>‹#›</a:t>
            </a:fld>
            <a:endParaRPr lang="en-US"/>
          </a:p>
        </p:txBody>
      </p:sp>
    </p:spTree>
    <p:extLst>
      <p:ext uri="{BB962C8B-B14F-4D97-AF65-F5344CB8AC3E}">
        <p14:creationId xmlns:p14="http://schemas.microsoft.com/office/powerpoint/2010/main" val="25978910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A97891-5E0A-644C-78B8-C58AAAFF731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56598A6-D7BF-CD8F-E500-82518CA023C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DDB775C-CE37-0274-C5EC-1D71E3C6269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4A329AA-EDFA-DA87-9355-4853BCA7722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87CC6FC-48C3-83B4-1700-9EE92C1D5D8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2DBA08D-54DD-1493-BF80-5DE23C500445}"/>
              </a:ext>
            </a:extLst>
          </p:cNvPr>
          <p:cNvSpPr>
            <a:spLocks noGrp="1"/>
          </p:cNvSpPr>
          <p:nvPr>
            <p:ph type="dt" sz="half" idx="10"/>
          </p:nvPr>
        </p:nvSpPr>
        <p:spPr/>
        <p:txBody>
          <a:bodyPr/>
          <a:lstStyle/>
          <a:p>
            <a:fld id="{5D1ED17B-B2D9-4DC8-B452-FDF5ED6E243E}" type="datetimeFigureOut">
              <a:rPr lang="en-US" smtClean="0"/>
              <a:t>16/05/2026</a:t>
            </a:fld>
            <a:endParaRPr lang="en-US"/>
          </a:p>
        </p:txBody>
      </p:sp>
      <p:sp>
        <p:nvSpPr>
          <p:cNvPr id="8" name="Footer Placeholder 7">
            <a:extLst>
              <a:ext uri="{FF2B5EF4-FFF2-40B4-BE49-F238E27FC236}">
                <a16:creationId xmlns:a16="http://schemas.microsoft.com/office/drawing/2014/main" id="{6C15F7A6-AD8F-0684-86BA-F76E8708B49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D7A901F-9C3C-ED91-EB78-F0D3B8457FEB}"/>
              </a:ext>
            </a:extLst>
          </p:cNvPr>
          <p:cNvSpPr>
            <a:spLocks noGrp="1"/>
          </p:cNvSpPr>
          <p:nvPr>
            <p:ph type="sldNum" sz="quarter" idx="12"/>
          </p:nvPr>
        </p:nvSpPr>
        <p:spPr/>
        <p:txBody>
          <a:bodyPr/>
          <a:lstStyle/>
          <a:p>
            <a:fld id="{1BFEC23D-6FE0-4C48-97A6-8B30269E3E9B}" type="slidenum">
              <a:rPr lang="en-US" smtClean="0"/>
              <a:t>‹#›</a:t>
            </a:fld>
            <a:endParaRPr lang="en-US"/>
          </a:p>
        </p:txBody>
      </p:sp>
    </p:spTree>
    <p:extLst>
      <p:ext uri="{BB962C8B-B14F-4D97-AF65-F5344CB8AC3E}">
        <p14:creationId xmlns:p14="http://schemas.microsoft.com/office/powerpoint/2010/main" val="36128445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BD367E-23E2-5B83-D75C-F47E6908B83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ACA3EAE-3455-F155-C91F-219584A3FFE3}"/>
              </a:ext>
            </a:extLst>
          </p:cNvPr>
          <p:cNvSpPr>
            <a:spLocks noGrp="1"/>
          </p:cNvSpPr>
          <p:nvPr>
            <p:ph type="dt" sz="half" idx="10"/>
          </p:nvPr>
        </p:nvSpPr>
        <p:spPr/>
        <p:txBody>
          <a:bodyPr/>
          <a:lstStyle/>
          <a:p>
            <a:fld id="{5D1ED17B-B2D9-4DC8-B452-FDF5ED6E243E}" type="datetimeFigureOut">
              <a:rPr lang="en-US" smtClean="0"/>
              <a:t>16/05/2026</a:t>
            </a:fld>
            <a:endParaRPr lang="en-US"/>
          </a:p>
        </p:txBody>
      </p:sp>
      <p:sp>
        <p:nvSpPr>
          <p:cNvPr id="4" name="Footer Placeholder 3">
            <a:extLst>
              <a:ext uri="{FF2B5EF4-FFF2-40B4-BE49-F238E27FC236}">
                <a16:creationId xmlns:a16="http://schemas.microsoft.com/office/drawing/2014/main" id="{3860EF86-A3F7-F9E5-F932-FC8C7E2834C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3598AC6-7AC5-5C3E-7CBE-4DDD0B19FAE6}"/>
              </a:ext>
            </a:extLst>
          </p:cNvPr>
          <p:cNvSpPr>
            <a:spLocks noGrp="1"/>
          </p:cNvSpPr>
          <p:nvPr>
            <p:ph type="sldNum" sz="quarter" idx="12"/>
          </p:nvPr>
        </p:nvSpPr>
        <p:spPr/>
        <p:txBody>
          <a:bodyPr/>
          <a:lstStyle/>
          <a:p>
            <a:fld id="{1BFEC23D-6FE0-4C48-97A6-8B30269E3E9B}" type="slidenum">
              <a:rPr lang="en-US" smtClean="0"/>
              <a:t>‹#›</a:t>
            </a:fld>
            <a:endParaRPr lang="en-US"/>
          </a:p>
        </p:txBody>
      </p:sp>
    </p:spTree>
    <p:extLst>
      <p:ext uri="{BB962C8B-B14F-4D97-AF65-F5344CB8AC3E}">
        <p14:creationId xmlns:p14="http://schemas.microsoft.com/office/powerpoint/2010/main" val="36479087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EBA5277-4EB4-7940-EADE-AEC425A89835}"/>
              </a:ext>
            </a:extLst>
          </p:cNvPr>
          <p:cNvSpPr>
            <a:spLocks noGrp="1"/>
          </p:cNvSpPr>
          <p:nvPr>
            <p:ph type="dt" sz="half" idx="10"/>
          </p:nvPr>
        </p:nvSpPr>
        <p:spPr/>
        <p:txBody>
          <a:bodyPr/>
          <a:lstStyle/>
          <a:p>
            <a:fld id="{5D1ED17B-B2D9-4DC8-B452-FDF5ED6E243E}" type="datetimeFigureOut">
              <a:rPr lang="en-US" smtClean="0"/>
              <a:t>16/05/2026</a:t>
            </a:fld>
            <a:endParaRPr lang="en-US"/>
          </a:p>
        </p:txBody>
      </p:sp>
      <p:sp>
        <p:nvSpPr>
          <p:cNvPr id="3" name="Footer Placeholder 2">
            <a:extLst>
              <a:ext uri="{FF2B5EF4-FFF2-40B4-BE49-F238E27FC236}">
                <a16:creationId xmlns:a16="http://schemas.microsoft.com/office/drawing/2014/main" id="{DD16DD21-464C-7472-325D-D088E55AD72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953852C-C8F6-86CD-C459-88A7128004C7}"/>
              </a:ext>
            </a:extLst>
          </p:cNvPr>
          <p:cNvSpPr>
            <a:spLocks noGrp="1"/>
          </p:cNvSpPr>
          <p:nvPr>
            <p:ph type="sldNum" sz="quarter" idx="12"/>
          </p:nvPr>
        </p:nvSpPr>
        <p:spPr/>
        <p:txBody>
          <a:bodyPr/>
          <a:lstStyle/>
          <a:p>
            <a:fld id="{1BFEC23D-6FE0-4C48-97A6-8B30269E3E9B}" type="slidenum">
              <a:rPr lang="en-US" smtClean="0"/>
              <a:t>‹#›</a:t>
            </a:fld>
            <a:endParaRPr lang="en-US"/>
          </a:p>
        </p:txBody>
      </p:sp>
    </p:spTree>
    <p:extLst>
      <p:ext uri="{BB962C8B-B14F-4D97-AF65-F5344CB8AC3E}">
        <p14:creationId xmlns:p14="http://schemas.microsoft.com/office/powerpoint/2010/main" val="33584977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926B8C-C434-2B9D-159D-3BA0C3FF2D5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DDD190D-F52C-7C69-51B6-7E6D614732B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B490BE0-352B-46CE-B3F8-1FE1D3D8292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9DD53BF-3A64-50AE-695C-1DB039942813}"/>
              </a:ext>
            </a:extLst>
          </p:cNvPr>
          <p:cNvSpPr>
            <a:spLocks noGrp="1"/>
          </p:cNvSpPr>
          <p:nvPr>
            <p:ph type="dt" sz="half" idx="10"/>
          </p:nvPr>
        </p:nvSpPr>
        <p:spPr/>
        <p:txBody>
          <a:bodyPr/>
          <a:lstStyle/>
          <a:p>
            <a:fld id="{5D1ED17B-B2D9-4DC8-B452-FDF5ED6E243E}" type="datetimeFigureOut">
              <a:rPr lang="en-US" smtClean="0"/>
              <a:t>16/05/2026</a:t>
            </a:fld>
            <a:endParaRPr lang="en-US"/>
          </a:p>
        </p:txBody>
      </p:sp>
      <p:sp>
        <p:nvSpPr>
          <p:cNvPr id="6" name="Footer Placeholder 5">
            <a:extLst>
              <a:ext uri="{FF2B5EF4-FFF2-40B4-BE49-F238E27FC236}">
                <a16:creationId xmlns:a16="http://schemas.microsoft.com/office/drawing/2014/main" id="{2A4393C5-6FAE-4C54-6005-2502EA45C82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DEAD18-BC32-22BE-E1D8-CD1323EC496E}"/>
              </a:ext>
            </a:extLst>
          </p:cNvPr>
          <p:cNvSpPr>
            <a:spLocks noGrp="1"/>
          </p:cNvSpPr>
          <p:nvPr>
            <p:ph type="sldNum" sz="quarter" idx="12"/>
          </p:nvPr>
        </p:nvSpPr>
        <p:spPr/>
        <p:txBody>
          <a:bodyPr/>
          <a:lstStyle/>
          <a:p>
            <a:fld id="{1BFEC23D-6FE0-4C48-97A6-8B30269E3E9B}" type="slidenum">
              <a:rPr lang="en-US" smtClean="0"/>
              <a:t>‹#›</a:t>
            </a:fld>
            <a:endParaRPr lang="en-US"/>
          </a:p>
        </p:txBody>
      </p:sp>
    </p:spTree>
    <p:extLst>
      <p:ext uri="{BB962C8B-B14F-4D97-AF65-F5344CB8AC3E}">
        <p14:creationId xmlns:p14="http://schemas.microsoft.com/office/powerpoint/2010/main" val="12845836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43177B-C789-11C0-234B-B8A24EBDB1C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7DEF607-1A8F-18D7-6440-D58089F9D01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9769F68-36C6-4778-9F63-3E65336595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34D35A6-3AC3-C692-C45F-33EFFF98F456}"/>
              </a:ext>
            </a:extLst>
          </p:cNvPr>
          <p:cNvSpPr>
            <a:spLocks noGrp="1"/>
          </p:cNvSpPr>
          <p:nvPr>
            <p:ph type="dt" sz="half" idx="10"/>
          </p:nvPr>
        </p:nvSpPr>
        <p:spPr/>
        <p:txBody>
          <a:bodyPr/>
          <a:lstStyle/>
          <a:p>
            <a:fld id="{5D1ED17B-B2D9-4DC8-B452-FDF5ED6E243E}" type="datetimeFigureOut">
              <a:rPr lang="en-US" smtClean="0"/>
              <a:t>16/05/2026</a:t>
            </a:fld>
            <a:endParaRPr lang="en-US"/>
          </a:p>
        </p:txBody>
      </p:sp>
      <p:sp>
        <p:nvSpPr>
          <p:cNvPr id="6" name="Footer Placeholder 5">
            <a:extLst>
              <a:ext uri="{FF2B5EF4-FFF2-40B4-BE49-F238E27FC236}">
                <a16:creationId xmlns:a16="http://schemas.microsoft.com/office/drawing/2014/main" id="{7DA43A3F-09A7-922D-A22B-E0C6EE598EF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57AD655-4DCA-7F69-DE33-82DFAE10A986}"/>
              </a:ext>
            </a:extLst>
          </p:cNvPr>
          <p:cNvSpPr>
            <a:spLocks noGrp="1"/>
          </p:cNvSpPr>
          <p:nvPr>
            <p:ph type="sldNum" sz="quarter" idx="12"/>
          </p:nvPr>
        </p:nvSpPr>
        <p:spPr/>
        <p:txBody>
          <a:bodyPr/>
          <a:lstStyle/>
          <a:p>
            <a:fld id="{1BFEC23D-6FE0-4C48-97A6-8B30269E3E9B}" type="slidenum">
              <a:rPr lang="en-US" smtClean="0"/>
              <a:t>‹#›</a:t>
            </a:fld>
            <a:endParaRPr lang="en-US"/>
          </a:p>
        </p:txBody>
      </p:sp>
    </p:spTree>
    <p:extLst>
      <p:ext uri="{BB962C8B-B14F-4D97-AF65-F5344CB8AC3E}">
        <p14:creationId xmlns:p14="http://schemas.microsoft.com/office/powerpoint/2010/main" val="36803813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28C764-2DDD-FE3B-1E29-EAE75385399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A7F8007-B0DF-3DAA-4BEE-529BD653F48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46EC061-34EE-B98D-0671-34A80E82D31E}"/>
              </a:ext>
            </a:extLst>
          </p:cNvPr>
          <p:cNvSpPr>
            <a:spLocks noGrp="1"/>
          </p:cNvSpPr>
          <p:nvPr>
            <p:ph type="dt" sz="half" idx="10"/>
          </p:nvPr>
        </p:nvSpPr>
        <p:spPr/>
        <p:txBody>
          <a:bodyPr/>
          <a:lstStyle/>
          <a:p>
            <a:fld id="{5D1ED17B-B2D9-4DC8-B452-FDF5ED6E243E}" type="datetimeFigureOut">
              <a:rPr lang="en-US" smtClean="0"/>
              <a:t>16/05/2026</a:t>
            </a:fld>
            <a:endParaRPr lang="en-US"/>
          </a:p>
        </p:txBody>
      </p:sp>
      <p:sp>
        <p:nvSpPr>
          <p:cNvPr id="5" name="Footer Placeholder 4">
            <a:extLst>
              <a:ext uri="{FF2B5EF4-FFF2-40B4-BE49-F238E27FC236}">
                <a16:creationId xmlns:a16="http://schemas.microsoft.com/office/drawing/2014/main" id="{C1A4C5A1-0122-92E4-5FAB-AF03487BCE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D06D8DE-3CDB-73B5-9273-7E203F486FEE}"/>
              </a:ext>
            </a:extLst>
          </p:cNvPr>
          <p:cNvSpPr>
            <a:spLocks noGrp="1"/>
          </p:cNvSpPr>
          <p:nvPr>
            <p:ph type="sldNum" sz="quarter" idx="12"/>
          </p:nvPr>
        </p:nvSpPr>
        <p:spPr/>
        <p:txBody>
          <a:bodyPr/>
          <a:lstStyle/>
          <a:p>
            <a:fld id="{1BFEC23D-6FE0-4C48-97A6-8B30269E3E9B}" type="slidenum">
              <a:rPr lang="en-US" smtClean="0"/>
              <a:t>‹#›</a:t>
            </a:fld>
            <a:endParaRPr lang="en-US"/>
          </a:p>
        </p:txBody>
      </p:sp>
    </p:spTree>
    <p:extLst>
      <p:ext uri="{BB962C8B-B14F-4D97-AF65-F5344CB8AC3E}">
        <p14:creationId xmlns:p14="http://schemas.microsoft.com/office/powerpoint/2010/main" val="34719514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EE83CC0-873D-B4CD-6C76-4BDB39A559B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0D0800B-4934-DDF2-95EF-74A27C40635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BFAD688-EE65-2060-B8E9-4DAB111C1B13}"/>
              </a:ext>
            </a:extLst>
          </p:cNvPr>
          <p:cNvSpPr>
            <a:spLocks noGrp="1"/>
          </p:cNvSpPr>
          <p:nvPr>
            <p:ph type="dt" sz="half" idx="10"/>
          </p:nvPr>
        </p:nvSpPr>
        <p:spPr/>
        <p:txBody>
          <a:bodyPr/>
          <a:lstStyle/>
          <a:p>
            <a:fld id="{5D1ED17B-B2D9-4DC8-B452-FDF5ED6E243E}" type="datetimeFigureOut">
              <a:rPr lang="en-US" smtClean="0"/>
              <a:t>16/05/2026</a:t>
            </a:fld>
            <a:endParaRPr lang="en-US"/>
          </a:p>
        </p:txBody>
      </p:sp>
      <p:sp>
        <p:nvSpPr>
          <p:cNvPr id="5" name="Footer Placeholder 4">
            <a:extLst>
              <a:ext uri="{FF2B5EF4-FFF2-40B4-BE49-F238E27FC236}">
                <a16:creationId xmlns:a16="http://schemas.microsoft.com/office/drawing/2014/main" id="{13CFE43B-18AA-DD1D-271B-CEE1EEED57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9A78B4-9D47-C585-4120-E862BFF79317}"/>
              </a:ext>
            </a:extLst>
          </p:cNvPr>
          <p:cNvSpPr>
            <a:spLocks noGrp="1"/>
          </p:cNvSpPr>
          <p:nvPr>
            <p:ph type="sldNum" sz="quarter" idx="12"/>
          </p:nvPr>
        </p:nvSpPr>
        <p:spPr/>
        <p:txBody>
          <a:bodyPr/>
          <a:lstStyle/>
          <a:p>
            <a:fld id="{1BFEC23D-6FE0-4C48-97A6-8B30269E3E9B}" type="slidenum">
              <a:rPr lang="en-US" smtClean="0"/>
              <a:t>‹#›</a:t>
            </a:fld>
            <a:endParaRPr lang="en-US"/>
          </a:p>
        </p:txBody>
      </p:sp>
    </p:spTree>
    <p:extLst>
      <p:ext uri="{BB962C8B-B14F-4D97-AF65-F5344CB8AC3E}">
        <p14:creationId xmlns:p14="http://schemas.microsoft.com/office/powerpoint/2010/main" val="14698440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5DBBE0A-A17F-AA9A-145C-9DC6DC2CD9C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9B31E2A-B2CB-CC03-B4EA-9407DE33604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ABE323E-96A5-29EF-D8F8-2B89773917A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1ED17B-B2D9-4DC8-B452-FDF5ED6E243E}" type="datetimeFigureOut">
              <a:rPr lang="en-US" smtClean="0"/>
              <a:t>16/05/2026</a:t>
            </a:fld>
            <a:endParaRPr lang="en-US"/>
          </a:p>
        </p:txBody>
      </p:sp>
      <p:sp>
        <p:nvSpPr>
          <p:cNvPr id="5" name="Footer Placeholder 4">
            <a:extLst>
              <a:ext uri="{FF2B5EF4-FFF2-40B4-BE49-F238E27FC236}">
                <a16:creationId xmlns:a16="http://schemas.microsoft.com/office/drawing/2014/main" id="{CD179878-BECF-0704-6E4E-79F86725E93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882B718-BEB7-A1A4-8A83-B289EB4AB29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BFEC23D-6FE0-4C48-97A6-8B30269E3E9B}" type="slidenum">
              <a:rPr lang="en-US" smtClean="0"/>
              <a:t>‹#›</a:t>
            </a:fld>
            <a:endParaRPr lang="en-US"/>
          </a:p>
        </p:txBody>
      </p:sp>
    </p:spTree>
    <p:extLst>
      <p:ext uri="{BB962C8B-B14F-4D97-AF65-F5344CB8AC3E}">
        <p14:creationId xmlns:p14="http://schemas.microsoft.com/office/powerpoint/2010/main" val="32362207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90CC686-CE28-2C2F-FBD1-3AA0E3C5AA21}"/>
              </a:ext>
            </a:extLst>
          </p:cNvPr>
          <p:cNvSpPr/>
          <p:nvPr/>
        </p:nvSpPr>
        <p:spPr>
          <a:xfrm>
            <a:off x="0" y="0"/>
            <a:ext cx="12192000" cy="6858000"/>
          </a:xfrm>
          <a:prstGeom prst="rect">
            <a:avLst/>
          </a:prstGeom>
          <a:solidFill>
            <a:srgbClr val="4A2E1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C69FD3E4-1584-2262-31D9-2B315C3BAD7B}"/>
              </a:ext>
            </a:extLst>
          </p:cNvPr>
          <p:cNvSpPr/>
          <p:nvPr/>
        </p:nvSpPr>
        <p:spPr>
          <a:xfrm>
            <a:off x="0" y="0"/>
            <a:ext cx="63500" cy="68580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5E7CF8F9-1006-19DF-B320-02475FEBD69C}"/>
              </a:ext>
            </a:extLst>
          </p:cNvPr>
          <p:cNvSpPr/>
          <p:nvPr/>
        </p:nvSpPr>
        <p:spPr>
          <a:xfrm>
            <a:off x="508000" y="3683000"/>
            <a:ext cx="11176000" cy="127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73D66CED-B3CC-D437-355B-127087BC79A0}"/>
              </a:ext>
            </a:extLst>
          </p:cNvPr>
          <p:cNvSpPr txBox="1"/>
          <p:nvPr/>
        </p:nvSpPr>
        <p:spPr>
          <a:xfrm>
            <a:off x="508000" y="1016000"/>
            <a:ext cx="11176000" cy="369332"/>
          </a:xfrm>
          <a:prstGeom prst="rect">
            <a:avLst/>
          </a:prstGeom>
          <a:noFill/>
        </p:spPr>
        <p:txBody>
          <a:bodyPr vert="horz" wrap="square" lIns="38100" tIns="12700" rIns="38100" bIns="12700" rtlCol="0">
            <a:noAutofit/>
          </a:bodyPr>
          <a:lstStyle/>
          <a:p>
            <a:r>
              <a:rPr lang="en-US" sz="1100">
                <a:solidFill>
                  <a:srgbClr val="8D7A6B"/>
                </a:solidFill>
              </a:rPr>
              <a:t>SPW-BDSI-SP-002  |  Metadata Management SOP</a:t>
            </a:r>
          </a:p>
        </p:txBody>
      </p:sp>
      <p:sp>
        <p:nvSpPr>
          <p:cNvPr id="6" name="TextBox 5">
            <a:extLst>
              <a:ext uri="{FF2B5EF4-FFF2-40B4-BE49-F238E27FC236}">
                <a16:creationId xmlns:a16="http://schemas.microsoft.com/office/drawing/2014/main" id="{ABA16630-D219-01AF-6E5C-7050ADE9F522}"/>
              </a:ext>
            </a:extLst>
          </p:cNvPr>
          <p:cNvSpPr txBox="1"/>
          <p:nvPr/>
        </p:nvSpPr>
        <p:spPr>
          <a:xfrm>
            <a:off x="508000" y="1397000"/>
            <a:ext cx="11176000" cy="369332"/>
          </a:xfrm>
          <a:prstGeom prst="rect">
            <a:avLst/>
          </a:prstGeom>
          <a:noFill/>
        </p:spPr>
        <p:txBody>
          <a:bodyPr vert="horz" wrap="square" lIns="38100" tIns="12700" rIns="38100" bIns="12700" rtlCol="0">
            <a:noAutofit/>
          </a:bodyPr>
          <a:lstStyle/>
          <a:p>
            <a:r>
              <a:rPr lang="en-US" sz="4400" b="1">
                <a:solidFill>
                  <a:srgbClr val="FFFFFF"/>
                </a:solidFill>
              </a:rPr>
              <a:t>Change Proposal</a:t>
            </a:r>
          </a:p>
        </p:txBody>
      </p:sp>
      <p:sp>
        <p:nvSpPr>
          <p:cNvPr id="7" name="TextBox 6">
            <a:extLst>
              <a:ext uri="{FF2B5EF4-FFF2-40B4-BE49-F238E27FC236}">
                <a16:creationId xmlns:a16="http://schemas.microsoft.com/office/drawing/2014/main" id="{D16B3E3B-DD08-1498-6B0C-B1A5769AC21F}"/>
              </a:ext>
            </a:extLst>
          </p:cNvPr>
          <p:cNvSpPr txBox="1"/>
          <p:nvPr/>
        </p:nvSpPr>
        <p:spPr>
          <a:xfrm>
            <a:off x="508000" y="2387600"/>
            <a:ext cx="11176000" cy="369332"/>
          </a:xfrm>
          <a:prstGeom prst="rect">
            <a:avLst/>
          </a:prstGeom>
          <a:noFill/>
        </p:spPr>
        <p:txBody>
          <a:bodyPr vert="horz" wrap="square" lIns="38100" tIns="12700" rIns="38100" bIns="12700" rtlCol="0">
            <a:noAutofit/>
          </a:bodyPr>
          <a:lstStyle/>
          <a:p>
            <a:r>
              <a:rPr lang="en-US" sz="1400">
                <a:solidFill>
                  <a:srgbClr val="A86325"/>
                </a:solidFill>
              </a:rPr>
              <a:t>Rev 0 to Rev 1  --  Proportionate Implementation Approach</a:t>
            </a:r>
          </a:p>
        </p:txBody>
      </p:sp>
      <p:sp>
        <p:nvSpPr>
          <p:cNvPr id="8" name="Rectangle 7">
            <a:extLst>
              <a:ext uri="{FF2B5EF4-FFF2-40B4-BE49-F238E27FC236}">
                <a16:creationId xmlns:a16="http://schemas.microsoft.com/office/drawing/2014/main" id="{7708F92E-53EA-D865-37CC-07FCBD4355E2}"/>
              </a:ext>
            </a:extLst>
          </p:cNvPr>
          <p:cNvSpPr/>
          <p:nvPr/>
        </p:nvSpPr>
        <p:spPr>
          <a:xfrm>
            <a:off x="508000" y="3873500"/>
            <a:ext cx="11176000" cy="127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360988C5-E41B-5817-27EB-E072047DD377}"/>
              </a:ext>
            </a:extLst>
          </p:cNvPr>
          <p:cNvSpPr txBox="1"/>
          <p:nvPr/>
        </p:nvSpPr>
        <p:spPr>
          <a:xfrm>
            <a:off x="508000" y="4000500"/>
            <a:ext cx="11176000" cy="369332"/>
          </a:xfrm>
          <a:prstGeom prst="rect">
            <a:avLst/>
          </a:prstGeom>
          <a:noFill/>
        </p:spPr>
        <p:txBody>
          <a:bodyPr vert="horz" wrap="square" lIns="38100" tIns="12700" rIns="38100" bIns="12700" rtlCol="0">
            <a:noAutofit/>
          </a:bodyPr>
          <a:lstStyle/>
          <a:p>
            <a:r>
              <a:rPr lang="en-US" sz="1000">
                <a:solidFill>
                  <a:srgbClr val="8D7A6B"/>
                </a:solidFill>
              </a:rPr>
              <a:t>May 2026   |   BDSI - IT - XPO   |   For Working Team Review</a:t>
            </a:r>
          </a:p>
        </p:txBody>
      </p:sp>
    </p:spTree>
    <p:extLst>
      <p:ext uri="{BB962C8B-B14F-4D97-AF65-F5344CB8AC3E}">
        <p14:creationId xmlns:p14="http://schemas.microsoft.com/office/powerpoint/2010/main" val="4013990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FDACF80-CB87-A176-E3A6-57FD040AD422}"/>
              </a:ext>
            </a:extLst>
          </p:cNvPr>
          <p:cNvSpPr/>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97D29D0E-A761-E8FD-AB78-D83CF32640E3}"/>
              </a:ext>
            </a:extLst>
          </p:cNvPr>
          <p:cNvSpPr/>
          <p:nvPr/>
        </p:nvSpPr>
        <p:spPr>
          <a:xfrm>
            <a:off x="0" y="0"/>
            <a:ext cx="12192000" cy="609600"/>
          </a:xfrm>
          <a:prstGeom prst="rect">
            <a:avLst/>
          </a:prstGeom>
          <a:solidFill>
            <a:srgbClr val="4A2E1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6BDF64C0-6DF1-B413-DADC-AE2B7D3AB1B2}"/>
              </a:ext>
            </a:extLst>
          </p:cNvPr>
          <p:cNvSpPr/>
          <p:nvPr/>
        </p:nvSpPr>
        <p:spPr>
          <a:xfrm>
            <a:off x="0" y="0"/>
            <a:ext cx="63500" cy="68580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6CDEEAE3-CF73-0B8D-CD86-A2F96205007B}"/>
              </a:ext>
            </a:extLst>
          </p:cNvPr>
          <p:cNvSpPr txBox="1"/>
          <p:nvPr/>
        </p:nvSpPr>
        <p:spPr>
          <a:xfrm>
            <a:off x="177800" y="127000"/>
            <a:ext cx="11684000" cy="369332"/>
          </a:xfrm>
          <a:prstGeom prst="rect">
            <a:avLst/>
          </a:prstGeom>
          <a:noFill/>
        </p:spPr>
        <p:txBody>
          <a:bodyPr vert="horz" wrap="square" lIns="38100" tIns="12700" rIns="38100" bIns="12700" rtlCol="0">
            <a:noAutofit/>
          </a:bodyPr>
          <a:lstStyle/>
          <a:p>
            <a:r>
              <a:rPr lang="en-US" sz="1400" b="1">
                <a:solidFill>
                  <a:srgbClr val="FFFFFF"/>
                </a:solidFill>
              </a:rPr>
              <a:t>Why We Revised the SOP</a:t>
            </a:r>
          </a:p>
        </p:txBody>
      </p:sp>
      <p:cxnSp>
        <p:nvCxnSpPr>
          <p:cNvPr id="6" name="Straight Connector 5">
            <a:extLst>
              <a:ext uri="{FF2B5EF4-FFF2-40B4-BE49-F238E27FC236}">
                <a16:creationId xmlns:a16="http://schemas.microsoft.com/office/drawing/2014/main" id="{111C39EE-E915-9F69-123F-7A66C36C10EF}"/>
              </a:ext>
            </a:extLst>
          </p:cNvPr>
          <p:cNvCxnSpPr/>
          <p:nvPr/>
        </p:nvCxnSpPr>
        <p:spPr>
          <a:xfrm>
            <a:off x="0" y="609600"/>
            <a:ext cx="121920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7BDDB186-9CD8-9F57-FC41-9F9C76698440}"/>
              </a:ext>
            </a:extLst>
          </p:cNvPr>
          <p:cNvSpPr/>
          <p:nvPr/>
        </p:nvSpPr>
        <p:spPr>
          <a:xfrm>
            <a:off x="177800" y="762000"/>
            <a:ext cx="355600" cy="19304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EA953276-B471-C25B-7690-68DBBBB15BA1}"/>
              </a:ext>
            </a:extLst>
          </p:cNvPr>
          <p:cNvSpPr txBox="1"/>
          <p:nvPr/>
        </p:nvSpPr>
        <p:spPr>
          <a:xfrm>
            <a:off x="177800" y="863600"/>
            <a:ext cx="355600" cy="381000"/>
          </a:xfrm>
          <a:prstGeom prst="rect">
            <a:avLst/>
          </a:prstGeom>
          <a:noFill/>
        </p:spPr>
        <p:txBody>
          <a:bodyPr vert="horz" wrap="square" lIns="38100" tIns="12700" rIns="38100" bIns="12700" rtlCol="0">
            <a:noAutofit/>
          </a:bodyPr>
          <a:lstStyle/>
          <a:p>
            <a:pPr algn="ctr"/>
            <a:r>
              <a:rPr lang="en-US" b="1">
                <a:solidFill>
                  <a:srgbClr val="FFFFFF"/>
                </a:solidFill>
              </a:rPr>
              <a:t>1</a:t>
            </a:r>
          </a:p>
        </p:txBody>
      </p:sp>
      <p:sp>
        <p:nvSpPr>
          <p:cNvPr id="9" name="Rectangle 8">
            <a:extLst>
              <a:ext uri="{FF2B5EF4-FFF2-40B4-BE49-F238E27FC236}">
                <a16:creationId xmlns:a16="http://schemas.microsoft.com/office/drawing/2014/main" id="{D903494C-BA37-4BAF-2303-A44FE70C9788}"/>
              </a:ext>
            </a:extLst>
          </p:cNvPr>
          <p:cNvSpPr/>
          <p:nvPr/>
        </p:nvSpPr>
        <p:spPr>
          <a:xfrm>
            <a:off x="584200" y="762000"/>
            <a:ext cx="11506200" cy="1930400"/>
          </a:xfrm>
          <a:prstGeom prst="rect">
            <a:avLst/>
          </a:prstGeom>
          <a:solidFill>
            <a:srgbClr val="F8F2E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B8BD125A-EF0F-EF82-CDA7-D5B590788B74}"/>
              </a:ext>
            </a:extLst>
          </p:cNvPr>
          <p:cNvSpPr txBox="1"/>
          <p:nvPr/>
        </p:nvSpPr>
        <p:spPr>
          <a:xfrm>
            <a:off x="685800" y="863600"/>
            <a:ext cx="11303000" cy="369332"/>
          </a:xfrm>
          <a:prstGeom prst="rect">
            <a:avLst/>
          </a:prstGeom>
          <a:noFill/>
        </p:spPr>
        <p:txBody>
          <a:bodyPr vert="horz" wrap="square" lIns="38100" tIns="12700" rIns="38100" bIns="12700" rtlCol="0">
            <a:noAutofit/>
          </a:bodyPr>
          <a:lstStyle/>
          <a:p>
            <a:r>
              <a:rPr lang="en-US" sz="1100" b="1">
                <a:solidFill>
                  <a:srgbClr val="4A2E1A"/>
                </a:solidFill>
              </a:rPr>
              <a:t>Scope too broad to execute</a:t>
            </a:r>
          </a:p>
        </p:txBody>
      </p:sp>
      <p:cxnSp>
        <p:nvCxnSpPr>
          <p:cNvPr id="11" name="Straight Connector 10">
            <a:extLst>
              <a:ext uri="{FF2B5EF4-FFF2-40B4-BE49-F238E27FC236}">
                <a16:creationId xmlns:a16="http://schemas.microsoft.com/office/drawing/2014/main" id="{73B3E81F-4F7F-5661-1ADA-B5EDBEBA6F3D}"/>
              </a:ext>
            </a:extLst>
          </p:cNvPr>
          <p:cNvCxnSpPr/>
          <p:nvPr/>
        </p:nvCxnSpPr>
        <p:spPr>
          <a:xfrm>
            <a:off x="685800" y="1219200"/>
            <a:ext cx="113030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1F511289-5F5E-486F-F6CB-000F282839DF}"/>
              </a:ext>
            </a:extLst>
          </p:cNvPr>
          <p:cNvSpPr txBox="1"/>
          <p:nvPr/>
        </p:nvSpPr>
        <p:spPr>
          <a:xfrm>
            <a:off x="685800" y="1270000"/>
            <a:ext cx="11303000" cy="369332"/>
          </a:xfrm>
          <a:prstGeom prst="rect">
            <a:avLst/>
          </a:prstGeom>
          <a:noFill/>
        </p:spPr>
        <p:txBody>
          <a:bodyPr vert="horz" wrap="square" lIns="38100" tIns="12700" rIns="38100" bIns="12700" rtlCol="0">
            <a:noAutofit/>
          </a:bodyPr>
          <a:lstStyle/>
          <a:p>
            <a:r>
              <a:rPr lang="en-US" sz="950">
                <a:solidFill>
                  <a:srgbClr val="4A2E1A"/>
                </a:solidFill>
              </a:rPr>
              <a:t>The original SOP applied to all metadata across Siam Piwat Group -- every platform, every data asset. This scope is not achievable in a single delivery. Rev 1 narrows scope to the Data Asset Register (assets actively used in reporting, analytics, or AI), enabling staged onboarding at a manageable pace.</a:t>
            </a:r>
          </a:p>
        </p:txBody>
      </p:sp>
      <p:sp>
        <p:nvSpPr>
          <p:cNvPr id="13" name="Rectangle 12">
            <a:extLst>
              <a:ext uri="{FF2B5EF4-FFF2-40B4-BE49-F238E27FC236}">
                <a16:creationId xmlns:a16="http://schemas.microsoft.com/office/drawing/2014/main" id="{456F0927-79DF-9CE1-68FF-C9F3F1745C27}"/>
              </a:ext>
            </a:extLst>
          </p:cNvPr>
          <p:cNvSpPr/>
          <p:nvPr/>
        </p:nvSpPr>
        <p:spPr>
          <a:xfrm>
            <a:off x="177800" y="2743200"/>
            <a:ext cx="355600" cy="19304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636127D1-6F72-7CBF-7F59-1A87099E7B1A}"/>
              </a:ext>
            </a:extLst>
          </p:cNvPr>
          <p:cNvSpPr txBox="1"/>
          <p:nvPr/>
        </p:nvSpPr>
        <p:spPr>
          <a:xfrm>
            <a:off x="177800" y="2844800"/>
            <a:ext cx="355600" cy="381000"/>
          </a:xfrm>
          <a:prstGeom prst="rect">
            <a:avLst/>
          </a:prstGeom>
          <a:noFill/>
        </p:spPr>
        <p:txBody>
          <a:bodyPr vert="horz" wrap="square" lIns="38100" tIns="12700" rIns="38100" bIns="12700" rtlCol="0">
            <a:noAutofit/>
          </a:bodyPr>
          <a:lstStyle/>
          <a:p>
            <a:pPr algn="ctr"/>
            <a:r>
              <a:rPr lang="en-US" b="1">
                <a:solidFill>
                  <a:srgbClr val="FFFFFF"/>
                </a:solidFill>
              </a:rPr>
              <a:t>2</a:t>
            </a:r>
          </a:p>
        </p:txBody>
      </p:sp>
      <p:sp>
        <p:nvSpPr>
          <p:cNvPr id="15" name="Rectangle 14">
            <a:extLst>
              <a:ext uri="{FF2B5EF4-FFF2-40B4-BE49-F238E27FC236}">
                <a16:creationId xmlns:a16="http://schemas.microsoft.com/office/drawing/2014/main" id="{894BFC8A-10B0-43E1-17B7-B17AE903F895}"/>
              </a:ext>
            </a:extLst>
          </p:cNvPr>
          <p:cNvSpPr/>
          <p:nvPr/>
        </p:nvSpPr>
        <p:spPr>
          <a:xfrm>
            <a:off x="584200" y="2743200"/>
            <a:ext cx="11506200" cy="1930400"/>
          </a:xfrm>
          <a:prstGeom prst="rect">
            <a:avLst/>
          </a:prstGeom>
          <a:solidFill>
            <a:srgbClr val="F8F2E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14D00486-3F7A-0747-BD00-924871F2037F}"/>
              </a:ext>
            </a:extLst>
          </p:cNvPr>
          <p:cNvSpPr txBox="1"/>
          <p:nvPr/>
        </p:nvSpPr>
        <p:spPr>
          <a:xfrm>
            <a:off x="685800" y="2844800"/>
            <a:ext cx="11303000" cy="369332"/>
          </a:xfrm>
          <a:prstGeom prst="rect">
            <a:avLst/>
          </a:prstGeom>
          <a:noFill/>
        </p:spPr>
        <p:txBody>
          <a:bodyPr vert="horz" wrap="square" lIns="38100" tIns="12700" rIns="38100" bIns="12700" rtlCol="0">
            <a:noAutofit/>
          </a:bodyPr>
          <a:lstStyle/>
          <a:p>
            <a:r>
              <a:rPr lang="en-US" sz="1100" b="1">
                <a:solidFill>
                  <a:srgbClr val="4A2E1A"/>
                </a:solidFill>
              </a:rPr>
              <a:t>System-dependent controls not yet built</a:t>
            </a:r>
          </a:p>
        </p:txBody>
      </p:sp>
      <p:cxnSp>
        <p:nvCxnSpPr>
          <p:cNvPr id="17" name="Straight Connector 16">
            <a:extLst>
              <a:ext uri="{FF2B5EF4-FFF2-40B4-BE49-F238E27FC236}">
                <a16:creationId xmlns:a16="http://schemas.microsoft.com/office/drawing/2014/main" id="{8F370B43-E26D-62F5-70DD-286E16DA85D8}"/>
              </a:ext>
            </a:extLst>
          </p:cNvPr>
          <p:cNvCxnSpPr/>
          <p:nvPr/>
        </p:nvCxnSpPr>
        <p:spPr>
          <a:xfrm>
            <a:off x="685800" y="3200400"/>
            <a:ext cx="113030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2D6CA9C5-9CBF-7F89-F4A4-E9759577F21C}"/>
              </a:ext>
            </a:extLst>
          </p:cNvPr>
          <p:cNvSpPr txBox="1"/>
          <p:nvPr/>
        </p:nvSpPr>
        <p:spPr>
          <a:xfrm>
            <a:off x="685800" y="3251200"/>
            <a:ext cx="11303000" cy="369332"/>
          </a:xfrm>
          <a:prstGeom prst="rect">
            <a:avLst/>
          </a:prstGeom>
          <a:noFill/>
        </p:spPr>
        <p:txBody>
          <a:bodyPr vert="horz" wrap="square" lIns="38100" tIns="12700" rIns="38100" bIns="12700" rtlCol="0">
            <a:noAutofit/>
          </a:bodyPr>
          <a:lstStyle/>
          <a:p>
            <a:r>
              <a:rPr lang="en-US" sz="950">
                <a:solidFill>
                  <a:srgbClr val="4A2E1A"/>
                </a:solidFill>
              </a:rPr>
              <a:t>The original SOP required: automated system-enforced activation gates, system workflow routing for approvals, segregation-of-duties enforcement, system dashboards for quality monitoring, read-only archive workflows. None of these platforms are built yet. Rev 1 replaces them with equivalent manual controls that work now.</a:t>
            </a:r>
          </a:p>
        </p:txBody>
      </p:sp>
      <p:sp>
        <p:nvSpPr>
          <p:cNvPr id="19" name="Rectangle 18">
            <a:extLst>
              <a:ext uri="{FF2B5EF4-FFF2-40B4-BE49-F238E27FC236}">
                <a16:creationId xmlns:a16="http://schemas.microsoft.com/office/drawing/2014/main" id="{7EF231E6-7D98-22A0-C87D-2AE5FF035341}"/>
              </a:ext>
            </a:extLst>
          </p:cNvPr>
          <p:cNvSpPr/>
          <p:nvPr/>
        </p:nvSpPr>
        <p:spPr>
          <a:xfrm>
            <a:off x="177800" y="4724400"/>
            <a:ext cx="355600" cy="19304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46B97B2F-6CB1-D73C-D888-C4153C1B8923}"/>
              </a:ext>
            </a:extLst>
          </p:cNvPr>
          <p:cNvSpPr txBox="1"/>
          <p:nvPr/>
        </p:nvSpPr>
        <p:spPr>
          <a:xfrm>
            <a:off x="177800" y="4826000"/>
            <a:ext cx="355600" cy="381000"/>
          </a:xfrm>
          <a:prstGeom prst="rect">
            <a:avLst/>
          </a:prstGeom>
          <a:noFill/>
        </p:spPr>
        <p:txBody>
          <a:bodyPr vert="horz" wrap="square" lIns="38100" tIns="12700" rIns="38100" bIns="12700" rtlCol="0">
            <a:noAutofit/>
          </a:bodyPr>
          <a:lstStyle/>
          <a:p>
            <a:pPr algn="ctr"/>
            <a:r>
              <a:rPr lang="en-US" b="1">
                <a:solidFill>
                  <a:srgbClr val="FFFFFF"/>
                </a:solidFill>
              </a:rPr>
              <a:t>3</a:t>
            </a:r>
          </a:p>
        </p:txBody>
      </p:sp>
      <p:sp>
        <p:nvSpPr>
          <p:cNvPr id="21" name="Rectangle 20">
            <a:extLst>
              <a:ext uri="{FF2B5EF4-FFF2-40B4-BE49-F238E27FC236}">
                <a16:creationId xmlns:a16="http://schemas.microsoft.com/office/drawing/2014/main" id="{24ABD392-065F-F8CA-6E4D-0BF03C46E0BA}"/>
              </a:ext>
            </a:extLst>
          </p:cNvPr>
          <p:cNvSpPr/>
          <p:nvPr/>
        </p:nvSpPr>
        <p:spPr>
          <a:xfrm>
            <a:off x="584200" y="4724400"/>
            <a:ext cx="11506200" cy="1930400"/>
          </a:xfrm>
          <a:prstGeom prst="rect">
            <a:avLst/>
          </a:prstGeom>
          <a:solidFill>
            <a:srgbClr val="F8F2E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F0602129-A747-251B-1966-1443DFF68363}"/>
              </a:ext>
            </a:extLst>
          </p:cNvPr>
          <p:cNvSpPr txBox="1"/>
          <p:nvPr/>
        </p:nvSpPr>
        <p:spPr>
          <a:xfrm>
            <a:off x="685800" y="4826000"/>
            <a:ext cx="11303000" cy="369332"/>
          </a:xfrm>
          <a:prstGeom prst="rect">
            <a:avLst/>
          </a:prstGeom>
          <a:noFill/>
        </p:spPr>
        <p:txBody>
          <a:bodyPr vert="horz" wrap="square" lIns="38100" tIns="12700" rIns="38100" bIns="12700" rtlCol="0">
            <a:noAutofit/>
          </a:bodyPr>
          <a:lstStyle/>
          <a:p>
            <a:r>
              <a:rPr lang="en-US" sz="1100" b="1">
                <a:solidFill>
                  <a:srgbClr val="4A2E1A"/>
                </a:solidFill>
              </a:rPr>
              <a:t>Tool-specific wording tied SOP to one implementation</a:t>
            </a:r>
          </a:p>
        </p:txBody>
      </p:sp>
      <p:cxnSp>
        <p:nvCxnSpPr>
          <p:cNvPr id="23" name="Straight Connector 22">
            <a:extLst>
              <a:ext uri="{FF2B5EF4-FFF2-40B4-BE49-F238E27FC236}">
                <a16:creationId xmlns:a16="http://schemas.microsoft.com/office/drawing/2014/main" id="{36AD816E-F432-34E0-16E9-07A61CBFFF3C}"/>
              </a:ext>
            </a:extLst>
          </p:cNvPr>
          <p:cNvCxnSpPr/>
          <p:nvPr/>
        </p:nvCxnSpPr>
        <p:spPr>
          <a:xfrm>
            <a:off x="685800" y="5181600"/>
            <a:ext cx="113030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1A96087C-3A89-E23B-7276-D1750C10FCF8}"/>
              </a:ext>
            </a:extLst>
          </p:cNvPr>
          <p:cNvSpPr txBox="1"/>
          <p:nvPr/>
        </p:nvSpPr>
        <p:spPr>
          <a:xfrm>
            <a:off x="685800" y="5232400"/>
            <a:ext cx="11303000" cy="369332"/>
          </a:xfrm>
          <a:prstGeom prst="rect">
            <a:avLst/>
          </a:prstGeom>
          <a:noFill/>
        </p:spPr>
        <p:txBody>
          <a:bodyPr vert="horz" wrap="square" lIns="38100" tIns="12700" rIns="38100" bIns="12700" rtlCol="0">
            <a:noAutofit/>
          </a:bodyPr>
          <a:lstStyle/>
          <a:p>
            <a:r>
              <a:rPr lang="en-US" sz="950">
                <a:solidFill>
                  <a:srgbClr val="4A2E1A"/>
                </a:solidFill>
              </a:rPr>
              <a:t>The Phase 1 revision introduced specific tool names (Datahub Metadata Template), column letter references (columns A through H), and snake_case field names. This tied the SOP to an implementation that may change. Rev 1 uses plain-English requirements that any compliant tool can satisfy.</a:t>
            </a:r>
          </a:p>
        </p:txBody>
      </p:sp>
    </p:spTree>
    <p:extLst>
      <p:ext uri="{BB962C8B-B14F-4D97-AF65-F5344CB8AC3E}">
        <p14:creationId xmlns:p14="http://schemas.microsoft.com/office/powerpoint/2010/main" val="25930417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54EB0ED-72B9-4CA6-D2AD-197E6D47A882}"/>
              </a:ext>
            </a:extLst>
          </p:cNvPr>
          <p:cNvSpPr/>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10554812-0033-EF69-28CE-6B2D52ECDCCD}"/>
              </a:ext>
            </a:extLst>
          </p:cNvPr>
          <p:cNvSpPr/>
          <p:nvPr/>
        </p:nvSpPr>
        <p:spPr>
          <a:xfrm>
            <a:off x="0" y="0"/>
            <a:ext cx="12192000" cy="609600"/>
          </a:xfrm>
          <a:prstGeom prst="rect">
            <a:avLst/>
          </a:prstGeom>
          <a:solidFill>
            <a:srgbClr val="4A2E1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CC19666B-A1F1-8B84-1C63-3048277F3E38}"/>
              </a:ext>
            </a:extLst>
          </p:cNvPr>
          <p:cNvSpPr/>
          <p:nvPr/>
        </p:nvSpPr>
        <p:spPr>
          <a:xfrm>
            <a:off x="0" y="0"/>
            <a:ext cx="63500" cy="68580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2437AFE6-F2E5-F594-550C-5231ABDB613C}"/>
              </a:ext>
            </a:extLst>
          </p:cNvPr>
          <p:cNvSpPr txBox="1"/>
          <p:nvPr/>
        </p:nvSpPr>
        <p:spPr>
          <a:xfrm>
            <a:off x="177800" y="127000"/>
            <a:ext cx="11684000" cy="369332"/>
          </a:xfrm>
          <a:prstGeom prst="rect">
            <a:avLst/>
          </a:prstGeom>
          <a:noFill/>
        </p:spPr>
        <p:txBody>
          <a:bodyPr vert="horz" wrap="square" lIns="38100" tIns="12700" rIns="38100" bIns="12700" rtlCol="0">
            <a:noAutofit/>
          </a:bodyPr>
          <a:lstStyle/>
          <a:p>
            <a:r>
              <a:rPr lang="en-US" sz="1400" b="1">
                <a:solidFill>
                  <a:srgbClr val="FFFFFF"/>
                </a:solidFill>
              </a:rPr>
              <a:t>Change Summary  --  8 Procedures Revised</a:t>
            </a:r>
          </a:p>
        </p:txBody>
      </p:sp>
      <p:cxnSp>
        <p:nvCxnSpPr>
          <p:cNvPr id="6" name="Straight Connector 5">
            <a:extLst>
              <a:ext uri="{FF2B5EF4-FFF2-40B4-BE49-F238E27FC236}">
                <a16:creationId xmlns:a16="http://schemas.microsoft.com/office/drawing/2014/main" id="{67A616D1-6784-2631-BF65-4261B5A6EEB9}"/>
              </a:ext>
            </a:extLst>
          </p:cNvPr>
          <p:cNvCxnSpPr/>
          <p:nvPr/>
        </p:nvCxnSpPr>
        <p:spPr>
          <a:xfrm>
            <a:off x="0" y="609600"/>
            <a:ext cx="121920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F72E4279-C91C-8F0A-B43D-3B545526CFA9}"/>
              </a:ext>
            </a:extLst>
          </p:cNvPr>
          <p:cNvSpPr/>
          <p:nvPr/>
        </p:nvSpPr>
        <p:spPr>
          <a:xfrm>
            <a:off x="177800" y="660400"/>
            <a:ext cx="11836400" cy="355600"/>
          </a:xfrm>
          <a:prstGeom prst="rect">
            <a:avLst/>
          </a:prstGeom>
          <a:solidFill>
            <a:srgbClr val="4A2E1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60DA22B6-BEED-97CB-6483-5F306FC9056E}"/>
              </a:ext>
            </a:extLst>
          </p:cNvPr>
          <p:cNvSpPr txBox="1"/>
          <p:nvPr/>
        </p:nvSpPr>
        <p:spPr>
          <a:xfrm>
            <a:off x="177800" y="723900"/>
            <a:ext cx="2540000" cy="369332"/>
          </a:xfrm>
          <a:prstGeom prst="rect">
            <a:avLst/>
          </a:prstGeom>
          <a:noFill/>
        </p:spPr>
        <p:txBody>
          <a:bodyPr vert="horz" wrap="square" lIns="38100" tIns="12700" rIns="38100" bIns="12700" rtlCol="0">
            <a:noAutofit/>
          </a:bodyPr>
          <a:lstStyle/>
          <a:p>
            <a:r>
              <a:rPr lang="en-US" sz="900" b="1">
                <a:solidFill>
                  <a:srgbClr val="FFFFFF"/>
                </a:solidFill>
              </a:rPr>
              <a:t>Procedure</a:t>
            </a:r>
          </a:p>
        </p:txBody>
      </p:sp>
      <p:sp>
        <p:nvSpPr>
          <p:cNvPr id="9" name="TextBox 8">
            <a:extLst>
              <a:ext uri="{FF2B5EF4-FFF2-40B4-BE49-F238E27FC236}">
                <a16:creationId xmlns:a16="http://schemas.microsoft.com/office/drawing/2014/main" id="{B98CBBF5-9D41-40C8-C9A7-1BFA6836C9D3}"/>
              </a:ext>
            </a:extLst>
          </p:cNvPr>
          <p:cNvSpPr txBox="1"/>
          <p:nvPr/>
        </p:nvSpPr>
        <p:spPr>
          <a:xfrm>
            <a:off x="2768600" y="723900"/>
            <a:ext cx="4572000" cy="369332"/>
          </a:xfrm>
          <a:prstGeom prst="rect">
            <a:avLst/>
          </a:prstGeom>
          <a:noFill/>
        </p:spPr>
        <p:txBody>
          <a:bodyPr vert="horz" wrap="square" lIns="38100" tIns="12700" rIns="38100" bIns="12700" rtlCol="0">
            <a:noAutofit/>
          </a:bodyPr>
          <a:lstStyle/>
          <a:p>
            <a:r>
              <a:rPr lang="en-US" sz="900" b="1">
                <a:solidFill>
                  <a:srgbClr val="FFFFFF"/>
                </a:solidFill>
              </a:rPr>
              <a:t>Key Change</a:t>
            </a:r>
          </a:p>
        </p:txBody>
      </p:sp>
      <p:sp>
        <p:nvSpPr>
          <p:cNvPr id="10" name="TextBox 9">
            <a:extLst>
              <a:ext uri="{FF2B5EF4-FFF2-40B4-BE49-F238E27FC236}">
                <a16:creationId xmlns:a16="http://schemas.microsoft.com/office/drawing/2014/main" id="{295F4A39-C2CC-5471-86C3-5B2A55E9F505}"/>
              </a:ext>
            </a:extLst>
          </p:cNvPr>
          <p:cNvSpPr txBox="1"/>
          <p:nvPr/>
        </p:nvSpPr>
        <p:spPr>
          <a:xfrm>
            <a:off x="7391400" y="723900"/>
            <a:ext cx="4572000" cy="369332"/>
          </a:xfrm>
          <a:prstGeom prst="rect">
            <a:avLst/>
          </a:prstGeom>
          <a:noFill/>
        </p:spPr>
        <p:txBody>
          <a:bodyPr vert="horz" wrap="square" lIns="38100" tIns="12700" rIns="38100" bIns="12700" rtlCol="0">
            <a:noAutofit/>
          </a:bodyPr>
          <a:lstStyle/>
          <a:p>
            <a:r>
              <a:rPr lang="en-US" sz="900" b="1">
                <a:solidFill>
                  <a:srgbClr val="FFFFFF"/>
                </a:solidFill>
              </a:rPr>
              <a:t>Approach After Revision</a:t>
            </a:r>
          </a:p>
        </p:txBody>
      </p:sp>
      <p:sp>
        <p:nvSpPr>
          <p:cNvPr id="11" name="Rectangle 10">
            <a:extLst>
              <a:ext uri="{FF2B5EF4-FFF2-40B4-BE49-F238E27FC236}">
                <a16:creationId xmlns:a16="http://schemas.microsoft.com/office/drawing/2014/main" id="{E4F793F9-2EA5-67F6-9F50-23750BF76DBB}"/>
              </a:ext>
            </a:extLst>
          </p:cNvPr>
          <p:cNvSpPr/>
          <p:nvPr/>
        </p:nvSpPr>
        <p:spPr>
          <a:xfrm>
            <a:off x="177800" y="1041400"/>
            <a:ext cx="11836400" cy="711200"/>
          </a:xfrm>
          <a:prstGeom prst="rect">
            <a:avLst/>
          </a:prstGeom>
          <a:solidFill>
            <a:srgbClr val="FAF7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9E81C246-FBCE-4D0A-361D-1EBDD022A073}"/>
              </a:ext>
            </a:extLst>
          </p:cNvPr>
          <p:cNvCxnSpPr/>
          <p:nvPr/>
        </p:nvCxnSpPr>
        <p:spPr>
          <a:xfrm>
            <a:off x="177800" y="1041400"/>
            <a:ext cx="118364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F484F01C-1481-1076-96D8-E85844AB9945}"/>
              </a:ext>
            </a:extLst>
          </p:cNvPr>
          <p:cNvSpPr txBox="1"/>
          <p:nvPr/>
        </p:nvSpPr>
        <p:spPr>
          <a:xfrm>
            <a:off x="228600" y="1092200"/>
            <a:ext cx="2489200" cy="369332"/>
          </a:xfrm>
          <a:prstGeom prst="rect">
            <a:avLst/>
          </a:prstGeom>
          <a:noFill/>
        </p:spPr>
        <p:txBody>
          <a:bodyPr vert="horz" wrap="square" lIns="38100" tIns="12700" rIns="38100" bIns="12700" rtlCol="0">
            <a:noAutofit/>
          </a:bodyPr>
          <a:lstStyle/>
          <a:p>
            <a:r>
              <a:rPr lang="en-US" sz="950" b="1">
                <a:solidFill>
                  <a:srgbClr val="4A2E1A"/>
                </a:solidFill>
              </a:rPr>
              <a:t>4.1  Onboarding</a:t>
            </a:r>
          </a:p>
        </p:txBody>
      </p:sp>
      <p:sp>
        <p:nvSpPr>
          <p:cNvPr id="14" name="TextBox 13">
            <a:extLst>
              <a:ext uri="{FF2B5EF4-FFF2-40B4-BE49-F238E27FC236}">
                <a16:creationId xmlns:a16="http://schemas.microsoft.com/office/drawing/2014/main" id="{7B744AA0-C506-43C9-E505-5894656E93F1}"/>
              </a:ext>
            </a:extLst>
          </p:cNvPr>
          <p:cNvSpPr txBox="1"/>
          <p:nvPr/>
        </p:nvSpPr>
        <p:spPr>
          <a:xfrm>
            <a:off x="2768600" y="1092200"/>
            <a:ext cx="4521200" cy="369332"/>
          </a:xfrm>
          <a:prstGeom prst="rect">
            <a:avLst/>
          </a:prstGeom>
          <a:noFill/>
        </p:spPr>
        <p:txBody>
          <a:bodyPr vert="horz" wrap="square" lIns="38100" tIns="12700" rIns="38100" bIns="12700" rtlCol="0">
            <a:noAutofit/>
          </a:bodyPr>
          <a:lstStyle/>
          <a:p>
            <a:r>
              <a:rPr lang="en-US" sz="900">
                <a:solidFill>
                  <a:srgbClr val="4A2E1A"/>
                </a:solidFill>
              </a:rPr>
              <a:t>Scope narrowed to in-scope assets; system activation gate removed</a:t>
            </a:r>
          </a:p>
        </p:txBody>
      </p:sp>
      <p:sp>
        <p:nvSpPr>
          <p:cNvPr id="15" name="TextBox 14">
            <a:extLst>
              <a:ext uri="{FF2B5EF4-FFF2-40B4-BE49-F238E27FC236}">
                <a16:creationId xmlns:a16="http://schemas.microsoft.com/office/drawing/2014/main" id="{81F1DEEA-3AA3-A0AE-3B31-7F284C90D208}"/>
              </a:ext>
            </a:extLst>
          </p:cNvPr>
          <p:cNvSpPr txBox="1"/>
          <p:nvPr/>
        </p:nvSpPr>
        <p:spPr>
          <a:xfrm>
            <a:off x="7391400" y="1092200"/>
            <a:ext cx="4521200" cy="369332"/>
          </a:xfrm>
          <a:prstGeom prst="rect">
            <a:avLst/>
          </a:prstGeom>
          <a:noFill/>
        </p:spPr>
        <p:txBody>
          <a:bodyPr vert="horz" wrap="square" lIns="38100" tIns="12700" rIns="38100" bIns="12700" rtlCol="0">
            <a:noAutofit/>
          </a:bodyPr>
          <a:lstStyle/>
          <a:p>
            <a:r>
              <a:rPr lang="en-US" sz="900">
                <a:solidFill>
                  <a:srgbClr val="4A2E1A"/>
                </a:solidFill>
              </a:rPr>
              <a:t>Manual registration; 7 core fields required; no platform needed</a:t>
            </a:r>
          </a:p>
        </p:txBody>
      </p:sp>
      <p:sp>
        <p:nvSpPr>
          <p:cNvPr id="16" name="Rectangle 15">
            <a:extLst>
              <a:ext uri="{FF2B5EF4-FFF2-40B4-BE49-F238E27FC236}">
                <a16:creationId xmlns:a16="http://schemas.microsoft.com/office/drawing/2014/main" id="{839E6EE4-167E-F72D-6A95-97121F3F2E0B}"/>
              </a:ext>
            </a:extLst>
          </p:cNvPr>
          <p:cNvSpPr/>
          <p:nvPr/>
        </p:nvSpPr>
        <p:spPr>
          <a:xfrm>
            <a:off x="2717800" y="1041400"/>
            <a:ext cx="25400" cy="711200"/>
          </a:xfrm>
          <a:prstGeom prst="rect">
            <a:avLst/>
          </a:prstGeom>
          <a:solidFill>
            <a:srgbClr val="EAE3D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2FAB7D73-7F4D-E375-B0B1-704A1180131E}"/>
              </a:ext>
            </a:extLst>
          </p:cNvPr>
          <p:cNvSpPr/>
          <p:nvPr/>
        </p:nvSpPr>
        <p:spPr>
          <a:xfrm>
            <a:off x="7340600" y="1041400"/>
            <a:ext cx="25400" cy="711200"/>
          </a:xfrm>
          <a:prstGeom prst="rect">
            <a:avLst/>
          </a:prstGeom>
          <a:solidFill>
            <a:srgbClr val="EAE3D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C038A286-6F19-41E2-7D05-916FDF20D440}"/>
              </a:ext>
            </a:extLst>
          </p:cNvPr>
          <p:cNvSpPr/>
          <p:nvPr/>
        </p:nvSpPr>
        <p:spPr>
          <a:xfrm>
            <a:off x="177800" y="1752600"/>
            <a:ext cx="11836400" cy="7112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a:extLst>
              <a:ext uri="{FF2B5EF4-FFF2-40B4-BE49-F238E27FC236}">
                <a16:creationId xmlns:a16="http://schemas.microsoft.com/office/drawing/2014/main" id="{899BCCAC-AA6C-D9F6-AD19-2F3651EE6716}"/>
              </a:ext>
            </a:extLst>
          </p:cNvPr>
          <p:cNvCxnSpPr/>
          <p:nvPr/>
        </p:nvCxnSpPr>
        <p:spPr>
          <a:xfrm>
            <a:off x="177800" y="1752600"/>
            <a:ext cx="118364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8DE49E97-FD0E-4FAF-079E-403C14111B54}"/>
              </a:ext>
            </a:extLst>
          </p:cNvPr>
          <p:cNvSpPr txBox="1"/>
          <p:nvPr/>
        </p:nvSpPr>
        <p:spPr>
          <a:xfrm>
            <a:off x="228600" y="1803400"/>
            <a:ext cx="2489200" cy="369332"/>
          </a:xfrm>
          <a:prstGeom prst="rect">
            <a:avLst/>
          </a:prstGeom>
          <a:noFill/>
        </p:spPr>
        <p:txBody>
          <a:bodyPr vert="horz" wrap="square" lIns="38100" tIns="12700" rIns="38100" bIns="12700" rtlCol="0">
            <a:noAutofit/>
          </a:bodyPr>
          <a:lstStyle/>
          <a:p>
            <a:r>
              <a:rPr lang="en-US" sz="950" b="1">
                <a:solidFill>
                  <a:srgbClr val="4A2E1A"/>
                </a:solidFill>
              </a:rPr>
              <a:t>4.2  Enrichment</a:t>
            </a:r>
          </a:p>
        </p:txBody>
      </p:sp>
      <p:sp>
        <p:nvSpPr>
          <p:cNvPr id="21" name="TextBox 20">
            <a:extLst>
              <a:ext uri="{FF2B5EF4-FFF2-40B4-BE49-F238E27FC236}">
                <a16:creationId xmlns:a16="http://schemas.microsoft.com/office/drawing/2014/main" id="{5DF6B30A-AFA7-5F7A-9EB0-70B773A1ED41}"/>
              </a:ext>
            </a:extLst>
          </p:cNvPr>
          <p:cNvSpPr txBox="1"/>
          <p:nvPr/>
        </p:nvSpPr>
        <p:spPr>
          <a:xfrm>
            <a:off x="2768600" y="1803400"/>
            <a:ext cx="4521200" cy="369332"/>
          </a:xfrm>
          <a:prstGeom prst="rect">
            <a:avLst/>
          </a:prstGeom>
          <a:noFill/>
        </p:spPr>
        <p:txBody>
          <a:bodyPr vert="horz" wrap="square" lIns="38100" tIns="12700" rIns="38100" bIns="12700" rtlCol="0">
            <a:noAutofit/>
          </a:bodyPr>
          <a:lstStyle/>
          <a:p>
            <a:r>
              <a:rPr lang="en-US" sz="900">
                <a:solidFill>
                  <a:srgbClr val="4A2E1A"/>
                </a:solidFill>
              </a:rPr>
              <a:t>Generic 4-field list replaced with business-dict focus</a:t>
            </a:r>
          </a:p>
        </p:txBody>
      </p:sp>
      <p:sp>
        <p:nvSpPr>
          <p:cNvPr id="22" name="TextBox 21">
            <a:extLst>
              <a:ext uri="{FF2B5EF4-FFF2-40B4-BE49-F238E27FC236}">
                <a16:creationId xmlns:a16="http://schemas.microsoft.com/office/drawing/2014/main" id="{EE5479A5-E4BE-2AC3-304A-91E1EB6330C7}"/>
              </a:ext>
            </a:extLst>
          </p:cNvPr>
          <p:cNvSpPr txBox="1"/>
          <p:nvPr/>
        </p:nvSpPr>
        <p:spPr>
          <a:xfrm>
            <a:off x="7391400" y="1803400"/>
            <a:ext cx="4521200" cy="369332"/>
          </a:xfrm>
          <a:prstGeom prst="rect">
            <a:avLst/>
          </a:prstGeom>
          <a:noFill/>
        </p:spPr>
        <p:txBody>
          <a:bodyPr vert="horz" wrap="square" lIns="38100" tIns="12700" rIns="38100" bIns="12700" rtlCol="0">
            <a:noAutofit/>
          </a:bodyPr>
          <a:lstStyle/>
          <a:p>
            <a:r>
              <a:rPr lang="en-US" sz="900">
                <a:solidFill>
                  <a:srgbClr val="4A2E1A"/>
                </a:solidFill>
              </a:rPr>
              <a:t>Business definitions, technical attributes, caveats section; AI guide for extra fields</a:t>
            </a:r>
          </a:p>
        </p:txBody>
      </p:sp>
      <p:sp>
        <p:nvSpPr>
          <p:cNvPr id="23" name="Rectangle 22">
            <a:extLst>
              <a:ext uri="{FF2B5EF4-FFF2-40B4-BE49-F238E27FC236}">
                <a16:creationId xmlns:a16="http://schemas.microsoft.com/office/drawing/2014/main" id="{55BC272A-8D8F-8D56-ECEF-29EE73007E5A}"/>
              </a:ext>
            </a:extLst>
          </p:cNvPr>
          <p:cNvSpPr/>
          <p:nvPr/>
        </p:nvSpPr>
        <p:spPr>
          <a:xfrm>
            <a:off x="2717800" y="1752600"/>
            <a:ext cx="25400" cy="711200"/>
          </a:xfrm>
          <a:prstGeom prst="rect">
            <a:avLst/>
          </a:prstGeom>
          <a:solidFill>
            <a:srgbClr val="EAE3D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F8FFAAFF-D078-5087-F207-828DCA5FB09B}"/>
              </a:ext>
            </a:extLst>
          </p:cNvPr>
          <p:cNvSpPr/>
          <p:nvPr/>
        </p:nvSpPr>
        <p:spPr>
          <a:xfrm>
            <a:off x="7340600" y="1752600"/>
            <a:ext cx="25400" cy="711200"/>
          </a:xfrm>
          <a:prstGeom prst="rect">
            <a:avLst/>
          </a:prstGeom>
          <a:solidFill>
            <a:srgbClr val="EAE3D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59E86FF2-25A1-5AED-710F-8DFAB9536A4F}"/>
              </a:ext>
            </a:extLst>
          </p:cNvPr>
          <p:cNvSpPr/>
          <p:nvPr/>
        </p:nvSpPr>
        <p:spPr>
          <a:xfrm>
            <a:off x="177800" y="2463800"/>
            <a:ext cx="11836400" cy="711200"/>
          </a:xfrm>
          <a:prstGeom prst="rect">
            <a:avLst/>
          </a:prstGeom>
          <a:solidFill>
            <a:srgbClr val="FAF7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 name="Straight Connector 25">
            <a:extLst>
              <a:ext uri="{FF2B5EF4-FFF2-40B4-BE49-F238E27FC236}">
                <a16:creationId xmlns:a16="http://schemas.microsoft.com/office/drawing/2014/main" id="{3BFC8F19-66EA-2C43-824F-999BF8D7DE04}"/>
              </a:ext>
            </a:extLst>
          </p:cNvPr>
          <p:cNvCxnSpPr/>
          <p:nvPr/>
        </p:nvCxnSpPr>
        <p:spPr>
          <a:xfrm>
            <a:off x="177800" y="2463800"/>
            <a:ext cx="118364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096014DF-EB67-75C0-8B60-6A8C8BF0E5B2}"/>
              </a:ext>
            </a:extLst>
          </p:cNvPr>
          <p:cNvSpPr txBox="1"/>
          <p:nvPr/>
        </p:nvSpPr>
        <p:spPr>
          <a:xfrm>
            <a:off x="228600" y="2514600"/>
            <a:ext cx="2489200" cy="369332"/>
          </a:xfrm>
          <a:prstGeom prst="rect">
            <a:avLst/>
          </a:prstGeom>
          <a:noFill/>
        </p:spPr>
        <p:txBody>
          <a:bodyPr vert="horz" wrap="square" lIns="38100" tIns="12700" rIns="38100" bIns="12700" rtlCol="0">
            <a:noAutofit/>
          </a:bodyPr>
          <a:lstStyle/>
          <a:p>
            <a:r>
              <a:rPr lang="en-US" sz="950" b="1">
                <a:solidFill>
                  <a:srgbClr val="4A2E1A"/>
                </a:solidFill>
              </a:rPr>
              <a:t>4.3  Validation</a:t>
            </a:r>
          </a:p>
        </p:txBody>
      </p:sp>
      <p:sp>
        <p:nvSpPr>
          <p:cNvPr id="28" name="TextBox 27">
            <a:extLst>
              <a:ext uri="{FF2B5EF4-FFF2-40B4-BE49-F238E27FC236}">
                <a16:creationId xmlns:a16="http://schemas.microsoft.com/office/drawing/2014/main" id="{DC8E69A6-C27A-47D4-F610-3FA6FFEE5DCB}"/>
              </a:ext>
            </a:extLst>
          </p:cNvPr>
          <p:cNvSpPr txBox="1"/>
          <p:nvPr/>
        </p:nvSpPr>
        <p:spPr>
          <a:xfrm>
            <a:off x="2768600" y="2514600"/>
            <a:ext cx="4521200" cy="369332"/>
          </a:xfrm>
          <a:prstGeom prst="rect">
            <a:avLst/>
          </a:prstGeom>
          <a:noFill/>
        </p:spPr>
        <p:txBody>
          <a:bodyPr vert="horz" wrap="square" lIns="38100" tIns="12700" rIns="38100" bIns="12700" rtlCol="0">
            <a:noAutofit/>
          </a:bodyPr>
          <a:lstStyle/>
          <a:p>
            <a:r>
              <a:rPr lang="en-US" sz="900">
                <a:solidFill>
                  <a:srgbClr val="4A2E1A"/>
                </a:solidFill>
              </a:rPr>
              <a:t>System checklist and submission gate removed</a:t>
            </a:r>
          </a:p>
        </p:txBody>
      </p:sp>
      <p:sp>
        <p:nvSpPr>
          <p:cNvPr id="29" name="TextBox 28">
            <a:extLst>
              <a:ext uri="{FF2B5EF4-FFF2-40B4-BE49-F238E27FC236}">
                <a16:creationId xmlns:a16="http://schemas.microsoft.com/office/drawing/2014/main" id="{9D4E85AA-097E-8B1E-4410-24F4C4738CC6}"/>
              </a:ext>
            </a:extLst>
          </p:cNvPr>
          <p:cNvSpPr txBox="1"/>
          <p:nvPr/>
        </p:nvSpPr>
        <p:spPr>
          <a:xfrm>
            <a:off x="7391400" y="2514600"/>
            <a:ext cx="4521200" cy="369332"/>
          </a:xfrm>
          <a:prstGeom prst="rect">
            <a:avLst/>
          </a:prstGeom>
          <a:noFill/>
        </p:spPr>
        <p:txBody>
          <a:bodyPr vert="horz" wrap="square" lIns="38100" tIns="12700" rIns="38100" bIns="12700" rtlCol="0">
            <a:noAutofit/>
          </a:bodyPr>
          <a:lstStyle/>
          <a:p>
            <a:r>
              <a:rPr lang="en-US" sz="900">
                <a:solidFill>
                  <a:srgbClr val="4A2E1A"/>
                </a:solidFill>
              </a:rPr>
              <a:t>Manual validation by Data Steward; same 4 criteria retained</a:t>
            </a:r>
          </a:p>
        </p:txBody>
      </p:sp>
      <p:sp>
        <p:nvSpPr>
          <p:cNvPr id="30" name="Rectangle 29">
            <a:extLst>
              <a:ext uri="{FF2B5EF4-FFF2-40B4-BE49-F238E27FC236}">
                <a16:creationId xmlns:a16="http://schemas.microsoft.com/office/drawing/2014/main" id="{DF59BDED-537F-79FF-112D-A62F6962E6CC}"/>
              </a:ext>
            </a:extLst>
          </p:cNvPr>
          <p:cNvSpPr/>
          <p:nvPr/>
        </p:nvSpPr>
        <p:spPr>
          <a:xfrm>
            <a:off x="2717800" y="2463800"/>
            <a:ext cx="25400" cy="711200"/>
          </a:xfrm>
          <a:prstGeom prst="rect">
            <a:avLst/>
          </a:prstGeom>
          <a:solidFill>
            <a:srgbClr val="EAE3D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EF9442DB-0360-D6FE-3D8E-75139BFECF18}"/>
              </a:ext>
            </a:extLst>
          </p:cNvPr>
          <p:cNvSpPr/>
          <p:nvPr/>
        </p:nvSpPr>
        <p:spPr>
          <a:xfrm>
            <a:off x="7340600" y="2463800"/>
            <a:ext cx="25400" cy="711200"/>
          </a:xfrm>
          <a:prstGeom prst="rect">
            <a:avLst/>
          </a:prstGeom>
          <a:solidFill>
            <a:srgbClr val="EAE3D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CA73A44B-1154-A643-A527-B8735EC0C674}"/>
              </a:ext>
            </a:extLst>
          </p:cNvPr>
          <p:cNvSpPr/>
          <p:nvPr/>
        </p:nvSpPr>
        <p:spPr>
          <a:xfrm>
            <a:off x="177800" y="3175000"/>
            <a:ext cx="11836400" cy="7112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3" name="Straight Connector 32">
            <a:extLst>
              <a:ext uri="{FF2B5EF4-FFF2-40B4-BE49-F238E27FC236}">
                <a16:creationId xmlns:a16="http://schemas.microsoft.com/office/drawing/2014/main" id="{E29F6823-14B3-C6C9-0B74-D46163AF0C75}"/>
              </a:ext>
            </a:extLst>
          </p:cNvPr>
          <p:cNvCxnSpPr/>
          <p:nvPr/>
        </p:nvCxnSpPr>
        <p:spPr>
          <a:xfrm>
            <a:off x="177800" y="3175000"/>
            <a:ext cx="118364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FEB78490-942A-E566-AFF7-58C7C763F568}"/>
              </a:ext>
            </a:extLst>
          </p:cNvPr>
          <p:cNvSpPr txBox="1"/>
          <p:nvPr/>
        </p:nvSpPr>
        <p:spPr>
          <a:xfrm>
            <a:off x="228600" y="3225800"/>
            <a:ext cx="2489200" cy="369332"/>
          </a:xfrm>
          <a:prstGeom prst="rect">
            <a:avLst/>
          </a:prstGeom>
          <a:noFill/>
        </p:spPr>
        <p:txBody>
          <a:bodyPr vert="horz" wrap="square" lIns="38100" tIns="12700" rIns="38100" bIns="12700" rtlCol="0">
            <a:noAutofit/>
          </a:bodyPr>
          <a:lstStyle/>
          <a:p>
            <a:r>
              <a:rPr lang="en-US" sz="950" b="1">
                <a:solidFill>
                  <a:srgbClr val="4A2E1A"/>
                </a:solidFill>
              </a:rPr>
              <a:t>4.4  Approval</a:t>
            </a:r>
          </a:p>
        </p:txBody>
      </p:sp>
      <p:sp>
        <p:nvSpPr>
          <p:cNvPr id="35" name="TextBox 34">
            <a:extLst>
              <a:ext uri="{FF2B5EF4-FFF2-40B4-BE49-F238E27FC236}">
                <a16:creationId xmlns:a16="http://schemas.microsoft.com/office/drawing/2014/main" id="{08604831-A414-767D-C166-8B2A6903772F}"/>
              </a:ext>
            </a:extLst>
          </p:cNvPr>
          <p:cNvSpPr txBox="1"/>
          <p:nvPr/>
        </p:nvSpPr>
        <p:spPr>
          <a:xfrm>
            <a:off x="2768600" y="3225800"/>
            <a:ext cx="4521200" cy="369332"/>
          </a:xfrm>
          <a:prstGeom prst="rect">
            <a:avLst/>
          </a:prstGeom>
          <a:noFill/>
        </p:spPr>
        <p:txBody>
          <a:bodyPr vert="horz" wrap="square" lIns="38100" tIns="12700" rIns="38100" bIns="12700" rtlCol="0">
            <a:noAutofit/>
          </a:bodyPr>
          <a:lstStyle/>
          <a:p>
            <a:r>
              <a:rPr lang="en-US" sz="900">
                <a:solidFill>
                  <a:srgbClr val="4A2E1A"/>
                </a:solidFill>
              </a:rPr>
              <a:t>System workflow, DGC escalation, audit log removed</a:t>
            </a:r>
          </a:p>
        </p:txBody>
      </p:sp>
      <p:sp>
        <p:nvSpPr>
          <p:cNvPr id="36" name="TextBox 35">
            <a:extLst>
              <a:ext uri="{FF2B5EF4-FFF2-40B4-BE49-F238E27FC236}">
                <a16:creationId xmlns:a16="http://schemas.microsoft.com/office/drawing/2014/main" id="{A0CA41A4-1B30-E64B-A526-8DB913A19B85}"/>
              </a:ext>
            </a:extLst>
          </p:cNvPr>
          <p:cNvSpPr txBox="1"/>
          <p:nvPr/>
        </p:nvSpPr>
        <p:spPr>
          <a:xfrm>
            <a:off x="7391400" y="3225800"/>
            <a:ext cx="4521200" cy="369332"/>
          </a:xfrm>
          <a:prstGeom prst="rect">
            <a:avLst/>
          </a:prstGeom>
          <a:noFill/>
        </p:spPr>
        <p:txBody>
          <a:bodyPr vert="horz" wrap="square" lIns="38100" tIns="12700" rIns="38100" bIns="12700" rtlCol="0">
            <a:noAutofit/>
          </a:bodyPr>
          <a:lstStyle/>
          <a:p>
            <a:r>
              <a:rPr lang="en-US" sz="900">
                <a:solidFill>
                  <a:srgbClr val="4A2E1A"/>
                </a:solidFill>
              </a:rPr>
              <a:t>Review status fields (draft/reviewed/approved); Data Owner approves manually</a:t>
            </a:r>
          </a:p>
        </p:txBody>
      </p:sp>
      <p:sp>
        <p:nvSpPr>
          <p:cNvPr id="37" name="Rectangle 36">
            <a:extLst>
              <a:ext uri="{FF2B5EF4-FFF2-40B4-BE49-F238E27FC236}">
                <a16:creationId xmlns:a16="http://schemas.microsoft.com/office/drawing/2014/main" id="{EC241339-F367-B2EA-2D66-828BF4190504}"/>
              </a:ext>
            </a:extLst>
          </p:cNvPr>
          <p:cNvSpPr/>
          <p:nvPr/>
        </p:nvSpPr>
        <p:spPr>
          <a:xfrm>
            <a:off x="2717800" y="3175000"/>
            <a:ext cx="25400" cy="711200"/>
          </a:xfrm>
          <a:prstGeom prst="rect">
            <a:avLst/>
          </a:prstGeom>
          <a:solidFill>
            <a:srgbClr val="EAE3D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C61A7250-E9CE-FA19-4BAC-6FD6E2D19F6F}"/>
              </a:ext>
            </a:extLst>
          </p:cNvPr>
          <p:cNvSpPr/>
          <p:nvPr/>
        </p:nvSpPr>
        <p:spPr>
          <a:xfrm>
            <a:off x="7340600" y="3175000"/>
            <a:ext cx="25400" cy="711200"/>
          </a:xfrm>
          <a:prstGeom prst="rect">
            <a:avLst/>
          </a:prstGeom>
          <a:solidFill>
            <a:srgbClr val="EAE3D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DE6F0FD9-3383-9E56-6083-8D9B703F0163}"/>
              </a:ext>
            </a:extLst>
          </p:cNvPr>
          <p:cNvSpPr/>
          <p:nvPr/>
        </p:nvSpPr>
        <p:spPr>
          <a:xfrm>
            <a:off x="177800" y="3886200"/>
            <a:ext cx="11836400" cy="711200"/>
          </a:xfrm>
          <a:prstGeom prst="rect">
            <a:avLst/>
          </a:prstGeom>
          <a:solidFill>
            <a:srgbClr val="EEF7E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0" name="Straight Connector 39">
            <a:extLst>
              <a:ext uri="{FF2B5EF4-FFF2-40B4-BE49-F238E27FC236}">
                <a16:creationId xmlns:a16="http://schemas.microsoft.com/office/drawing/2014/main" id="{3B0ED270-4A84-98EE-CC18-282185990123}"/>
              </a:ext>
            </a:extLst>
          </p:cNvPr>
          <p:cNvCxnSpPr/>
          <p:nvPr/>
        </p:nvCxnSpPr>
        <p:spPr>
          <a:xfrm>
            <a:off x="177800" y="3886200"/>
            <a:ext cx="118364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01CECBF9-62DB-8955-0FAB-E460D48F2743}"/>
              </a:ext>
            </a:extLst>
          </p:cNvPr>
          <p:cNvSpPr txBox="1"/>
          <p:nvPr/>
        </p:nvSpPr>
        <p:spPr>
          <a:xfrm>
            <a:off x="228600" y="3937000"/>
            <a:ext cx="2489200" cy="369332"/>
          </a:xfrm>
          <a:prstGeom prst="rect">
            <a:avLst/>
          </a:prstGeom>
          <a:noFill/>
        </p:spPr>
        <p:txBody>
          <a:bodyPr vert="horz" wrap="square" lIns="38100" tIns="12700" rIns="38100" bIns="12700" rtlCol="0">
            <a:noAutofit/>
          </a:bodyPr>
          <a:lstStyle/>
          <a:p>
            <a:r>
              <a:rPr lang="en-US" sz="950" b="1">
                <a:solidFill>
                  <a:srgbClr val="4A2E1A"/>
                </a:solidFill>
              </a:rPr>
              <a:t>4.5  Publication</a:t>
            </a:r>
          </a:p>
        </p:txBody>
      </p:sp>
      <p:sp>
        <p:nvSpPr>
          <p:cNvPr id="42" name="TextBox 41">
            <a:extLst>
              <a:ext uri="{FF2B5EF4-FFF2-40B4-BE49-F238E27FC236}">
                <a16:creationId xmlns:a16="http://schemas.microsoft.com/office/drawing/2014/main" id="{F72C4866-72E9-EB3A-C08C-24E6BCEF6195}"/>
              </a:ext>
            </a:extLst>
          </p:cNvPr>
          <p:cNvSpPr txBox="1"/>
          <p:nvPr/>
        </p:nvSpPr>
        <p:spPr>
          <a:xfrm>
            <a:off x="2768600" y="3937000"/>
            <a:ext cx="4521200" cy="369332"/>
          </a:xfrm>
          <a:prstGeom prst="rect">
            <a:avLst/>
          </a:prstGeom>
          <a:noFill/>
        </p:spPr>
        <p:txBody>
          <a:bodyPr vert="horz" wrap="square" lIns="38100" tIns="12700" rIns="38100" bIns="12700" rtlCol="0">
            <a:noAutofit/>
          </a:bodyPr>
          <a:lstStyle/>
          <a:p>
            <a:r>
              <a:rPr lang="en-US" sz="900">
                <a:solidFill>
                  <a:srgbClr val="4A2E1A"/>
                </a:solidFill>
              </a:rPr>
              <a:t>No change</a:t>
            </a:r>
          </a:p>
        </p:txBody>
      </p:sp>
      <p:sp>
        <p:nvSpPr>
          <p:cNvPr id="43" name="TextBox 42">
            <a:extLst>
              <a:ext uri="{FF2B5EF4-FFF2-40B4-BE49-F238E27FC236}">
                <a16:creationId xmlns:a16="http://schemas.microsoft.com/office/drawing/2014/main" id="{BE844F3C-8423-8FDD-B518-7BC993675595}"/>
              </a:ext>
            </a:extLst>
          </p:cNvPr>
          <p:cNvSpPr txBox="1"/>
          <p:nvPr/>
        </p:nvSpPr>
        <p:spPr>
          <a:xfrm>
            <a:off x="7391400" y="3937000"/>
            <a:ext cx="4521200" cy="369332"/>
          </a:xfrm>
          <a:prstGeom prst="rect">
            <a:avLst/>
          </a:prstGeom>
          <a:noFill/>
        </p:spPr>
        <p:txBody>
          <a:bodyPr vert="horz" wrap="square" lIns="38100" tIns="12700" rIns="38100" bIns="12700" rtlCol="0">
            <a:noAutofit/>
          </a:bodyPr>
          <a:lstStyle/>
          <a:p>
            <a:r>
              <a:rPr lang="en-US" sz="900">
                <a:solidFill>
                  <a:srgbClr val="4A2E1A"/>
                </a:solidFill>
              </a:rPr>
              <a:t>RBAC and data catalog controls retained as-is</a:t>
            </a:r>
          </a:p>
        </p:txBody>
      </p:sp>
      <p:sp>
        <p:nvSpPr>
          <p:cNvPr id="44" name="Rectangle 43">
            <a:extLst>
              <a:ext uri="{FF2B5EF4-FFF2-40B4-BE49-F238E27FC236}">
                <a16:creationId xmlns:a16="http://schemas.microsoft.com/office/drawing/2014/main" id="{50646E96-6379-0FCF-BAED-59C90A6D7A5C}"/>
              </a:ext>
            </a:extLst>
          </p:cNvPr>
          <p:cNvSpPr/>
          <p:nvPr/>
        </p:nvSpPr>
        <p:spPr>
          <a:xfrm>
            <a:off x="2717800" y="3886200"/>
            <a:ext cx="25400" cy="711200"/>
          </a:xfrm>
          <a:prstGeom prst="rect">
            <a:avLst/>
          </a:prstGeom>
          <a:solidFill>
            <a:srgbClr val="EAE3D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828C1C02-A36B-6744-F748-61AEC5A0785B}"/>
              </a:ext>
            </a:extLst>
          </p:cNvPr>
          <p:cNvSpPr/>
          <p:nvPr/>
        </p:nvSpPr>
        <p:spPr>
          <a:xfrm>
            <a:off x="7340600" y="3886200"/>
            <a:ext cx="25400" cy="711200"/>
          </a:xfrm>
          <a:prstGeom prst="rect">
            <a:avLst/>
          </a:prstGeom>
          <a:solidFill>
            <a:srgbClr val="EAE3D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89C75213-808B-4A89-E986-95A9200F2579}"/>
              </a:ext>
            </a:extLst>
          </p:cNvPr>
          <p:cNvSpPr/>
          <p:nvPr/>
        </p:nvSpPr>
        <p:spPr>
          <a:xfrm>
            <a:off x="177800" y="4597400"/>
            <a:ext cx="11836400" cy="7112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7" name="Straight Connector 46">
            <a:extLst>
              <a:ext uri="{FF2B5EF4-FFF2-40B4-BE49-F238E27FC236}">
                <a16:creationId xmlns:a16="http://schemas.microsoft.com/office/drawing/2014/main" id="{96975B5A-8921-63F2-DC77-31845D5E481F}"/>
              </a:ext>
            </a:extLst>
          </p:cNvPr>
          <p:cNvCxnSpPr/>
          <p:nvPr/>
        </p:nvCxnSpPr>
        <p:spPr>
          <a:xfrm>
            <a:off x="177800" y="4597400"/>
            <a:ext cx="118364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CCD3871A-E8C8-5343-B339-080CBD377270}"/>
              </a:ext>
            </a:extLst>
          </p:cNvPr>
          <p:cNvSpPr txBox="1"/>
          <p:nvPr/>
        </p:nvSpPr>
        <p:spPr>
          <a:xfrm>
            <a:off x="228600" y="4648200"/>
            <a:ext cx="2489200" cy="369332"/>
          </a:xfrm>
          <a:prstGeom prst="rect">
            <a:avLst/>
          </a:prstGeom>
          <a:noFill/>
        </p:spPr>
        <p:txBody>
          <a:bodyPr vert="horz" wrap="square" lIns="38100" tIns="12700" rIns="38100" bIns="12700" rtlCol="0">
            <a:noAutofit/>
          </a:bodyPr>
          <a:lstStyle/>
          <a:p>
            <a:r>
              <a:rPr lang="en-US" sz="950" b="1">
                <a:solidFill>
                  <a:srgbClr val="4A2E1A"/>
                </a:solidFill>
              </a:rPr>
              <a:t>4.6  Maintenance</a:t>
            </a:r>
          </a:p>
        </p:txBody>
      </p:sp>
      <p:sp>
        <p:nvSpPr>
          <p:cNvPr id="49" name="TextBox 48">
            <a:extLst>
              <a:ext uri="{FF2B5EF4-FFF2-40B4-BE49-F238E27FC236}">
                <a16:creationId xmlns:a16="http://schemas.microsoft.com/office/drawing/2014/main" id="{0F839659-D04C-36BD-7615-157BB13CF6C9}"/>
              </a:ext>
            </a:extLst>
          </p:cNvPr>
          <p:cNvSpPr txBox="1"/>
          <p:nvPr/>
        </p:nvSpPr>
        <p:spPr>
          <a:xfrm>
            <a:off x="2768600" y="4648200"/>
            <a:ext cx="4521200" cy="369332"/>
          </a:xfrm>
          <a:prstGeom prst="rect">
            <a:avLst/>
          </a:prstGeom>
          <a:noFill/>
        </p:spPr>
        <p:txBody>
          <a:bodyPr vert="horz" wrap="square" lIns="38100" tIns="12700" rIns="38100" bIns="12700" rtlCol="0">
            <a:noAutofit/>
          </a:bodyPr>
          <a:lstStyle/>
          <a:p>
            <a:r>
              <a:rPr lang="en-US" sz="900">
                <a:solidFill>
                  <a:srgbClr val="4A2E1A"/>
                </a:solidFill>
              </a:rPr>
              <a:t>System version control replaced by lightweight change record</a:t>
            </a:r>
          </a:p>
        </p:txBody>
      </p:sp>
      <p:sp>
        <p:nvSpPr>
          <p:cNvPr id="50" name="TextBox 49">
            <a:extLst>
              <a:ext uri="{FF2B5EF4-FFF2-40B4-BE49-F238E27FC236}">
                <a16:creationId xmlns:a16="http://schemas.microsoft.com/office/drawing/2014/main" id="{2E69D71B-5979-28EE-545F-5A2C94E88EF8}"/>
              </a:ext>
            </a:extLst>
          </p:cNvPr>
          <p:cNvSpPr txBox="1"/>
          <p:nvPr/>
        </p:nvSpPr>
        <p:spPr>
          <a:xfrm>
            <a:off x="7391400" y="4648200"/>
            <a:ext cx="4521200" cy="369332"/>
          </a:xfrm>
          <a:prstGeom prst="rect">
            <a:avLst/>
          </a:prstGeom>
          <a:noFill/>
        </p:spPr>
        <p:txBody>
          <a:bodyPr vert="horz" wrap="square" lIns="38100" tIns="12700" rIns="38100" bIns="12700" rtlCol="0">
            <a:noAutofit/>
          </a:bodyPr>
          <a:lstStyle/>
          <a:p>
            <a:r>
              <a:rPr lang="en-US" sz="900">
                <a:solidFill>
                  <a:srgbClr val="4A2E1A"/>
                </a:solidFill>
              </a:rPr>
              <a:t>Record last updated date and change summary; Data Owner review for significant changes</a:t>
            </a:r>
          </a:p>
        </p:txBody>
      </p:sp>
      <p:sp>
        <p:nvSpPr>
          <p:cNvPr id="51" name="Rectangle 50">
            <a:extLst>
              <a:ext uri="{FF2B5EF4-FFF2-40B4-BE49-F238E27FC236}">
                <a16:creationId xmlns:a16="http://schemas.microsoft.com/office/drawing/2014/main" id="{7568B28A-105B-06B4-2428-645D1AFCA74E}"/>
              </a:ext>
            </a:extLst>
          </p:cNvPr>
          <p:cNvSpPr/>
          <p:nvPr/>
        </p:nvSpPr>
        <p:spPr>
          <a:xfrm>
            <a:off x="2717800" y="4597400"/>
            <a:ext cx="25400" cy="711200"/>
          </a:xfrm>
          <a:prstGeom prst="rect">
            <a:avLst/>
          </a:prstGeom>
          <a:solidFill>
            <a:srgbClr val="EAE3D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5FA61284-1427-BEFB-021F-9ADFFDBB0BDA}"/>
              </a:ext>
            </a:extLst>
          </p:cNvPr>
          <p:cNvSpPr/>
          <p:nvPr/>
        </p:nvSpPr>
        <p:spPr>
          <a:xfrm>
            <a:off x="7340600" y="4597400"/>
            <a:ext cx="25400" cy="711200"/>
          </a:xfrm>
          <a:prstGeom prst="rect">
            <a:avLst/>
          </a:prstGeom>
          <a:solidFill>
            <a:srgbClr val="EAE3D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EE009E4D-1819-B821-14B0-03FCBB83830A}"/>
              </a:ext>
            </a:extLst>
          </p:cNvPr>
          <p:cNvSpPr/>
          <p:nvPr/>
        </p:nvSpPr>
        <p:spPr>
          <a:xfrm>
            <a:off x="177800" y="5308600"/>
            <a:ext cx="11836400" cy="711200"/>
          </a:xfrm>
          <a:prstGeom prst="rect">
            <a:avLst/>
          </a:prstGeom>
          <a:solidFill>
            <a:srgbClr val="FAF7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4" name="Straight Connector 53">
            <a:extLst>
              <a:ext uri="{FF2B5EF4-FFF2-40B4-BE49-F238E27FC236}">
                <a16:creationId xmlns:a16="http://schemas.microsoft.com/office/drawing/2014/main" id="{9F69FC2D-143C-6E06-AF04-9B04BE002B13}"/>
              </a:ext>
            </a:extLst>
          </p:cNvPr>
          <p:cNvCxnSpPr/>
          <p:nvPr/>
        </p:nvCxnSpPr>
        <p:spPr>
          <a:xfrm>
            <a:off x="177800" y="5308600"/>
            <a:ext cx="118364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EF6B3FC3-ABC8-C99F-5D11-5477C3AEE9C6}"/>
              </a:ext>
            </a:extLst>
          </p:cNvPr>
          <p:cNvSpPr txBox="1"/>
          <p:nvPr/>
        </p:nvSpPr>
        <p:spPr>
          <a:xfrm>
            <a:off x="228600" y="5359400"/>
            <a:ext cx="2489200" cy="369332"/>
          </a:xfrm>
          <a:prstGeom prst="rect">
            <a:avLst/>
          </a:prstGeom>
          <a:noFill/>
        </p:spPr>
        <p:txBody>
          <a:bodyPr vert="horz" wrap="square" lIns="38100" tIns="12700" rIns="38100" bIns="12700" rtlCol="0">
            <a:noAutofit/>
          </a:bodyPr>
          <a:lstStyle/>
          <a:p>
            <a:r>
              <a:rPr lang="en-US" sz="950" b="1">
                <a:solidFill>
                  <a:srgbClr val="4A2E1A"/>
                </a:solidFill>
              </a:rPr>
              <a:t>4.7  Quality</a:t>
            </a:r>
          </a:p>
        </p:txBody>
      </p:sp>
      <p:sp>
        <p:nvSpPr>
          <p:cNvPr id="56" name="TextBox 55">
            <a:extLst>
              <a:ext uri="{FF2B5EF4-FFF2-40B4-BE49-F238E27FC236}">
                <a16:creationId xmlns:a16="http://schemas.microsoft.com/office/drawing/2014/main" id="{51714541-6E84-CCBB-3D9E-77A3818503A7}"/>
              </a:ext>
            </a:extLst>
          </p:cNvPr>
          <p:cNvSpPr txBox="1"/>
          <p:nvPr/>
        </p:nvSpPr>
        <p:spPr>
          <a:xfrm>
            <a:off x="2768600" y="5359400"/>
            <a:ext cx="4521200" cy="369332"/>
          </a:xfrm>
          <a:prstGeom prst="rect">
            <a:avLst/>
          </a:prstGeom>
          <a:noFill/>
        </p:spPr>
        <p:txBody>
          <a:bodyPr vert="horz" wrap="square" lIns="38100" tIns="12700" rIns="38100" bIns="12700" rtlCol="0">
            <a:noAutofit/>
          </a:bodyPr>
          <a:lstStyle/>
          <a:p>
            <a:r>
              <a:rPr lang="en-US" sz="900">
                <a:solidFill>
                  <a:srgbClr val="4A2E1A"/>
                </a:solidFill>
              </a:rPr>
              <a:t>Dashboards, SLA tracking, DGC escalation removed</a:t>
            </a:r>
          </a:p>
        </p:txBody>
      </p:sp>
      <p:sp>
        <p:nvSpPr>
          <p:cNvPr id="57" name="TextBox 56">
            <a:extLst>
              <a:ext uri="{FF2B5EF4-FFF2-40B4-BE49-F238E27FC236}">
                <a16:creationId xmlns:a16="http://schemas.microsoft.com/office/drawing/2014/main" id="{355C2843-599A-CDB9-5C1E-C2A2BFD74C52}"/>
              </a:ext>
            </a:extLst>
          </p:cNvPr>
          <p:cNvSpPr txBox="1"/>
          <p:nvPr/>
        </p:nvSpPr>
        <p:spPr>
          <a:xfrm>
            <a:off x="7391400" y="5359400"/>
            <a:ext cx="4521200" cy="369332"/>
          </a:xfrm>
          <a:prstGeom prst="rect">
            <a:avLst/>
          </a:prstGeom>
          <a:noFill/>
        </p:spPr>
        <p:txBody>
          <a:bodyPr vert="horz" wrap="square" lIns="38100" tIns="12700" rIns="38100" bIns="12700" rtlCol="0">
            <a:noAutofit/>
          </a:bodyPr>
          <a:lstStyle/>
          <a:p>
            <a:r>
              <a:rPr lang="en-US" sz="900">
                <a:solidFill>
                  <a:srgbClr val="4A2E1A"/>
                </a:solidFill>
              </a:rPr>
              <a:t>Caveats section embedded per asset; no platform dependency</a:t>
            </a:r>
          </a:p>
        </p:txBody>
      </p:sp>
      <p:sp>
        <p:nvSpPr>
          <p:cNvPr id="58" name="Rectangle 57">
            <a:extLst>
              <a:ext uri="{FF2B5EF4-FFF2-40B4-BE49-F238E27FC236}">
                <a16:creationId xmlns:a16="http://schemas.microsoft.com/office/drawing/2014/main" id="{B777284F-0341-E5F6-4523-F0BA462E58DF}"/>
              </a:ext>
            </a:extLst>
          </p:cNvPr>
          <p:cNvSpPr/>
          <p:nvPr/>
        </p:nvSpPr>
        <p:spPr>
          <a:xfrm>
            <a:off x="2717800" y="5308600"/>
            <a:ext cx="25400" cy="711200"/>
          </a:xfrm>
          <a:prstGeom prst="rect">
            <a:avLst/>
          </a:prstGeom>
          <a:solidFill>
            <a:srgbClr val="EAE3D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3D8DDAE5-91AB-BDA3-F292-87985EFF4022}"/>
              </a:ext>
            </a:extLst>
          </p:cNvPr>
          <p:cNvSpPr/>
          <p:nvPr/>
        </p:nvSpPr>
        <p:spPr>
          <a:xfrm>
            <a:off x="7340600" y="5308600"/>
            <a:ext cx="25400" cy="711200"/>
          </a:xfrm>
          <a:prstGeom prst="rect">
            <a:avLst/>
          </a:prstGeom>
          <a:solidFill>
            <a:srgbClr val="EAE3D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BBC75AC8-3177-561A-C02C-EE8BF2EE8052}"/>
              </a:ext>
            </a:extLst>
          </p:cNvPr>
          <p:cNvSpPr/>
          <p:nvPr/>
        </p:nvSpPr>
        <p:spPr>
          <a:xfrm>
            <a:off x="177800" y="6019800"/>
            <a:ext cx="11836400" cy="7112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1" name="Straight Connector 60">
            <a:extLst>
              <a:ext uri="{FF2B5EF4-FFF2-40B4-BE49-F238E27FC236}">
                <a16:creationId xmlns:a16="http://schemas.microsoft.com/office/drawing/2014/main" id="{61668BA7-9A1C-C68B-0EAC-288BCCD22B9E}"/>
              </a:ext>
            </a:extLst>
          </p:cNvPr>
          <p:cNvCxnSpPr/>
          <p:nvPr/>
        </p:nvCxnSpPr>
        <p:spPr>
          <a:xfrm>
            <a:off x="177800" y="6019800"/>
            <a:ext cx="118364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7C95C329-AE92-B759-7A04-CCB16251E4D5}"/>
              </a:ext>
            </a:extLst>
          </p:cNvPr>
          <p:cNvSpPr txBox="1"/>
          <p:nvPr/>
        </p:nvSpPr>
        <p:spPr>
          <a:xfrm>
            <a:off x="228600" y="6070600"/>
            <a:ext cx="2489200" cy="369332"/>
          </a:xfrm>
          <a:prstGeom prst="rect">
            <a:avLst/>
          </a:prstGeom>
          <a:noFill/>
        </p:spPr>
        <p:txBody>
          <a:bodyPr vert="horz" wrap="square" lIns="38100" tIns="12700" rIns="38100" bIns="12700" rtlCol="0">
            <a:noAutofit/>
          </a:bodyPr>
          <a:lstStyle/>
          <a:p>
            <a:r>
              <a:rPr lang="en-US" sz="950" b="1">
                <a:solidFill>
                  <a:srgbClr val="4A2E1A"/>
                </a:solidFill>
              </a:rPr>
              <a:t>4.8  Retirement</a:t>
            </a:r>
          </a:p>
        </p:txBody>
      </p:sp>
      <p:sp>
        <p:nvSpPr>
          <p:cNvPr id="63" name="TextBox 62">
            <a:extLst>
              <a:ext uri="{FF2B5EF4-FFF2-40B4-BE49-F238E27FC236}">
                <a16:creationId xmlns:a16="http://schemas.microsoft.com/office/drawing/2014/main" id="{741C3B3C-94F9-EB2C-8B24-C53A8436588D}"/>
              </a:ext>
            </a:extLst>
          </p:cNvPr>
          <p:cNvSpPr txBox="1"/>
          <p:nvPr/>
        </p:nvSpPr>
        <p:spPr>
          <a:xfrm>
            <a:off x="2768600" y="6070600"/>
            <a:ext cx="4521200" cy="369332"/>
          </a:xfrm>
          <a:prstGeom prst="rect">
            <a:avLst/>
          </a:prstGeom>
          <a:noFill/>
        </p:spPr>
        <p:txBody>
          <a:bodyPr vert="horz" wrap="square" lIns="38100" tIns="12700" rIns="38100" bIns="12700" rtlCol="0">
            <a:noAutofit/>
          </a:bodyPr>
          <a:lstStyle/>
          <a:p>
            <a:r>
              <a:rPr lang="en-US" sz="900">
                <a:solidFill>
                  <a:srgbClr val="4A2E1A"/>
                </a:solidFill>
              </a:rPr>
              <a:t>Read-only archive workflow removed</a:t>
            </a:r>
          </a:p>
        </p:txBody>
      </p:sp>
      <p:sp>
        <p:nvSpPr>
          <p:cNvPr id="64" name="TextBox 63">
            <a:extLst>
              <a:ext uri="{FF2B5EF4-FFF2-40B4-BE49-F238E27FC236}">
                <a16:creationId xmlns:a16="http://schemas.microsoft.com/office/drawing/2014/main" id="{7B2F9D97-9441-9295-BD40-5ED265E375C8}"/>
              </a:ext>
            </a:extLst>
          </p:cNvPr>
          <p:cNvSpPr txBox="1"/>
          <p:nvPr/>
        </p:nvSpPr>
        <p:spPr>
          <a:xfrm>
            <a:off x="7391400" y="6070600"/>
            <a:ext cx="4521200" cy="369332"/>
          </a:xfrm>
          <a:prstGeom prst="rect">
            <a:avLst/>
          </a:prstGeom>
          <a:noFill/>
        </p:spPr>
        <p:txBody>
          <a:bodyPr vert="horz" wrap="square" lIns="38100" tIns="12700" rIns="38100" bIns="12700" rtlCol="0">
            <a:noAutofit/>
          </a:bodyPr>
          <a:lstStyle/>
          <a:p>
            <a:r>
              <a:rPr lang="en-US" sz="900">
                <a:solidFill>
                  <a:srgbClr val="4A2E1A"/>
                </a:solidFill>
              </a:rPr>
              <a:t>Lifecycle status field (active/deprecated); document reason and replacement</a:t>
            </a:r>
          </a:p>
        </p:txBody>
      </p:sp>
      <p:sp>
        <p:nvSpPr>
          <p:cNvPr id="65" name="Rectangle 64">
            <a:extLst>
              <a:ext uri="{FF2B5EF4-FFF2-40B4-BE49-F238E27FC236}">
                <a16:creationId xmlns:a16="http://schemas.microsoft.com/office/drawing/2014/main" id="{560C473F-704B-96E6-31EF-1B3A3BD1C8E2}"/>
              </a:ext>
            </a:extLst>
          </p:cNvPr>
          <p:cNvSpPr/>
          <p:nvPr/>
        </p:nvSpPr>
        <p:spPr>
          <a:xfrm>
            <a:off x="2717800" y="6019800"/>
            <a:ext cx="25400" cy="711200"/>
          </a:xfrm>
          <a:prstGeom prst="rect">
            <a:avLst/>
          </a:prstGeom>
          <a:solidFill>
            <a:srgbClr val="EAE3D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Rectangle 65">
            <a:extLst>
              <a:ext uri="{FF2B5EF4-FFF2-40B4-BE49-F238E27FC236}">
                <a16:creationId xmlns:a16="http://schemas.microsoft.com/office/drawing/2014/main" id="{7A9C26D4-D10B-F349-3952-BC96DFA58A34}"/>
              </a:ext>
            </a:extLst>
          </p:cNvPr>
          <p:cNvSpPr/>
          <p:nvPr/>
        </p:nvSpPr>
        <p:spPr>
          <a:xfrm>
            <a:off x="7340600" y="6019800"/>
            <a:ext cx="25400" cy="711200"/>
          </a:xfrm>
          <a:prstGeom prst="rect">
            <a:avLst/>
          </a:prstGeom>
          <a:solidFill>
            <a:srgbClr val="EAE3D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7" name="Straight Connector 66">
            <a:extLst>
              <a:ext uri="{FF2B5EF4-FFF2-40B4-BE49-F238E27FC236}">
                <a16:creationId xmlns:a16="http://schemas.microsoft.com/office/drawing/2014/main" id="{7C61DF48-8126-50C2-4092-C6C6147984EA}"/>
              </a:ext>
            </a:extLst>
          </p:cNvPr>
          <p:cNvCxnSpPr/>
          <p:nvPr/>
        </p:nvCxnSpPr>
        <p:spPr>
          <a:xfrm>
            <a:off x="177800" y="6731000"/>
            <a:ext cx="118364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ED7B239C-9213-F00B-3279-4290E9D537DB}"/>
              </a:ext>
            </a:extLst>
          </p:cNvPr>
          <p:cNvSpPr txBox="1"/>
          <p:nvPr/>
        </p:nvSpPr>
        <p:spPr>
          <a:xfrm>
            <a:off x="177800" y="6731000"/>
            <a:ext cx="11836400" cy="369332"/>
          </a:xfrm>
          <a:prstGeom prst="rect">
            <a:avLst/>
          </a:prstGeom>
          <a:noFill/>
        </p:spPr>
        <p:txBody>
          <a:bodyPr vert="horz" wrap="square" lIns="38100" tIns="12700" rIns="38100" bIns="12700" rtlCol="0">
            <a:noAutofit/>
          </a:bodyPr>
          <a:lstStyle/>
          <a:p>
            <a:r>
              <a:rPr lang="en-US" sz="750">
                <a:solidFill>
                  <a:srgbClr val="8D7A6B"/>
                </a:solidFill>
              </a:rPr>
              <a:t>* 4.5 Publication kept as original -- RBAC and data catalog access controls are governance targets, not implementation assumptions</a:t>
            </a:r>
          </a:p>
        </p:txBody>
      </p:sp>
    </p:spTree>
    <p:extLst>
      <p:ext uri="{BB962C8B-B14F-4D97-AF65-F5344CB8AC3E}">
        <p14:creationId xmlns:p14="http://schemas.microsoft.com/office/powerpoint/2010/main" val="8985108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FC6ADD9-599C-F4F7-587D-27EC28E6F934}"/>
              </a:ext>
            </a:extLst>
          </p:cNvPr>
          <p:cNvSpPr/>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E3A605A4-0EBA-6D2B-DE0C-B2046C81B65F}"/>
              </a:ext>
            </a:extLst>
          </p:cNvPr>
          <p:cNvSpPr/>
          <p:nvPr/>
        </p:nvSpPr>
        <p:spPr>
          <a:xfrm>
            <a:off x="0" y="0"/>
            <a:ext cx="12192000" cy="609600"/>
          </a:xfrm>
          <a:prstGeom prst="rect">
            <a:avLst/>
          </a:prstGeom>
          <a:solidFill>
            <a:srgbClr val="4A2E1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1EFB26F4-9B44-3AB6-4C7D-BED2E359A5B6}"/>
              </a:ext>
            </a:extLst>
          </p:cNvPr>
          <p:cNvSpPr/>
          <p:nvPr/>
        </p:nvSpPr>
        <p:spPr>
          <a:xfrm>
            <a:off x="0" y="0"/>
            <a:ext cx="63500" cy="68580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E48EC77B-F92A-93DF-5C6E-59FB14E0A214}"/>
              </a:ext>
            </a:extLst>
          </p:cNvPr>
          <p:cNvSpPr txBox="1"/>
          <p:nvPr/>
        </p:nvSpPr>
        <p:spPr>
          <a:xfrm>
            <a:off x="177800" y="127000"/>
            <a:ext cx="11684000" cy="369332"/>
          </a:xfrm>
          <a:prstGeom prst="rect">
            <a:avLst/>
          </a:prstGeom>
          <a:noFill/>
        </p:spPr>
        <p:txBody>
          <a:bodyPr vert="horz" wrap="square" lIns="38100" tIns="12700" rIns="38100" bIns="12700" rtlCol="0">
            <a:noAutofit/>
          </a:bodyPr>
          <a:lstStyle/>
          <a:p>
            <a:r>
              <a:rPr lang="en-US" sz="1400" b="1">
                <a:solidFill>
                  <a:srgbClr val="FFFFFF"/>
                </a:solidFill>
              </a:rPr>
              <a:t>Metadata Management Process  --  Before and After</a:t>
            </a:r>
          </a:p>
        </p:txBody>
      </p:sp>
      <p:cxnSp>
        <p:nvCxnSpPr>
          <p:cNvPr id="6" name="Straight Connector 5">
            <a:extLst>
              <a:ext uri="{FF2B5EF4-FFF2-40B4-BE49-F238E27FC236}">
                <a16:creationId xmlns:a16="http://schemas.microsoft.com/office/drawing/2014/main" id="{75E185A6-B95F-DE4D-CD52-FA2BC92A3FBC}"/>
              </a:ext>
            </a:extLst>
          </p:cNvPr>
          <p:cNvCxnSpPr/>
          <p:nvPr/>
        </p:nvCxnSpPr>
        <p:spPr>
          <a:xfrm>
            <a:off x="0" y="609600"/>
            <a:ext cx="121920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D72F77B8-C201-DB94-51B0-118F39C85FF6}"/>
              </a:ext>
            </a:extLst>
          </p:cNvPr>
          <p:cNvSpPr/>
          <p:nvPr/>
        </p:nvSpPr>
        <p:spPr>
          <a:xfrm>
            <a:off x="177800" y="660400"/>
            <a:ext cx="5842000" cy="355600"/>
          </a:xfrm>
          <a:prstGeom prst="rect">
            <a:avLst/>
          </a:prstGeom>
          <a:solidFill>
            <a:srgbClr val="E8E8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E27ED7D7-999E-2FFE-967F-32850AAC1FA2}"/>
              </a:ext>
            </a:extLst>
          </p:cNvPr>
          <p:cNvSpPr/>
          <p:nvPr/>
        </p:nvSpPr>
        <p:spPr>
          <a:xfrm>
            <a:off x="6172200" y="660400"/>
            <a:ext cx="5842000" cy="355600"/>
          </a:xfrm>
          <a:prstGeom prst="rect">
            <a:avLst/>
          </a:prstGeom>
          <a:solidFill>
            <a:srgbClr val="E9F5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3174BCA1-4066-6754-F678-04C22D8FF264}"/>
              </a:ext>
            </a:extLst>
          </p:cNvPr>
          <p:cNvSpPr txBox="1"/>
          <p:nvPr/>
        </p:nvSpPr>
        <p:spPr>
          <a:xfrm>
            <a:off x="177800" y="723900"/>
            <a:ext cx="5842000" cy="369332"/>
          </a:xfrm>
          <a:prstGeom prst="rect">
            <a:avLst/>
          </a:prstGeom>
          <a:noFill/>
        </p:spPr>
        <p:txBody>
          <a:bodyPr vert="horz" wrap="square" lIns="38100" tIns="12700" rIns="38100" bIns="12700" rtlCol="0">
            <a:noAutofit/>
          </a:bodyPr>
          <a:lstStyle/>
          <a:p>
            <a:pPr algn="ctr"/>
            <a:r>
              <a:rPr lang="en-US" sz="1000" b="1">
                <a:solidFill>
                  <a:srgbClr val="2222B2"/>
                </a:solidFill>
              </a:rPr>
              <a:t>ORIGINAL SOP (Rev 0)</a:t>
            </a:r>
          </a:p>
        </p:txBody>
      </p:sp>
      <p:sp>
        <p:nvSpPr>
          <p:cNvPr id="10" name="TextBox 9">
            <a:extLst>
              <a:ext uri="{FF2B5EF4-FFF2-40B4-BE49-F238E27FC236}">
                <a16:creationId xmlns:a16="http://schemas.microsoft.com/office/drawing/2014/main" id="{EC53F77A-AA0E-7428-6D56-0C24606D6E77}"/>
              </a:ext>
            </a:extLst>
          </p:cNvPr>
          <p:cNvSpPr txBox="1"/>
          <p:nvPr/>
        </p:nvSpPr>
        <p:spPr>
          <a:xfrm>
            <a:off x="6172200" y="723900"/>
            <a:ext cx="5842000" cy="369332"/>
          </a:xfrm>
          <a:prstGeom prst="rect">
            <a:avLst/>
          </a:prstGeom>
          <a:noFill/>
        </p:spPr>
        <p:txBody>
          <a:bodyPr vert="horz" wrap="square" lIns="38100" tIns="12700" rIns="38100" bIns="12700" rtlCol="0">
            <a:noAutofit/>
          </a:bodyPr>
          <a:lstStyle/>
          <a:p>
            <a:pPr algn="ctr"/>
            <a:r>
              <a:rPr lang="en-US" sz="1000" b="1">
                <a:solidFill>
                  <a:srgbClr val="3A6B1A"/>
                </a:solidFill>
              </a:rPr>
              <a:t>REVISED SOP (Rev 1)</a:t>
            </a:r>
          </a:p>
        </p:txBody>
      </p:sp>
      <p:cxnSp>
        <p:nvCxnSpPr>
          <p:cNvPr id="11" name="Straight Connector 10">
            <a:extLst>
              <a:ext uri="{FF2B5EF4-FFF2-40B4-BE49-F238E27FC236}">
                <a16:creationId xmlns:a16="http://schemas.microsoft.com/office/drawing/2014/main" id="{530445DC-0D72-DE94-B68E-0229B318CBCB}"/>
              </a:ext>
            </a:extLst>
          </p:cNvPr>
          <p:cNvCxnSpPr/>
          <p:nvPr/>
        </p:nvCxnSpPr>
        <p:spPr>
          <a:xfrm>
            <a:off x="177800" y="1016000"/>
            <a:ext cx="58420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A96810D-8D89-351E-F924-E9C826544CEB}"/>
              </a:ext>
            </a:extLst>
          </p:cNvPr>
          <p:cNvCxnSpPr/>
          <p:nvPr/>
        </p:nvCxnSpPr>
        <p:spPr>
          <a:xfrm>
            <a:off x="6172200" y="1016000"/>
            <a:ext cx="58420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C3E0C50D-BF6D-5611-983C-D3EE328AD584}"/>
              </a:ext>
            </a:extLst>
          </p:cNvPr>
          <p:cNvSpPr/>
          <p:nvPr/>
        </p:nvSpPr>
        <p:spPr>
          <a:xfrm>
            <a:off x="6019800" y="609600"/>
            <a:ext cx="152400" cy="6248400"/>
          </a:xfrm>
          <a:prstGeom prst="rect">
            <a:avLst/>
          </a:prstGeom>
          <a:solidFill>
            <a:srgbClr val="EAE3D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E98C6381-06CA-72CC-E4C1-8399AE731CCA}"/>
              </a:ext>
            </a:extLst>
          </p:cNvPr>
          <p:cNvSpPr txBox="1"/>
          <p:nvPr/>
        </p:nvSpPr>
        <p:spPr>
          <a:xfrm>
            <a:off x="6019800" y="3683000"/>
            <a:ext cx="152400" cy="369332"/>
          </a:xfrm>
          <a:prstGeom prst="rect">
            <a:avLst/>
          </a:prstGeom>
          <a:noFill/>
        </p:spPr>
        <p:txBody>
          <a:bodyPr vert="horz" wrap="square" lIns="38100" tIns="12700" rIns="38100" bIns="12700" rtlCol="0">
            <a:noAutofit/>
          </a:bodyPr>
          <a:lstStyle/>
          <a:p>
            <a:pPr algn="ctr"/>
            <a:r>
              <a:rPr lang="en-US" sz="700" b="1">
                <a:solidFill>
                  <a:srgbClr val="8D7A6B"/>
                </a:solidFill>
              </a:rPr>
              <a:t>VS</a:t>
            </a:r>
          </a:p>
        </p:txBody>
      </p:sp>
      <p:sp>
        <p:nvSpPr>
          <p:cNvPr id="15" name="Rectangle 14">
            <a:extLst>
              <a:ext uri="{FF2B5EF4-FFF2-40B4-BE49-F238E27FC236}">
                <a16:creationId xmlns:a16="http://schemas.microsoft.com/office/drawing/2014/main" id="{9D73F675-51EA-784E-B04A-DCC6AD6DDE0B}"/>
              </a:ext>
            </a:extLst>
          </p:cNvPr>
          <p:cNvSpPr/>
          <p:nvPr/>
        </p:nvSpPr>
        <p:spPr>
          <a:xfrm>
            <a:off x="177800" y="1066800"/>
            <a:ext cx="5842000" cy="711200"/>
          </a:xfrm>
          <a:prstGeom prst="rect">
            <a:avLst/>
          </a:prstGeom>
          <a:solidFill>
            <a:srgbClr val="ECECF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6F0A7D57-31CD-465B-03B7-BA9C591FC752}"/>
              </a:ext>
            </a:extLst>
          </p:cNvPr>
          <p:cNvSpPr/>
          <p:nvPr/>
        </p:nvSpPr>
        <p:spPr>
          <a:xfrm>
            <a:off x="6172200" y="1066800"/>
            <a:ext cx="5842000" cy="711200"/>
          </a:xfrm>
          <a:prstGeom prst="rect">
            <a:avLst/>
          </a:prstGeom>
          <a:solidFill>
            <a:srgbClr val="EEF7E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Connector 16">
            <a:extLst>
              <a:ext uri="{FF2B5EF4-FFF2-40B4-BE49-F238E27FC236}">
                <a16:creationId xmlns:a16="http://schemas.microsoft.com/office/drawing/2014/main" id="{761EEFCC-2FF9-5621-5778-338D54B7F05E}"/>
              </a:ext>
            </a:extLst>
          </p:cNvPr>
          <p:cNvCxnSpPr/>
          <p:nvPr/>
        </p:nvCxnSpPr>
        <p:spPr>
          <a:xfrm>
            <a:off x="177800" y="1066800"/>
            <a:ext cx="58420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1AC1D10A-9E82-F484-4811-7A832DE9DEC1}"/>
              </a:ext>
            </a:extLst>
          </p:cNvPr>
          <p:cNvCxnSpPr/>
          <p:nvPr/>
        </p:nvCxnSpPr>
        <p:spPr>
          <a:xfrm>
            <a:off x="6172200" y="1066800"/>
            <a:ext cx="58420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7D5417C2-2BF8-16DA-D132-4CB1DDEFF970}"/>
              </a:ext>
            </a:extLst>
          </p:cNvPr>
          <p:cNvSpPr/>
          <p:nvPr/>
        </p:nvSpPr>
        <p:spPr>
          <a:xfrm>
            <a:off x="177800" y="1066800"/>
            <a:ext cx="50800" cy="711200"/>
          </a:xfrm>
          <a:prstGeom prst="rect">
            <a:avLst/>
          </a:prstGeom>
          <a:solidFill>
            <a:srgbClr val="2222B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3C9180CE-2319-4AA2-A71E-96322FA7ACFC}"/>
              </a:ext>
            </a:extLst>
          </p:cNvPr>
          <p:cNvSpPr/>
          <p:nvPr/>
        </p:nvSpPr>
        <p:spPr>
          <a:xfrm>
            <a:off x="6172200" y="1066800"/>
            <a:ext cx="50800" cy="711200"/>
          </a:xfrm>
          <a:prstGeom prst="rect">
            <a:avLst/>
          </a:prstGeom>
          <a:solidFill>
            <a:srgbClr val="3A6B1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56282721-8069-EECF-AFBA-069AE945B3F6}"/>
              </a:ext>
            </a:extLst>
          </p:cNvPr>
          <p:cNvSpPr txBox="1"/>
          <p:nvPr/>
        </p:nvSpPr>
        <p:spPr>
          <a:xfrm>
            <a:off x="279400" y="1092200"/>
            <a:ext cx="5689600" cy="369332"/>
          </a:xfrm>
          <a:prstGeom prst="rect">
            <a:avLst/>
          </a:prstGeom>
          <a:noFill/>
        </p:spPr>
        <p:txBody>
          <a:bodyPr vert="horz" wrap="square" lIns="38100" tIns="12700" rIns="38100" bIns="12700" rtlCol="0">
            <a:noAutofit/>
          </a:bodyPr>
          <a:lstStyle/>
          <a:p>
            <a:r>
              <a:rPr lang="en-US" sz="800" b="1">
                <a:solidFill>
                  <a:srgbClr val="4A2E1A"/>
                </a:solidFill>
              </a:rPr>
              <a:t>1. 4.1 Onboarding</a:t>
            </a:r>
          </a:p>
        </p:txBody>
      </p:sp>
      <p:sp>
        <p:nvSpPr>
          <p:cNvPr id="22" name="TextBox 21">
            <a:extLst>
              <a:ext uri="{FF2B5EF4-FFF2-40B4-BE49-F238E27FC236}">
                <a16:creationId xmlns:a16="http://schemas.microsoft.com/office/drawing/2014/main" id="{80F5CF3C-D2BF-2D72-0340-7A0F699F32D8}"/>
              </a:ext>
            </a:extLst>
          </p:cNvPr>
          <p:cNvSpPr txBox="1"/>
          <p:nvPr/>
        </p:nvSpPr>
        <p:spPr>
          <a:xfrm>
            <a:off x="279400" y="1308100"/>
            <a:ext cx="5689600" cy="369332"/>
          </a:xfrm>
          <a:prstGeom prst="rect">
            <a:avLst/>
          </a:prstGeom>
          <a:noFill/>
        </p:spPr>
        <p:txBody>
          <a:bodyPr vert="horz" wrap="square" lIns="38100" tIns="12700" rIns="38100" bIns="12700" rtlCol="0">
            <a:noAutofit/>
          </a:bodyPr>
          <a:lstStyle/>
          <a:p>
            <a:r>
              <a:rPr lang="en-US" sz="800">
                <a:solidFill>
                  <a:srgbClr val="4A2E1A"/>
                </a:solidFill>
              </a:rPr>
              <a:t>Register all enterprise assets; system enforces all mandatory fields; system blocks activation until complete</a:t>
            </a:r>
          </a:p>
        </p:txBody>
      </p:sp>
      <p:sp>
        <p:nvSpPr>
          <p:cNvPr id="23" name="TextBox 22">
            <a:extLst>
              <a:ext uri="{FF2B5EF4-FFF2-40B4-BE49-F238E27FC236}">
                <a16:creationId xmlns:a16="http://schemas.microsoft.com/office/drawing/2014/main" id="{9C2488A1-4916-2D77-4A4E-7190748D6BFD}"/>
              </a:ext>
            </a:extLst>
          </p:cNvPr>
          <p:cNvSpPr txBox="1"/>
          <p:nvPr/>
        </p:nvSpPr>
        <p:spPr>
          <a:xfrm>
            <a:off x="6273800" y="1092200"/>
            <a:ext cx="5689600" cy="369332"/>
          </a:xfrm>
          <a:prstGeom prst="rect">
            <a:avLst/>
          </a:prstGeom>
          <a:noFill/>
        </p:spPr>
        <p:txBody>
          <a:bodyPr vert="horz" wrap="square" lIns="38100" tIns="12700" rIns="38100" bIns="12700" rtlCol="0">
            <a:noAutofit/>
          </a:bodyPr>
          <a:lstStyle/>
          <a:p>
            <a:r>
              <a:rPr lang="en-US" sz="800" b="1">
                <a:solidFill>
                  <a:srgbClr val="4A2E1A"/>
                </a:solidFill>
              </a:rPr>
              <a:t>1. 4.1 Onboarding</a:t>
            </a:r>
          </a:p>
        </p:txBody>
      </p:sp>
      <p:sp>
        <p:nvSpPr>
          <p:cNvPr id="24" name="TextBox 23">
            <a:extLst>
              <a:ext uri="{FF2B5EF4-FFF2-40B4-BE49-F238E27FC236}">
                <a16:creationId xmlns:a16="http://schemas.microsoft.com/office/drawing/2014/main" id="{C9070D92-C8B5-63F9-6723-58CC9ADB4F56}"/>
              </a:ext>
            </a:extLst>
          </p:cNvPr>
          <p:cNvSpPr txBox="1"/>
          <p:nvPr/>
        </p:nvSpPr>
        <p:spPr>
          <a:xfrm>
            <a:off x="6273800" y="1308100"/>
            <a:ext cx="5689600" cy="369332"/>
          </a:xfrm>
          <a:prstGeom prst="rect">
            <a:avLst/>
          </a:prstGeom>
          <a:noFill/>
        </p:spPr>
        <p:txBody>
          <a:bodyPr vert="horz" wrap="square" lIns="38100" tIns="12700" rIns="38100" bIns="12700" rtlCol="0">
            <a:noAutofit/>
          </a:bodyPr>
          <a:lstStyle/>
          <a:p>
            <a:r>
              <a:rPr lang="en-US" sz="800">
                <a:solidFill>
                  <a:srgbClr val="4A2E1A"/>
                </a:solidFill>
              </a:rPr>
              <a:t>Register in-scope assets only; manually complete 7 core fields; manual prerequisite before use</a:t>
            </a:r>
          </a:p>
        </p:txBody>
      </p:sp>
      <p:sp>
        <p:nvSpPr>
          <p:cNvPr id="25" name="Rectangle 24">
            <a:extLst>
              <a:ext uri="{FF2B5EF4-FFF2-40B4-BE49-F238E27FC236}">
                <a16:creationId xmlns:a16="http://schemas.microsoft.com/office/drawing/2014/main" id="{F63C3A32-8AF6-53BA-440A-72160192A83E}"/>
              </a:ext>
            </a:extLst>
          </p:cNvPr>
          <p:cNvSpPr/>
          <p:nvPr/>
        </p:nvSpPr>
        <p:spPr>
          <a:xfrm>
            <a:off x="177800" y="1778000"/>
            <a:ext cx="5842000" cy="711200"/>
          </a:xfrm>
          <a:prstGeom prst="rect">
            <a:avLst/>
          </a:prstGeom>
          <a:solidFill>
            <a:srgbClr val="ECECF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4FB644D9-A611-1818-BA0E-E2D925B2AF49}"/>
              </a:ext>
            </a:extLst>
          </p:cNvPr>
          <p:cNvSpPr/>
          <p:nvPr/>
        </p:nvSpPr>
        <p:spPr>
          <a:xfrm>
            <a:off x="6172200" y="1778000"/>
            <a:ext cx="5842000" cy="711200"/>
          </a:xfrm>
          <a:prstGeom prst="rect">
            <a:avLst/>
          </a:prstGeom>
          <a:solidFill>
            <a:srgbClr val="EEF7E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Straight Connector 26">
            <a:extLst>
              <a:ext uri="{FF2B5EF4-FFF2-40B4-BE49-F238E27FC236}">
                <a16:creationId xmlns:a16="http://schemas.microsoft.com/office/drawing/2014/main" id="{25AA4057-5AF5-FC1F-1AFD-2EA92261CFB2}"/>
              </a:ext>
            </a:extLst>
          </p:cNvPr>
          <p:cNvCxnSpPr/>
          <p:nvPr/>
        </p:nvCxnSpPr>
        <p:spPr>
          <a:xfrm>
            <a:off x="177800" y="1778000"/>
            <a:ext cx="58420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80416D81-EBB3-F44D-C91B-B02C99A9C0EF}"/>
              </a:ext>
            </a:extLst>
          </p:cNvPr>
          <p:cNvCxnSpPr/>
          <p:nvPr/>
        </p:nvCxnSpPr>
        <p:spPr>
          <a:xfrm>
            <a:off x="6172200" y="1778000"/>
            <a:ext cx="58420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29" name="Rectangle 28">
            <a:extLst>
              <a:ext uri="{FF2B5EF4-FFF2-40B4-BE49-F238E27FC236}">
                <a16:creationId xmlns:a16="http://schemas.microsoft.com/office/drawing/2014/main" id="{75C3FF9F-92C6-E32A-EA0B-F59317D7D1E6}"/>
              </a:ext>
            </a:extLst>
          </p:cNvPr>
          <p:cNvSpPr/>
          <p:nvPr/>
        </p:nvSpPr>
        <p:spPr>
          <a:xfrm>
            <a:off x="177800" y="1778000"/>
            <a:ext cx="50800" cy="711200"/>
          </a:xfrm>
          <a:prstGeom prst="rect">
            <a:avLst/>
          </a:prstGeom>
          <a:solidFill>
            <a:srgbClr val="2222B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7B0E82C9-1E57-F1E1-3A6C-EE181EE120A5}"/>
              </a:ext>
            </a:extLst>
          </p:cNvPr>
          <p:cNvSpPr/>
          <p:nvPr/>
        </p:nvSpPr>
        <p:spPr>
          <a:xfrm>
            <a:off x="6172200" y="1778000"/>
            <a:ext cx="50800" cy="711200"/>
          </a:xfrm>
          <a:prstGeom prst="rect">
            <a:avLst/>
          </a:prstGeom>
          <a:solidFill>
            <a:srgbClr val="3A6B1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5D26B165-ED29-5A4C-50B7-8D8F9C970BA6}"/>
              </a:ext>
            </a:extLst>
          </p:cNvPr>
          <p:cNvSpPr txBox="1"/>
          <p:nvPr/>
        </p:nvSpPr>
        <p:spPr>
          <a:xfrm>
            <a:off x="279400" y="1803400"/>
            <a:ext cx="5689600" cy="369332"/>
          </a:xfrm>
          <a:prstGeom prst="rect">
            <a:avLst/>
          </a:prstGeom>
          <a:noFill/>
        </p:spPr>
        <p:txBody>
          <a:bodyPr vert="horz" wrap="square" lIns="38100" tIns="12700" rIns="38100" bIns="12700" rtlCol="0">
            <a:noAutofit/>
          </a:bodyPr>
          <a:lstStyle/>
          <a:p>
            <a:r>
              <a:rPr lang="en-US" sz="800" b="1">
                <a:solidFill>
                  <a:srgbClr val="4A2E1A"/>
                </a:solidFill>
              </a:rPr>
              <a:t>2. 4.2 Enrichment</a:t>
            </a:r>
          </a:p>
        </p:txBody>
      </p:sp>
      <p:sp>
        <p:nvSpPr>
          <p:cNvPr id="32" name="TextBox 31">
            <a:extLst>
              <a:ext uri="{FF2B5EF4-FFF2-40B4-BE49-F238E27FC236}">
                <a16:creationId xmlns:a16="http://schemas.microsoft.com/office/drawing/2014/main" id="{9D2FA900-5CFC-40D9-1675-6415F198B1EB}"/>
              </a:ext>
            </a:extLst>
          </p:cNvPr>
          <p:cNvSpPr txBox="1"/>
          <p:nvPr/>
        </p:nvSpPr>
        <p:spPr>
          <a:xfrm>
            <a:off x="279400" y="2019300"/>
            <a:ext cx="5689600" cy="369332"/>
          </a:xfrm>
          <a:prstGeom prst="rect">
            <a:avLst/>
          </a:prstGeom>
          <a:noFill/>
        </p:spPr>
        <p:txBody>
          <a:bodyPr vert="horz" wrap="square" lIns="38100" tIns="12700" rIns="38100" bIns="12700" rtlCol="0">
            <a:noAutofit/>
          </a:bodyPr>
          <a:lstStyle/>
          <a:p>
            <a:r>
              <a:rPr lang="en-US" sz="800">
                <a:solidFill>
                  <a:srgbClr val="4A2E1A"/>
                </a:solidFill>
              </a:rPr>
              <a:t>Document 4 generic fields (source, purpose, constraints, frequency)</a:t>
            </a:r>
          </a:p>
        </p:txBody>
      </p:sp>
      <p:sp>
        <p:nvSpPr>
          <p:cNvPr id="33" name="TextBox 32">
            <a:extLst>
              <a:ext uri="{FF2B5EF4-FFF2-40B4-BE49-F238E27FC236}">
                <a16:creationId xmlns:a16="http://schemas.microsoft.com/office/drawing/2014/main" id="{2D35CD65-56D8-FA7D-F2A9-CE99BACDB606}"/>
              </a:ext>
            </a:extLst>
          </p:cNvPr>
          <p:cNvSpPr txBox="1"/>
          <p:nvPr/>
        </p:nvSpPr>
        <p:spPr>
          <a:xfrm>
            <a:off x="6273800" y="1803400"/>
            <a:ext cx="5689600" cy="369332"/>
          </a:xfrm>
          <a:prstGeom prst="rect">
            <a:avLst/>
          </a:prstGeom>
          <a:noFill/>
        </p:spPr>
        <p:txBody>
          <a:bodyPr vert="horz" wrap="square" lIns="38100" tIns="12700" rIns="38100" bIns="12700" rtlCol="0">
            <a:noAutofit/>
          </a:bodyPr>
          <a:lstStyle/>
          <a:p>
            <a:r>
              <a:rPr lang="en-US" sz="800" b="1">
                <a:solidFill>
                  <a:srgbClr val="4A2E1A"/>
                </a:solidFill>
              </a:rPr>
              <a:t>2. 4.2 Enrichment</a:t>
            </a:r>
          </a:p>
        </p:txBody>
      </p:sp>
      <p:sp>
        <p:nvSpPr>
          <p:cNvPr id="34" name="TextBox 33">
            <a:extLst>
              <a:ext uri="{FF2B5EF4-FFF2-40B4-BE49-F238E27FC236}">
                <a16:creationId xmlns:a16="http://schemas.microsoft.com/office/drawing/2014/main" id="{2AC9A26E-FD52-7F99-16AA-F678A00317E4}"/>
              </a:ext>
            </a:extLst>
          </p:cNvPr>
          <p:cNvSpPr txBox="1"/>
          <p:nvPr/>
        </p:nvSpPr>
        <p:spPr>
          <a:xfrm>
            <a:off x="6273800" y="2019300"/>
            <a:ext cx="5689600" cy="369332"/>
          </a:xfrm>
          <a:prstGeom prst="rect">
            <a:avLst/>
          </a:prstGeom>
          <a:noFill/>
        </p:spPr>
        <p:txBody>
          <a:bodyPr vert="horz" wrap="square" lIns="38100" tIns="12700" rIns="38100" bIns="12700" rtlCol="0">
            <a:noAutofit/>
          </a:bodyPr>
          <a:lstStyle/>
          <a:p>
            <a:r>
              <a:rPr lang="en-US" sz="800">
                <a:solidFill>
                  <a:srgbClr val="4A2E1A"/>
                </a:solidFill>
              </a:rPr>
              <a:t>Business definitions + technical attributes + caveats; AI tables: refer to field guide</a:t>
            </a:r>
          </a:p>
        </p:txBody>
      </p:sp>
      <p:sp>
        <p:nvSpPr>
          <p:cNvPr id="35" name="Rectangle 34">
            <a:extLst>
              <a:ext uri="{FF2B5EF4-FFF2-40B4-BE49-F238E27FC236}">
                <a16:creationId xmlns:a16="http://schemas.microsoft.com/office/drawing/2014/main" id="{C4AC648B-E297-CE2B-144D-00A083DC5F3E}"/>
              </a:ext>
            </a:extLst>
          </p:cNvPr>
          <p:cNvSpPr/>
          <p:nvPr/>
        </p:nvSpPr>
        <p:spPr>
          <a:xfrm>
            <a:off x="177800" y="2489200"/>
            <a:ext cx="5842000" cy="711200"/>
          </a:xfrm>
          <a:prstGeom prst="rect">
            <a:avLst/>
          </a:prstGeom>
          <a:solidFill>
            <a:srgbClr val="ECECF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D1100075-49FC-8893-CFD0-045DC71F34B6}"/>
              </a:ext>
            </a:extLst>
          </p:cNvPr>
          <p:cNvSpPr/>
          <p:nvPr/>
        </p:nvSpPr>
        <p:spPr>
          <a:xfrm>
            <a:off x="6172200" y="2489200"/>
            <a:ext cx="5842000" cy="711200"/>
          </a:xfrm>
          <a:prstGeom prst="rect">
            <a:avLst/>
          </a:prstGeom>
          <a:solidFill>
            <a:srgbClr val="EEF7E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7" name="Straight Connector 36">
            <a:extLst>
              <a:ext uri="{FF2B5EF4-FFF2-40B4-BE49-F238E27FC236}">
                <a16:creationId xmlns:a16="http://schemas.microsoft.com/office/drawing/2014/main" id="{BD032127-C291-736C-0E35-1974BD19E375}"/>
              </a:ext>
            </a:extLst>
          </p:cNvPr>
          <p:cNvCxnSpPr/>
          <p:nvPr/>
        </p:nvCxnSpPr>
        <p:spPr>
          <a:xfrm>
            <a:off x="177800" y="2489200"/>
            <a:ext cx="58420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B28BB502-7575-0D71-8149-BF1872DEA366}"/>
              </a:ext>
            </a:extLst>
          </p:cNvPr>
          <p:cNvCxnSpPr/>
          <p:nvPr/>
        </p:nvCxnSpPr>
        <p:spPr>
          <a:xfrm>
            <a:off x="6172200" y="2489200"/>
            <a:ext cx="58420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39" name="Rectangle 38">
            <a:extLst>
              <a:ext uri="{FF2B5EF4-FFF2-40B4-BE49-F238E27FC236}">
                <a16:creationId xmlns:a16="http://schemas.microsoft.com/office/drawing/2014/main" id="{D9B3705C-96FB-9770-F749-7C0D1D44A456}"/>
              </a:ext>
            </a:extLst>
          </p:cNvPr>
          <p:cNvSpPr/>
          <p:nvPr/>
        </p:nvSpPr>
        <p:spPr>
          <a:xfrm>
            <a:off x="177800" y="2489200"/>
            <a:ext cx="50800" cy="711200"/>
          </a:xfrm>
          <a:prstGeom prst="rect">
            <a:avLst/>
          </a:prstGeom>
          <a:solidFill>
            <a:srgbClr val="2222B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B1C4B72E-9DCD-D36B-A03F-275927DC168A}"/>
              </a:ext>
            </a:extLst>
          </p:cNvPr>
          <p:cNvSpPr/>
          <p:nvPr/>
        </p:nvSpPr>
        <p:spPr>
          <a:xfrm>
            <a:off x="6172200" y="2489200"/>
            <a:ext cx="50800" cy="711200"/>
          </a:xfrm>
          <a:prstGeom prst="rect">
            <a:avLst/>
          </a:prstGeom>
          <a:solidFill>
            <a:srgbClr val="3A6B1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2973F632-098E-E468-86C2-D644401B5C00}"/>
              </a:ext>
            </a:extLst>
          </p:cNvPr>
          <p:cNvSpPr txBox="1"/>
          <p:nvPr/>
        </p:nvSpPr>
        <p:spPr>
          <a:xfrm>
            <a:off x="279400" y="2514600"/>
            <a:ext cx="5689600" cy="369332"/>
          </a:xfrm>
          <a:prstGeom prst="rect">
            <a:avLst/>
          </a:prstGeom>
          <a:noFill/>
        </p:spPr>
        <p:txBody>
          <a:bodyPr vert="horz" wrap="square" lIns="38100" tIns="12700" rIns="38100" bIns="12700" rtlCol="0">
            <a:noAutofit/>
          </a:bodyPr>
          <a:lstStyle/>
          <a:p>
            <a:r>
              <a:rPr lang="en-US" sz="800" b="1">
                <a:solidFill>
                  <a:srgbClr val="4A2E1A"/>
                </a:solidFill>
              </a:rPr>
              <a:t>3. 4.3 Validation</a:t>
            </a:r>
          </a:p>
        </p:txBody>
      </p:sp>
      <p:sp>
        <p:nvSpPr>
          <p:cNvPr id="42" name="TextBox 41">
            <a:extLst>
              <a:ext uri="{FF2B5EF4-FFF2-40B4-BE49-F238E27FC236}">
                <a16:creationId xmlns:a16="http://schemas.microsoft.com/office/drawing/2014/main" id="{F48840B0-8D21-CB2C-BC03-34246A6AC1F5}"/>
              </a:ext>
            </a:extLst>
          </p:cNvPr>
          <p:cNvSpPr txBox="1"/>
          <p:nvPr/>
        </p:nvSpPr>
        <p:spPr>
          <a:xfrm>
            <a:off x="279400" y="2730500"/>
            <a:ext cx="5689600" cy="369332"/>
          </a:xfrm>
          <a:prstGeom prst="rect">
            <a:avLst/>
          </a:prstGeom>
          <a:noFill/>
        </p:spPr>
        <p:txBody>
          <a:bodyPr vert="horz" wrap="square" lIns="38100" tIns="12700" rIns="38100" bIns="12700" rtlCol="0">
            <a:noAutofit/>
          </a:bodyPr>
          <a:lstStyle/>
          <a:p>
            <a:r>
              <a:rPr lang="en-US" sz="800">
                <a:solidFill>
                  <a:srgbClr val="4A2E1A"/>
                </a:solidFill>
              </a:rPr>
              <a:t>System-structured checklist; system prevents submission until complete</a:t>
            </a:r>
          </a:p>
        </p:txBody>
      </p:sp>
      <p:sp>
        <p:nvSpPr>
          <p:cNvPr id="43" name="TextBox 42">
            <a:extLst>
              <a:ext uri="{FF2B5EF4-FFF2-40B4-BE49-F238E27FC236}">
                <a16:creationId xmlns:a16="http://schemas.microsoft.com/office/drawing/2014/main" id="{E6BB1B8F-C9F9-3EC9-992E-9876EACBEDD4}"/>
              </a:ext>
            </a:extLst>
          </p:cNvPr>
          <p:cNvSpPr txBox="1"/>
          <p:nvPr/>
        </p:nvSpPr>
        <p:spPr>
          <a:xfrm>
            <a:off x="6273800" y="2514600"/>
            <a:ext cx="5689600" cy="369332"/>
          </a:xfrm>
          <a:prstGeom prst="rect">
            <a:avLst/>
          </a:prstGeom>
          <a:noFill/>
        </p:spPr>
        <p:txBody>
          <a:bodyPr vert="horz" wrap="square" lIns="38100" tIns="12700" rIns="38100" bIns="12700" rtlCol="0">
            <a:noAutofit/>
          </a:bodyPr>
          <a:lstStyle/>
          <a:p>
            <a:r>
              <a:rPr lang="en-US" sz="800" b="1">
                <a:solidFill>
                  <a:srgbClr val="4A2E1A"/>
                </a:solidFill>
              </a:rPr>
              <a:t>3. 4.3 Validation</a:t>
            </a:r>
          </a:p>
        </p:txBody>
      </p:sp>
      <p:sp>
        <p:nvSpPr>
          <p:cNvPr id="44" name="TextBox 43">
            <a:extLst>
              <a:ext uri="{FF2B5EF4-FFF2-40B4-BE49-F238E27FC236}">
                <a16:creationId xmlns:a16="http://schemas.microsoft.com/office/drawing/2014/main" id="{0E241E35-D472-5865-619F-0F702DC68317}"/>
              </a:ext>
            </a:extLst>
          </p:cNvPr>
          <p:cNvSpPr txBox="1"/>
          <p:nvPr/>
        </p:nvSpPr>
        <p:spPr>
          <a:xfrm>
            <a:off x="6273800" y="2730500"/>
            <a:ext cx="5689600" cy="369332"/>
          </a:xfrm>
          <a:prstGeom prst="rect">
            <a:avLst/>
          </a:prstGeom>
          <a:noFill/>
        </p:spPr>
        <p:txBody>
          <a:bodyPr vert="horz" wrap="square" lIns="38100" tIns="12700" rIns="38100" bIns="12700" rtlCol="0">
            <a:noAutofit/>
          </a:bodyPr>
          <a:lstStyle/>
          <a:p>
            <a:r>
              <a:rPr lang="en-US" sz="800">
                <a:solidFill>
                  <a:srgbClr val="4A2E1A"/>
                </a:solidFill>
              </a:rPr>
              <a:t>Manual validation; same 4 criteria; escalate unclear cases</a:t>
            </a:r>
          </a:p>
        </p:txBody>
      </p:sp>
      <p:sp>
        <p:nvSpPr>
          <p:cNvPr id="45" name="Rectangle 44">
            <a:extLst>
              <a:ext uri="{FF2B5EF4-FFF2-40B4-BE49-F238E27FC236}">
                <a16:creationId xmlns:a16="http://schemas.microsoft.com/office/drawing/2014/main" id="{AD3BA8D0-E6C6-D3C5-CE96-3990A4F78499}"/>
              </a:ext>
            </a:extLst>
          </p:cNvPr>
          <p:cNvSpPr/>
          <p:nvPr/>
        </p:nvSpPr>
        <p:spPr>
          <a:xfrm>
            <a:off x="177800" y="3200400"/>
            <a:ext cx="5842000" cy="711200"/>
          </a:xfrm>
          <a:prstGeom prst="rect">
            <a:avLst/>
          </a:prstGeom>
          <a:solidFill>
            <a:srgbClr val="ECECF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E5807550-80F4-A744-3D84-26C333BDDAD8}"/>
              </a:ext>
            </a:extLst>
          </p:cNvPr>
          <p:cNvSpPr/>
          <p:nvPr/>
        </p:nvSpPr>
        <p:spPr>
          <a:xfrm>
            <a:off x="6172200" y="3200400"/>
            <a:ext cx="5842000" cy="711200"/>
          </a:xfrm>
          <a:prstGeom prst="rect">
            <a:avLst/>
          </a:prstGeom>
          <a:solidFill>
            <a:srgbClr val="EEF7E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7" name="Straight Connector 46">
            <a:extLst>
              <a:ext uri="{FF2B5EF4-FFF2-40B4-BE49-F238E27FC236}">
                <a16:creationId xmlns:a16="http://schemas.microsoft.com/office/drawing/2014/main" id="{5F9AF509-C329-1B49-7457-0E9399824F13}"/>
              </a:ext>
            </a:extLst>
          </p:cNvPr>
          <p:cNvCxnSpPr/>
          <p:nvPr/>
        </p:nvCxnSpPr>
        <p:spPr>
          <a:xfrm>
            <a:off x="177800" y="3200400"/>
            <a:ext cx="58420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E2A5F22B-DDF3-99FE-C2BF-62902B518CB9}"/>
              </a:ext>
            </a:extLst>
          </p:cNvPr>
          <p:cNvCxnSpPr/>
          <p:nvPr/>
        </p:nvCxnSpPr>
        <p:spPr>
          <a:xfrm>
            <a:off x="6172200" y="3200400"/>
            <a:ext cx="58420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49" name="Rectangle 48">
            <a:extLst>
              <a:ext uri="{FF2B5EF4-FFF2-40B4-BE49-F238E27FC236}">
                <a16:creationId xmlns:a16="http://schemas.microsoft.com/office/drawing/2014/main" id="{13267152-8392-55B8-D9B3-DBCBEB86759A}"/>
              </a:ext>
            </a:extLst>
          </p:cNvPr>
          <p:cNvSpPr/>
          <p:nvPr/>
        </p:nvSpPr>
        <p:spPr>
          <a:xfrm>
            <a:off x="177800" y="3200400"/>
            <a:ext cx="50800" cy="711200"/>
          </a:xfrm>
          <a:prstGeom prst="rect">
            <a:avLst/>
          </a:prstGeom>
          <a:solidFill>
            <a:srgbClr val="2222B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906ED642-37E5-2351-B287-031FD64CAEFC}"/>
              </a:ext>
            </a:extLst>
          </p:cNvPr>
          <p:cNvSpPr/>
          <p:nvPr/>
        </p:nvSpPr>
        <p:spPr>
          <a:xfrm>
            <a:off x="6172200" y="3200400"/>
            <a:ext cx="50800" cy="711200"/>
          </a:xfrm>
          <a:prstGeom prst="rect">
            <a:avLst/>
          </a:prstGeom>
          <a:solidFill>
            <a:srgbClr val="3A6B1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TextBox 50">
            <a:extLst>
              <a:ext uri="{FF2B5EF4-FFF2-40B4-BE49-F238E27FC236}">
                <a16:creationId xmlns:a16="http://schemas.microsoft.com/office/drawing/2014/main" id="{EBDB7D33-C3C5-8548-12D1-D0673FA0E9DE}"/>
              </a:ext>
            </a:extLst>
          </p:cNvPr>
          <p:cNvSpPr txBox="1"/>
          <p:nvPr/>
        </p:nvSpPr>
        <p:spPr>
          <a:xfrm>
            <a:off x="279400" y="3225800"/>
            <a:ext cx="5689600" cy="369332"/>
          </a:xfrm>
          <a:prstGeom prst="rect">
            <a:avLst/>
          </a:prstGeom>
          <a:noFill/>
        </p:spPr>
        <p:txBody>
          <a:bodyPr vert="horz" wrap="square" lIns="38100" tIns="12700" rIns="38100" bIns="12700" rtlCol="0">
            <a:noAutofit/>
          </a:bodyPr>
          <a:lstStyle/>
          <a:p>
            <a:r>
              <a:rPr lang="en-US" sz="800" b="1">
                <a:solidFill>
                  <a:srgbClr val="4A2E1A"/>
                </a:solidFill>
              </a:rPr>
              <a:t>4. 4.4 Approval</a:t>
            </a:r>
          </a:p>
        </p:txBody>
      </p:sp>
      <p:sp>
        <p:nvSpPr>
          <p:cNvPr id="52" name="TextBox 51">
            <a:extLst>
              <a:ext uri="{FF2B5EF4-FFF2-40B4-BE49-F238E27FC236}">
                <a16:creationId xmlns:a16="http://schemas.microsoft.com/office/drawing/2014/main" id="{FCE88F79-68E3-200C-69A5-4D277B132AE9}"/>
              </a:ext>
            </a:extLst>
          </p:cNvPr>
          <p:cNvSpPr txBox="1"/>
          <p:nvPr/>
        </p:nvSpPr>
        <p:spPr>
          <a:xfrm>
            <a:off x="279400" y="3441700"/>
            <a:ext cx="5689600" cy="369332"/>
          </a:xfrm>
          <a:prstGeom prst="rect">
            <a:avLst/>
          </a:prstGeom>
          <a:noFill/>
        </p:spPr>
        <p:txBody>
          <a:bodyPr vert="horz" wrap="square" lIns="38100" tIns="12700" rIns="38100" bIns="12700" rtlCol="0">
            <a:noAutofit/>
          </a:bodyPr>
          <a:lstStyle/>
          <a:p>
            <a:r>
              <a:rPr lang="en-US" sz="800">
                <a:solidFill>
                  <a:srgbClr val="4A2E1A"/>
                </a:solidFill>
              </a:rPr>
              <a:t>System workflow routing; system-enforced SOD; DGC escalation for high-risk; system-logged audit trail</a:t>
            </a:r>
          </a:p>
        </p:txBody>
      </p:sp>
      <p:sp>
        <p:nvSpPr>
          <p:cNvPr id="53" name="TextBox 52">
            <a:extLst>
              <a:ext uri="{FF2B5EF4-FFF2-40B4-BE49-F238E27FC236}">
                <a16:creationId xmlns:a16="http://schemas.microsoft.com/office/drawing/2014/main" id="{89D89792-2343-1802-FAFE-EC7FC81D74AF}"/>
              </a:ext>
            </a:extLst>
          </p:cNvPr>
          <p:cNvSpPr txBox="1"/>
          <p:nvPr/>
        </p:nvSpPr>
        <p:spPr>
          <a:xfrm>
            <a:off x="6273800" y="3225800"/>
            <a:ext cx="5689600" cy="369332"/>
          </a:xfrm>
          <a:prstGeom prst="rect">
            <a:avLst/>
          </a:prstGeom>
          <a:noFill/>
        </p:spPr>
        <p:txBody>
          <a:bodyPr vert="horz" wrap="square" lIns="38100" tIns="12700" rIns="38100" bIns="12700" rtlCol="0">
            <a:noAutofit/>
          </a:bodyPr>
          <a:lstStyle/>
          <a:p>
            <a:r>
              <a:rPr lang="en-US" sz="800" b="1">
                <a:solidFill>
                  <a:srgbClr val="4A2E1A"/>
                </a:solidFill>
              </a:rPr>
              <a:t>4. 4.4 Approval</a:t>
            </a:r>
          </a:p>
        </p:txBody>
      </p:sp>
      <p:sp>
        <p:nvSpPr>
          <p:cNvPr id="54" name="TextBox 53">
            <a:extLst>
              <a:ext uri="{FF2B5EF4-FFF2-40B4-BE49-F238E27FC236}">
                <a16:creationId xmlns:a16="http://schemas.microsoft.com/office/drawing/2014/main" id="{34AE6873-B079-A0C0-2E46-8CB6A350A661}"/>
              </a:ext>
            </a:extLst>
          </p:cNvPr>
          <p:cNvSpPr txBox="1"/>
          <p:nvPr/>
        </p:nvSpPr>
        <p:spPr>
          <a:xfrm>
            <a:off x="6273800" y="3441700"/>
            <a:ext cx="5689600" cy="369332"/>
          </a:xfrm>
          <a:prstGeom prst="rect">
            <a:avLst/>
          </a:prstGeom>
          <a:noFill/>
        </p:spPr>
        <p:txBody>
          <a:bodyPr vert="horz" wrap="square" lIns="38100" tIns="12700" rIns="38100" bIns="12700" rtlCol="0">
            <a:noAutofit/>
          </a:bodyPr>
          <a:lstStyle/>
          <a:p>
            <a:r>
              <a:rPr lang="en-US" sz="800">
                <a:solidFill>
                  <a:srgbClr val="4A2E1A"/>
                </a:solidFill>
              </a:rPr>
              <a:t>Status fields (draft/reviewed/approved); Data Owner approves; manual sign-off</a:t>
            </a:r>
          </a:p>
        </p:txBody>
      </p:sp>
      <p:sp>
        <p:nvSpPr>
          <p:cNvPr id="55" name="Rectangle 54">
            <a:extLst>
              <a:ext uri="{FF2B5EF4-FFF2-40B4-BE49-F238E27FC236}">
                <a16:creationId xmlns:a16="http://schemas.microsoft.com/office/drawing/2014/main" id="{F63DF0A9-23F1-92A6-9145-2E524995EBA8}"/>
              </a:ext>
            </a:extLst>
          </p:cNvPr>
          <p:cNvSpPr/>
          <p:nvPr/>
        </p:nvSpPr>
        <p:spPr>
          <a:xfrm>
            <a:off x="177800" y="3911600"/>
            <a:ext cx="5842000" cy="711200"/>
          </a:xfrm>
          <a:prstGeom prst="rect">
            <a:avLst/>
          </a:prstGeom>
          <a:solidFill>
            <a:srgbClr val="ECECF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0BB27268-5995-9043-B837-22B5A62351A5}"/>
              </a:ext>
            </a:extLst>
          </p:cNvPr>
          <p:cNvSpPr/>
          <p:nvPr/>
        </p:nvSpPr>
        <p:spPr>
          <a:xfrm>
            <a:off x="6172200" y="3911600"/>
            <a:ext cx="5842000" cy="711200"/>
          </a:xfrm>
          <a:prstGeom prst="rect">
            <a:avLst/>
          </a:prstGeom>
          <a:solidFill>
            <a:srgbClr val="EEF7E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7" name="Straight Connector 56">
            <a:extLst>
              <a:ext uri="{FF2B5EF4-FFF2-40B4-BE49-F238E27FC236}">
                <a16:creationId xmlns:a16="http://schemas.microsoft.com/office/drawing/2014/main" id="{80FFB6E4-5B4A-3EF1-F76E-163FCD1C744F}"/>
              </a:ext>
            </a:extLst>
          </p:cNvPr>
          <p:cNvCxnSpPr/>
          <p:nvPr/>
        </p:nvCxnSpPr>
        <p:spPr>
          <a:xfrm>
            <a:off x="177800" y="3911600"/>
            <a:ext cx="58420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E4CB162C-E96F-9901-D6CD-3ECD289CE099}"/>
              </a:ext>
            </a:extLst>
          </p:cNvPr>
          <p:cNvCxnSpPr/>
          <p:nvPr/>
        </p:nvCxnSpPr>
        <p:spPr>
          <a:xfrm>
            <a:off x="6172200" y="3911600"/>
            <a:ext cx="58420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59" name="Rectangle 58">
            <a:extLst>
              <a:ext uri="{FF2B5EF4-FFF2-40B4-BE49-F238E27FC236}">
                <a16:creationId xmlns:a16="http://schemas.microsoft.com/office/drawing/2014/main" id="{47D721ED-4F02-565F-F912-F8D11242C961}"/>
              </a:ext>
            </a:extLst>
          </p:cNvPr>
          <p:cNvSpPr/>
          <p:nvPr/>
        </p:nvSpPr>
        <p:spPr>
          <a:xfrm>
            <a:off x="177800" y="3911600"/>
            <a:ext cx="50800" cy="711200"/>
          </a:xfrm>
          <a:prstGeom prst="rect">
            <a:avLst/>
          </a:prstGeom>
          <a:solidFill>
            <a:srgbClr val="2222B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816F390E-9027-202F-C747-5E780CD5A6FD}"/>
              </a:ext>
            </a:extLst>
          </p:cNvPr>
          <p:cNvSpPr/>
          <p:nvPr/>
        </p:nvSpPr>
        <p:spPr>
          <a:xfrm>
            <a:off x="6172200" y="3911600"/>
            <a:ext cx="50800" cy="711200"/>
          </a:xfrm>
          <a:prstGeom prst="rect">
            <a:avLst/>
          </a:prstGeom>
          <a:solidFill>
            <a:srgbClr val="3A6B1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TextBox 60">
            <a:extLst>
              <a:ext uri="{FF2B5EF4-FFF2-40B4-BE49-F238E27FC236}">
                <a16:creationId xmlns:a16="http://schemas.microsoft.com/office/drawing/2014/main" id="{994474F3-EE2C-CB9F-943B-87AB2EC99528}"/>
              </a:ext>
            </a:extLst>
          </p:cNvPr>
          <p:cNvSpPr txBox="1"/>
          <p:nvPr/>
        </p:nvSpPr>
        <p:spPr>
          <a:xfrm>
            <a:off x="279400" y="3937000"/>
            <a:ext cx="5689600" cy="369332"/>
          </a:xfrm>
          <a:prstGeom prst="rect">
            <a:avLst/>
          </a:prstGeom>
          <a:noFill/>
        </p:spPr>
        <p:txBody>
          <a:bodyPr vert="horz" wrap="square" lIns="38100" tIns="12700" rIns="38100" bIns="12700" rtlCol="0">
            <a:noAutofit/>
          </a:bodyPr>
          <a:lstStyle/>
          <a:p>
            <a:r>
              <a:rPr lang="en-US" sz="800" b="1">
                <a:solidFill>
                  <a:srgbClr val="4A2E1A"/>
                </a:solidFill>
              </a:rPr>
              <a:t>5. 4.5 Publication</a:t>
            </a:r>
          </a:p>
        </p:txBody>
      </p:sp>
      <p:sp>
        <p:nvSpPr>
          <p:cNvPr id="62" name="TextBox 61">
            <a:extLst>
              <a:ext uri="{FF2B5EF4-FFF2-40B4-BE49-F238E27FC236}">
                <a16:creationId xmlns:a16="http://schemas.microsoft.com/office/drawing/2014/main" id="{0FC7CAA0-89CD-577C-F980-27F790332510}"/>
              </a:ext>
            </a:extLst>
          </p:cNvPr>
          <p:cNvSpPr txBox="1"/>
          <p:nvPr/>
        </p:nvSpPr>
        <p:spPr>
          <a:xfrm>
            <a:off x="279400" y="4152900"/>
            <a:ext cx="5689600" cy="369332"/>
          </a:xfrm>
          <a:prstGeom prst="rect">
            <a:avLst/>
          </a:prstGeom>
          <a:noFill/>
        </p:spPr>
        <p:txBody>
          <a:bodyPr vert="horz" wrap="square" lIns="38100" tIns="12700" rIns="38100" bIns="12700" rtlCol="0">
            <a:noAutofit/>
          </a:bodyPr>
          <a:lstStyle/>
          <a:p>
            <a:r>
              <a:rPr lang="en-US" sz="800">
                <a:solidFill>
                  <a:srgbClr val="4A2E1A"/>
                </a:solidFill>
              </a:rPr>
              <a:t>RBAC-controlled production access; data catalog exposure</a:t>
            </a:r>
          </a:p>
        </p:txBody>
      </p:sp>
      <p:sp>
        <p:nvSpPr>
          <p:cNvPr id="63" name="TextBox 62">
            <a:extLst>
              <a:ext uri="{FF2B5EF4-FFF2-40B4-BE49-F238E27FC236}">
                <a16:creationId xmlns:a16="http://schemas.microsoft.com/office/drawing/2014/main" id="{B5A68838-F021-F00A-EC16-D97D9262E460}"/>
              </a:ext>
            </a:extLst>
          </p:cNvPr>
          <p:cNvSpPr txBox="1"/>
          <p:nvPr/>
        </p:nvSpPr>
        <p:spPr>
          <a:xfrm>
            <a:off x="6273800" y="3937000"/>
            <a:ext cx="5689600" cy="369332"/>
          </a:xfrm>
          <a:prstGeom prst="rect">
            <a:avLst/>
          </a:prstGeom>
          <a:noFill/>
        </p:spPr>
        <p:txBody>
          <a:bodyPr vert="horz" wrap="square" lIns="38100" tIns="12700" rIns="38100" bIns="12700" rtlCol="0">
            <a:noAutofit/>
          </a:bodyPr>
          <a:lstStyle/>
          <a:p>
            <a:r>
              <a:rPr lang="en-US" sz="800" b="1">
                <a:solidFill>
                  <a:srgbClr val="4A2E1A"/>
                </a:solidFill>
              </a:rPr>
              <a:t>5. 4.5 Publication</a:t>
            </a:r>
          </a:p>
        </p:txBody>
      </p:sp>
      <p:sp>
        <p:nvSpPr>
          <p:cNvPr id="64" name="TextBox 63">
            <a:extLst>
              <a:ext uri="{FF2B5EF4-FFF2-40B4-BE49-F238E27FC236}">
                <a16:creationId xmlns:a16="http://schemas.microsoft.com/office/drawing/2014/main" id="{C9F68876-3040-EB34-0959-EA115FAF1383}"/>
              </a:ext>
            </a:extLst>
          </p:cNvPr>
          <p:cNvSpPr txBox="1"/>
          <p:nvPr/>
        </p:nvSpPr>
        <p:spPr>
          <a:xfrm>
            <a:off x="6273800" y="4152900"/>
            <a:ext cx="5689600" cy="369332"/>
          </a:xfrm>
          <a:prstGeom prst="rect">
            <a:avLst/>
          </a:prstGeom>
          <a:noFill/>
        </p:spPr>
        <p:txBody>
          <a:bodyPr vert="horz" wrap="square" lIns="38100" tIns="12700" rIns="38100" bIns="12700" rtlCol="0">
            <a:noAutofit/>
          </a:bodyPr>
          <a:lstStyle/>
          <a:p>
            <a:r>
              <a:rPr lang="en-US" sz="800">
                <a:solidFill>
                  <a:srgbClr val="4A2E1A"/>
                </a:solidFill>
              </a:rPr>
              <a:t>Unchanged -- RBAC + data catalog retained as governance target</a:t>
            </a:r>
          </a:p>
        </p:txBody>
      </p:sp>
      <p:sp>
        <p:nvSpPr>
          <p:cNvPr id="65" name="Rectangle 64">
            <a:extLst>
              <a:ext uri="{FF2B5EF4-FFF2-40B4-BE49-F238E27FC236}">
                <a16:creationId xmlns:a16="http://schemas.microsoft.com/office/drawing/2014/main" id="{11000A85-7882-95F4-5A35-4F2A8993854C}"/>
              </a:ext>
            </a:extLst>
          </p:cNvPr>
          <p:cNvSpPr/>
          <p:nvPr/>
        </p:nvSpPr>
        <p:spPr>
          <a:xfrm>
            <a:off x="177800" y="4622800"/>
            <a:ext cx="5842000" cy="711200"/>
          </a:xfrm>
          <a:prstGeom prst="rect">
            <a:avLst/>
          </a:prstGeom>
          <a:solidFill>
            <a:srgbClr val="ECECF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Rectangle 65">
            <a:extLst>
              <a:ext uri="{FF2B5EF4-FFF2-40B4-BE49-F238E27FC236}">
                <a16:creationId xmlns:a16="http://schemas.microsoft.com/office/drawing/2014/main" id="{A2A9FE26-822D-15FC-04DA-ACD27616B5A4}"/>
              </a:ext>
            </a:extLst>
          </p:cNvPr>
          <p:cNvSpPr/>
          <p:nvPr/>
        </p:nvSpPr>
        <p:spPr>
          <a:xfrm>
            <a:off x="6172200" y="4622800"/>
            <a:ext cx="5842000" cy="711200"/>
          </a:xfrm>
          <a:prstGeom prst="rect">
            <a:avLst/>
          </a:prstGeom>
          <a:solidFill>
            <a:srgbClr val="EEF7E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7" name="Straight Connector 66">
            <a:extLst>
              <a:ext uri="{FF2B5EF4-FFF2-40B4-BE49-F238E27FC236}">
                <a16:creationId xmlns:a16="http://schemas.microsoft.com/office/drawing/2014/main" id="{B4825355-8781-1319-B0DB-E4FADCE1111D}"/>
              </a:ext>
            </a:extLst>
          </p:cNvPr>
          <p:cNvCxnSpPr/>
          <p:nvPr/>
        </p:nvCxnSpPr>
        <p:spPr>
          <a:xfrm>
            <a:off x="177800" y="4622800"/>
            <a:ext cx="58420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9DA4A7AB-536F-0210-E8C9-11CCDDE4193C}"/>
              </a:ext>
            </a:extLst>
          </p:cNvPr>
          <p:cNvCxnSpPr/>
          <p:nvPr/>
        </p:nvCxnSpPr>
        <p:spPr>
          <a:xfrm>
            <a:off x="6172200" y="4622800"/>
            <a:ext cx="58420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69" name="Rectangle 68">
            <a:extLst>
              <a:ext uri="{FF2B5EF4-FFF2-40B4-BE49-F238E27FC236}">
                <a16:creationId xmlns:a16="http://schemas.microsoft.com/office/drawing/2014/main" id="{4462BE31-3005-79D8-1734-F0173C04A3A1}"/>
              </a:ext>
            </a:extLst>
          </p:cNvPr>
          <p:cNvSpPr/>
          <p:nvPr/>
        </p:nvSpPr>
        <p:spPr>
          <a:xfrm>
            <a:off x="177800" y="4622800"/>
            <a:ext cx="50800" cy="711200"/>
          </a:xfrm>
          <a:prstGeom prst="rect">
            <a:avLst/>
          </a:prstGeom>
          <a:solidFill>
            <a:srgbClr val="2222B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a:extLst>
              <a:ext uri="{FF2B5EF4-FFF2-40B4-BE49-F238E27FC236}">
                <a16:creationId xmlns:a16="http://schemas.microsoft.com/office/drawing/2014/main" id="{5FA738B6-0E4B-FAEC-8803-CAFB39FA4D40}"/>
              </a:ext>
            </a:extLst>
          </p:cNvPr>
          <p:cNvSpPr/>
          <p:nvPr/>
        </p:nvSpPr>
        <p:spPr>
          <a:xfrm>
            <a:off x="6172200" y="4622800"/>
            <a:ext cx="50800" cy="711200"/>
          </a:xfrm>
          <a:prstGeom prst="rect">
            <a:avLst/>
          </a:prstGeom>
          <a:solidFill>
            <a:srgbClr val="3A6B1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TextBox 70">
            <a:extLst>
              <a:ext uri="{FF2B5EF4-FFF2-40B4-BE49-F238E27FC236}">
                <a16:creationId xmlns:a16="http://schemas.microsoft.com/office/drawing/2014/main" id="{236E279F-1A96-A128-6D2A-36160AD4D1C4}"/>
              </a:ext>
            </a:extLst>
          </p:cNvPr>
          <p:cNvSpPr txBox="1"/>
          <p:nvPr/>
        </p:nvSpPr>
        <p:spPr>
          <a:xfrm>
            <a:off x="279400" y="4648200"/>
            <a:ext cx="5689600" cy="369332"/>
          </a:xfrm>
          <a:prstGeom prst="rect">
            <a:avLst/>
          </a:prstGeom>
          <a:noFill/>
        </p:spPr>
        <p:txBody>
          <a:bodyPr vert="horz" wrap="square" lIns="38100" tIns="12700" rIns="38100" bIns="12700" rtlCol="0">
            <a:noAutofit/>
          </a:bodyPr>
          <a:lstStyle/>
          <a:p>
            <a:r>
              <a:rPr lang="en-US" sz="800" b="1">
                <a:solidFill>
                  <a:srgbClr val="4A2E1A"/>
                </a:solidFill>
              </a:rPr>
              <a:t>6. 4.6 Maintenance</a:t>
            </a:r>
          </a:p>
        </p:txBody>
      </p:sp>
      <p:sp>
        <p:nvSpPr>
          <p:cNvPr id="72" name="TextBox 71">
            <a:extLst>
              <a:ext uri="{FF2B5EF4-FFF2-40B4-BE49-F238E27FC236}">
                <a16:creationId xmlns:a16="http://schemas.microsoft.com/office/drawing/2014/main" id="{09E78BB3-6D9D-869F-2D2B-C3007590240E}"/>
              </a:ext>
            </a:extLst>
          </p:cNvPr>
          <p:cNvSpPr txBox="1"/>
          <p:nvPr/>
        </p:nvSpPr>
        <p:spPr>
          <a:xfrm>
            <a:off x="279400" y="4864100"/>
            <a:ext cx="5689600" cy="369332"/>
          </a:xfrm>
          <a:prstGeom prst="rect">
            <a:avLst/>
          </a:prstGeom>
          <a:noFill/>
        </p:spPr>
        <p:txBody>
          <a:bodyPr vert="horz" wrap="square" lIns="38100" tIns="12700" rIns="38100" bIns="12700" rtlCol="0">
            <a:noAutofit/>
          </a:bodyPr>
          <a:lstStyle/>
          <a:p>
            <a:r>
              <a:rPr lang="en-US" sz="800">
                <a:solidFill>
                  <a:srgbClr val="4A2E1A"/>
                </a:solidFill>
              </a:rPr>
              <a:t>System workflow for all changes; system version control (desc + reason + approval)</a:t>
            </a:r>
          </a:p>
        </p:txBody>
      </p:sp>
      <p:sp>
        <p:nvSpPr>
          <p:cNvPr id="73" name="TextBox 72">
            <a:extLst>
              <a:ext uri="{FF2B5EF4-FFF2-40B4-BE49-F238E27FC236}">
                <a16:creationId xmlns:a16="http://schemas.microsoft.com/office/drawing/2014/main" id="{829B4F5A-0596-0436-63A8-8CBE53216055}"/>
              </a:ext>
            </a:extLst>
          </p:cNvPr>
          <p:cNvSpPr txBox="1"/>
          <p:nvPr/>
        </p:nvSpPr>
        <p:spPr>
          <a:xfrm>
            <a:off x="6273800" y="4648200"/>
            <a:ext cx="5689600" cy="369332"/>
          </a:xfrm>
          <a:prstGeom prst="rect">
            <a:avLst/>
          </a:prstGeom>
          <a:noFill/>
        </p:spPr>
        <p:txBody>
          <a:bodyPr vert="horz" wrap="square" lIns="38100" tIns="12700" rIns="38100" bIns="12700" rtlCol="0">
            <a:noAutofit/>
          </a:bodyPr>
          <a:lstStyle/>
          <a:p>
            <a:r>
              <a:rPr lang="en-US" sz="800" b="1">
                <a:solidFill>
                  <a:srgbClr val="4A2E1A"/>
                </a:solidFill>
              </a:rPr>
              <a:t>6. 4.6 Maintenance</a:t>
            </a:r>
          </a:p>
        </p:txBody>
      </p:sp>
      <p:sp>
        <p:nvSpPr>
          <p:cNvPr id="74" name="TextBox 73">
            <a:extLst>
              <a:ext uri="{FF2B5EF4-FFF2-40B4-BE49-F238E27FC236}">
                <a16:creationId xmlns:a16="http://schemas.microsoft.com/office/drawing/2014/main" id="{2EFA9F99-42DE-6492-1353-DC25B659E01B}"/>
              </a:ext>
            </a:extLst>
          </p:cNvPr>
          <p:cNvSpPr txBox="1"/>
          <p:nvPr/>
        </p:nvSpPr>
        <p:spPr>
          <a:xfrm>
            <a:off x="6273800" y="4864100"/>
            <a:ext cx="5689600" cy="369332"/>
          </a:xfrm>
          <a:prstGeom prst="rect">
            <a:avLst/>
          </a:prstGeom>
          <a:noFill/>
        </p:spPr>
        <p:txBody>
          <a:bodyPr vert="horz" wrap="square" lIns="38100" tIns="12700" rIns="38100" bIns="12700" rtlCol="0">
            <a:noAutofit/>
          </a:bodyPr>
          <a:lstStyle/>
          <a:p>
            <a:r>
              <a:rPr lang="en-US" sz="800">
                <a:solidFill>
                  <a:srgbClr val="4A2E1A"/>
                </a:solidFill>
              </a:rPr>
              <a:t>Update when things change; record date + change summary; Data Owner review for significant changes</a:t>
            </a:r>
          </a:p>
        </p:txBody>
      </p:sp>
      <p:sp>
        <p:nvSpPr>
          <p:cNvPr id="75" name="Rectangle 74">
            <a:extLst>
              <a:ext uri="{FF2B5EF4-FFF2-40B4-BE49-F238E27FC236}">
                <a16:creationId xmlns:a16="http://schemas.microsoft.com/office/drawing/2014/main" id="{5AFB45DC-856F-C2BE-9361-3534EBAA6436}"/>
              </a:ext>
            </a:extLst>
          </p:cNvPr>
          <p:cNvSpPr/>
          <p:nvPr/>
        </p:nvSpPr>
        <p:spPr>
          <a:xfrm>
            <a:off x="177800" y="5334000"/>
            <a:ext cx="5842000" cy="711200"/>
          </a:xfrm>
          <a:prstGeom prst="rect">
            <a:avLst/>
          </a:prstGeom>
          <a:solidFill>
            <a:srgbClr val="ECECF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a:extLst>
              <a:ext uri="{FF2B5EF4-FFF2-40B4-BE49-F238E27FC236}">
                <a16:creationId xmlns:a16="http://schemas.microsoft.com/office/drawing/2014/main" id="{E84F05D0-E8DE-11EC-3343-0680F8AC31D3}"/>
              </a:ext>
            </a:extLst>
          </p:cNvPr>
          <p:cNvSpPr/>
          <p:nvPr/>
        </p:nvSpPr>
        <p:spPr>
          <a:xfrm>
            <a:off x="6172200" y="5334000"/>
            <a:ext cx="5842000" cy="711200"/>
          </a:xfrm>
          <a:prstGeom prst="rect">
            <a:avLst/>
          </a:prstGeom>
          <a:solidFill>
            <a:srgbClr val="EEF7E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7" name="Straight Connector 76">
            <a:extLst>
              <a:ext uri="{FF2B5EF4-FFF2-40B4-BE49-F238E27FC236}">
                <a16:creationId xmlns:a16="http://schemas.microsoft.com/office/drawing/2014/main" id="{2AB9C5F4-A878-F614-41E5-E4F9B16A9345}"/>
              </a:ext>
            </a:extLst>
          </p:cNvPr>
          <p:cNvCxnSpPr/>
          <p:nvPr/>
        </p:nvCxnSpPr>
        <p:spPr>
          <a:xfrm>
            <a:off x="177800" y="5334000"/>
            <a:ext cx="58420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AE923A5D-A634-7109-7C67-FCCCB1BA3D25}"/>
              </a:ext>
            </a:extLst>
          </p:cNvPr>
          <p:cNvCxnSpPr/>
          <p:nvPr/>
        </p:nvCxnSpPr>
        <p:spPr>
          <a:xfrm>
            <a:off x="6172200" y="5334000"/>
            <a:ext cx="58420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79" name="Rectangle 78">
            <a:extLst>
              <a:ext uri="{FF2B5EF4-FFF2-40B4-BE49-F238E27FC236}">
                <a16:creationId xmlns:a16="http://schemas.microsoft.com/office/drawing/2014/main" id="{3D32B031-BD51-BC46-2DF4-A86518B30A20}"/>
              </a:ext>
            </a:extLst>
          </p:cNvPr>
          <p:cNvSpPr/>
          <p:nvPr/>
        </p:nvSpPr>
        <p:spPr>
          <a:xfrm>
            <a:off x="177800" y="5334000"/>
            <a:ext cx="50800" cy="711200"/>
          </a:xfrm>
          <a:prstGeom prst="rect">
            <a:avLst/>
          </a:prstGeom>
          <a:solidFill>
            <a:srgbClr val="2222B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a:extLst>
              <a:ext uri="{FF2B5EF4-FFF2-40B4-BE49-F238E27FC236}">
                <a16:creationId xmlns:a16="http://schemas.microsoft.com/office/drawing/2014/main" id="{16E3358E-A33A-46A5-D4FD-F965900F1D46}"/>
              </a:ext>
            </a:extLst>
          </p:cNvPr>
          <p:cNvSpPr/>
          <p:nvPr/>
        </p:nvSpPr>
        <p:spPr>
          <a:xfrm>
            <a:off x="6172200" y="5334000"/>
            <a:ext cx="50800" cy="711200"/>
          </a:xfrm>
          <a:prstGeom prst="rect">
            <a:avLst/>
          </a:prstGeom>
          <a:solidFill>
            <a:srgbClr val="3A6B1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TextBox 80">
            <a:extLst>
              <a:ext uri="{FF2B5EF4-FFF2-40B4-BE49-F238E27FC236}">
                <a16:creationId xmlns:a16="http://schemas.microsoft.com/office/drawing/2014/main" id="{6D46BE6A-3E30-6FC6-978A-FDAD1E145A08}"/>
              </a:ext>
            </a:extLst>
          </p:cNvPr>
          <p:cNvSpPr txBox="1"/>
          <p:nvPr/>
        </p:nvSpPr>
        <p:spPr>
          <a:xfrm>
            <a:off x="279400" y="5359400"/>
            <a:ext cx="5689600" cy="369332"/>
          </a:xfrm>
          <a:prstGeom prst="rect">
            <a:avLst/>
          </a:prstGeom>
          <a:noFill/>
        </p:spPr>
        <p:txBody>
          <a:bodyPr vert="horz" wrap="square" lIns="38100" tIns="12700" rIns="38100" bIns="12700" rtlCol="0">
            <a:noAutofit/>
          </a:bodyPr>
          <a:lstStyle/>
          <a:p>
            <a:r>
              <a:rPr lang="en-US" sz="800" b="1">
                <a:solidFill>
                  <a:srgbClr val="4A2E1A"/>
                </a:solidFill>
              </a:rPr>
              <a:t>7. 4.7 Quality</a:t>
            </a:r>
          </a:p>
        </p:txBody>
      </p:sp>
      <p:sp>
        <p:nvSpPr>
          <p:cNvPr id="82" name="TextBox 81">
            <a:extLst>
              <a:ext uri="{FF2B5EF4-FFF2-40B4-BE49-F238E27FC236}">
                <a16:creationId xmlns:a16="http://schemas.microsoft.com/office/drawing/2014/main" id="{3A8230CC-D975-2AFE-FAA0-C225CE1CF225}"/>
              </a:ext>
            </a:extLst>
          </p:cNvPr>
          <p:cNvSpPr txBox="1"/>
          <p:nvPr/>
        </p:nvSpPr>
        <p:spPr>
          <a:xfrm>
            <a:off x="279400" y="5575300"/>
            <a:ext cx="5689600" cy="369332"/>
          </a:xfrm>
          <a:prstGeom prst="rect">
            <a:avLst/>
          </a:prstGeom>
          <a:noFill/>
        </p:spPr>
        <p:txBody>
          <a:bodyPr vert="horz" wrap="square" lIns="38100" tIns="12700" rIns="38100" bIns="12700" rtlCol="0">
            <a:noAutofit/>
          </a:bodyPr>
          <a:lstStyle/>
          <a:p>
            <a:r>
              <a:rPr lang="en-US" sz="800">
                <a:solidFill>
                  <a:srgbClr val="4A2E1A"/>
                </a:solidFill>
              </a:rPr>
              <a:t>System dashboard reviews; formal SLA issue tracking; escalate to DGC if overdue</a:t>
            </a:r>
          </a:p>
        </p:txBody>
      </p:sp>
      <p:sp>
        <p:nvSpPr>
          <p:cNvPr id="83" name="TextBox 82">
            <a:extLst>
              <a:ext uri="{FF2B5EF4-FFF2-40B4-BE49-F238E27FC236}">
                <a16:creationId xmlns:a16="http://schemas.microsoft.com/office/drawing/2014/main" id="{B97F6A29-BFB3-A545-6B69-D8CA0AB8EC3A}"/>
              </a:ext>
            </a:extLst>
          </p:cNvPr>
          <p:cNvSpPr txBox="1"/>
          <p:nvPr/>
        </p:nvSpPr>
        <p:spPr>
          <a:xfrm>
            <a:off x="6273800" y="5359400"/>
            <a:ext cx="5689600" cy="369332"/>
          </a:xfrm>
          <a:prstGeom prst="rect">
            <a:avLst/>
          </a:prstGeom>
          <a:noFill/>
        </p:spPr>
        <p:txBody>
          <a:bodyPr vert="horz" wrap="square" lIns="38100" tIns="12700" rIns="38100" bIns="12700" rtlCol="0">
            <a:noAutofit/>
          </a:bodyPr>
          <a:lstStyle/>
          <a:p>
            <a:r>
              <a:rPr lang="en-US" sz="800" b="1">
                <a:solidFill>
                  <a:srgbClr val="4A2E1A"/>
                </a:solidFill>
              </a:rPr>
              <a:t>7. 4.7 Quality</a:t>
            </a:r>
          </a:p>
        </p:txBody>
      </p:sp>
      <p:sp>
        <p:nvSpPr>
          <p:cNvPr id="84" name="TextBox 83">
            <a:extLst>
              <a:ext uri="{FF2B5EF4-FFF2-40B4-BE49-F238E27FC236}">
                <a16:creationId xmlns:a16="http://schemas.microsoft.com/office/drawing/2014/main" id="{F868FE34-BA4C-3DBB-ECFA-14597690107F}"/>
              </a:ext>
            </a:extLst>
          </p:cNvPr>
          <p:cNvSpPr txBox="1"/>
          <p:nvPr/>
        </p:nvSpPr>
        <p:spPr>
          <a:xfrm>
            <a:off x="6273800" y="5575300"/>
            <a:ext cx="5689600" cy="369332"/>
          </a:xfrm>
          <a:prstGeom prst="rect">
            <a:avLst/>
          </a:prstGeom>
          <a:noFill/>
        </p:spPr>
        <p:txBody>
          <a:bodyPr vert="horz" wrap="square" lIns="38100" tIns="12700" rIns="38100" bIns="12700" rtlCol="0">
            <a:noAutofit/>
          </a:bodyPr>
          <a:lstStyle/>
          <a:p>
            <a:r>
              <a:rPr lang="en-US" sz="800">
                <a:solidFill>
                  <a:srgbClr val="4A2E1A"/>
                </a:solidFill>
              </a:rPr>
              <a:t>Caveats section per asset; reviewed periodically; no platform needed</a:t>
            </a:r>
          </a:p>
        </p:txBody>
      </p:sp>
      <p:sp>
        <p:nvSpPr>
          <p:cNvPr id="85" name="Rectangle 84">
            <a:extLst>
              <a:ext uri="{FF2B5EF4-FFF2-40B4-BE49-F238E27FC236}">
                <a16:creationId xmlns:a16="http://schemas.microsoft.com/office/drawing/2014/main" id="{85358589-299A-4813-470E-1DD1AA8C9CAF}"/>
              </a:ext>
            </a:extLst>
          </p:cNvPr>
          <p:cNvSpPr/>
          <p:nvPr/>
        </p:nvSpPr>
        <p:spPr>
          <a:xfrm>
            <a:off x="177800" y="6045200"/>
            <a:ext cx="5842000" cy="711200"/>
          </a:xfrm>
          <a:prstGeom prst="rect">
            <a:avLst/>
          </a:prstGeom>
          <a:solidFill>
            <a:srgbClr val="ECECF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a:extLst>
              <a:ext uri="{FF2B5EF4-FFF2-40B4-BE49-F238E27FC236}">
                <a16:creationId xmlns:a16="http://schemas.microsoft.com/office/drawing/2014/main" id="{28CD8A49-E889-BD6A-1F76-D3E4FF517684}"/>
              </a:ext>
            </a:extLst>
          </p:cNvPr>
          <p:cNvSpPr/>
          <p:nvPr/>
        </p:nvSpPr>
        <p:spPr>
          <a:xfrm>
            <a:off x="6172200" y="6045200"/>
            <a:ext cx="5842000" cy="711200"/>
          </a:xfrm>
          <a:prstGeom prst="rect">
            <a:avLst/>
          </a:prstGeom>
          <a:solidFill>
            <a:srgbClr val="EEF7E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7" name="Straight Connector 86">
            <a:extLst>
              <a:ext uri="{FF2B5EF4-FFF2-40B4-BE49-F238E27FC236}">
                <a16:creationId xmlns:a16="http://schemas.microsoft.com/office/drawing/2014/main" id="{2F7C85B0-1BE7-8439-7133-D6630614F9A2}"/>
              </a:ext>
            </a:extLst>
          </p:cNvPr>
          <p:cNvCxnSpPr/>
          <p:nvPr/>
        </p:nvCxnSpPr>
        <p:spPr>
          <a:xfrm>
            <a:off x="177800" y="6045200"/>
            <a:ext cx="58420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0A40F187-6BAD-E93A-CD9B-92BB117BA732}"/>
              </a:ext>
            </a:extLst>
          </p:cNvPr>
          <p:cNvCxnSpPr/>
          <p:nvPr/>
        </p:nvCxnSpPr>
        <p:spPr>
          <a:xfrm>
            <a:off x="6172200" y="6045200"/>
            <a:ext cx="58420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89" name="Rectangle 88">
            <a:extLst>
              <a:ext uri="{FF2B5EF4-FFF2-40B4-BE49-F238E27FC236}">
                <a16:creationId xmlns:a16="http://schemas.microsoft.com/office/drawing/2014/main" id="{9B7D17CB-F96A-7185-CB24-EA18147A2553}"/>
              </a:ext>
            </a:extLst>
          </p:cNvPr>
          <p:cNvSpPr/>
          <p:nvPr/>
        </p:nvSpPr>
        <p:spPr>
          <a:xfrm>
            <a:off x="177800" y="6045200"/>
            <a:ext cx="50800" cy="711200"/>
          </a:xfrm>
          <a:prstGeom prst="rect">
            <a:avLst/>
          </a:prstGeom>
          <a:solidFill>
            <a:srgbClr val="2222B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Rectangle 89">
            <a:extLst>
              <a:ext uri="{FF2B5EF4-FFF2-40B4-BE49-F238E27FC236}">
                <a16:creationId xmlns:a16="http://schemas.microsoft.com/office/drawing/2014/main" id="{02242D5E-9FA2-E508-B76A-22629DF0BA49}"/>
              </a:ext>
            </a:extLst>
          </p:cNvPr>
          <p:cNvSpPr/>
          <p:nvPr/>
        </p:nvSpPr>
        <p:spPr>
          <a:xfrm>
            <a:off x="6172200" y="6045200"/>
            <a:ext cx="50800" cy="711200"/>
          </a:xfrm>
          <a:prstGeom prst="rect">
            <a:avLst/>
          </a:prstGeom>
          <a:solidFill>
            <a:srgbClr val="3A6B1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TextBox 90">
            <a:extLst>
              <a:ext uri="{FF2B5EF4-FFF2-40B4-BE49-F238E27FC236}">
                <a16:creationId xmlns:a16="http://schemas.microsoft.com/office/drawing/2014/main" id="{4BC972B0-746C-61F2-6DAD-464CB108A3AC}"/>
              </a:ext>
            </a:extLst>
          </p:cNvPr>
          <p:cNvSpPr txBox="1"/>
          <p:nvPr/>
        </p:nvSpPr>
        <p:spPr>
          <a:xfrm>
            <a:off x="279400" y="6070600"/>
            <a:ext cx="5689600" cy="369332"/>
          </a:xfrm>
          <a:prstGeom prst="rect">
            <a:avLst/>
          </a:prstGeom>
          <a:noFill/>
        </p:spPr>
        <p:txBody>
          <a:bodyPr vert="horz" wrap="square" lIns="38100" tIns="12700" rIns="38100" bIns="12700" rtlCol="0">
            <a:noAutofit/>
          </a:bodyPr>
          <a:lstStyle/>
          <a:p>
            <a:r>
              <a:rPr lang="en-US" sz="800" b="1">
                <a:solidFill>
                  <a:srgbClr val="4A2E1A"/>
                </a:solidFill>
              </a:rPr>
              <a:t>8. 4.8 Retirement</a:t>
            </a:r>
          </a:p>
        </p:txBody>
      </p:sp>
      <p:sp>
        <p:nvSpPr>
          <p:cNvPr id="92" name="TextBox 91">
            <a:extLst>
              <a:ext uri="{FF2B5EF4-FFF2-40B4-BE49-F238E27FC236}">
                <a16:creationId xmlns:a16="http://schemas.microsoft.com/office/drawing/2014/main" id="{7804702C-DB04-8282-D561-89A31D9A346C}"/>
              </a:ext>
            </a:extLst>
          </p:cNvPr>
          <p:cNvSpPr txBox="1"/>
          <p:nvPr/>
        </p:nvSpPr>
        <p:spPr>
          <a:xfrm>
            <a:off x="279400" y="6286500"/>
            <a:ext cx="5689600" cy="369332"/>
          </a:xfrm>
          <a:prstGeom prst="rect">
            <a:avLst/>
          </a:prstGeom>
          <a:noFill/>
        </p:spPr>
        <p:txBody>
          <a:bodyPr vert="horz" wrap="square" lIns="38100" tIns="12700" rIns="38100" bIns="12700" rtlCol="0">
            <a:noAutofit/>
          </a:bodyPr>
          <a:lstStyle/>
          <a:p>
            <a:r>
              <a:rPr lang="en-US" sz="800">
                <a:solidFill>
                  <a:srgbClr val="4A2E1A"/>
                </a:solidFill>
              </a:rPr>
              <a:t>Formally mark deprecated; archive in read-only system; comply with retention policy</a:t>
            </a:r>
          </a:p>
        </p:txBody>
      </p:sp>
      <p:sp>
        <p:nvSpPr>
          <p:cNvPr id="93" name="TextBox 92">
            <a:extLst>
              <a:ext uri="{FF2B5EF4-FFF2-40B4-BE49-F238E27FC236}">
                <a16:creationId xmlns:a16="http://schemas.microsoft.com/office/drawing/2014/main" id="{FFCD5C1C-EB04-B5D6-064F-8D7B36E10B09}"/>
              </a:ext>
            </a:extLst>
          </p:cNvPr>
          <p:cNvSpPr txBox="1"/>
          <p:nvPr/>
        </p:nvSpPr>
        <p:spPr>
          <a:xfrm>
            <a:off x="6273800" y="6070600"/>
            <a:ext cx="5689600" cy="369332"/>
          </a:xfrm>
          <a:prstGeom prst="rect">
            <a:avLst/>
          </a:prstGeom>
          <a:noFill/>
        </p:spPr>
        <p:txBody>
          <a:bodyPr vert="horz" wrap="square" lIns="38100" tIns="12700" rIns="38100" bIns="12700" rtlCol="0">
            <a:noAutofit/>
          </a:bodyPr>
          <a:lstStyle/>
          <a:p>
            <a:r>
              <a:rPr lang="en-US" sz="800" b="1">
                <a:solidFill>
                  <a:srgbClr val="4A2E1A"/>
                </a:solidFill>
              </a:rPr>
              <a:t>8. 4.8 Retirement</a:t>
            </a:r>
          </a:p>
        </p:txBody>
      </p:sp>
      <p:sp>
        <p:nvSpPr>
          <p:cNvPr id="94" name="TextBox 93">
            <a:extLst>
              <a:ext uri="{FF2B5EF4-FFF2-40B4-BE49-F238E27FC236}">
                <a16:creationId xmlns:a16="http://schemas.microsoft.com/office/drawing/2014/main" id="{3AC3927C-2E60-27DA-E589-B879A2A59628}"/>
              </a:ext>
            </a:extLst>
          </p:cNvPr>
          <p:cNvSpPr txBox="1"/>
          <p:nvPr/>
        </p:nvSpPr>
        <p:spPr>
          <a:xfrm>
            <a:off x="6273800" y="6286500"/>
            <a:ext cx="5689600" cy="369332"/>
          </a:xfrm>
          <a:prstGeom prst="rect">
            <a:avLst/>
          </a:prstGeom>
          <a:noFill/>
        </p:spPr>
        <p:txBody>
          <a:bodyPr vert="horz" wrap="square" lIns="38100" tIns="12700" rIns="38100" bIns="12700" rtlCol="0">
            <a:noAutofit/>
          </a:bodyPr>
          <a:lstStyle/>
          <a:p>
            <a:r>
              <a:rPr lang="en-US" sz="800">
                <a:solidFill>
                  <a:srgbClr val="4A2E1A"/>
                </a:solidFill>
              </a:rPr>
              <a:t>Status field (active/deprecated); document reason + replacement; remove from active use</a:t>
            </a:r>
          </a:p>
        </p:txBody>
      </p:sp>
    </p:spTree>
    <p:extLst>
      <p:ext uri="{BB962C8B-B14F-4D97-AF65-F5344CB8AC3E}">
        <p14:creationId xmlns:p14="http://schemas.microsoft.com/office/powerpoint/2010/main" val="25561391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DFA8B77-2CB9-439D-B092-435081EC5F96}"/>
              </a:ext>
            </a:extLst>
          </p:cNvPr>
          <p:cNvSpPr/>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CB327A68-67FF-BA08-3B0F-722A53616631}"/>
              </a:ext>
            </a:extLst>
          </p:cNvPr>
          <p:cNvSpPr/>
          <p:nvPr/>
        </p:nvSpPr>
        <p:spPr>
          <a:xfrm>
            <a:off x="0" y="0"/>
            <a:ext cx="63500" cy="6858000"/>
          </a:xfrm>
          <a:prstGeom prst="rect">
            <a:avLst/>
          </a:prstGeom>
          <a:solidFill>
            <a:srgbClr val="506F1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BB44AD10-31C3-2D3A-C1A4-F7BA77C107A9}"/>
              </a:ext>
            </a:extLst>
          </p:cNvPr>
          <p:cNvSpPr/>
          <p:nvPr/>
        </p:nvSpPr>
        <p:spPr>
          <a:xfrm>
            <a:off x="0" y="0"/>
            <a:ext cx="12192000" cy="660400"/>
          </a:xfrm>
          <a:prstGeom prst="rect">
            <a:avLst/>
          </a:prstGeom>
          <a:solidFill>
            <a:srgbClr val="4A2E1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B21A0C10-7641-9D39-77ED-357920E00A80}"/>
              </a:ext>
            </a:extLst>
          </p:cNvPr>
          <p:cNvSpPr/>
          <p:nvPr/>
        </p:nvSpPr>
        <p:spPr>
          <a:xfrm>
            <a:off x="114300" y="114300"/>
            <a:ext cx="508000" cy="4318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0324B900-6CC5-2B0B-80F3-DE44E63522C6}"/>
              </a:ext>
            </a:extLst>
          </p:cNvPr>
          <p:cNvSpPr txBox="1"/>
          <p:nvPr/>
        </p:nvSpPr>
        <p:spPr>
          <a:xfrm>
            <a:off x="114300" y="114300"/>
            <a:ext cx="508000" cy="369332"/>
          </a:xfrm>
          <a:prstGeom prst="rect">
            <a:avLst/>
          </a:prstGeom>
          <a:noFill/>
        </p:spPr>
        <p:txBody>
          <a:bodyPr vert="horz" wrap="square" lIns="38100" tIns="12700" rIns="38100" bIns="12700" rtlCol="0">
            <a:noAutofit/>
          </a:bodyPr>
          <a:lstStyle/>
          <a:p>
            <a:pPr algn="ctr"/>
            <a:r>
              <a:rPr lang="en-US" sz="1000" b="1">
                <a:solidFill>
                  <a:srgbClr val="FFFFFF"/>
                </a:solidFill>
              </a:rPr>
              <a:t>4.1</a:t>
            </a:r>
          </a:p>
        </p:txBody>
      </p:sp>
      <p:sp>
        <p:nvSpPr>
          <p:cNvPr id="7" name="TextBox 6">
            <a:extLst>
              <a:ext uri="{FF2B5EF4-FFF2-40B4-BE49-F238E27FC236}">
                <a16:creationId xmlns:a16="http://schemas.microsoft.com/office/drawing/2014/main" id="{20210FF7-4EC2-BD91-62CA-C62618B9AE71}"/>
              </a:ext>
            </a:extLst>
          </p:cNvPr>
          <p:cNvSpPr txBox="1"/>
          <p:nvPr/>
        </p:nvSpPr>
        <p:spPr>
          <a:xfrm>
            <a:off x="736600" y="152400"/>
            <a:ext cx="9525000" cy="369332"/>
          </a:xfrm>
          <a:prstGeom prst="rect">
            <a:avLst/>
          </a:prstGeom>
          <a:noFill/>
        </p:spPr>
        <p:txBody>
          <a:bodyPr vert="horz" wrap="square" lIns="38100" tIns="12700" rIns="38100" bIns="12700" rtlCol="0">
            <a:noAutofit/>
          </a:bodyPr>
          <a:lstStyle/>
          <a:p>
            <a:r>
              <a:rPr lang="en-US" sz="1400" b="1">
                <a:solidFill>
                  <a:srgbClr val="FFFFFF"/>
                </a:solidFill>
              </a:rPr>
              <a:t>Metadata Onboarding and Registration</a:t>
            </a:r>
          </a:p>
        </p:txBody>
      </p:sp>
      <p:sp>
        <p:nvSpPr>
          <p:cNvPr id="8" name="TextBox 7">
            <a:extLst>
              <a:ext uri="{FF2B5EF4-FFF2-40B4-BE49-F238E27FC236}">
                <a16:creationId xmlns:a16="http://schemas.microsoft.com/office/drawing/2014/main" id="{BF36E1DA-61FC-81D0-DC3D-815FF77020EB}"/>
              </a:ext>
            </a:extLst>
          </p:cNvPr>
          <p:cNvSpPr txBox="1"/>
          <p:nvPr/>
        </p:nvSpPr>
        <p:spPr>
          <a:xfrm>
            <a:off x="10414000" y="203200"/>
            <a:ext cx="1625600" cy="369332"/>
          </a:xfrm>
          <a:prstGeom prst="rect">
            <a:avLst/>
          </a:prstGeom>
          <a:noFill/>
        </p:spPr>
        <p:txBody>
          <a:bodyPr vert="horz" wrap="square" lIns="38100" tIns="12700" rIns="38100" bIns="12700" rtlCol="0">
            <a:noAutofit/>
          </a:bodyPr>
          <a:lstStyle/>
          <a:p>
            <a:pPr algn="r"/>
            <a:r>
              <a:rPr lang="en-US" sz="900">
                <a:solidFill>
                  <a:srgbClr val="EAE3DD"/>
                </a:solidFill>
              </a:rPr>
              <a:t>Change 1 / 8</a:t>
            </a:r>
          </a:p>
        </p:txBody>
      </p:sp>
      <p:cxnSp>
        <p:nvCxnSpPr>
          <p:cNvPr id="9" name="Straight Connector 8">
            <a:extLst>
              <a:ext uri="{FF2B5EF4-FFF2-40B4-BE49-F238E27FC236}">
                <a16:creationId xmlns:a16="http://schemas.microsoft.com/office/drawing/2014/main" id="{CDDF00EF-02D7-321A-66C3-B7654AF88E01}"/>
              </a:ext>
            </a:extLst>
          </p:cNvPr>
          <p:cNvCxnSpPr/>
          <p:nvPr/>
        </p:nvCxnSpPr>
        <p:spPr>
          <a:xfrm>
            <a:off x="0" y="660400"/>
            <a:ext cx="121920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B0BD5DC6-0B50-4420-28D5-02741F529160}"/>
              </a:ext>
            </a:extLst>
          </p:cNvPr>
          <p:cNvSpPr/>
          <p:nvPr/>
        </p:nvSpPr>
        <p:spPr>
          <a:xfrm>
            <a:off x="0" y="673100"/>
            <a:ext cx="12192000" cy="1778000"/>
          </a:xfrm>
          <a:prstGeom prst="rect">
            <a:avLst/>
          </a:prstGeom>
          <a:solidFill>
            <a:srgbClr val="ECECF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60476305-4E8D-0E96-515D-D20BB867EAB1}"/>
              </a:ext>
            </a:extLst>
          </p:cNvPr>
          <p:cNvSpPr txBox="1"/>
          <p:nvPr/>
        </p:nvSpPr>
        <p:spPr>
          <a:xfrm>
            <a:off x="114300" y="736600"/>
            <a:ext cx="762000" cy="369332"/>
          </a:xfrm>
          <a:prstGeom prst="rect">
            <a:avLst/>
          </a:prstGeom>
          <a:noFill/>
        </p:spPr>
        <p:txBody>
          <a:bodyPr vert="horz" wrap="square" lIns="38100" tIns="12700" rIns="38100" bIns="12700" rtlCol="0">
            <a:noAutofit/>
          </a:bodyPr>
          <a:lstStyle/>
          <a:p>
            <a:r>
              <a:rPr lang="en-US" sz="700" b="1">
                <a:solidFill>
                  <a:srgbClr val="4A2E1A"/>
                </a:solidFill>
              </a:rPr>
              <a:t>BEFORE</a:t>
            </a:r>
          </a:p>
        </p:txBody>
      </p:sp>
      <p:cxnSp>
        <p:nvCxnSpPr>
          <p:cNvPr id="12" name="Straight Connector 11">
            <a:extLst>
              <a:ext uri="{FF2B5EF4-FFF2-40B4-BE49-F238E27FC236}">
                <a16:creationId xmlns:a16="http://schemas.microsoft.com/office/drawing/2014/main" id="{37F3D4B9-E141-E47E-C579-B947BFF23313}"/>
              </a:ext>
            </a:extLst>
          </p:cNvPr>
          <p:cNvCxnSpPr/>
          <p:nvPr/>
        </p:nvCxnSpPr>
        <p:spPr>
          <a:xfrm>
            <a:off x="114300" y="965200"/>
            <a:ext cx="119634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7FD4D04A-92AB-6863-147B-0704C49ECEA2}"/>
              </a:ext>
            </a:extLst>
          </p:cNvPr>
          <p:cNvSpPr txBox="1"/>
          <p:nvPr/>
        </p:nvSpPr>
        <p:spPr>
          <a:xfrm>
            <a:off x="114300" y="1003300"/>
            <a:ext cx="11963400" cy="369332"/>
          </a:xfrm>
          <a:prstGeom prst="rect">
            <a:avLst/>
          </a:prstGeom>
          <a:noFill/>
        </p:spPr>
        <p:txBody>
          <a:bodyPr vert="horz" wrap="square" lIns="38100" tIns="12700" rIns="38100" bIns="12700" rtlCol="0">
            <a:noAutofit/>
          </a:bodyPr>
          <a:lstStyle/>
          <a:p>
            <a:r>
              <a:rPr lang="en-US" sz="950">
                <a:solidFill>
                  <a:srgbClr val="4A2E1A"/>
                </a:solidFill>
              </a:rPr>
              <a:t>The Data Steward registers all data assets in the designated metadata system. Mandatory fields include Data Owner, Data Steward, Business definition and Data classification. </a:t>
            </a:r>
            <a:r>
              <a:rPr lang="en-US" sz="950">
                <a:solidFill>
                  <a:srgbClr val="2222B2"/>
                </a:solidFill>
              </a:rPr>
              <a:t>The system enforces completion of required fields and does not allow the dataset to be activated</a:t>
            </a:r>
            <a:r>
              <a:rPr lang="en-US" sz="950">
                <a:solidFill>
                  <a:srgbClr val="4A2E1A"/>
                </a:solidFill>
              </a:rPr>
              <a:t> or used until </a:t>
            </a:r>
            <a:r>
              <a:rPr lang="en-US" sz="950">
                <a:solidFill>
                  <a:srgbClr val="2222B2"/>
                </a:solidFill>
              </a:rPr>
              <a:t>all mandatory information is provided</a:t>
            </a:r>
            <a:r>
              <a:rPr lang="en-US" sz="950">
                <a:solidFill>
                  <a:srgbClr val="4A2E1A"/>
                </a:solidFill>
              </a:rPr>
              <a:t>. Where personal or sensitive data is identified, the Data Steward escalates to DPO.</a:t>
            </a:r>
          </a:p>
        </p:txBody>
      </p:sp>
      <p:cxnSp>
        <p:nvCxnSpPr>
          <p:cNvPr id="14" name="Straight Connector 13">
            <a:extLst>
              <a:ext uri="{FF2B5EF4-FFF2-40B4-BE49-F238E27FC236}">
                <a16:creationId xmlns:a16="http://schemas.microsoft.com/office/drawing/2014/main" id="{A1F8341D-A7A1-1591-83A5-FDF4B5C9C3FB}"/>
              </a:ext>
            </a:extLst>
          </p:cNvPr>
          <p:cNvCxnSpPr/>
          <p:nvPr/>
        </p:nvCxnSpPr>
        <p:spPr>
          <a:xfrm>
            <a:off x="0" y="2451100"/>
            <a:ext cx="121920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9EE0349A-AED8-E8B2-A377-47CFE5977694}"/>
              </a:ext>
            </a:extLst>
          </p:cNvPr>
          <p:cNvSpPr/>
          <p:nvPr/>
        </p:nvSpPr>
        <p:spPr>
          <a:xfrm>
            <a:off x="0" y="2463800"/>
            <a:ext cx="12192000" cy="2921000"/>
          </a:xfrm>
          <a:prstGeom prst="rect">
            <a:avLst/>
          </a:prstGeom>
          <a:solidFill>
            <a:srgbClr val="E7F8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A8A3C72-1ABB-D013-2D88-5D7262B3D58F}"/>
              </a:ext>
            </a:extLst>
          </p:cNvPr>
          <p:cNvSpPr/>
          <p:nvPr/>
        </p:nvSpPr>
        <p:spPr>
          <a:xfrm>
            <a:off x="0" y="2463800"/>
            <a:ext cx="63500" cy="2921000"/>
          </a:xfrm>
          <a:prstGeom prst="rect">
            <a:avLst/>
          </a:prstGeom>
          <a:solidFill>
            <a:srgbClr val="506F1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9EE3D934-AAC5-2ED8-F153-04EFDA2486FE}"/>
              </a:ext>
            </a:extLst>
          </p:cNvPr>
          <p:cNvSpPr txBox="1"/>
          <p:nvPr/>
        </p:nvSpPr>
        <p:spPr>
          <a:xfrm>
            <a:off x="114300" y="2527300"/>
            <a:ext cx="762000" cy="369332"/>
          </a:xfrm>
          <a:prstGeom prst="rect">
            <a:avLst/>
          </a:prstGeom>
          <a:noFill/>
        </p:spPr>
        <p:txBody>
          <a:bodyPr vert="horz" wrap="square" lIns="38100" tIns="12700" rIns="38100" bIns="12700" rtlCol="0">
            <a:noAutofit/>
          </a:bodyPr>
          <a:lstStyle/>
          <a:p>
            <a:r>
              <a:rPr lang="en-US" sz="700" b="1">
                <a:solidFill>
                  <a:srgbClr val="4A2E1A"/>
                </a:solidFill>
              </a:rPr>
              <a:t>AFTER</a:t>
            </a:r>
          </a:p>
        </p:txBody>
      </p:sp>
      <p:cxnSp>
        <p:nvCxnSpPr>
          <p:cNvPr id="18" name="Straight Connector 17">
            <a:extLst>
              <a:ext uri="{FF2B5EF4-FFF2-40B4-BE49-F238E27FC236}">
                <a16:creationId xmlns:a16="http://schemas.microsoft.com/office/drawing/2014/main" id="{BF167227-6EF5-1FBD-3B8D-C2FF654C3951}"/>
              </a:ext>
            </a:extLst>
          </p:cNvPr>
          <p:cNvCxnSpPr/>
          <p:nvPr/>
        </p:nvCxnSpPr>
        <p:spPr>
          <a:xfrm>
            <a:off x="114300" y="2755900"/>
            <a:ext cx="119634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8C7A2D9C-7716-5FD7-EDE3-0D01DEA875A2}"/>
              </a:ext>
            </a:extLst>
          </p:cNvPr>
          <p:cNvSpPr txBox="1"/>
          <p:nvPr/>
        </p:nvSpPr>
        <p:spPr>
          <a:xfrm>
            <a:off x="114300" y="2794000"/>
            <a:ext cx="11963400" cy="369332"/>
          </a:xfrm>
          <a:prstGeom prst="rect">
            <a:avLst/>
          </a:prstGeom>
          <a:noFill/>
        </p:spPr>
        <p:txBody>
          <a:bodyPr vert="horz" wrap="square" lIns="38100" tIns="12700" rIns="38100" bIns="12700" rtlCol="0">
            <a:noAutofit/>
          </a:bodyPr>
          <a:lstStyle/>
          <a:p>
            <a:r>
              <a:rPr lang="it-IT" sz="1100" b="1">
                <a:solidFill>
                  <a:srgbClr val="2563A8"/>
                </a:solidFill>
              </a:rPr>
              <a:t>Scope: in-scope assets per Data Asset Register only</a:t>
            </a:r>
            <a:endParaRPr lang="en-US" sz="1100" b="1">
              <a:solidFill>
                <a:srgbClr val="2563A8"/>
              </a:solidFill>
            </a:endParaRPr>
          </a:p>
        </p:txBody>
      </p:sp>
      <p:cxnSp>
        <p:nvCxnSpPr>
          <p:cNvPr id="20" name="Straight Connector 19">
            <a:extLst>
              <a:ext uri="{FF2B5EF4-FFF2-40B4-BE49-F238E27FC236}">
                <a16:creationId xmlns:a16="http://schemas.microsoft.com/office/drawing/2014/main" id="{71A09830-8850-8DD6-BF33-A740D412F921}"/>
              </a:ext>
            </a:extLst>
          </p:cNvPr>
          <p:cNvCxnSpPr/>
          <p:nvPr/>
        </p:nvCxnSpPr>
        <p:spPr>
          <a:xfrm>
            <a:off x="114300" y="3098800"/>
            <a:ext cx="119634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4F2FB52F-9790-E3A2-0F7D-606F9339324B}"/>
              </a:ext>
            </a:extLst>
          </p:cNvPr>
          <p:cNvSpPr txBox="1"/>
          <p:nvPr/>
        </p:nvSpPr>
        <p:spPr>
          <a:xfrm>
            <a:off x="114300" y="3136900"/>
            <a:ext cx="11963400" cy="369332"/>
          </a:xfrm>
          <a:prstGeom prst="rect">
            <a:avLst/>
          </a:prstGeom>
          <a:noFill/>
        </p:spPr>
        <p:txBody>
          <a:bodyPr vert="horz" wrap="square" lIns="38100" tIns="12700" rIns="38100" bIns="12700" rtlCol="0">
            <a:noAutofit/>
          </a:bodyPr>
          <a:lstStyle/>
          <a:p>
            <a:r>
              <a:rPr lang="en-US" sz="950">
                <a:solidFill>
                  <a:srgbClr val="4A2E1A"/>
                </a:solidFill>
              </a:rPr>
              <a:t>The Data Steward registers each </a:t>
            </a:r>
            <a:r>
              <a:rPr lang="en-US" sz="950">
                <a:solidFill>
                  <a:srgbClr val="3A6B1A"/>
                </a:solidFill>
              </a:rPr>
              <a:t>in-scope data asset</a:t>
            </a:r>
            <a:r>
              <a:rPr lang="en-US" sz="950">
                <a:solidFill>
                  <a:srgbClr val="4A2E1A"/>
                </a:solidFill>
              </a:rPr>
              <a:t> and completes the </a:t>
            </a:r>
            <a:r>
              <a:rPr lang="en-US" sz="950">
                <a:solidFill>
                  <a:srgbClr val="3A6B1A"/>
                </a:solidFill>
              </a:rPr>
              <a:t>7 core mandatory fields</a:t>
            </a:r>
            <a:r>
              <a:rPr lang="en-US" sz="950">
                <a:solidFill>
                  <a:srgbClr val="4A2E1A"/>
                </a:solidFill>
              </a:rPr>
              <a:t>: domain/subject area, system/application name, schema name, table name, column name, business name, and business description. Registration is a </a:t>
            </a:r>
            <a:r>
              <a:rPr lang="en-US" sz="950">
                <a:solidFill>
                  <a:srgbClr val="3A6B1A"/>
                </a:solidFill>
              </a:rPr>
              <a:t>manual prerequisite -- no system-enforced activation block</a:t>
            </a:r>
            <a:r>
              <a:rPr lang="en-US" sz="950">
                <a:solidFill>
                  <a:srgbClr val="4A2E1A"/>
                </a:solidFill>
              </a:rPr>
              <a:t>. Data assets classified as personal or sensitive must be escalated to Legal and Regulatory Compliance (DPO).</a:t>
            </a:r>
          </a:p>
        </p:txBody>
      </p:sp>
      <p:cxnSp>
        <p:nvCxnSpPr>
          <p:cNvPr id="22" name="Straight Connector 21">
            <a:extLst>
              <a:ext uri="{FF2B5EF4-FFF2-40B4-BE49-F238E27FC236}">
                <a16:creationId xmlns:a16="http://schemas.microsoft.com/office/drawing/2014/main" id="{64CD5389-793E-B716-E840-C6561C17D014}"/>
              </a:ext>
            </a:extLst>
          </p:cNvPr>
          <p:cNvCxnSpPr/>
          <p:nvPr/>
        </p:nvCxnSpPr>
        <p:spPr>
          <a:xfrm>
            <a:off x="0" y="5384800"/>
            <a:ext cx="121920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40EC2F11-11C5-8704-1356-CFE8CCDE5888}"/>
              </a:ext>
            </a:extLst>
          </p:cNvPr>
          <p:cNvSpPr/>
          <p:nvPr/>
        </p:nvSpPr>
        <p:spPr>
          <a:xfrm>
            <a:off x="0" y="5397500"/>
            <a:ext cx="12192000" cy="1460500"/>
          </a:xfrm>
          <a:prstGeom prst="rect">
            <a:avLst/>
          </a:prstGeom>
          <a:solidFill>
            <a:srgbClr val="EEF7E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58265F89-F9EA-EC0F-2B7E-2F45243DDBB8}"/>
              </a:ext>
            </a:extLst>
          </p:cNvPr>
          <p:cNvSpPr txBox="1"/>
          <p:nvPr/>
        </p:nvSpPr>
        <p:spPr>
          <a:xfrm>
            <a:off x="114300" y="5461000"/>
            <a:ext cx="762000" cy="369332"/>
          </a:xfrm>
          <a:prstGeom prst="rect">
            <a:avLst/>
          </a:prstGeom>
          <a:noFill/>
        </p:spPr>
        <p:txBody>
          <a:bodyPr vert="horz" wrap="square" lIns="38100" tIns="12700" rIns="38100" bIns="12700" rtlCol="0">
            <a:noAutofit/>
          </a:bodyPr>
          <a:lstStyle/>
          <a:p>
            <a:r>
              <a:rPr lang="en-US" sz="700" b="1">
                <a:solidFill>
                  <a:srgbClr val="4A2E1A"/>
                </a:solidFill>
              </a:rPr>
              <a:t>WHY</a:t>
            </a:r>
          </a:p>
        </p:txBody>
      </p:sp>
      <p:cxnSp>
        <p:nvCxnSpPr>
          <p:cNvPr id="25" name="Straight Connector 24">
            <a:extLst>
              <a:ext uri="{FF2B5EF4-FFF2-40B4-BE49-F238E27FC236}">
                <a16:creationId xmlns:a16="http://schemas.microsoft.com/office/drawing/2014/main" id="{AEA0F648-0779-A7F6-5B1E-455693D29EB2}"/>
              </a:ext>
            </a:extLst>
          </p:cNvPr>
          <p:cNvCxnSpPr/>
          <p:nvPr/>
        </p:nvCxnSpPr>
        <p:spPr>
          <a:xfrm>
            <a:off x="114300" y="5689600"/>
            <a:ext cx="119634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4F9EAF8C-F7AC-B368-3052-D724BD7F2E0A}"/>
              </a:ext>
            </a:extLst>
          </p:cNvPr>
          <p:cNvSpPr txBox="1"/>
          <p:nvPr/>
        </p:nvSpPr>
        <p:spPr>
          <a:xfrm>
            <a:off x="114300" y="5727700"/>
            <a:ext cx="11963400" cy="369332"/>
          </a:xfrm>
          <a:prstGeom prst="rect">
            <a:avLst/>
          </a:prstGeom>
          <a:noFill/>
        </p:spPr>
        <p:txBody>
          <a:bodyPr vert="horz" wrap="square" lIns="38100" tIns="12700" rIns="38100" bIns="12700" rtlCol="0">
            <a:noAutofit/>
          </a:bodyPr>
          <a:lstStyle/>
          <a:p>
            <a:r>
              <a:rPr lang="en-US" sz="950">
                <a:solidFill>
                  <a:srgbClr val="4A2E1A"/>
                </a:solidFill>
              </a:rPr>
              <a:t>System-enforced activation gates require a data catalog platform that does not yet exist. The mandate remains: no data asset may be used before registration is complete. The mechanism changes from system-block to manual policy. Scope is narrowed to the Data Asset Register so implementation is achievable with current resources.</a:t>
            </a:r>
          </a:p>
        </p:txBody>
      </p:sp>
    </p:spTree>
    <p:extLst>
      <p:ext uri="{BB962C8B-B14F-4D97-AF65-F5344CB8AC3E}">
        <p14:creationId xmlns:p14="http://schemas.microsoft.com/office/powerpoint/2010/main" val="40462797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73AAF91-9F22-6F71-15D2-1E2494E2A3B5}"/>
              </a:ext>
            </a:extLst>
          </p:cNvPr>
          <p:cNvSpPr/>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6BEB824B-12F2-0989-E772-3EFC982683B6}"/>
              </a:ext>
            </a:extLst>
          </p:cNvPr>
          <p:cNvSpPr/>
          <p:nvPr/>
        </p:nvSpPr>
        <p:spPr>
          <a:xfrm>
            <a:off x="0" y="0"/>
            <a:ext cx="63500" cy="6858000"/>
          </a:xfrm>
          <a:prstGeom prst="rect">
            <a:avLst/>
          </a:prstGeom>
          <a:solidFill>
            <a:srgbClr val="506F1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D504237C-FB08-0D43-6142-7571BB188E00}"/>
              </a:ext>
            </a:extLst>
          </p:cNvPr>
          <p:cNvSpPr/>
          <p:nvPr/>
        </p:nvSpPr>
        <p:spPr>
          <a:xfrm>
            <a:off x="0" y="0"/>
            <a:ext cx="12192000" cy="660400"/>
          </a:xfrm>
          <a:prstGeom prst="rect">
            <a:avLst/>
          </a:prstGeom>
          <a:solidFill>
            <a:srgbClr val="4A2E1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55CDD982-8FAE-DE8B-F153-7D34BF7AEBE6}"/>
              </a:ext>
            </a:extLst>
          </p:cNvPr>
          <p:cNvSpPr/>
          <p:nvPr/>
        </p:nvSpPr>
        <p:spPr>
          <a:xfrm>
            <a:off x="114300" y="114300"/>
            <a:ext cx="508000" cy="4318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5704932C-1E7A-BC74-255E-A5CBABE3DEE3}"/>
              </a:ext>
            </a:extLst>
          </p:cNvPr>
          <p:cNvSpPr txBox="1"/>
          <p:nvPr/>
        </p:nvSpPr>
        <p:spPr>
          <a:xfrm>
            <a:off x="114300" y="114300"/>
            <a:ext cx="508000" cy="369332"/>
          </a:xfrm>
          <a:prstGeom prst="rect">
            <a:avLst/>
          </a:prstGeom>
          <a:noFill/>
        </p:spPr>
        <p:txBody>
          <a:bodyPr vert="horz" wrap="square" lIns="38100" tIns="12700" rIns="38100" bIns="12700" rtlCol="0">
            <a:noAutofit/>
          </a:bodyPr>
          <a:lstStyle/>
          <a:p>
            <a:pPr algn="ctr"/>
            <a:r>
              <a:rPr lang="en-US" sz="1000" b="1">
                <a:solidFill>
                  <a:srgbClr val="FFFFFF"/>
                </a:solidFill>
              </a:rPr>
              <a:t>4.2</a:t>
            </a:r>
          </a:p>
        </p:txBody>
      </p:sp>
      <p:sp>
        <p:nvSpPr>
          <p:cNvPr id="7" name="TextBox 6">
            <a:extLst>
              <a:ext uri="{FF2B5EF4-FFF2-40B4-BE49-F238E27FC236}">
                <a16:creationId xmlns:a16="http://schemas.microsoft.com/office/drawing/2014/main" id="{00D3881B-2BB2-F3B4-03D4-2583570C02F7}"/>
              </a:ext>
            </a:extLst>
          </p:cNvPr>
          <p:cNvSpPr txBox="1"/>
          <p:nvPr/>
        </p:nvSpPr>
        <p:spPr>
          <a:xfrm>
            <a:off x="736600" y="152400"/>
            <a:ext cx="9525000" cy="369332"/>
          </a:xfrm>
          <a:prstGeom prst="rect">
            <a:avLst/>
          </a:prstGeom>
          <a:noFill/>
        </p:spPr>
        <p:txBody>
          <a:bodyPr vert="horz" wrap="square" lIns="38100" tIns="12700" rIns="38100" bIns="12700" rtlCol="0">
            <a:noAutofit/>
          </a:bodyPr>
          <a:lstStyle/>
          <a:p>
            <a:r>
              <a:rPr lang="en-US" sz="1400" b="1">
                <a:solidFill>
                  <a:srgbClr val="FFFFFF"/>
                </a:solidFill>
              </a:rPr>
              <a:t>Metadata Capture and Enrichment</a:t>
            </a:r>
          </a:p>
        </p:txBody>
      </p:sp>
      <p:sp>
        <p:nvSpPr>
          <p:cNvPr id="8" name="TextBox 7">
            <a:extLst>
              <a:ext uri="{FF2B5EF4-FFF2-40B4-BE49-F238E27FC236}">
                <a16:creationId xmlns:a16="http://schemas.microsoft.com/office/drawing/2014/main" id="{35EB1DFF-A4FD-C565-1A96-76CEC134FA19}"/>
              </a:ext>
            </a:extLst>
          </p:cNvPr>
          <p:cNvSpPr txBox="1"/>
          <p:nvPr/>
        </p:nvSpPr>
        <p:spPr>
          <a:xfrm>
            <a:off x="10414000" y="203200"/>
            <a:ext cx="1625600" cy="369332"/>
          </a:xfrm>
          <a:prstGeom prst="rect">
            <a:avLst/>
          </a:prstGeom>
          <a:noFill/>
        </p:spPr>
        <p:txBody>
          <a:bodyPr vert="horz" wrap="square" lIns="38100" tIns="12700" rIns="38100" bIns="12700" rtlCol="0">
            <a:noAutofit/>
          </a:bodyPr>
          <a:lstStyle/>
          <a:p>
            <a:pPr algn="r"/>
            <a:r>
              <a:rPr lang="en-US" sz="900">
                <a:solidFill>
                  <a:srgbClr val="EAE3DD"/>
                </a:solidFill>
              </a:rPr>
              <a:t>Change 2 / 8</a:t>
            </a:r>
          </a:p>
        </p:txBody>
      </p:sp>
      <p:cxnSp>
        <p:nvCxnSpPr>
          <p:cNvPr id="9" name="Straight Connector 8">
            <a:extLst>
              <a:ext uri="{FF2B5EF4-FFF2-40B4-BE49-F238E27FC236}">
                <a16:creationId xmlns:a16="http://schemas.microsoft.com/office/drawing/2014/main" id="{FACBC12A-C123-C962-7176-4FD1C6A22D00}"/>
              </a:ext>
            </a:extLst>
          </p:cNvPr>
          <p:cNvCxnSpPr/>
          <p:nvPr/>
        </p:nvCxnSpPr>
        <p:spPr>
          <a:xfrm>
            <a:off x="0" y="660400"/>
            <a:ext cx="121920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DC7D21CC-6770-481B-83F5-DFDEBF7FAD7C}"/>
              </a:ext>
            </a:extLst>
          </p:cNvPr>
          <p:cNvSpPr/>
          <p:nvPr/>
        </p:nvSpPr>
        <p:spPr>
          <a:xfrm>
            <a:off x="0" y="673100"/>
            <a:ext cx="12192000" cy="1651000"/>
          </a:xfrm>
          <a:prstGeom prst="rect">
            <a:avLst/>
          </a:prstGeom>
          <a:solidFill>
            <a:srgbClr val="ECECF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9AF84C52-055A-71D9-9793-788B76DCE719}"/>
              </a:ext>
            </a:extLst>
          </p:cNvPr>
          <p:cNvSpPr txBox="1"/>
          <p:nvPr/>
        </p:nvSpPr>
        <p:spPr>
          <a:xfrm>
            <a:off x="114300" y="736600"/>
            <a:ext cx="762000" cy="369332"/>
          </a:xfrm>
          <a:prstGeom prst="rect">
            <a:avLst/>
          </a:prstGeom>
          <a:noFill/>
        </p:spPr>
        <p:txBody>
          <a:bodyPr vert="horz" wrap="square" lIns="38100" tIns="12700" rIns="38100" bIns="12700" rtlCol="0">
            <a:noAutofit/>
          </a:bodyPr>
          <a:lstStyle/>
          <a:p>
            <a:r>
              <a:rPr lang="en-US" sz="700" b="1">
                <a:solidFill>
                  <a:srgbClr val="4A2E1A"/>
                </a:solidFill>
              </a:rPr>
              <a:t>BEFORE</a:t>
            </a:r>
          </a:p>
        </p:txBody>
      </p:sp>
      <p:cxnSp>
        <p:nvCxnSpPr>
          <p:cNvPr id="12" name="Straight Connector 11">
            <a:extLst>
              <a:ext uri="{FF2B5EF4-FFF2-40B4-BE49-F238E27FC236}">
                <a16:creationId xmlns:a16="http://schemas.microsoft.com/office/drawing/2014/main" id="{9358CF07-D91C-0D94-F8AB-173D12BBC888}"/>
              </a:ext>
            </a:extLst>
          </p:cNvPr>
          <p:cNvCxnSpPr/>
          <p:nvPr/>
        </p:nvCxnSpPr>
        <p:spPr>
          <a:xfrm>
            <a:off x="114300" y="965200"/>
            <a:ext cx="119634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8EAB6C9-E103-B988-9175-B2B23BF283FE}"/>
              </a:ext>
            </a:extLst>
          </p:cNvPr>
          <p:cNvSpPr txBox="1"/>
          <p:nvPr/>
        </p:nvSpPr>
        <p:spPr>
          <a:xfrm>
            <a:off x="114300" y="1003300"/>
            <a:ext cx="11963400" cy="369332"/>
          </a:xfrm>
          <a:prstGeom prst="rect">
            <a:avLst/>
          </a:prstGeom>
          <a:noFill/>
        </p:spPr>
        <p:txBody>
          <a:bodyPr vert="horz" wrap="square" lIns="38100" tIns="12700" rIns="38100" bIns="12700" rtlCol="0">
            <a:noAutofit/>
          </a:bodyPr>
          <a:lstStyle/>
          <a:p>
            <a:r>
              <a:rPr lang="en-US" sz="950">
                <a:solidFill>
                  <a:srgbClr val="4A2E1A"/>
                </a:solidFill>
              </a:rPr>
              <a:t>The Data Steward ensures metadata includes: Data source, Business purpose of use, Usage constraints, Data refresh frequency. Where applicable, data lineage must be documented. For AI or </a:t>
            </a:r>
            <a:r>
              <a:rPr lang="en-US" sz="950">
                <a:solidFill>
                  <a:srgbClr val="2222B2"/>
                </a:solidFill>
              </a:rPr>
              <a:t>Chat-to-Data applications</a:t>
            </a:r>
            <a:r>
              <a:rPr lang="en-US" sz="950">
                <a:solidFill>
                  <a:srgbClr val="4A2E1A"/>
                </a:solidFill>
              </a:rPr>
              <a:t>, additional mandatory columns apply -- </a:t>
            </a:r>
            <a:r>
              <a:rPr lang="en-US" sz="950">
                <a:solidFill>
                  <a:srgbClr val="2222B2"/>
                </a:solidFill>
              </a:rPr>
              <a:t>see Appendix A</a:t>
            </a:r>
            <a:r>
              <a:rPr lang="en-US" sz="950">
                <a:solidFill>
                  <a:srgbClr val="4A2E1A"/>
                </a:solidFill>
              </a:rPr>
              <a:t>.</a:t>
            </a:r>
          </a:p>
        </p:txBody>
      </p:sp>
      <p:cxnSp>
        <p:nvCxnSpPr>
          <p:cNvPr id="14" name="Straight Connector 13">
            <a:extLst>
              <a:ext uri="{FF2B5EF4-FFF2-40B4-BE49-F238E27FC236}">
                <a16:creationId xmlns:a16="http://schemas.microsoft.com/office/drawing/2014/main" id="{44653133-BA86-6B82-C71E-F749F72FB7E7}"/>
              </a:ext>
            </a:extLst>
          </p:cNvPr>
          <p:cNvCxnSpPr/>
          <p:nvPr/>
        </p:nvCxnSpPr>
        <p:spPr>
          <a:xfrm>
            <a:off x="0" y="2324100"/>
            <a:ext cx="121920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8A2A8BE5-D3C7-7B73-7E9B-8C070706D14B}"/>
              </a:ext>
            </a:extLst>
          </p:cNvPr>
          <p:cNvSpPr/>
          <p:nvPr/>
        </p:nvSpPr>
        <p:spPr>
          <a:xfrm>
            <a:off x="0" y="2336800"/>
            <a:ext cx="12192000" cy="3048000"/>
          </a:xfrm>
          <a:prstGeom prst="rect">
            <a:avLst/>
          </a:prstGeom>
          <a:solidFill>
            <a:srgbClr val="E7F8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D93396A-7927-38D7-1F60-31149D9B0D67}"/>
              </a:ext>
            </a:extLst>
          </p:cNvPr>
          <p:cNvSpPr/>
          <p:nvPr/>
        </p:nvSpPr>
        <p:spPr>
          <a:xfrm>
            <a:off x="0" y="2336800"/>
            <a:ext cx="63500" cy="3048000"/>
          </a:xfrm>
          <a:prstGeom prst="rect">
            <a:avLst/>
          </a:prstGeom>
          <a:solidFill>
            <a:srgbClr val="506F1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83DB6AB8-88EF-9AAB-DA02-BD55711A7FC9}"/>
              </a:ext>
            </a:extLst>
          </p:cNvPr>
          <p:cNvSpPr txBox="1"/>
          <p:nvPr/>
        </p:nvSpPr>
        <p:spPr>
          <a:xfrm>
            <a:off x="114300" y="2400300"/>
            <a:ext cx="762000" cy="369332"/>
          </a:xfrm>
          <a:prstGeom prst="rect">
            <a:avLst/>
          </a:prstGeom>
          <a:noFill/>
        </p:spPr>
        <p:txBody>
          <a:bodyPr vert="horz" wrap="square" lIns="38100" tIns="12700" rIns="38100" bIns="12700" rtlCol="0">
            <a:noAutofit/>
          </a:bodyPr>
          <a:lstStyle/>
          <a:p>
            <a:r>
              <a:rPr lang="en-US" sz="700" b="1">
                <a:solidFill>
                  <a:srgbClr val="4A2E1A"/>
                </a:solidFill>
              </a:rPr>
              <a:t>AFTER</a:t>
            </a:r>
          </a:p>
        </p:txBody>
      </p:sp>
      <p:cxnSp>
        <p:nvCxnSpPr>
          <p:cNvPr id="18" name="Straight Connector 17">
            <a:extLst>
              <a:ext uri="{FF2B5EF4-FFF2-40B4-BE49-F238E27FC236}">
                <a16:creationId xmlns:a16="http://schemas.microsoft.com/office/drawing/2014/main" id="{F709ED0C-1049-D862-E6D1-C739D3346310}"/>
              </a:ext>
            </a:extLst>
          </p:cNvPr>
          <p:cNvCxnSpPr/>
          <p:nvPr/>
        </p:nvCxnSpPr>
        <p:spPr>
          <a:xfrm>
            <a:off x="114300" y="2628900"/>
            <a:ext cx="119634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955C333A-8B2A-2186-D6A8-11ED36555957}"/>
              </a:ext>
            </a:extLst>
          </p:cNvPr>
          <p:cNvSpPr txBox="1"/>
          <p:nvPr/>
        </p:nvSpPr>
        <p:spPr>
          <a:xfrm>
            <a:off x="114300" y="2667000"/>
            <a:ext cx="11963400" cy="369332"/>
          </a:xfrm>
          <a:prstGeom prst="rect">
            <a:avLst/>
          </a:prstGeom>
          <a:noFill/>
        </p:spPr>
        <p:txBody>
          <a:bodyPr vert="horz" wrap="square" lIns="38100" tIns="12700" rIns="38100" bIns="12700" rtlCol="0">
            <a:noAutofit/>
          </a:bodyPr>
          <a:lstStyle/>
          <a:p>
            <a:r>
              <a:rPr lang="en-US" sz="1100" b="1">
                <a:solidFill>
                  <a:srgbClr val="2563A8"/>
                </a:solidFill>
              </a:rPr>
              <a:t>Business data dictionary focus: definitions, technical attributes, caveats, and AI-specific fields</a:t>
            </a:r>
          </a:p>
        </p:txBody>
      </p:sp>
      <p:cxnSp>
        <p:nvCxnSpPr>
          <p:cNvPr id="20" name="Straight Connector 19">
            <a:extLst>
              <a:ext uri="{FF2B5EF4-FFF2-40B4-BE49-F238E27FC236}">
                <a16:creationId xmlns:a16="http://schemas.microsoft.com/office/drawing/2014/main" id="{B2BD6C2D-806D-2ACC-1C89-A06123B79A73}"/>
              </a:ext>
            </a:extLst>
          </p:cNvPr>
          <p:cNvCxnSpPr/>
          <p:nvPr/>
        </p:nvCxnSpPr>
        <p:spPr>
          <a:xfrm>
            <a:off x="114300" y="2971800"/>
            <a:ext cx="119634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06DCCDD1-A5A8-8E9C-2C6F-C60727BA2F43}"/>
              </a:ext>
            </a:extLst>
          </p:cNvPr>
          <p:cNvSpPr txBox="1"/>
          <p:nvPr/>
        </p:nvSpPr>
        <p:spPr>
          <a:xfrm>
            <a:off x="114300" y="3009900"/>
            <a:ext cx="11963400" cy="369332"/>
          </a:xfrm>
          <a:prstGeom prst="rect">
            <a:avLst/>
          </a:prstGeom>
          <a:noFill/>
        </p:spPr>
        <p:txBody>
          <a:bodyPr vert="horz" wrap="square" lIns="38100" tIns="12700" rIns="38100" bIns="12700" rtlCol="0">
            <a:noAutofit/>
          </a:bodyPr>
          <a:lstStyle/>
          <a:p>
            <a:r>
              <a:rPr lang="en-US" sz="950">
                <a:solidFill>
                  <a:srgbClr val="4A2E1A"/>
                </a:solidFill>
              </a:rPr>
              <a:t>Metadata must include: business definitions (standardized terminology), technical attributes (schema, data type, primary key, lineage where available), and a </a:t>
            </a:r>
            <a:r>
              <a:rPr lang="en-US" sz="950">
                <a:solidFill>
                  <a:srgbClr val="3A6B1A"/>
                </a:solidFill>
              </a:rPr>
              <a:t>caveats section</a:t>
            </a:r>
            <a:r>
              <a:rPr lang="en-US" sz="950">
                <a:solidFill>
                  <a:srgbClr val="4A2E1A"/>
                </a:solidFill>
              </a:rPr>
              <a:t> documenting known data quality issues, stale fields, unreliable columns, and open questions. For data assets used in AI or analytics applications, additional fields apply -- refer to the </a:t>
            </a:r>
            <a:r>
              <a:rPr lang="en-US" sz="950">
                <a:solidFill>
                  <a:srgbClr val="3A6B1A"/>
                </a:solidFill>
              </a:rPr>
              <a:t>metadata field guide</a:t>
            </a:r>
            <a:r>
              <a:rPr lang="en-US" sz="950">
                <a:solidFill>
                  <a:srgbClr val="4A2E1A"/>
                </a:solidFill>
              </a:rPr>
              <a:t> maintained by the team. Appendix A removed.</a:t>
            </a:r>
          </a:p>
        </p:txBody>
      </p:sp>
      <p:cxnSp>
        <p:nvCxnSpPr>
          <p:cNvPr id="22" name="Straight Connector 21">
            <a:extLst>
              <a:ext uri="{FF2B5EF4-FFF2-40B4-BE49-F238E27FC236}">
                <a16:creationId xmlns:a16="http://schemas.microsoft.com/office/drawing/2014/main" id="{3A857051-B21F-6AFF-429C-F253DF3A69CC}"/>
              </a:ext>
            </a:extLst>
          </p:cNvPr>
          <p:cNvCxnSpPr/>
          <p:nvPr/>
        </p:nvCxnSpPr>
        <p:spPr>
          <a:xfrm>
            <a:off x="0" y="5384800"/>
            <a:ext cx="121920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E0FFA690-EFB2-585E-BCF4-C208F471E663}"/>
              </a:ext>
            </a:extLst>
          </p:cNvPr>
          <p:cNvSpPr/>
          <p:nvPr/>
        </p:nvSpPr>
        <p:spPr>
          <a:xfrm>
            <a:off x="0" y="5397500"/>
            <a:ext cx="12192000" cy="1460500"/>
          </a:xfrm>
          <a:prstGeom prst="rect">
            <a:avLst/>
          </a:prstGeom>
          <a:solidFill>
            <a:srgbClr val="EEF7E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7304040E-028B-148D-6FAF-612C5358C4A4}"/>
              </a:ext>
            </a:extLst>
          </p:cNvPr>
          <p:cNvSpPr txBox="1"/>
          <p:nvPr/>
        </p:nvSpPr>
        <p:spPr>
          <a:xfrm>
            <a:off x="114300" y="5461000"/>
            <a:ext cx="762000" cy="369332"/>
          </a:xfrm>
          <a:prstGeom prst="rect">
            <a:avLst/>
          </a:prstGeom>
          <a:noFill/>
        </p:spPr>
        <p:txBody>
          <a:bodyPr vert="horz" wrap="square" lIns="38100" tIns="12700" rIns="38100" bIns="12700" rtlCol="0">
            <a:noAutofit/>
          </a:bodyPr>
          <a:lstStyle/>
          <a:p>
            <a:r>
              <a:rPr lang="en-US" sz="700" b="1">
                <a:solidFill>
                  <a:srgbClr val="4A2E1A"/>
                </a:solidFill>
              </a:rPr>
              <a:t>WHY</a:t>
            </a:r>
          </a:p>
        </p:txBody>
      </p:sp>
      <p:cxnSp>
        <p:nvCxnSpPr>
          <p:cNvPr id="25" name="Straight Connector 24">
            <a:extLst>
              <a:ext uri="{FF2B5EF4-FFF2-40B4-BE49-F238E27FC236}">
                <a16:creationId xmlns:a16="http://schemas.microsoft.com/office/drawing/2014/main" id="{A74B21E3-4315-04A5-29FC-079E562EE39D}"/>
              </a:ext>
            </a:extLst>
          </p:cNvPr>
          <p:cNvCxnSpPr/>
          <p:nvPr/>
        </p:nvCxnSpPr>
        <p:spPr>
          <a:xfrm>
            <a:off x="114300" y="5689600"/>
            <a:ext cx="119634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0D898F16-F0A7-A504-6EC7-BC9FD85752A5}"/>
              </a:ext>
            </a:extLst>
          </p:cNvPr>
          <p:cNvSpPr txBox="1"/>
          <p:nvPr/>
        </p:nvSpPr>
        <p:spPr>
          <a:xfrm>
            <a:off x="114300" y="5727700"/>
            <a:ext cx="11963400" cy="369332"/>
          </a:xfrm>
          <a:prstGeom prst="rect">
            <a:avLst/>
          </a:prstGeom>
          <a:noFill/>
        </p:spPr>
        <p:txBody>
          <a:bodyPr vert="horz" wrap="square" lIns="38100" tIns="12700" rIns="38100" bIns="12700" rtlCol="0">
            <a:noAutofit/>
          </a:bodyPr>
          <a:lstStyle/>
          <a:p>
            <a:r>
              <a:rPr lang="en-US" sz="950">
                <a:solidFill>
                  <a:srgbClr val="4A2E1A"/>
                </a:solidFill>
              </a:rPr>
              <a:t>The original 4 generic fields (data source, purpose, constraints, frequency) did not help users or AI choose the correct table, column, join, or filter. Replaced with query-specific metadata that serves the actual use case. 'Chat-to-Data' is a product name tied to one platform -- replaced with a neutral reference to the team's field guide. Appendix A removed to separate SOP from implementation details.</a:t>
            </a:r>
          </a:p>
        </p:txBody>
      </p:sp>
    </p:spTree>
    <p:extLst>
      <p:ext uri="{BB962C8B-B14F-4D97-AF65-F5344CB8AC3E}">
        <p14:creationId xmlns:p14="http://schemas.microsoft.com/office/powerpoint/2010/main" val="32361475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0BF6533-8FCF-BBB2-55D0-8065240BFD91}"/>
              </a:ext>
            </a:extLst>
          </p:cNvPr>
          <p:cNvSpPr/>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9B415AC-5DFF-AC7A-597E-11838D8C8635}"/>
              </a:ext>
            </a:extLst>
          </p:cNvPr>
          <p:cNvSpPr/>
          <p:nvPr/>
        </p:nvSpPr>
        <p:spPr>
          <a:xfrm>
            <a:off x="0" y="0"/>
            <a:ext cx="63500" cy="6858000"/>
          </a:xfrm>
          <a:prstGeom prst="rect">
            <a:avLst/>
          </a:prstGeom>
          <a:solidFill>
            <a:srgbClr val="506F1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92E7C78B-0E69-AC25-90D3-9CDF6130E1CF}"/>
              </a:ext>
            </a:extLst>
          </p:cNvPr>
          <p:cNvSpPr/>
          <p:nvPr/>
        </p:nvSpPr>
        <p:spPr>
          <a:xfrm>
            <a:off x="0" y="0"/>
            <a:ext cx="12192000" cy="660400"/>
          </a:xfrm>
          <a:prstGeom prst="rect">
            <a:avLst/>
          </a:prstGeom>
          <a:solidFill>
            <a:srgbClr val="4A2E1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6A7E176B-8B3A-AFDF-5BF5-B0CC68FA1C5D}"/>
              </a:ext>
            </a:extLst>
          </p:cNvPr>
          <p:cNvSpPr/>
          <p:nvPr/>
        </p:nvSpPr>
        <p:spPr>
          <a:xfrm>
            <a:off x="114300" y="114300"/>
            <a:ext cx="508000" cy="4318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F4EDABC1-A75B-D742-29D0-B59E0ADB72FE}"/>
              </a:ext>
            </a:extLst>
          </p:cNvPr>
          <p:cNvSpPr txBox="1"/>
          <p:nvPr/>
        </p:nvSpPr>
        <p:spPr>
          <a:xfrm>
            <a:off x="114300" y="114300"/>
            <a:ext cx="508000" cy="369332"/>
          </a:xfrm>
          <a:prstGeom prst="rect">
            <a:avLst/>
          </a:prstGeom>
          <a:noFill/>
        </p:spPr>
        <p:txBody>
          <a:bodyPr vert="horz" wrap="square" lIns="38100" tIns="12700" rIns="38100" bIns="12700" rtlCol="0">
            <a:noAutofit/>
          </a:bodyPr>
          <a:lstStyle/>
          <a:p>
            <a:pPr algn="ctr"/>
            <a:r>
              <a:rPr lang="en-US" sz="1000" b="1">
                <a:solidFill>
                  <a:srgbClr val="FFFFFF"/>
                </a:solidFill>
              </a:rPr>
              <a:t>4.3</a:t>
            </a:r>
          </a:p>
        </p:txBody>
      </p:sp>
      <p:sp>
        <p:nvSpPr>
          <p:cNvPr id="7" name="TextBox 6">
            <a:extLst>
              <a:ext uri="{FF2B5EF4-FFF2-40B4-BE49-F238E27FC236}">
                <a16:creationId xmlns:a16="http://schemas.microsoft.com/office/drawing/2014/main" id="{BBC7B718-5E85-3B8A-7EDE-7D1B0BCB79B6}"/>
              </a:ext>
            </a:extLst>
          </p:cNvPr>
          <p:cNvSpPr txBox="1"/>
          <p:nvPr/>
        </p:nvSpPr>
        <p:spPr>
          <a:xfrm>
            <a:off x="736600" y="152400"/>
            <a:ext cx="9525000" cy="369332"/>
          </a:xfrm>
          <a:prstGeom prst="rect">
            <a:avLst/>
          </a:prstGeom>
          <a:noFill/>
        </p:spPr>
        <p:txBody>
          <a:bodyPr vert="horz" wrap="square" lIns="38100" tIns="12700" rIns="38100" bIns="12700" rtlCol="0">
            <a:noAutofit/>
          </a:bodyPr>
          <a:lstStyle/>
          <a:p>
            <a:r>
              <a:rPr lang="en-US" sz="1400" b="1">
                <a:solidFill>
                  <a:srgbClr val="FFFFFF"/>
                </a:solidFill>
              </a:rPr>
              <a:t>Metadata Validation</a:t>
            </a:r>
          </a:p>
        </p:txBody>
      </p:sp>
      <p:sp>
        <p:nvSpPr>
          <p:cNvPr id="8" name="TextBox 7">
            <a:extLst>
              <a:ext uri="{FF2B5EF4-FFF2-40B4-BE49-F238E27FC236}">
                <a16:creationId xmlns:a16="http://schemas.microsoft.com/office/drawing/2014/main" id="{B027C0E7-365C-B610-2462-6A874F3875ED}"/>
              </a:ext>
            </a:extLst>
          </p:cNvPr>
          <p:cNvSpPr txBox="1"/>
          <p:nvPr/>
        </p:nvSpPr>
        <p:spPr>
          <a:xfrm>
            <a:off x="10414000" y="203200"/>
            <a:ext cx="1625600" cy="369332"/>
          </a:xfrm>
          <a:prstGeom prst="rect">
            <a:avLst/>
          </a:prstGeom>
          <a:noFill/>
        </p:spPr>
        <p:txBody>
          <a:bodyPr vert="horz" wrap="square" lIns="38100" tIns="12700" rIns="38100" bIns="12700" rtlCol="0">
            <a:noAutofit/>
          </a:bodyPr>
          <a:lstStyle/>
          <a:p>
            <a:pPr algn="r"/>
            <a:r>
              <a:rPr lang="en-US" sz="900">
                <a:solidFill>
                  <a:srgbClr val="EAE3DD"/>
                </a:solidFill>
              </a:rPr>
              <a:t>Change 3 / 8</a:t>
            </a:r>
          </a:p>
        </p:txBody>
      </p:sp>
      <p:cxnSp>
        <p:nvCxnSpPr>
          <p:cNvPr id="9" name="Straight Connector 8">
            <a:extLst>
              <a:ext uri="{FF2B5EF4-FFF2-40B4-BE49-F238E27FC236}">
                <a16:creationId xmlns:a16="http://schemas.microsoft.com/office/drawing/2014/main" id="{082FB1A9-FFB3-EE88-1A4D-880153E71BD4}"/>
              </a:ext>
            </a:extLst>
          </p:cNvPr>
          <p:cNvCxnSpPr/>
          <p:nvPr/>
        </p:nvCxnSpPr>
        <p:spPr>
          <a:xfrm>
            <a:off x="0" y="660400"/>
            <a:ext cx="121920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EDC75F04-8A9D-6B81-645C-B3B2CC34CC5D}"/>
              </a:ext>
            </a:extLst>
          </p:cNvPr>
          <p:cNvSpPr/>
          <p:nvPr/>
        </p:nvSpPr>
        <p:spPr>
          <a:xfrm>
            <a:off x="0" y="673100"/>
            <a:ext cx="12192000" cy="1651000"/>
          </a:xfrm>
          <a:prstGeom prst="rect">
            <a:avLst/>
          </a:prstGeom>
          <a:solidFill>
            <a:srgbClr val="ECECF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7C322B53-833C-0863-6371-E6F773275347}"/>
              </a:ext>
            </a:extLst>
          </p:cNvPr>
          <p:cNvSpPr txBox="1"/>
          <p:nvPr/>
        </p:nvSpPr>
        <p:spPr>
          <a:xfrm>
            <a:off x="114300" y="736600"/>
            <a:ext cx="762000" cy="369332"/>
          </a:xfrm>
          <a:prstGeom prst="rect">
            <a:avLst/>
          </a:prstGeom>
          <a:noFill/>
        </p:spPr>
        <p:txBody>
          <a:bodyPr vert="horz" wrap="square" lIns="38100" tIns="12700" rIns="38100" bIns="12700" rtlCol="0">
            <a:noAutofit/>
          </a:bodyPr>
          <a:lstStyle/>
          <a:p>
            <a:r>
              <a:rPr lang="en-US" sz="700" b="1">
                <a:solidFill>
                  <a:srgbClr val="4A2E1A"/>
                </a:solidFill>
              </a:rPr>
              <a:t>BEFORE</a:t>
            </a:r>
          </a:p>
        </p:txBody>
      </p:sp>
      <p:cxnSp>
        <p:nvCxnSpPr>
          <p:cNvPr id="12" name="Straight Connector 11">
            <a:extLst>
              <a:ext uri="{FF2B5EF4-FFF2-40B4-BE49-F238E27FC236}">
                <a16:creationId xmlns:a16="http://schemas.microsoft.com/office/drawing/2014/main" id="{E86ED475-4837-B975-5DB6-1932BE51DBC7}"/>
              </a:ext>
            </a:extLst>
          </p:cNvPr>
          <p:cNvCxnSpPr/>
          <p:nvPr/>
        </p:nvCxnSpPr>
        <p:spPr>
          <a:xfrm>
            <a:off x="114300" y="965200"/>
            <a:ext cx="119634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701B496C-E89E-D117-2671-AE8510B38BC3}"/>
              </a:ext>
            </a:extLst>
          </p:cNvPr>
          <p:cNvSpPr txBox="1"/>
          <p:nvPr/>
        </p:nvSpPr>
        <p:spPr>
          <a:xfrm>
            <a:off x="114300" y="1003300"/>
            <a:ext cx="11963400" cy="369332"/>
          </a:xfrm>
          <a:prstGeom prst="rect">
            <a:avLst/>
          </a:prstGeom>
          <a:noFill/>
        </p:spPr>
        <p:txBody>
          <a:bodyPr vert="horz" wrap="square" lIns="38100" tIns="12700" rIns="38100" bIns="12700" rtlCol="0">
            <a:noAutofit/>
          </a:bodyPr>
          <a:lstStyle/>
          <a:p>
            <a:r>
              <a:rPr lang="en-US" sz="950">
                <a:solidFill>
                  <a:srgbClr val="4A2E1A"/>
                </a:solidFill>
              </a:rPr>
              <a:t>The Data Steward performs validation using a </a:t>
            </a:r>
            <a:r>
              <a:rPr lang="en-US" sz="950">
                <a:solidFill>
                  <a:srgbClr val="2222B2"/>
                </a:solidFill>
              </a:rPr>
              <a:t>structured checklist within the system</a:t>
            </a:r>
            <a:r>
              <a:rPr lang="en-US" sz="950">
                <a:solidFill>
                  <a:srgbClr val="4A2E1A"/>
                </a:solidFill>
              </a:rPr>
              <a:t> to confirm: completeness, definition clarity, correct ownership, classification accuracy. The system validates these criteria automatically. Metadata cannot be submitted for approval until all validation requirements are completed (</a:t>
            </a:r>
            <a:r>
              <a:rPr lang="en-US" sz="950">
                <a:solidFill>
                  <a:srgbClr val="2222B2"/>
                </a:solidFill>
              </a:rPr>
              <a:t>system-enforced gate</a:t>
            </a:r>
            <a:r>
              <a:rPr lang="en-US" sz="950">
                <a:solidFill>
                  <a:srgbClr val="4A2E1A"/>
                </a:solidFill>
              </a:rPr>
              <a:t>).</a:t>
            </a:r>
          </a:p>
        </p:txBody>
      </p:sp>
      <p:cxnSp>
        <p:nvCxnSpPr>
          <p:cNvPr id="14" name="Straight Connector 13">
            <a:extLst>
              <a:ext uri="{FF2B5EF4-FFF2-40B4-BE49-F238E27FC236}">
                <a16:creationId xmlns:a16="http://schemas.microsoft.com/office/drawing/2014/main" id="{8427EAA0-A344-94FB-BDA9-6EDCEAD0CF9E}"/>
              </a:ext>
            </a:extLst>
          </p:cNvPr>
          <p:cNvCxnSpPr/>
          <p:nvPr/>
        </p:nvCxnSpPr>
        <p:spPr>
          <a:xfrm>
            <a:off x="0" y="2324100"/>
            <a:ext cx="121920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695DFBC5-34CF-554D-C033-50771AD17C16}"/>
              </a:ext>
            </a:extLst>
          </p:cNvPr>
          <p:cNvSpPr/>
          <p:nvPr/>
        </p:nvSpPr>
        <p:spPr>
          <a:xfrm>
            <a:off x="0" y="2336800"/>
            <a:ext cx="12192000" cy="3048000"/>
          </a:xfrm>
          <a:prstGeom prst="rect">
            <a:avLst/>
          </a:prstGeom>
          <a:solidFill>
            <a:srgbClr val="E7F8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8017FCA-0F30-5F95-9780-0F5634E5C5E7}"/>
              </a:ext>
            </a:extLst>
          </p:cNvPr>
          <p:cNvSpPr/>
          <p:nvPr/>
        </p:nvSpPr>
        <p:spPr>
          <a:xfrm>
            <a:off x="0" y="2336800"/>
            <a:ext cx="63500" cy="3048000"/>
          </a:xfrm>
          <a:prstGeom prst="rect">
            <a:avLst/>
          </a:prstGeom>
          <a:solidFill>
            <a:srgbClr val="506F1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C1ED6AE4-93D3-EFEB-4AF4-EA63E76B315B}"/>
              </a:ext>
            </a:extLst>
          </p:cNvPr>
          <p:cNvSpPr txBox="1"/>
          <p:nvPr/>
        </p:nvSpPr>
        <p:spPr>
          <a:xfrm>
            <a:off x="114300" y="2400300"/>
            <a:ext cx="762000" cy="369332"/>
          </a:xfrm>
          <a:prstGeom prst="rect">
            <a:avLst/>
          </a:prstGeom>
          <a:noFill/>
        </p:spPr>
        <p:txBody>
          <a:bodyPr vert="horz" wrap="square" lIns="38100" tIns="12700" rIns="38100" bIns="12700" rtlCol="0">
            <a:noAutofit/>
          </a:bodyPr>
          <a:lstStyle/>
          <a:p>
            <a:r>
              <a:rPr lang="en-US" sz="700" b="1">
                <a:solidFill>
                  <a:srgbClr val="4A2E1A"/>
                </a:solidFill>
              </a:rPr>
              <a:t>AFTER</a:t>
            </a:r>
          </a:p>
        </p:txBody>
      </p:sp>
      <p:cxnSp>
        <p:nvCxnSpPr>
          <p:cNvPr id="18" name="Straight Connector 17">
            <a:extLst>
              <a:ext uri="{FF2B5EF4-FFF2-40B4-BE49-F238E27FC236}">
                <a16:creationId xmlns:a16="http://schemas.microsoft.com/office/drawing/2014/main" id="{D1B8511F-B856-82D6-511A-EEBB0C0AD85E}"/>
              </a:ext>
            </a:extLst>
          </p:cNvPr>
          <p:cNvCxnSpPr/>
          <p:nvPr/>
        </p:nvCxnSpPr>
        <p:spPr>
          <a:xfrm>
            <a:off x="114300" y="2628900"/>
            <a:ext cx="119634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DFA383E0-4AAF-9421-1674-2C1D68721AEF}"/>
              </a:ext>
            </a:extLst>
          </p:cNvPr>
          <p:cNvSpPr txBox="1"/>
          <p:nvPr/>
        </p:nvSpPr>
        <p:spPr>
          <a:xfrm>
            <a:off x="114300" y="2667000"/>
            <a:ext cx="11963400" cy="369332"/>
          </a:xfrm>
          <a:prstGeom prst="rect">
            <a:avLst/>
          </a:prstGeom>
          <a:noFill/>
        </p:spPr>
        <p:txBody>
          <a:bodyPr vert="horz" wrap="square" lIns="38100" tIns="12700" rIns="38100" bIns="12700" rtlCol="0">
            <a:noAutofit/>
          </a:bodyPr>
          <a:lstStyle/>
          <a:p>
            <a:r>
              <a:rPr lang="en-US" sz="1100" b="1">
                <a:solidFill>
                  <a:srgbClr val="2563A8"/>
                </a:solidFill>
              </a:rPr>
              <a:t>Same 4 validation criteria; manual process; system checklist removed</a:t>
            </a:r>
          </a:p>
        </p:txBody>
      </p:sp>
      <p:cxnSp>
        <p:nvCxnSpPr>
          <p:cNvPr id="20" name="Straight Connector 19">
            <a:extLst>
              <a:ext uri="{FF2B5EF4-FFF2-40B4-BE49-F238E27FC236}">
                <a16:creationId xmlns:a16="http://schemas.microsoft.com/office/drawing/2014/main" id="{FA10240E-C7EA-63F6-5525-CC71F2BDA4D7}"/>
              </a:ext>
            </a:extLst>
          </p:cNvPr>
          <p:cNvCxnSpPr/>
          <p:nvPr/>
        </p:nvCxnSpPr>
        <p:spPr>
          <a:xfrm>
            <a:off x="114300" y="2971800"/>
            <a:ext cx="119634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3641E177-0AC1-F43E-B6C8-4F6BCA3A5BCF}"/>
              </a:ext>
            </a:extLst>
          </p:cNvPr>
          <p:cNvSpPr txBox="1"/>
          <p:nvPr/>
        </p:nvSpPr>
        <p:spPr>
          <a:xfrm>
            <a:off x="114300" y="3009900"/>
            <a:ext cx="11963400" cy="369332"/>
          </a:xfrm>
          <a:prstGeom prst="rect">
            <a:avLst/>
          </a:prstGeom>
          <a:noFill/>
        </p:spPr>
        <p:txBody>
          <a:bodyPr vert="horz" wrap="square" lIns="38100" tIns="12700" rIns="38100" bIns="12700" rtlCol="0">
            <a:noAutofit/>
          </a:bodyPr>
          <a:lstStyle/>
          <a:p>
            <a:r>
              <a:rPr lang="en-US" sz="950">
                <a:solidFill>
                  <a:srgbClr val="4A2E1A"/>
                </a:solidFill>
              </a:rPr>
              <a:t>The Data Steward validates metadata </a:t>
            </a:r>
            <a:r>
              <a:rPr lang="en-US" sz="950">
                <a:solidFill>
                  <a:srgbClr val="3A6B1A"/>
                </a:solidFill>
              </a:rPr>
              <a:t>manually</a:t>
            </a:r>
            <a:r>
              <a:rPr lang="en-US" sz="950">
                <a:solidFill>
                  <a:srgbClr val="4A2E1A"/>
                </a:solidFill>
              </a:rPr>
              <a:t> before submission, covering the </a:t>
            </a:r>
            <a:r>
              <a:rPr lang="en-US" sz="950">
                <a:solidFill>
                  <a:srgbClr val="3A6B1A"/>
                </a:solidFill>
              </a:rPr>
              <a:t>same 4 criteria</a:t>
            </a:r>
            <a:r>
              <a:rPr lang="en-US" sz="950">
                <a:solidFill>
                  <a:srgbClr val="4A2E1A"/>
                </a:solidFill>
              </a:rPr>
              <a:t>: completeness of required fields, clarity and consistency of business definitions, correct assignment of Data Owner and Data Steward, and accuracy of data classification. Classification must comply with PDPA and internal policy. Where classification or usage is unclear, the Data Steward must escalate prior to proceeding.</a:t>
            </a:r>
          </a:p>
        </p:txBody>
      </p:sp>
      <p:cxnSp>
        <p:nvCxnSpPr>
          <p:cNvPr id="22" name="Straight Connector 21">
            <a:extLst>
              <a:ext uri="{FF2B5EF4-FFF2-40B4-BE49-F238E27FC236}">
                <a16:creationId xmlns:a16="http://schemas.microsoft.com/office/drawing/2014/main" id="{44C04634-E234-1E4B-C50C-38673FCCDC5D}"/>
              </a:ext>
            </a:extLst>
          </p:cNvPr>
          <p:cNvCxnSpPr/>
          <p:nvPr/>
        </p:nvCxnSpPr>
        <p:spPr>
          <a:xfrm>
            <a:off x="0" y="5384800"/>
            <a:ext cx="121920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8D54D3D2-52F4-C0D6-A764-031DD6E5E37B}"/>
              </a:ext>
            </a:extLst>
          </p:cNvPr>
          <p:cNvSpPr/>
          <p:nvPr/>
        </p:nvSpPr>
        <p:spPr>
          <a:xfrm>
            <a:off x="0" y="5397500"/>
            <a:ext cx="12192000" cy="1460500"/>
          </a:xfrm>
          <a:prstGeom prst="rect">
            <a:avLst/>
          </a:prstGeom>
          <a:solidFill>
            <a:srgbClr val="EEF7E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5B00BF21-4783-34B5-7E2A-2882EEB50C48}"/>
              </a:ext>
            </a:extLst>
          </p:cNvPr>
          <p:cNvSpPr txBox="1"/>
          <p:nvPr/>
        </p:nvSpPr>
        <p:spPr>
          <a:xfrm>
            <a:off x="114300" y="5461000"/>
            <a:ext cx="762000" cy="369332"/>
          </a:xfrm>
          <a:prstGeom prst="rect">
            <a:avLst/>
          </a:prstGeom>
          <a:noFill/>
        </p:spPr>
        <p:txBody>
          <a:bodyPr vert="horz" wrap="square" lIns="38100" tIns="12700" rIns="38100" bIns="12700" rtlCol="0">
            <a:noAutofit/>
          </a:bodyPr>
          <a:lstStyle/>
          <a:p>
            <a:r>
              <a:rPr lang="en-US" sz="700" b="1">
                <a:solidFill>
                  <a:srgbClr val="4A2E1A"/>
                </a:solidFill>
              </a:rPr>
              <a:t>WHY</a:t>
            </a:r>
          </a:p>
        </p:txBody>
      </p:sp>
      <p:cxnSp>
        <p:nvCxnSpPr>
          <p:cNvPr id="25" name="Straight Connector 24">
            <a:extLst>
              <a:ext uri="{FF2B5EF4-FFF2-40B4-BE49-F238E27FC236}">
                <a16:creationId xmlns:a16="http://schemas.microsoft.com/office/drawing/2014/main" id="{AFC7AB03-F513-AA91-95D0-D41E0DA94727}"/>
              </a:ext>
            </a:extLst>
          </p:cNvPr>
          <p:cNvCxnSpPr/>
          <p:nvPr/>
        </p:nvCxnSpPr>
        <p:spPr>
          <a:xfrm>
            <a:off x="114300" y="5689600"/>
            <a:ext cx="119634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FF67AD6F-301A-3DD5-26BC-2F0057E84A1C}"/>
              </a:ext>
            </a:extLst>
          </p:cNvPr>
          <p:cNvSpPr txBox="1"/>
          <p:nvPr/>
        </p:nvSpPr>
        <p:spPr>
          <a:xfrm>
            <a:off x="114300" y="5727700"/>
            <a:ext cx="11963400" cy="369332"/>
          </a:xfrm>
          <a:prstGeom prst="rect">
            <a:avLst/>
          </a:prstGeom>
          <a:noFill/>
        </p:spPr>
        <p:txBody>
          <a:bodyPr vert="horz" wrap="square" lIns="38100" tIns="12700" rIns="38100" bIns="12700" rtlCol="0">
            <a:noAutofit/>
          </a:bodyPr>
          <a:lstStyle/>
          <a:p>
            <a:r>
              <a:rPr lang="en-US" sz="950">
                <a:solidFill>
                  <a:srgbClr val="4A2E1A"/>
                </a:solidFill>
              </a:rPr>
              <a:t>The system validation checklist and submission gate require a data catalog platform not yet built. The 4 validation criteria are unchanged -- only the mechanism changes from system-automated to manual. The requirement to escalate unclear classification cases is fully retained.</a:t>
            </a:r>
          </a:p>
        </p:txBody>
      </p:sp>
    </p:spTree>
    <p:extLst>
      <p:ext uri="{BB962C8B-B14F-4D97-AF65-F5344CB8AC3E}">
        <p14:creationId xmlns:p14="http://schemas.microsoft.com/office/powerpoint/2010/main" val="38800248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7902D36-639A-9DC6-6935-4284C3783993}"/>
              </a:ext>
            </a:extLst>
          </p:cNvPr>
          <p:cNvSpPr/>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81E0D2D4-DC00-10AD-947A-4330DB737377}"/>
              </a:ext>
            </a:extLst>
          </p:cNvPr>
          <p:cNvSpPr/>
          <p:nvPr/>
        </p:nvSpPr>
        <p:spPr>
          <a:xfrm>
            <a:off x="0" y="0"/>
            <a:ext cx="63500" cy="6858000"/>
          </a:xfrm>
          <a:prstGeom prst="rect">
            <a:avLst/>
          </a:prstGeom>
          <a:solidFill>
            <a:srgbClr val="506F1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742229BE-9916-161D-951E-280BD13D9CEA}"/>
              </a:ext>
            </a:extLst>
          </p:cNvPr>
          <p:cNvSpPr/>
          <p:nvPr/>
        </p:nvSpPr>
        <p:spPr>
          <a:xfrm>
            <a:off x="0" y="0"/>
            <a:ext cx="12192000" cy="660400"/>
          </a:xfrm>
          <a:prstGeom prst="rect">
            <a:avLst/>
          </a:prstGeom>
          <a:solidFill>
            <a:srgbClr val="4A2E1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A04E573A-842E-85B4-71D8-6882B8633122}"/>
              </a:ext>
            </a:extLst>
          </p:cNvPr>
          <p:cNvSpPr/>
          <p:nvPr/>
        </p:nvSpPr>
        <p:spPr>
          <a:xfrm>
            <a:off x="114300" y="114300"/>
            <a:ext cx="508000" cy="4318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FEFC09C6-3889-E4B1-612C-C4EDA664EC82}"/>
              </a:ext>
            </a:extLst>
          </p:cNvPr>
          <p:cNvSpPr txBox="1"/>
          <p:nvPr/>
        </p:nvSpPr>
        <p:spPr>
          <a:xfrm>
            <a:off x="114300" y="114300"/>
            <a:ext cx="508000" cy="369332"/>
          </a:xfrm>
          <a:prstGeom prst="rect">
            <a:avLst/>
          </a:prstGeom>
          <a:noFill/>
        </p:spPr>
        <p:txBody>
          <a:bodyPr vert="horz" wrap="square" lIns="38100" tIns="12700" rIns="38100" bIns="12700" rtlCol="0">
            <a:noAutofit/>
          </a:bodyPr>
          <a:lstStyle/>
          <a:p>
            <a:pPr algn="ctr"/>
            <a:r>
              <a:rPr lang="en-US" sz="1000" b="1">
                <a:solidFill>
                  <a:srgbClr val="FFFFFF"/>
                </a:solidFill>
              </a:rPr>
              <a:t>4.4</a:t>
            </a:r>
          </a:p>
        </p:txBody>
      </p:sp>
      <p:sp>
        <p:nvSpPr>
          <p:cNvPr id="7" name="TextBox 6">
            <a:extLst>
              <a:ext uri="{FF2B5EF4-FFF2-40B4-BE49-F238E27FC236}">
                <a16:creationId xmlns:a16="http://schemas.microsoft.com/office/drawing/2014/main" id="{58E66012-6FB8-83A7-E16C-3A63BCEF860E}"/>
              </a:ext>
            </a:extLst>
          </p:cNvPr>
          <p:cNvSpPr txBox="1"/>
          <p:nvPr/>
        </p:nvSpPr>
        <p:spPr>
          <a:xfrm>
            <a:off x="736600" y="152400"/>
            <a:ext cx="9525000" cy="369332"/>
          </a:xfrm>
          <a:prstGeom prst="rect">
            <a:avLst/>
          </a:prstGeom>
          <a:noFill/>
        </p:spPr>
        <p:txBody>
          <a:bodyPr vert="horz" wrap="square" lIns="38100" tIns="12700" rIns="38100" bIns="12700" rtlCol="0">
            <a:noAutofit/>
          </a:bodyPr>
          <a:lstStyle/>
          <a:p>
            <a:r>
              <a:rPr lang="en-US" sz="1400" b="1">
                <a:solidFill>
                  <a:srgbClr val="FFFFFF"/>
                </a:solidFill>
              </a:rPr>
              <a:t>Metadata Approval by Data Owner</a:t>
            </a:r>
          </a:p>
        </p:txBody>
      </p:sp>
      <p:sp>
        <p:nvSpPr>
          <p:cNvPr id="8" name="TextBox 7">
            <a:extLst>
              <a:ext uri="{FF2B5EF4-FFF2-40B4-BE49-F238E27FC236}">
                <a16:creationId xmlns:a16="http://schemas.microsoft.com/office/drawing/2014/main" id="{B377E640-C790-06AC-B763-9F2FBDCC213D}"/>
              </a:ext>
            </a:extLst>
          </p:cNvPr>
          <p:cNvSpPr txBox="1"/>
          <p:nvPr/>
        </p:nvSpPr>
        <p:spPr>
          <a:xfrm>
            <a:off x="10414000" y="203200"/>
            <a:ext cx="1625600" cy="369332"/>
          </a:xfrm>
          <a:prstGeom prst="rect">
            <a:avLst/>
          </a:prstGeom>
          <a:noFill/>
        </p:spPr>
        <p:txBody>
          <a:bodyPr vert="horz" wrap="square" lIns="38100" tIns="12700" rIns="38100" bIns="12700" rtlCol="0">
            <a:noAutofit/>
          </a:bodyPr>
          <a:lstStyle/>
          <a:p>
            <a:pPr algn="r"/>
            <a:r>
              <a:rPr lang="en-US" sz="900">
                <a:solidFill>
                  <a:srgbClr val="EAE3DD"/>
                </a:solidFill>
              </a:rPr>
              <a:t>Change 4 / 8</a:t>
            </a:r>
          </a:p>
        </p:txBody>
      </p:sp>
      <p:cxnSp>
        <p:nvCxnSpPr>
          <p:cNvPr id="9" name="Straight Connector 8">
            <a:extLst>
              <a:ext uri="{FF2B5EF4-FFF2-40B4-BE49-F238E27FC236}">
                <a16:creationId xmlns:a16="http://schemas.microsoft.com/office/drawing/2014/main" id="{F193FB35-3941-CC1B-1F09-22C2E7EB990D}"/>
              </a:ext>
            </a:extLst>
          </p:cNvPr>
          <p:cNvCxnSpPr/>
          <p:nvPr/>
        </p:nvCxnSpPr>
        <p:spPr>
          <a:xfrm>
            <a:off x="0" y="660400"/>
            <a:ext cx="121920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F6419251-2F1C-1940-5C7A-6E0234E08DB8}"/>
              </a:ext>
            </a:extLst>
          </p:cNvPr>
          <p:cNvSpPr/>
          <p:nvPr/>
        </p:nvSpPr>
        <p:spPr>
          <a:xfrm>
            <a:off x="0" y="673100"/>
            <a:ext cx="12192000" cy="1778000"/>
          </a:xfrm>
          <a:prstGeom prst="rect">
            <a:avLst/>
          </a:prstGeom>
          <a:solidFill>
            <a:srgbClr val="ECECF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005A0917-9B1F-F8FA-4ED3-ED92AA7E071B}"/>
              </a:ext>
            </a:extLst>
          </p:cNvPr>
          <p:cNvSpPr txBox="1"/>
          <p:nvPr/>
        </p:nvSpPr>
        <p:spPr>
          <a:xfrm>
            <a:off x="114300" y="736600"/>
            <a:ext cx="762000" cy="369332"/>
          </a:xfrm>
          <a:prstGeom prst="rect">
            <a:avLst/>
          </a:prstGeom>
          <a:noFill/>
        </p:spPr>
        <p:txBody>
          <a:bodyPr vert="horz" wrap="square" lIns="38100" tIns="12700" rIns="38100" bIns="12700" rtlCol="0">
            <a:noAutofit/>
          </a:bodyPr>
          <a:lstStyle/>
          <a:p>
            <a:r>
              <a:rPr lang="en-US" sz="700" b="1">
                <a:solidFill>
                  <a:srgbClr val="4A2E1A"/>
                </a:solidFill>
              </a:rPr>
              <a:t>BEFORE</a:t>
            </a:r>
          </a:p>
        </p:txBody>
      </p:sp>
      <p:cxnSp>
        <p:nvCxnSpPr>
          <p:cNvPr id="12" name="Straight Connector 11">
            <a:extLst>
              <a:ext uri="{FF2B5EF4-FFF2-40B4-BE49-F238E27FC236}">
                <a16:creationId xmlns:a16="http://schemas.microsoft.com/office/drawing/2014/main" id="{12E1B0E3-61B7-A369-C16A-12AAC6A387C2}"/>
              </a:ext>
            </a:extLst>
          </p:cNvPr>
          <p:cNvCxnSpPr/>
          <p:nvPr/>
        </p:nvCxnSpPr>
        <p:spPr>
          <a:xfrm>
            <a:off x="114300" y="965200"/>
            <a:ext cx="119634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384003FA-9D21-9C52-3238-B2F280BB9646}"/>
              </a:ext>
            </a:extLst>
          </p:cNvPr>
          <p:cNvSpPr txBox="1"/>
          <p:nvPr/>
        </p:nvSpPr>
        <p:spPr>
          <a:xfrm>
            <a:off x="114300" y="1003300"/>
            <a:ext cx="11963400" cy="369332"/>
          </a:xfrm>
          <a:prstGeom prst="rect">
            <a:avLst/>
          </a:prstGeom>
          <a:noFill/>
        </p:spPr>
        <p:txBody>
          <a:bodyPr vert="horz" wrap="square" lIns="38100" tIns="12700" rIns="38100" bIns="12700" rtlCol="0">
            <a:noAutofit/>
          </a:bodyPr>
          <a:lstStyle/>
          <a:p>
            <a:r>
              <a:rPr lang="en-US" sz="950">
                <a:solidFill>
                  <a:srgbClr val="4A2E1A"/>
                </a:solidFill>
              </a:rPr>
              <a:t>Data Steward submits via </a:t>
            </a:r>
            <a:r>
              <a:rPr lang="en-US" sz="950">
                <a:solidFill>
                  <a:srgbClr val="2222B2"/>
                </a:solidFill>
              </a:rPr>
              <a:t>system workflow</a:t>
            </a:r>
            <a:r>
              <a:rPr lang="en-US" sz="950">
                <a:solidFill>
                  <a:srgbClr val="4A2E1A"/>
                </a:solidFill>
              </a:rPr>
              <a:t>. </a:t>
            </a:r>
            <a:r>
              <a:rPr lang="en-US" sz="950">
                <a:solidFill>
                  <a:srgbClr val="2222B2"/>
                </a:solidFill>
              </a:rPr>
              <a:t>System enforces segregation of duties</a:t>
            </a:r>
            <a:r>
              <a:rPr lang="en-US" sz="950">
                <a:solidFill>
                  <a:srgbClr val="4A2E1A"/>
                </a:solidFill>
              </a:rPr>
              <a:t> (Data Steward cannot approve own metadata). Cross-domain or high-risk metadata must be escalated to </a:t>
            </a:r>
            <a:r>
              <a:rPr lang="en-US" sz="950">
                <a:solidFill>
                  <a:srgbClr val="2222B2"/>
                </a:solidFill>
              </a:rPr>
              <a:t>DGC</a:t>
            </a:r>
            <a:r>
              <a:rPr lang="en-US" sz="950">
                <a:solidFill>
                  <a:srgbClr val="4A2E1A"/>
                </a:solidFill>
              </a:rPr>
              <a:t> before approval. All approval actions </a:t>
            </a:r>
            <a:r>
              <a:rPr lang="en-US" sz="950">
                <a:solidFill>
                  <a:srgbClr val="2222B2"/>
                </a:solidFill>
              </a:rPr>
              <a:t>system-logged</a:t>
            </a:r>
            <a:r>
              <a:rPr lang="en-US" sz="950">
                <a:solidFill>
                  <a:srgbClr val="4A2E1A"/>
                </a:solidFill>
              </a:rPr>
              <a:t> with user ID and timestamp; records retained and cannot be modified.</a:t>
            </a:r>
          </a:p>
        </p:txBody>
      </p:sp>
      <p:cxnSp>
        <p:nvCxnSpPr>
          <p:cNvPr id="14" name="Straight Connector 13">
            <a:extLst>
              <a:ext uri="{FF2B5EF4-FFF2-40B4-BE49-F238E27FC236}">
                <a16:creationId xmlns:a16="http://schemas.microsoft.com/office/drawing/2014/main" id="{91A456ED-B8AA-DE10-5EFA-4A4D488585A4}"/>
              </a:ext>
            </a:extLst>
          </p:cNvPr>
          <p:cNvCxnSpPr/>
          <p:nvPr/>
        </p:nvCxnSpPr>
        <p:spPr>
          <a:xfrm>
            <a:off x="0" y="2451100"/>
            <a:ext cx="121920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F2C25BCA-5F3E-1A9C-2154-58DD9BC2A1C3}"/>
              </a:ext>
            </a:extLst>
          </p:cNvPr>
          <p:cNvSpPr/>
          <p:nvPr/>
        </p:nvSpPr>
        <p:spPr>
          <a:xfrm>
            <a:off x="0" y="2463800"/>
            <a:ext cx="12192000" cy="2921000"/>
          </a:xfrm>
          <a:prstGeom prst="rect">
            <a:avLst/>
          </a:prstGeom>
          <a:solidFill>
            <a:srgbClr val="E7F8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78C57AC-E745-A845-352C-E58494DDE7A7}"/>
              </a:ext>
            </a:extLst>
          </p:cNvPr>
          <p:cNvSpPr/>
          <p:nvPr/>
        </p:nvSpPr>
        <p:spPr>
          <a:xfrm>
            <a:off x="0" y="2463800"/>
            <a:ext cx="63500" cy="2921000"/>
          </a:xfrm>
          <a:prstGeom prst="rect">
            <a:avLst/>
          </a:prstGeom>
          <a:solidFill>
            <a:srgbClr val="506F1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757395A2-B816-C7E0-D4C7-4F9CD1A9FC80}"/>
              </a:ext>
            </a:extLst>
          </p:cNvPr>
          <p:cNvSpPr txBox="1"/>
          <p:nvPr/>
        </p:nvSpPr>
        <p:spPr>
          <a:xfrm>
            <a:off x="114300" y="2527300"/>
            <a:ext cx="762000" cy="369332"/>
          </a:xfrm>
          <a:prstGeom prst="rect">
            <a:avLst/>
          </a:prstGeom>
          <a:noFill/>
        </p:spPr>
        <p:txBody>
          <a:bodyPr vert="horz" wrap="square" lIns="38100" tIns="12700" rIns="38100" bIns="12700" rtlCol="0">
            <a:noAutofit/>
          </a:bodyPr>
          <a:lstStyle/>
          <a:p>
            <a:r>
              <a:rPr lang="en-US" sz="700" b="1">
                <a:solidFill>
                  <a:srgbClr val="4A2E1A"/>
                </a:solidFill>
              </a:rPr>
              <a:t>AFTER</a:t>
            </a:r>
          </a:p>
        </p:txBody>
      </p:sp>
      <p:cxnSp>
        <p:nvCxnSpPr>
          <p:cNvPr id="18" name="Straight Connector 17">
            <a:extLst>
              <a:ext uri="{FF2B5EF4-FFF2-40B4-BE49-F238E27FC236}">
                <a16:creationId xmlns:a16="http://schemas.microsoft.com/office/drawing/2014/main" id="{4148C6E7-204E-8C5B-E80F-2C824B724A22}"/>
              </a:ext>
            </a:extLst>
          </p:cNvPr>
          <p:cNvCxnSpPr/>
          <p:nvPr/>
        </p:nvCxnSpPr>
        <p:spPr>
          <a:xfrm>
            <a:off x="114300" y="2755900"/>
            <a:ext cx="119634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1EDB0945-1D95-71C9-213E-E664A832028C}"/>
              </a:ext>
            </a:extLst>
          </p:cNvPr>
          <p:cNvSpPr txBox="1"/>
          <p:nvPr/>
        </p:nvSpPr>
        <p:spPr>
          <a:xfrm>
            <a:off x="114300" y="2794000"/>
            <a:ext cx="11963400" cy="369332"/>
          </a:xfrm>
          <a:prstGeom prst="rect">
            <a:avLst/>
          </a:prstGeom>
          <a:noFill/>
        </p:spPr>
        <p:txBody>
          <a:bodyPr vert="horz" wrap="square" lIns="38100" tIns="12700" rIns="38100" bIns="12700" rtlCol="0">
            <a:noAutofit/>
          </a:bodyPr>
          <a:lstStyle/>
          <a:p>
            <a:r>
              <a:rPr lang="en-US" sz="1100" b="1">
                <a:solidFill>
                  <a:srgbClr val="2563A8"/>
                </a:solidFill>
              </a:rPr>
              <a:t>Status fields replace system workflow; Data Owner accountability unchanged</a:t>
            </a:r>
          </a:p>
        </p:txBody>
      </p:sp>
      <p:cxnSp>
        <p:nvCxnSpPr>
          <p:cNvPr id="20" name="Straight Connector 19">
            <a:extLst>
              <a:ext uri="{FF2B5EF4-FFF2-40B4-BE49-F238E27FC236}">
                <a16:creationId xmlns:a16="http://schemas.microsoft.com/office/drawing/2014/main" id="{67E1A318-5F1B-927A-E206-6C0B6DCACEB6}"/>
              </a:ext>
            </a:extLst>
          </p:cNvPr>
          <p:cNvCxnSpPr/>
          <p:nvPr/>
        </p:nvCxnSpPr>
        <p:spPr>
          <a:xfrm>
            <a:off x="114300" y="3098800"/>
            <a:ext cx="119634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146076B0-91D9-40EF-9D40-6F10F5046380}"/>
              </a:ext>
            </a:extLst>
          </p:cNvPr>
          <p:cNvSpPr txBox="1"/>
          <p:nvPr/>
        </p:nvSpPr>
        <p:spPr>
          <a:xfrm>
            <a:off x="114300" y="3136900"/>
            <a:ext cx="11963400" cy="369332"/>
          </a:xfrm>
          <a:prstGeom prst="rect">
            <a:avLst/>
          </a:prstGeom>
          <a:noFill/>
        </p:spPr>
        <p:txBody>
          <a:bodyPr vert="horz" wrap="square" lIns="38100" tIns="12700" rIns="38100" bIns="12700" rtlCol="0">
            <a:noAutofit/>
          </a:bodyPr>
          <a:lstStyle/>
          <a:p>
            <a:r>
              <a:rPr lang="en-US" sz="950">
                <a:solidFill>
                  <a:srgbClr val="4A2E1A"/>
                </a:solidFill>
              </a:rPr>
              <a:t>Each metadata record must carry: </a:t>
            </a:r>
            <a:r>
              <a:rPr lang="en-US" sz="950">
                <a:solidFill>
                  <a:srgbClr val="3A6B1A"/>
                </a:solidFill>
              </a:rPr>
              <a:t>review status (draft, reviewed, or approved)</a:t>
            </a:r>
            <a:r>
              <a:rPr lang="en-US" sz="950">
                <a:solidFill>
                  <a:srgbClr val="4A2E1A"/>
                </a:solidFill>
              </a:rPr>
              <a:t>, date of last review, reviewer's name, and responsible owner's contact. Metadata must reach approved status before the data asset is made available for use. The </a:t>
            </a:r>
            <a:r>
              <a:rPr lang="en-US" sz="950">
                <a:solidFill>
                  <a:srgbClr val="3A6B1A"/>
                </a:solidFill>
              </a:rPr>
              <a:t>Data Owner is responsible for approving</a:t>
            </a:r>
            <a:r>
              <a:rPr lang="en-US" sz="950">
                <a:solidFill>
                  <a:srgbClr val="4A2E1A"/>
                </a:solidFill>
              </a:rPr>
              <a:t> metadata. The Data Steward is responsible for preparing and maintaining it.</a:t>
            </a:r>
          </a:p>
        </p:txBody>
      </p:sp>
      <p:cxnSp>
        <p:nvCxnSpPr>
          <p:cNvPr id="22" name="Straight Connector 21">
            <a:extLst>
              <a:ext uri="{FF2B5EF4-FFF2-40B4-BE49-F238E27FC236}">
                <a16:creationId xmlns:a16="http://schemas.microsoft.com/office/drawing/2014/main" id="{0B042DDE-4D5C-788D-6BE5-3C4B57156827}"/>
              </a:ext>
            </a:extLst>
          </p:cNvPr>
          <p:cNvCxnSpPr/>
          <p:nvPr/>
        </p:nvCxnSpPr>
        <p:spPr>
          <a:xfrm>
            <a:off x="0" y="5384800"/>
            <a:ext cx="121920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62261DE4-2FD2-5A6B-5202-578A7831695C}"/>
              </a:ext>
            </a:extLst>
          </p:cNvPr>
          <p:cNvSpPr/>
          <p:nvPr/>
        </p:nvSpPr>
        <p:spPr>
          <a:xfrm>
            <a:off x="0" y="5397500"/>
            <a:ext cx="12192000" cy="1460500"/>
          </a:xfrm>
          <a:prstGeom prst="rect">
            <a:avLst/>
          </a:prstGeom>
          <a:solidFill>
            <a:srgbClr val="EEF7E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523A460E-F836-A461-60B5-7B886B967EB0}"/>
              </a:ext>
            </a:extLst>
          </p:cNvPr>
          <p:cNvSpPr txBox="1"/>
          <p:nvPr/>
        </p:nvSpPr>
        <p:spPr>
          <a:xfrm>
            <a:off x="114300" y="5461000"/>
            <a:ext cx="762000" cy="369332"/>
          </a:xfrm>
          <a:prstGeom prst="rect">
            <a:avLst/>
          </a:prstGeom>
          <a:noFill/>
        </p:spPr>
        <p:txBody>
          <a:bodyPr vert="horz" wrap="square" lIns="38100" tIns="12700" rIns="38100" bIns="12700" rtlCol="0">
            <a:noAutofit/>
          </a:bodyPr>
          <a:lstStyle/>
          <a:p>
            <a:r>
              <a:rPr lang="en-US" sz="700" b="1">
                <a:solidFill>
                  <a:srgbClr val="4A2E1A"/>
                </a:solidFill>
              </a:rPr>
              <a:t>WHY</a:t>
            </a:r>
          </a:p>
        </p:txBody>
      </p:sp>
      <p:cxnSp>
        <p:nvCxnSpPr>
          <p:cNvPr id="25" name="Straight Connector 24">
            <a:extLst>
              <a:ext uri="{FF2B5EF4-FFF2-40B4-BE49-F238E27FC236}">
                <a16:creationId xmlns:a16="http://schemas.microsoft.com/office/drawing/2014/main" id="{F5813A8C-2D98-3131-6BEA-6A5E32C848C6}"/>
              </a:ext>
            </a:extLst>
          </p:cNvPr>
          <p:cNvCxnSpPr/>
          <p:nvPr/>
        </p:nvCxnSpPr>
        <p:spPr>
          <a:xfrm>
            <a:off x="114300" y="5689600"/>
            <a:ext cx="119634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C39DDBE9-990D-9B4F-48D3-00E057C934AA}"/>
              </a:ext>
            </a:extLst>
          </p:cNvPr>
          <p:cNvSpPr txBox="1"/>
          <p:nvPr/>
        </p:nvSpPr>
        <p:spPr>
          <a:xfrm>
            <a:off x="114300" y="5727700"/>
            <a:ext cx="11963400" cy="369332"/>
          </a:xfrm>
          <a:prstGeom prst="rect">
            <a:avLst/>
          </a:prstGeom>
          <a:noFill/>
        </p:spPr>
        <p:txBody>
          <a:bodyPr vert="horz" wrap="square" lIns="38100" tIns="12700" rIns="38100" bIns="12700" rtlCol="0">
            <a:noAutofit/>
          </a:bodyPr>
          <a:lstStyle/>
          <a:p>
            <a:r>
              <a:rPr lang="en-US" sz="950">
                <a:solidFill>
                  <a:srgbClr val="4A2E1A"/>
                </a:solidFill>
              </a:rPr>
              <a:t>System workflow routing and automated SOD enforcement require a data catalog platform not yet built. DGC formal escalation is a mature-governance requirement not yet operational. Status fields (draft/reviewed/approved) provide equivalent accountability: every approval is traceable, Data Owner responsibility is explicit, and no platform is required.</a:t>
            </a:r>
          </a:p>
        </p:txBody>
      </p:sp>
    </p:spTree>
    <p:extLst>
      <p:ext uri="{BB962C8B-B14F-4D97-AF65-F5344CB8AC3E}">
        <p14:creationId xmlns:p14="http://schemas.microsoft.com/office/powerpoint/2010/main" val="41696712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9E4DC8F-EBF4-AB9E-97B0-D21A86B4CA4D}"/>
              </a:ext>
            </a:extLst>
          </p:cNvPr>
          <p:cNvSpPr/>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3A212AEA-041E-79CF-6439-9AC9FD42BAB8}"/>
              </a:ext>
            </a:extLst>
          </p:cNvPr>
          <p:cNvSpPr/>
          <p:nvPr/>
        </p:nvSpPr>
        <p:spPr>
          <a:xfrm>
            <a:off x="0" y="0"/>
            <a:ext cx="63500" cy="6858000"/>
          </a:xfrm>
          <a:prstGeom prst="rect">
            <a:avLst/>
          </a:prstGeom>
          <a:solidFill>
            <a:srgbClr val="506F1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63F21D29-4CC7-4789-0262-F7A0C3DB2A69}"/>
              </a:ext>
            </a:extLst>
          </p:cNvPr>
          <p:cNvSpPr/>
          <p:nvPr/>
        </p:nvSpPr>
        <p:spPr>
          <a:xfrm>
            <a:off x="0" y="0"/>
            <a:ext cx="12192000" cy="660400"/>
          </a:xfrm>
          <a:prstGeom prst="rect">
            <a:avLst/>
          </a:prstGeom>
          <a:solidFill>
            <a:srgbClr val="4A2E1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0EA0827-D493-8A67-5E87-4465C1973B33}"/>
              </a:ext>
            </a:extLst>
          </p:cNvPr>
          <p:cNvSpPr/>
          <p:nvPr/>
        </p:nvSpPr>
        <p:spPr>
          <a:xfrm>
            <a:off x="114300" y="114300"/>
            <a:ext cx="787400" cy="4318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793E19F3-1746-C04C-4DBB-D0E86EE62F79}"/>
              </a:ext>
            </a:extLst>
          </p:cNvPr>
          <p:cNvSpPr txBox="1"/>
          <p:nvPr/>
        </p:nvSpPr>
        <p:spPr>
          <a:xfrm>
            <a:off x="114300" y="114300"/>
            <a:ext cx="787400" cy="369332"/>
          </a:xfrm>
          <a:prstGeom prst="rect">
            <a:avLst/>
          </a:prstGeom>
          <a:noFill/>
        </p:spPr>
        <p:txBody>
          <a:bodyPr vert="horz" wrap="square" lIns="38100" tIns="12700" rIns="38100" bIns="12700" rtlCol="0">
            <a:noAutofit/>
          </a:bodyPr>
          <a:lstStyle/>
          <a:p>
            <a:pPr algn="ctr"/>
            <a:r>
              <a:rPr lang="en-US" sz="900" b="1">
                <a:solidFill>
                  <a:srgbClr val="FFFFFF"/>
                </a:solidFill>
              </a:rPr>
              <a:t>4.5 / 4.6</a:t>
            </a:r>
          </a:p>
        </p:txBody>
      </p:sp>
      <p:sp>
        <p:nvSpPr>
          <p:cNvPr id="7" name="TextBox 6">
            <a:extLst>
              <a:ext uri="{FF2B5EF4-FFF2-40B4-BE49-F238E27FC236}">
                <a16:creationId xmlns:a16="http://schemas.microsoft.com/office/drawing/2014/main" id="{07FD1EAD-D1C2-B294-1EF9-CCBDD9F5C5A0}"/>
              </a:ext>
            </a:extLst>
          </p:cNvPr>
          <p:cNvSpPr txBox="1"/>
          <p:nvPr/>
        </p:nvSpPr>
        <p:spPr>
          <a:xfrm>
            <a:off x="1016000" y="152400"/>
            <a:ext cx="9652000" cy="369332"/>
          </a:xfrm>
          <a:prstGeom prst="rect">
            <a:avLst/>
          </a:prstGeom>
          <a:noFill/>
        </p:spPr>
        <p:txBody>
          <a:bodyPr vert="horz" wrap="square" lIns="38100" tIns="12700" rIns="38100" bIns="12700" rtlCol="0">
            <a:noAutofit/>
          </a:bodyPr>
          <a:lstStyle/>
          <a:p>
            <a:r>
              <a:rPr lang="en-US" sz="1300" b="1">
                <a:solidFill>
                  <a:srgbClr val="FFFFFF"/>
                </a:solidFill>
              </a:rPr>
              <a:t>Publication (4.5 -- unchanged)   |   Maintenance and Change Management (4.6)</a:t>
            </a:r>
          </a:p>
        </p:txBody>
      </p:sp>
      <p:sp>
        <p:nvSpPr>
          <p:cNvPr id="8" name="TextBox 7">
            <a:extLst>
              <a:ext uri="{FF2B5EF4-FFF2-40B4-BE49-F238E27FC236}">
                <a16:creationId xmlns:a16="http://schemas.microsoft.com/office/drawing/2014/main" id="{3A82CE44-4FB5-D2EC-9B36-B9ECC8810DC1}"/>
              </a:ext>
            </a:extLst>
          </p:cNvPr>
          <p:cNvSpPr txBox="1"/>
          <p:nvPr/>
        </p:nvSpPr>
        <p:spPr>
          <a:xfrm>
            <a:off x="10414000" y="203200"/>
            <a:ext cx="1625600" cy="369332"/>
          </a:xfrm>
          <a:prstGeom prst="rect">
            <a:avLst/>
          </a:prstGeom>
          <a:noFill/>
        </p:spPr>
        <p:txBody>
          <a:bodyPr vert="horz" wrap="square" lIns="38100" tIns="12700" rIns="38100" bIns="12700" rtlCol="0">
            <a:noAutofit/>
          </a:bodyPr>
          <a:lstStyle/>
          <a:p>
            <a:pPr algn="r"/>
            <a:r>
              <a:rPr lang="en-US" sz="900">
                <a:solidFill>
                  <a:srgbClr val="EAE3DD"/>
                </a:solidFill>
              </a:rPr>
              <a:t>Change 5 &amp; 6 / 8</a:t>
            </a:r>
          </a:p>
        </p:txBody>
      </p:sp>
      <p:cxnSp>
        <p:nvCxnSpPr>
          <p:cNvPr id="9" name="Straight Connector 8">
            <a:extLst>
              <a:ext uri="{FF2B5EF4-FFF2-40B4-BE49-F238E27FC236}">
                <a16:creationId xmlns:a16="http://schemas.microsoft.com/office/drawing/2014/main" id="{B432F6B8-16F3-E1B1-397C-2C750EDA66A6}"/>
              </a:ext>
            </a:extLst>
          </p:cNvPr>
          <p:cNvCxnSpPr/>
          <p:nvPr/>
        </p:nvCxnSpPr>
        <p:spPr>
          <a:xfrm>
            <a:off x="0" y="660400"/>
            <a:ext cx="121920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90F4FC50-A7BF-C018-C24C-C10A9CCB3665}"/>
              </a:ext>
            </a:extLst>
          </p:cNvPr>
          <p:cNvSpPr/>
          <p:nvPr/>
        </p:nvSpPr>
        <p:spPr>
          <a:xfrm>
            <a:off x="0" y="673100"/>
            <a:ext cx="12192000" cy="1422400"/>
          </a:xfrm>
          <a:prstGeom prst="rect">
            <a:avLst/>
          </a:prstGeom>
          <a:solidFill>
            <a:srgbClr val="EEF7E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0421F19D-00C3-5D04-8F08-3E44B69CB38E}"/>
              </a:ext>
            </a:extLst>
          </p:cNvPr>
          <p:cNvSpPr txBox="1"/>
          <p:nvPr/>
        </p:nvSpPr>
        <p:spPr>
          <a:xfrm>
            <a:off x="114300" y="736600"/>
            <a:ext cx="11963400" cy="369332"/>
          </a:xfrm>
          <a:prstGeom prst="rect">
            <a:avLst/>
          </a:prstGeom>
          <a:noFill/>
        </p:spPr>
        <p:txBody>
          <a:bodyPr vert="horz" wrap="square" lIns="38100" tIns="12700" rIns="38100" bIns="12700" rtlCol="0">
            <a:noAutofit/>
          </a:bodyPr>
          <a:lstStyle/>
          <a:p>
            <a:r>
              <a:rPr lang="en-US" sz="1000" b="1">
                <a:solidFill>
                  <a:srgbClr val="4A2E1A"/>
                </a:solidFill>
              </a:rPr>
              <a:t>4.5  Publication and Use of Approved Metadata  --  NO CHANGE</a:t>
            </a:r>
          </a:p>
        </p:txBody>
      </p:sp>
      <p:cxnSp>
        <p:nvCxnSpPr>
          <p:cNvPr id="12" name="Straight Connector 11">
            <a:extLst>
              <a:ext uri="{FF2B5EF4-FFF2-40B4-BE49-F238E27FC236}">
                <a16:creationId xmlns:a16="http://schemas.microsoft.com/office/drawing/2014/main" id="{A07C11E1-BDD8-7D56-DB71-CC7B4052D4D9}"/>
              </a:ext>
            </a:extLst>
          </p:cNvPr>
          <p:cNvCxnSpPr/>
          <p:nvPr/>
        </p:nvCxnSpPr>
        <p:spPr>
          <a:xfrm>
            <a:off x="114300" y="1016000"/>
            <a:ext cx="119634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96496985-68C1-A34D-595A-7BCDD0CE681C}"/>
              </a:ext>
            </a:extLst>
          </p:cNvPr>
          <p:cNvSpPr txBox="1"/>
          <p:nvPr/>
        </p:nvSpPr>
        <p:spPr>
          <a:xfrm>
            <a:off x="114300" y="1054100"/>
            <a:ext cx="11963400" cy="369332"/>
          </a:xfrm>
          <a:prstGeom prst="rect">
            <a:avLst/>
          </a:prstGeom>
          <a:noFill/>
        </p:spPr>
        <p:txBody>
          <a:bodyPr vert="horz" wrap="square" lIns="38100" tIns="12700" rIns="38100" bIns="12700" rtlCol="0">
            <a:noAutofit/>
          </a:bodyPr>
          <a:lstStyle/>
          <a:p>
            <a:r>
              <a:rPr lang="en-US" sz="900">
                <a:solidFill>
                  <a:srgbClr val="4A2E1A"/>
                </a:solidFill>
              </a:rPr>
              <a:t>Original procedure retained as written: only datasets with approved metadata status may be used in reporting, analytics, or AI applications. Access controlled through RBAC. Approved metadata made accessible through data catalog or reporting tools. Exceptions require Data Owner approval and documentation.</a:t>
            </a:r>
          </a:p>
        </p:txBody>
      </p:sp>
      <p:cxnSp>
        <p:nvCxnSpPr>
          <p:cNvPr id="14" name="Straight Connector 13">
            <a:extLst>
              <a:ext uri="{FF2B5EF4-FFF2-40B4-BE49-F238E27FC236}">
                <a16:creationId xmlns:a16="http://schemas.microsoft.com/office/drawing/2014/main" id="{02375BA2-83DE-401D-8643-DF5EC58E9260}"/>
              </a:ext>
            </a:extLst>
          </p:cNvPr>
          <p:cNvCxnSpPr/>
          <p:nvPr/>
        </p:nvCxnSpPr>
        <p:spPr>
          <a:xfrm>
            <a:off x="0" y="2095500"/>
            <a:ext cx="121920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BEAA812A-998D-84AF-E7F0-BAA8E51993B7}"/>
              </a:ext>
            </a:extLst>
          </p:cNvPr>
          <p:cNvSpPr/>
          <p:nvPr/>
        </p:nvSpPr>
        <p:spPr>
          <a:xfrm>
            <a:off x="0" y="2108200"/>
            <a:ext cx="12192000" cy="1397000"/>
          </a:xfrm>
          <a:prstGeom prst="rect">
            <a:avLst/>
          </a:prstGeom>
          <a:solidFill>
            <a:srgbClr val="ECECF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FC9CFD12-9656-B11C-891C-303DE26CB7F9}"/>
              </a:ext>
            </a:extLst>
          </p:cNvPr>
          <p:cNvSpPr txBox="1"/>
          <p:nvPr/>
        </p:nvSpPr>
        <p:spPr>
          <a:xfrm>
            <a:off x="114300" y="2171700"/>
            <a:ext cx="1270000" cy="369332"/>
          </a:xfrm>
          <a:prstGeom prst="rect">
            <a:avLst/>
          </a:prstGeom>
          <a:noFill/>
        </p:spPr>
        <p:txBody>
          <a:bodyPr vert="horz" wrap="square" lIns="38100" tIns="12700" rIns="38100" bIns="12700" rtlCol="0">
            <a:noAutofit/>
          </a:bodyPr>
          <a:lstStyle/>
          <a:p>
            <a:r>
              <a:rPr lang="en-US" sz="700" b="1">
                <a:solidFill>
                  <a:srgbClr val="4A2E1A"/>
                </a:solidFill>
              </a:rPr>
              <a:t>4.6  BEFORE</a:t>
            </a:r>
          </a:p>
        </p:txBody>
      </p:sp>
      <p:cxnSp>
        <p:nvCxnSpPr>
          <p:cNvPr id="17" name="Straight Connector 16">
            <a:extLst>
              <a:ext uri="{FF2B5EF4-FFF2-40B4-BE49-F238E27FC236}">
                <a16:creationId xmlns:a16="http://schemas.microsoft.com/office/drawing/2014/main" id="{FE51E63B-D4A4-58E7-06D5-67A0B3E7782C}"/>
              </a:ext>
            </a:extLst>
          </p:cNvPr>
          <p:cNvCxnSpPr/>
          <p:nvPr/>
        </p:nvCxnSpPr>
        <p:spPr>
          <a:xfrm>
            <a:off x="114300" y="2400300"/>
            <a:ext cx="119634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6892999F-15A9-555A-0872-958F36051F13}"/>
              </a:ext>
            </a:extLst>
          </p:cNvPr>
          <p:cNvSpPr txBox="1"/>
          <p:nvPr/>
        </p:nvSpPr>
        <p:spPr>
          <a:xfrm>
            <a:off x="114300" y="2438400"/>
            <a:ext cx="11963400" cy="369332"/>
          </a:xfrm>
          <a:prstGeom prst="rect">
            <a:avLst/>
          </a:prstGeom>
          <a:noFill/>
        </p:spPr>
        <p:txBody>
          <a:bodyPr vert="horz" wrap="square" lIns="38100" tIns="12700" rIns="38100" bIns="12700" rtlCol="0">
            <a:noAutofit/>
          </a:bodyPr>
          <a:lstStyle/>
          <a:p>
            <a:r>
              <a:rPr lang="en-US" sz="900">
                <a:solidFill>
                  <a:srgbClr val="4A2E1A"/>
                </a:solidFill>
              </a:rPr>
              <a:t>All changes performed through </a:t>
            </a:r>
            <a:r>
              <a:rPr lang="en-US" sz="900">
                <a:solidFill>
                  <a:srgbClr val="2222B2"/>
                </a:solidFill>
              </a:rPr>
              <a:t>system workflow</a:t>
            </a:r>
            <a:r>
              <a:rPr lang="en-US" sz="900">
                <a:solidFill>
                  <a:srgbClr val="4A2E1A"/>
                </a:solidFill>
              </a:rPr>
              <a:t> and approved by Data Owner. Edit access is role-restricted. System maintains </a:t>
            </a:r>
            <a:r>
              <a:rPr lang="en-US" sz="900">
                <a:solidFill>
                  <a:srgbClr val="2222B2"/>
                </a:solidFill>
              </a:rPr>
              <a:t>version control</a:t>
            </a:r>
            <a:r>
              <a:rPr lang="en-US" sz="900">
                <a:solidFill>
                  <a:srgbClr val="4A2E1A"/>
                </a:solidFill>
              </a:rPr>
              <a:t> for every change (description, reason, approval record). Data Owner must periodically review and confirm metadata accuracy.</a:t>
            </a:r>
          </a:p>
        </p:txBody>
      </p:sp>
      <p:cxnSp>
        <p:nvCxnSpPr>
          <p:cNvPr id="19" name="Straight Connector 18">
            <a:extLst>
              <a:ext uri="{FF2B5EF4-FFF2-40B4-BE49-F238E27FC236}">
                <a16:creationId xmlns:a16="http://schemas.microsoft.com/office/drawing/2014/main" id="{B457CA48-CD06-5C5A-3507-CE2FF85A89F7}"/>
              </a:ext>
            </a:extLst>
          </p:cNvPr>
          <p:cNvCxnSpPr/>
          <p:nvPr/>
        </p:nvCxnSpPr>
        <p:spPr>
          <a:xfrm>
            <a:off x="0" y="3505200"/>
            <a:ext cx="121920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18ECB09D-ED43-05E4-1317-B0E21A123927}"/>
              </a:ext>
            </a:extLst>
          </p:cNvPr>
          <p:cNvSpPr/>
          <p:nvPr/>
        </p:nvSpPr>
        <p:spPr>
          <a:xfrm>
            <a:off x="0" y="3517900"/>
            <a:ext cx="12192000" cy="1879600"/>
          </a:xfrm>
          <a:prstGeom prst="rect">
            <a:avLst/>
          </a:prstGeom>
          <a:solidFill>
            <a:srgbClr val="E7F8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CEEF2030-45FC-DAF7-33E7-57033E6EB081}"/>
              </a:ext>
            </a:extLst>
          </p:cNvPr>
          <p:cNvSpPr/>
          <p:nvPr/>
        </p:nvSpPr>
        <p:spPr>
          <a:xfrm>
            <a:off x="0" y="3517900"/>
            <a:ext cx="63500" cy="1879600"/>
          </a:xfrm>
          <a:prstGeom prst="rect">
            <a:avLst/>
          </a:prstGeom>
          <a:solidFill>
            <a:srgbClr val="506F1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62C3B6F2-285B-CEDB-C58C-BB5759E3888B}"/>
              </a:ext>
            </a:extLst>
          </p:cNvPr>
          <p:cNvSpPr txBox="1"/>
          <p:nvPr/>
        </p:nvSpPr>
        <p:spPr>
          <a:xfrm>
            <a:off x="114300" y="3581400"/>
            <a:ext cx="1270000" cy="369332"/>
          </a:xfrm>
          <a:prstGeom prst="rect">
            <a:avLst/>
          </a:prstGeom>
          <a:noFill/>
        </p:spPr>
        <p:txBody>
          <a:bodyPr vert="horz" wrap="square" lIns="38100" tIns="12700" rIns="38100" bIns="12700" rtlCol="0">
            <a:noAutofit/>
          </a:bodyPr>
          <a:lstStyle/>
          <a:p>
            <a:r>
              <a:rPr lang="en-US" sz="700" b="1">
                <a:solidFill>
                  <a:srgbClr val="4A2E1A"/>
                </a:solidFill>
              </a:rPr>
              <a:t>4.6  AFTER</a:t>
            </a:r>
          </a:p>
        </p:txBody>
      </p:sp>
      <p:cxnSp>
        <p:nvCxnSpPr>
          <p:cNvPr id="23" name="Straight Connector 22">
            <a:extLst>
              <a:ext uri="{FF2B5EF4-FFF2-40B4-BE49-F238E27FC236}">
                <a16:creationId xmlns:a16="http://schemas.microsoft.com/office/drawing/2014/main" id="{D1F11B84-EE78-B221-8D21-E07263425F6E}"/>
              </a:ext>
            </a:extLst>
          </p:cNvPr>
          <p:cNvCxnSpPr/>
          <p:nvPr/>
        </p:nvCxnSpPr>
        <p:spPr>
          <a:xfrm>
            <a:off x="114300" y="3810000"/>
            <a:ext cx="119634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8684CE7E-221C-F5AA-1FB6-E6FE3CCB11D7}"/>
              </a:ext>
            </a:extLst>
          </p:cNvPr>
          <p:cNvSpPr txBox="1"/>
          <p:nvPr/>
        </p:nvSpPr>
        <p:spPr>
          <a:xfrm>
            <a:off x="114300" y="3848100"/>
            <a:ext cx="11963400" cy="369332"/>
          </a:xfrm>
          <a:prstGeom prst="rect">
            <a:avLst/>
          </a:prstGeom>
          <a:noFill/>
        </p:spPr>
        <p:txBody>
          <a:bodyPr vert="horz" wrap="square" lIns="38100" tIns="12700" rIns="38100" bIns="12700" rtlCol="0">
            <a:noAutofit/>
          </a:bodyPr>
          <a:lstStyle/>
          <a:p>
            <a:r>
              <a:rPr lang="en-US" sz="1000" b="1">
                <a:solidFill>
                  <a:srgbClr val="2563A8"/>
                </a:solidFill>
              </a:rPr>
              <a:t>Lightweight change record replaces system version control</a:t>
            </a:r>
          </a:p>
        </p:txBody>
      </p:sp>
      <p:cxnSp>
        <p:nvCxnSpPr>
          <p:cNvPr id="25" name="Straight Connector 24">
            <a:extLst>
              <a:ext uri="{FF2B5EF4-FFF2-40B4-BE49-F238E27FC236}">
                <a16:creationId xmlns:a16="http://schemas.microsoft.com/office/drawing/2014/main" id="{3AC09DD7-33A9-4669-0BB9-FA99163C4B0F}"/>
              </a:ext>
            </a:extLst>
          </p:cNvPr>
          <p:cNvCxnSpPr/>
          <p:nvPr/>
        </p:nvCxnSpPr>
        <p:spPr>
          <a:xfrm>
            <a:off x="114300" y="4152900"/>
            <a:ext cx="119634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2CA8C8B1-B878-3623-DA8B-A4E8E99F9D10}"/>
              </a:ext>
            </a:extLst>
          </p:cNvPr>
          <p:cNvSpPr txBox="1"/>
          <p:nvPr/>
        </p:nvSpPr>
        <p:spPr>
          <a:xfrm>
            <a:off x="114300" y="4191000"/>
            <a:ext cx="11963400" cy="369332"/>
          </a:xfrm>
          <a:prstGeom prst="rect">
            <a:avLst/>
          </a:prstGeom>
          <a:noFill/>
        </p:spPr>
        <p:txBody>
          <a:bodyPr vert="horz" wrap="square" lIns="38100" tIns="12700" rIns="38100" bIns="12700" rtlCol="0">
            <a:noAutofit/>
          </a:bodyPr>
          <a:lstStyle/>
          <a:p>
            <a:r>
              <a:rPr lang="en-US" sz="900">
                <a:solidFill>
                  <a:srgbClr val="4A2E1A"/>
                </a:solidFill>
              </a:rPr>
              <a:t>Update metadata when business definitions, data sources, structures, or regulatory requirements change. Each update must record: </a:t>
            </a:r>
            <a:r>
              <a:rPr lang="en-US" sz="900">
                <a:solidFill>
                  <a:srgbClr val="3A6B1A"/>
                </a:solidFill>
              </a:rPr>
              <a:t>last updated date and change summary</a:t>
            </a:r>
            <a:r>
              <a:rPr lang="en-US" sz="900">
                <a:solidFill>
                  <a:srgbClr val="4A2E1A"/>
                </a:solidFill>
              </a:rPr>
              <a:t>. Changes to business definitions or classification must be reviewed and confirmed by the Data Owner. System workflow and automated version control are not yet in place.</a:t>
            </a:r>
          </a:p>
        </p:txBody>
      </p:sp>
      <p:cxnSp>
        <p:nvCxnSpPr>
          <p:cNvPr id="27" name="Straight Connector 26">
            <a:extLst>
              <a:ext uri="{FF2B5EF4-FFF2-40B4-BE49-F238E27FC236}">
                <a16:creationId xmlns:a16="http://schemas.microsoft.com/office/drawing/2014/main" id="{A63F8A86-DDE4-B116-61A0-13A27390F25F}"/>
              </a:ext>
            </a:extLst>
          </p:cNvPr>
          <p:cNvCxnSpPr/>
          <p:nvPr/>
        </p:nvCxnSpPr>
        <p:spPr>
          <a:xfrm>
            <a:off x="0" y="5397500"/>
            <a:ext cx="121920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48167E40-760E-D741-38DA-5CC9BA898D54}"/>
              </a:ext>
            </a:extLst>
          </p:cNvPr>
          <p:cNvSpPr/>
          <p:nvPr/>
        </p:nvSpPr>
        <p:spPr>
          <a:xfrm>
            <a:off x="0" y="5410200"/>
            <a:ext cx="12192000" cy="1447800"/>
          </a:xfrm>
          <a:prstGeom prst="rect">
            <a:avLst/>
          </a:prstGeom>
          <a:solidFill>
            <a:srgbClr val="EEF7E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B27099FD-9D9E-A7E3-65EC-31A10D644403}"/>
              </a:ext>
            </a:extLst>
          </p:cNvPr>
          <p:cNvSpPr txBox="1"/>
          <p:nvPr/>
        </p:nvSpPr>
        <p:spPr>
          <a:xfrm>
            <a:off x="114300" y="5473700"/>
            <a:ext cx="1270000" cy="369332"/>
          </a:xfrm>
          <a:prstGeom prst="rect">
            <a:avLst/>
          </a:prstGeom>
          <a:noFill/>
        </p:spPr>
        <p:txBody>
          <a:bodyPr vert="horz" wrap="square" lIns="38100" tIns="12700" rIns="38100" bIns="12700" rtlCol="0">
            <a:noAutofit/>
          </a:bodyPr>
          <a:lstStyle/>
          <a:p>
            <a:r>
              <a:rPr lang="en-US" sz="700" b="1">
                <a:solidFill>
                  <a:srgbClr val="4A2E1A"/>
                </a:solidFill>
              </a:rPr>
              <a:t>WHY  (4.6)</a:t>
            </a:r>
          </a:p>
        </p:txBody>
      </p:sp>
      <p:cxnSp>
        <p:nvCxnSpPr>
          <p:cNvPr id="30" name="Straight Connector 29">
            <a:extLst>
              <a:ext uri="{FF2B5EF4-FFF2-40B4-BE49-F238E27FC236}">
                <a16:creationId xmlns:a16="http://schemas.microsoft.com/office/drawing/2014/main" id="{54F30621-061F-C8DD-17E0-5D57A8A19CAD}"/>
              </a:ext>
            </a:extLst>
          </p:cNvPr>
          <p:cNvCxnSpPr/>
          <p:nvPr/>
        </p:nvCxnSpPr>
        <p:spPr>
          <a:xfrm>
            <a:off x="114300" y="5702300"/>
            <a:ext cx="119634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B5EFD13C-9E72-EACB-7552-C1867AA47F10}"/>
              </a:ext>
            </a:extLst>
          </p:cNvPr>
          <p:cNvSpPr txBox="1"/>
          <p:nvPr/>
        </p:nvSpPr>
        <p:spPr>
          <a:xfrm>
            <a:off x="114300" y="5740400"/>
            <a:ext cx="11963400" cy="369332"/>
          </a:xfrm>
          <a:prstGeom prst="rect">
            <a:avLst/>
          </a:prstGeom>
          <a:noFill/>
        </p:spPr>
        <p:txBody>
          <a:bodyPr vert="horz" wrap="square" lIns="38100" tIns="12700" rIns="38100" bIns="12700" rtlCol="0">
            <a:noAutofit/>
          </a:bodyPr>
          <a:lstStyle/>
          <a:p>
            <a:r>
              <a:rPr lang="en-US" sz="900">
                <a:solidFill>
                  <a:srgbClr val="4A2E1A"/>
                </a:solidFill>
              </a:rPr>
              <a:t>System workflow enforcement and immutable version control require a catalog platform not yet built. Two lightweight fields (last updated date + change summary) provide sufficient traceability for current governance needs. Data Owner review requirement is fully retained.</a:t>
            </a:r>
          </a:p>
        </p:txBody>
      </p:sp>
    </p:spTree>
    <p:extLst>
      <p:ext uri="{BB962C8B-B14F-4D97-AF65-F5344CB8AC3E}">
        <p14:creationId xmlns:p14="http://schemas.microsoft.com/office/powerpoint/2010/main" val="30393848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6DA32E1-94AC-5CDF-36C8-83798CDF8190}"/>
              </a:ext>
            </a:extLst>
          </p:cNvPr>
          <p:cNvSpPr/>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982C4ECF-402F-9184-6FBA-6F83016E0A59}"/>
              </a:ext>
            </a:extLst>
          </p:cNvPr>
          <p:cNvSpPr/>
          <p:nvPr/>
        </p:nvSpPr>
        <p:spPr>
          <a:xfrm>
            <a:off x="0" y="0"/>
            <a:ext cx="63500" cy="6858000"/>
          </a:xfrm>
          <a:prstGeom prst="rect">
            <a:avLst/>
          </a:prstGeom>
          <a:solidFill>
            <a:srgbClr val="506F1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2E65DF21-9F63-FA98-E97B-D56412F972DB}"/>
              </a:ext>
            </a:extLst>
          </p:cNvPr>
          <p:cNvSpPr/>
          <p:nvPr/>
        </p:nvSpPr>
        <p:spPr>
          <a:xfrm>
            <a:off x="0" y="0"/>
            <a:ext cx="12192000" cy="660400"/>
          </a:xfrm>
          <a:prstGeom prst="rect">
            <a:avLst/>
          </a:prstGeom>
          <a:solidFill>
            <a:srgbClr val="4A2E1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7CF646DF-F237-9691-6892-F878E2A2D279}"/>
              </a:ext>
            </a:extLst>
          </p:cNvPr>
          <p:cNvSpPr/>
          <p:nvPr/>
        </p:nvSpPr>
        <p:spPr>
          <a:xfrm>
            <a:off x="114300" y="114300"/>
            <a:ext cx="787400" cy="4318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B105034D-D412-4AA5-6D34-FD8033DD41FF}"/>
              </a:ext>
            </a:extLst>
          </p:cNvPr>
          <p:cNvSpPr txBox="1"/>
          <p:nvPr/>
        </p:nvSpPr>
        <p:spPr>
          <a:xfrm>
            <a:off x="114300" y="114300"/>
            <a:ext cx="787400" cy="369332"/>
          </a:xfrm>
          <a:prstGeom prst="rect">
            <a:avLst/>
          </a:prstGeom>
          <a:noFill/>
        </p:spPr>
        <p:txBody>
          <a:bodyPr vert="horz" wrap="square" lIns="38100" tIns="12700" rIns="38100" bIns="12700" rtlCol="0">
            <a:noAutofit/>
          </a:bodyPr>
          <a:lstStyle/>
          <a:p>
            <a:pPr algn="ctr"/>
            <a:r>
              <a:rPr lang="en-US" sz="900" b="1">
                <a:solidFill>
                  <a:srgbClr val="FFFFFF"/>
                </a:solidFill>
              </a:rPr>
              <a:t>4.7 / 4.8</a:t>
            </a:r>
          </a:p>
        </p:txBody>
      </p:sp>
      <p:sp>
        <p:nvSpPr>
          <p:cNvPr id="7" name="TextBox 6">
            <a:extLst>
              <a:ext uri="{FF2B5EF4-FFF2-40B4-BE49-F238E27FC236}">
                <a16:creationId xmlns:a16="http://schemas.microsoft.com/office/drawing/2014/main" id="{6F802624-F58E-E312-B254-582E7B055492}"/>
              </a:ext>
            </a:extLst>
          </p:cNvPr>
          <p:cNvSpPr txBox="1"/>
          <p:nvPr/>
        </p:nvSpPr>
        <p:spPr>
          <a:xfrm>
            <a:off x="1016000" y="152400"/>
            <a:ext cx="9652000" cy="369332"/>
          </a:xfrm>
          <a:prstGeom prst="rect">
            <a:avLst/>
          </a:prstGeom>
          <a:noFill/>
        </p:spPr>
        <p:txBody>
          <a:bodyPr vert="horz" wrap="square" lIns="38100" tIns="12700" rIns="38100" bIns="12700" rtlCol="0">
            <a:noAutofit/>
          </a:bodyPr>
          <a:lstStyle/>
          <a:p>
            <a:r>
              <a:rPr lang="en-US" sz="1300" b="1">
                <a:solidFill>
                  <a:srgbClr val="FFFFFF"/>
                </a:solidFill>
              </a:rPr>
              <a:t>Quality Monitoring (4.7)   |   Data Asset Lifecycle (4.8)</a:t>
            </a:r>
          </a:p>
        </p:txBody>
      </p:sp>
      <p:sp>
        <p:nvSpPr>
          <p:cNvPr id="8" name="TextBox 7">
            <a:extLst>
              <a:ext uri="{FF2B5EF4-FFF2-40B4-BE49-F238E27FC236}">
                <a16:creationId xmlns:a16="http://schemas.microsoft.com/office/drawing/2014/main" id="{AC6FA180-778A-D535-1FC0-23A7219D329B}"/>
              </a:ext>
            </a:extLst>
          </p:cNvPr>
          <p:cNvSpPr txBox="1"/>
          <p:nvPr/>
        </p:nvSpPr>
        <p:spPr>
          <a:xfrm>
            <a:off x="10414000" y="203200"/>
            <a:ext cx="1625600" cy="369332"/>
          </a:xfrm>
          <a:prstGeom prst="rect">
            <a:avLst/>
          </a:prstGeom>
          <a:noFill/>
        </p:spPr>
        <p:txBody>
          <a:bodyPr vert="horz" wrap="square" lIns="38100" tIns="12700" rIns="38100" bIns="12700" rtlCol="0">
            <a:noAutofit/>
          </a:bodyPr>
          <a:lstStyle/>
          <a:p>
            <a:pPr algn="r"/>
            <a:r>
              <a:rPr lang="en-US" sz="900">
                <a:solidFill>
                  <a:srgbClr val="EAE3DD"/>
                </a:solidFill>
              </a:rPr>
              <a:t>Change 7 &amp; 8 / 8</a:t>
            </a:r>
          </a:p>
        </p:txBody>
      </p:sp>
      <p:cxnSp>
        <p:nvCxnSpPr>
          <p:cNvPr id="9" name="Straight Connector 8">
            <a:extLst>
              <a:ext uri="{FF2B5EF4-FFF2-40B4-BE49-F238E27FC236}">
                <a16:creationId xmlns:a16="http://schemas.microsoft.com/office/drawing/2014/main" id="{6038555F-9D19-665A-627C-99AEDAF10FA1}"/>
              </a:ext>
            </a:extLst>
          </p:cNvPr>
          <p:cNvCxnSpPr/>
          <p:nvPr/>
        </p:nvCxnSpPr>
        <p:spPr>
          <a:xfrm>
            <a:off x="0" y="660400"/>
            <a:ext cx="121920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AC1501A7-3EA6-CA88-F439-3E3E09A51A21}"/>
              </a:ext>
            </a:extLst>
          </p:cNvPr>
          <p:cNvSpPr/>
          <p:nvPr/>
        </p:nvSpPr>
        <p:spPr>
          <a:xfrm>
            <a:off x="0" y="673100"/>
            <a:ext cx="12192000" cy="1219200"/>
          </a:xfrm>
          <a:prstGeom prst="rect">
            <a:avLst/>
          </a:prstGeom>
          <a:solidFill>
            <a:srgbClr val="ECECF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641BF389-88FA-5424-96ED-F421E4BAD4DF}"/>
              </a:ext>
            </a:extLst>
          </p:cNvPr>
          <p:cNvSpPr txBox="1"/>
          <p:nvPr/>
        </p:nvSpPr>
        <p:spPr>
          <a:xfrm>
            <a:off x="114300" y="736600"/>
            <a:ext cx="1270000" cy="369332"/>
          </a:xfrm>
          <a:prstGeom prst="rect">
            <a:avLst/>
          </a:prstGeom>
          <a:noFill/>
        </p:spPr>
        <p:txBody>
          <a:bodyPr vert="horz" wrap="square" lIns="38100" tIns="12700" rIns="38100" bIns="12700" rtlCol="0">
            <a:noAutofit/>
          </a:bodyPr>
          <a:lstStyle/>
          <a:p>
            <a:r>
              <a:rPr lang="en-US" sz="700" b="1">
                <a:solidFill>
                  <a:srgbClr val="4A2E1A"/>
                </a:solidFill>
              </a:rPr>
              <a:t>4.7  BEFORE</a:t>
            </a:r>
          </a:p>
        </p:txBody>
      </p:sp>
      <p:cxnSp>
        <p:nvCxnSpPr>
          <p:cNvPr id="12" name="Straight Connector 11">
            <a:extLst>
              <a:ext uri="{FF2B5EF4-FFF2-40B4-BE49-F238E27FC236}">
                <a16:creationId xmlns:a16="http://schemas.microsoft.com/office/drawing/2014/main" id="{3B6B4FE7-148A-E528-F9C6-BD2A25F98659}"/>
              </a:ext>
            </a:extLst>
          </p:cNvPr>
          <p:cNvCxnSpPr/>
          <p:nvPr/>
        </p:nvCxnSpPr>
        <p:spPr>
          <a:xfrm>
            <a:off x="114300" y="965200"/>
            <a:ext cx="119634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BB043113-F5CA-2B67-77D1-D6FE00BB9064}"/>
              </a:ext>
            </a:extLst>
          </p:cNvPr>
          <p:cNvSpPr txBox="1"/>
          <p:nvPr/>
        </p:nvSpPr>
        <p:spPr>
          <a:xfrm>
            <a:off x="114300" y="1003300"/>
            <a:ext cx="11963400" cy="369332"/>
          </a:xfrm>
          <a:prstGeom prst="rect">
            <a:avLst/>
          </a:prstGeom>
          <a:noFill/>
        </p:spPr>
        <p:txBody>
          <a:bodyPr vert="horz" wrap="square" lIns="38100" tIns="12700" rIns="38100" bIns="12700" rtlCol="0">
            <a:noAutofit/>
          </a:bodyPr>
          <a:lstStyle/>
          <a:p>
            <a:r>
              <a:rPr lang="en-US" sz="900">
                <a:solidFill>
                  <a:srgbClr val="4A2E1A"/>
                </a:solidFill>
              </a:rPr>
              <a:t>Data Steward performs periodic reviews using </a:t>
            </a:r>
            <a:r>
              <a:rPr lang="en-US" sz="900">
                <a:solidFill>
                  <a:srgbClr val="2222B2"/>
                </a:solidFill>
              </a:rPr>
              <a:t>system-generated reports or dashboards</a:t>
            </a:r>
            <a:r>
              <a:rPr lang="en-US" sz="900">
                <a:solidFill>
                  <a:srgbClr val="4A2E1A"/>
                </a:solidFill>
              </a:rPr>
              <a:t>. Issues logged in designated tracking system, assigned to responsible parties, resolved within SLA timelines. Overdue issues escalated to Data Owner or </a:t>
            </a:r>
            <a:r>
              <a:rPr lang="en-US" sz="900">
                <a:solidFill>
                  <a:srgbClr val="2222B2"/>
                </a:solidFill>
              </a:rPr>
              <a:t>DGC</a:t>
            </a:r>
            <a:r>
              <a:rPr lang="en-US" sz="900">
                <a:solidFill>
                  <a:srgbClr val="4A2E1A"/>
                </a:solidFill>
              </a:rPr>
              <a:t>.</a:t>
            </a:r>
          </a:p>
        </p:txBody>
      </p:sp>
      <p:cxnSp>
        <p:nvCxnSpPr>
          <p:cNvPr id="14" name="Straight Connector 13">
            <a:extLst>
              <a:ext uri="{FF2B5EF4-FFF2-40B4-BE49-F238E27FC236}">
                <a16:creationId xmlns:a16="http://schemas.microsoft.com/office/drawing/2014/main" id="{6A1BE4D4-161A-C43F-3404-A0DAD7FC28E3}"/>
              </a:ext>
            </a:extLst>
          </p:cNvPr>
          <p:cNvCxnSpPr/>
          <p:nvPr/>
        </p:nvCxnSpPr>
        <p:spPr>
          <a:xfrm>
            <a:off x="0" y="1892300"/>
            <a:ext cx="121920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42B8C6F8-02CC-F24A-4C31-80CC7099E73B}"/>
              </a:ext>
            </a:extLst>
          </p:cNvPr>
          <p:cNvSpPr/>
          <p:nvPr/>
        </p:nvSpPr>
        <p:spPr>
          <a:xfrm>
            <a:off x="0" y="1905000"/>
            <a:ext cx="12192000" cy="1397000"/>
          </a:xfrm>
          <a:prstGeom prst="rect">
            <a:avLst/>
          </a:prstGeom>
          <a:solidFill>
            <a:srgbClr val="E7F8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0860C61-F929-92AD-788E-021453A97955}"/>
              </a:ext>
            </a:extLst>
          </p:cNvPr>
          <p:cNvSpPr/>
          <p:nvPr/>
        </p:nvSpPr>
        <p:spPr>
          <a:xfrm>
            <a:off x="0" y="1905000"/>
            <a:ext cx="63500" cy="1397000"/>
          </a:xfrm>
          <a:prstGeom prst="rect">
            <a:avLst/>
          </a:prstGeom>
          <a:solidFill>
            <a:srgbClr val="506F1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5A13BAD9-2EB9-CAC7-4037-8E1F3B728BA6}"/>
              </a:ext>
            </a:extLst>
          </p:cNvPr>
          <p:cNvSpPr txBox="1"/>
          <p:nvPr/>
        </p:nvSpPr>
        <p:spPr>
          <a:xfrm>
            <a:off x="114300" y="1968500"/>
            <a:ext cx="1270000" cy="369332"/>
          </a:xfrm>
          <a:prstGeom prst="rect">
            <a:avLst/>
          </a:prstGeom>
          <a:noFill/>
        </p:spPr>
        <p:txBody>
          <a:bodyPr vert="horz" wrap="square" lIns="38100" tIns="12700" rIns="38100" bIns="12700" rtlCol="0">
            <a:noAutofit/>
          </a:bodyPr>
          <a:lstStyle/>
          <a:p>
            <a:r>
              <a:rPr lang="en-US" sz="700" b="1">
                <a:solidFill>
                  <a:srgbClr val="4A2E1A"/>
                </a:solidFill>
              </a:rPr>
              <a:t>4.7  AFTER</a:t>
            </a:r>
          </a:p>
        </p:txBody>
      </p:sp>
      <p:cxnSp>
        <p:nvCxnSpPr>
          <p:cNvPr id="18" name="Straight Connector 17">
            <a:extLst>
              <a:ext uri="{FF2B5EF4-FFF2-40B4-BE49-F238E27FC236}">
                <a16:creationId xmlns:a16="http://schemas.microsoft.com/office/drawing/2014/main" id="{767C1510-ABC4-19D6-A1A9-ACC7F322F609}"/>
              </a:ext>
            </a:extLst>
          </p:cNvPr>
          <p:cNvCxnSpPr/>
          <p:nvPr/>
        </p:nvCxnSpPr>
        <p:spPr>
          <a:xfrm>
            <a:off x="114300" y="2197100"/>
            <a:ext cx="119634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34FD7476-C0E3-487D-712F-69B669499A79}"/>
              </a:ext>
            </a:extLst>
          </p:cNvPr>
          <p:cNvSpPr txBox="1"/>
          <p:nvPr/>
        </p:nvSpPr>
        <p:spPr>
          <a:xfrm>
            <a:off x="114300" y="2235200"/>
            <a:ext cx="11963400" cy="369332"/>
          </a:xfrm>
          <a:prstGeom prst="rect">
            <a:avLst/>
          </a:prstGeom>
          <a:noFill/>
        </p:spPr>
        <p:txBody>
          <a:bodyPr vert="horz" wrap="square" lIns="38100" tIns="12700" rIns="38100" bIns="12700" rtlCol="0">
            <a:noAutofit/>
          </a:bodyPr>
          <a:lstStyle/>
          <a:p>
            <a:r>
              <a:rPr lang="en-US" sz="900">
                <a:solidFill>
                  <a:srgbClr val="3A6B1A"/>
                </a:solidFill>
              </a:rPr>
              <a:t>Caveats section</a:t>
            </a:r>
            <a:r>
              <a:rPr lang="en-US" sz="900">
                <a:solidFill>
                  <a:srgbClr val="4A2E1A"/>
                </a:solidFill>
              </a:rPr>
              <a:t> embedded per asset: known data quality issues, stale or unreliable fields, columns under review, open questions pending owner confirmation. Reviewed and updated periodically. Same consumer-protection outcome without a platform dependency.</a:t>
            </a:r>
          </a:p>
        </p:txBody>
      </p:sp>
      <p:cxnSp>
        <p:nvCxnSpPr>
          <p:cNvPr id="20" name="Straight Connector 19">
            <a:extLst>
              <a:ext uri="{FF2B5EF4-FFF2-40B4-BE49-F238E27FC236}">
                <a16:creationId xmlns:a16="http://schemas.microsoft.com/office/drawing/2014/main" id="{1E8E9B58-61FD-63DB-232F-648622674605}"/>
              </a:ext>
            </a:extLst>
          </p:cNvPr>
          <p:cNvCxnSpPr/>
          <p:nvPr/>
        </p:nvCxnSpPr>
        <p:spPr>
          <a:xfrm>
            <a:off x="0" y="3302000"/>
            <a:ext cx="121920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61E9B22E-2649-672C-63DB-0CED74E0E518}"/>
              </a:ext>
            </a:extLst>
          </p:cNvPr>
          <p:cNvSpPr/>
          <p:nvPr/>
        </p:nvSpPr>
        <p:spPr>
          <a:xfrm>
            <a:off x="0" y="3314700"/>
            <a:ext cx="12192000" cy="1143000"/>
          </a:xfrm>
          <a:prstGeom prst="rect">
            <a:avLst/>
          </a:prstGeom>
          <a:solidFill>
            <a:srgbClr val="ECECF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22745334-1D91-1A4D-9881-A97274AE5FF8}"/>
              </a:ext>
            </a:extLst>
          </p:cNvPr>
          <p:cNvSpPr txBox="1"/>
          <p:nvPr/>
        </p:nvSpPr>
        <p:spPr>
          <a:xfrm>
            <a:off x="114300" y="3378200"/>
            <a:ext cx="1270000" cy="369332"/>
          </a:xfrm>
          <a:prstGeom prst="rect">
            <a:avLst/>
          </a:prstGeom>
          <a:noFill/>
        </p:spPr>
        <p:txBody>
          <a:bodyPr vert="horz" wrap="square" lIns="38100" tIns="12700" rIns="38100" bIns="12700" rtlCol="0">
            <a:noAutofit/>
          </a:bodyPr>
          <a:lstStyle/>
          <a:p>
            <a:r>
              <a:rPr lang="en-US" sz="700" b="1">
                <a:solidFill>
                  <a:srgbClr val="4A2E1A"/>
                </a:solidFill>
              </a:rPr>
              <a:t>4.8  BEFORE</a:t>
            </a:r>
          </a:p>
        </p:txBody>
      </p:sp>
      <p:cxnSp>
        <p:nvCxnSpPr>
          <p:cNvPr id="23" name="Straight Connector 22">
            <a:extLst>
              <a:ext uri="{FF2B5EF4-FFF2-40B4-BE49-F238E27FC236}">
                <a16:creationId xmlns:a16="http://schemas.microsoft.com/office/drawing/2014/main" id="{8A0EE96E-8FCF-D0CF-A692-B243029CC791}"/>
              </a:ext>
            </a:extLst>
          </p:cNvPr>
          <p:cNvCxnSpPr/>
          <p:nvPr/>
        </p:nvCxnSpPr>
        <p:spPr>
          <a:xfrm>
            <a:off x="114300" y="3606800"/>
            <a:ext cx="119634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213451C8-51BF-C368-E2D0-F78FCAC20236}"/>
              </a:ext>
            </a:extLst>
          </p:cNvPr>
          <p:cNvSpPr txBox="1"/>
          <p:nvPr/>
        </p:nvSpPr>
        <p:spPr>
          <a:xfrm>
            <a:off x="114300" y="3644900"/>
            <a:ext cx="11963400" cy="369332"/>
          </a:xfrm>
          <a:prstGeom prst="rect">
            <a:avLst/>
          </a:prstGeom>
          <a:noFill/>
        </p:spPr>
        <p:txBody>
          <a:bodyPr vert="horz" wrap="square" lIns="38100" tIns="12700" rIns="38100" bIns="12700" rtlCol="0">
            <a:noAutofit/>
          </a:bodyPr>
          <a:lstStyle/>
          <a:p>
            <a:r>
              <a:rPr lang="en-US" sz="900">
                <a:solidFill>
                  <a:srgbClr val="4A2E1A"/>
                </a:solidFill>
              </a:rPr>
              <a:t>Data Steward formally marks obsolete assets as deprecated and removes them from active use in the system. Metadata </a:t>
            </a:r>
            <a:r>
              <a:rPr lang="en-US" sz="900">
                <a:solidFill>
                  <a:srgbClr val="2222B2"/>
                </a:solidFill>
              </a:rPr>
              <a:t>archived in read-only format</a:t>
            </a:r>
            <a:r>
              <a:rPr lang="en-US" sz="900">
                <a:solidFill>
                  <a:srgbClr val="4A2E1A"/>
                </a:solidFill>
              </a:rPr>
              <a:t>. Retained metadata must comply with corporate data retention policy.</a:t>
            </a:r>
          </a:p>
        </p:txBody>
      </p:sp>
      <p:cxnSp>
        <p:nvCxnSpPr>
          <p:cNvPr id="25" name="Straight Connector 24">
            <a:extLst>
              <a:ext uri="{FF2B5EF4-FFF2-40B4-BE49-F238E27FC236}">
                <a16:creationId xmlns:a16="http://schemas.microsoft.com/office/drawing/2014/main" id="{CF49C580-D969-5C75-0590-5555B0B77B79}"/>
              </a:ext>
            </a:extLst>
          </p:cNvPr>
          <p:cNvCxnSpPr/>
          <p:nvPr/>
        </p:nvCxnSpPr>
        <p:spPr>
          <a:xfrm>
            <a:off x="0" y="4457700"/>
            <a:ext cx="121920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B525EAD6-09D6-7F6D-7AE0-BF4A212ECFB8}"/>
              </a:ext>
            </a:extLst>
          </p:cNvPr>
          <p:cNvSpPr/>
          <p:nvPr/>
        </p:nvSpPr>
        <p:spPr>
          <a:xfrm>
            <a:off x="0" y="4470400"/>
            <a:ext cx="12192000" cy="965200"/>
          </a:xfrm>
          <a:prstGeom prst="rect">
            <a:avLst/>
          </a:prstGeom>
          <a:solidFill>
            <a:srgbClr val="E7F8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4D252853-62EA-7D12-1D2E-6EFCA7EDFE7D}"/>
              </a:ext>
            </a:extLst>
          </p:cNvPr>
          <p:cNvSpPr/>
          <p:nvPr/>
        </p:nvSpPr>
        <p:spPr>
          <a:xfrm>
            <a:off x="0" y="4470400"/>
            <a:ext cx="63500" cy="965200"/>
          </a:xfrm>
          <a:prstGeom prst="rect">
            <a:avLst/>
          </a:prstGeom>
          <a:solidFill>
            <a:srgbClr val="506F1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3BEB6A35-BE45-86F6-B68C-2482E65F003A}"/>
              </a:ext>
            </a:extLst>
          </p:cNvPr>
          <p:cNvSpPr txBox="1"/>
          <p:nvPr/>
        </p:nvSpPr>
        <p:spPr>
          <a:xfrm>
            <a:off x="114300" y="4533900"/>
            <a:ext cx="1270000" cy="369332"/>
          </a:xfrm>
          <a:prstGeom prst="rect">
            <a:avLst/>
          </a:prstGeom>
          <a:noFill/>
        </p:spPr>
        <p:txBody>
          <a:bodyPr vert="horz" wrap="square" lIns="38100" tIns="12700" rIns="38100" bIns="12700" rtlCol="0">
            <a:noAutofit/>
          </a:bodyPr>
          <a:lstStyle/>
          <a:p>
            <a:r>
              <a:rPr lang="en-US" sz="700" b="1">
                <a:solidFill>
                  <a:srgbClr val="4A2E1A"/>
                </a:solidFill>
              </a:rPr>
              <a:t>4.8  AFTER</a:t>
            </a:r>
          </a:p>
        </p:txBody>
      </p:sp>
      <p:cxnSp>
        <p:nvCxnSpPr>
          <p:cNvPr id="29" name="Straight Connector 28">
            <a:extLst>
              <a:ext uri="{FF2B5EF4-FFF2-40B4-BE49-F238E27FC236}">
                <a16:creationId xmlns:a16="http://schemas.microsoft.com/office/drawing/2014/main" id="{D615BCA9-2189-8211-28F7-9BF7917B9E30}"/>
              </a:ext>
            </a:extLst>
          </p:cNvPr>
          <p:cNvCxnSpPr/>
          <p:nvPr/>
        </p:nvCxnSpPr>
        <p:spPr>
          <a:xfrm>
            <a:off x="114300" y="4762500"/>
            <a:ext cx="119634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E31C8865-27A6-42CD-39AC-69C9E92D7B61}"/>
              </a:ext>
            </a:extLst>
          </p:cNvPr>
          <p:cNvSpPr txBox="1"/>
          <p:nvPr/>
        </p:nvSpPr>
        <p:spPr>
          <a:xfrm>
            <a:off x="114300" y="4800600"/>
            <a:ext cx="11963400" cy="369332"/>
          </a:xfrm>
          <a:prstGeom prst="rect">
            <a:avLst/>
          </a:prstGeom>
          <a:noFill/>
        </p:spPr>
        <p:txBody>
          <a:bodyPr vert="horz" wrap="square" lIns="38100" tIns="12700" rIns="38100" bIns="12700" rtlCol="0">
            <a:noAutofit/>
          </a:bodyPr>
          <a:lstStyle/>
          <a:p>
            <a:r>
              <a:rPr lang="en-US" sz="900">
                <a:solidFill>
                  <a:srgbClr val="3A6B1A"/>
                </a:solidFill>
              </a:rPr>
              <a:t>Lifecycle status field</a:t>
            </a:r>
            <a:r>
              <a:rPr lang="en-US" sz="900">
                <a:solidFill>
                  <a:srgbClr val="4A2E1A"/>
                </a:solidFill>
              </a:rPr>
              <a:t> (active or deprecated). Deprecated assets removed from active use. Record documents replacement asset (if any) and reason. Deprecated assets must not appear in new reporting or analytics unless re-approved.</a:t>
            </a:r>
          </a:p>
        </p:txBody>
      </p:sp>
      <p:cxnSp>
        <p:nvCxnSpPr>
          <p:cNvPr id="31" name="Straight Connector 30">
            <a:extLst>
              <a:ext uri="{FF2B5EF4-FFF2-40B4-BE49-F238E27FC236}">
                <a16:creationId xmlns:a16="http://schemas.microsoft.com/office/drawing/2014/main" id="{ADF1FFDB-C550-759C-A3F5-00A4959B17B4}"/>
              </a:ext>
            </a:extLst>
          </p:cNvPr>
          <p:cNvCxnSpPr/>
          <p:nvPr/>
        </p:nvCxnSpPr>
        <p:spPr>
          <a:xfrm>
            <a:off x="0" y="5435600"/>
            <a:ext cx="121920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32" name="Rectangle 31">
            <a:extLst>
              <a:ext uri="{FF2B5EF4-FFF2-40B4-BE49-F238E27FC236}">
                <a16:creationId xmlns:a16="http://schemas.microsoft.com/office/drawing/2014/main" id="{E0C6F8AC-E337-22D7-8C4C-15BF55B7BADE}"/>
              </a:ext>
            </a:extLst>
          </p:cNvPr>
          <p:cNvSpPr/>
          <p:nvPr/>
        </p:nvSpPr>
        <p:spPr>
          <a:xfrm>
            <a:off x="0" y="5448300"/>
            <a:ext cx="12192000" cy="1409700"/>
          </a:xfrm>
          <a:prstGeom prst="rect">
            <a:avLst/>
          </a:prstGeom>
          <a:solidFill>
            <a:srgbClr val="EEF7E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5B2155A2-F62B-1DD4-6E4F-08B5217B355D}"/>
              </a:ext>
            </a:extLst>
          </p:cNvPr>
          <p:cNvSpPr txBox="1"/>
          <p:nvPr/>
        </p:nvSpPr>
        <p:spPr>
          <a:xfrm>
            <a:off x="114300" y="5511800"/>
            <a:ext cx="1524000" cy="369332"/>
          </a:xfrm>
          <a:prstGeom prst="rect">
            <a:avLst/>
          </a:prstGeom>
          <a:noFill/>
        </p:spPr>
        <p:txBody>
          <a:bodyPr vert="horz" wrap="square" lIns="38100" tIns="12700" rIns="38100" bIns="12700" rtlCol="0">
            <a:noAutofit/>
          </a:bodyPr>
          <a:lstStyle/>
          <a:p>
            <a:r>
              <a:rPr lang="en-US" sz="700" b="1">
                <a:solidFill>
                  <a:srgbClr val="4A2E1A"/>
                </a:solidFill>
              </a:rPr>
              <a:t>WHY  (4.7 + 4.8)</a:t>
            </a:r>
          </a:p>
        </p:txBody>
      </p:sp>
      <p:cxnSp>
        <p:nvCxnSpPr>
          <p:cNvPr id="34" name="Straight Connector 33">
            <a:extLst>
              <a:ext uri="{FF2B5EF4-FFF2-40B4-BE49-F238E27FC236}">
                <a16:creationId xmlns:a16="http://schemas.microsoft.com/office/drawing/2014/main" id="{D22F68E0-D803-8AAB-D3FB-3A26AF9E5D16}"/>
              </a:ext>
            </a:extLst>
          </p:cNvPr>
          <p:cNvCxnSpPr/>
          <p:nvPr/>
        </p:nvCxnSpPr>
        <p:spPr>
          <a:xfrm>
            <a:off x="114300" y="5740400"/>
            <a:ext cx="119634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7EED2455-06DC-FF40-6753-575506A7FB6D}"/>
              </a:ext>
            </a:extLst>
          </p:cNvPr>
          <p:cNvSpPr txBox="1"/>
          <p:nvPr/>
        </p:nvSpPr>
        <p:spPr>
          <a:xfrm>
            <a:off x="114300" y="5778500"/>
            <a:ext cx="11963400" cy="369332"/>
          </a:xfrm>
          <a:prstGeom prst="rect">
            <a:avLst/>
          </a:prstGeom>
          <a:noFill/>
        </p:spPr>
        <p:txBody>
          <a:bodyPr vert="horz" wrap="square" lIns="38100" tIns="12700" rIns="38100" bIns="12700" rtlCol="0">
            <a:noAutofit/>
          </a:bodyPr>
          <a:lstStyle/>
          <a:p>
            <a:r>
              <a:rPr lang="en-US" sz="900">
                <a:solidFill>
                  <a:srgbClr val="4A2E1A"/>
                </a:solidFill>
              </a:rPr>
              <a:t>4.7: System dashboards and formal issue SLAs are not yet available. Caveats section achieves the same goal -- data users see known risks at point of use. DGC escalation removed. | 4.8: Automated read-only archive requires a catalog platform not yet built. Lifecycle status field prevents misuse of deprecated data, which is the core protection needed now.</a:t>
            </a:r>
          </a:p>
        </p:txBody>
      </p:sp>
    </p:spTree>
    <p:extLst>
      <p:ext uri="{BB962C8B-B14F-4D97-AF65-F5344CB8AC3E}">
        <p14:creationId xmlns:p14="http://schemas.microsoft.com/office/powerpoint/2010/main" val="27517026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05E8E0C-3A3E-45D5-F861-DD404DFF0F67}"/>
              </a:ext>
            </a:extLst>
          </p:cNvPr>
          <p:cNvSpPr/>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6C436A09-FF70-8633-C4C4-30363E0BF366}"/>
              </a:ext>
            </a:extLst>
          </p:cNvPr>
          <p:cNvSpPr/>
          <p:nvPr/>
        </p:nvSpPr>
        <p:spPr>
          <a:xfrm>
            <a:off x="0" y="0"/>
            <a:ext cx="12192000" cy="609600"/>
          </a:xfrm>
          <a:prstGeom prst="rect">
            <a:avLst/>
          </a:prstGeom>
          <a:solidFill>
            <a:srgbClr val="4A2E1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C7162FA3-48AA-AA1F-11FC-E7D09B6B3522}"/>
              </a:ext>
            </a:extLst>
          </p:cNvPr>
          <p:cNvSpPr/>
          <p:nvPr/>
        </p:nvSpPr>
        <p:spPr>
          <a:xfrm>
            <a:off x="0" y="0"/>
            <a:ext cx="63500" cy="68580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456875F0-6F4A-3FF4-D3FB-28A0AEE5503C}"/>
              </a:ext>
            </a:extLst>
          </p:cNvPr>
          <p:cNvSpPr txBox="1"/>
          <p:nvPr/>
        </p:nvSpPr>
        <p:spPr>
          <a:xfrm>
            <a:off x="177800" y="127000"/>
            <a:ext cx="11684000" cy="369332"/>
          </a:xfrm>
          <a:prstGeom prst="rect">
            <a:avLst/>
          </a:prstGeom>
          <a:noFill/>
        </p:spPr>
        <p:txBody>
          <a:bodyPr vert="horz" wrap="square" lIns="38100" tIns="12700" rIns="38100" bIns="12700" rtlCol="0">
            <a:noAutofit/>
          </a:bodyPr>
          <a:lstStyle/>
          <a:p>
            <a:r>
              <a:rPr lang="en-US" sz="1400" b="1">
                <a:solidFill>
                  <a:srgbClr val="FFFFFF"/>
                </a:solidFill>
              </a:rPr>
              <a:t>What Did NOT Change  --  Core Governance Intent Preserved</a:t>
            </a:r>
          </a:p>
        </p:txBody>
      </p:sp>
      <p:cxnSp>
        <p:nvCxnSpPr>
          <p:cNvPr id="6" name="Straight Connector 5">
            <a:extLst>
              <a:ext uri="{FF2B5EF4-FFF2-40B4-BE49-F238E27FC236}">
                <a16:creationId xmlns:a16="http://schemas.microsoft.com/office/drawing/2014/main" id="{D60C4789-F478-0AE1-1746-86FBE30E4457}"/>
              </a:ext>
            </a:extLst>
          </p:cNvPr>
          <p:cNvCxnSpPr/>
          <p:nvPr/>
        </p:nvCxnSpPr>
        <p:spPr>
          <a:xfrm>
            <a:off x="0" y="609600"/>
            <a:ext cx="121920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A0ACD6E8-AD63-768A-6E6B-34B7C8F76A36}"/>
              </a:ext>
            </a:extLst>
          </p:cNvPr>
          <p:cNvSpPr/>
          <p:nvPr/>
        </p:nvSpPr>
        <p:spPr>
          <a:xfrm>
            <a:off x="177800" y="736600"/>
            <a:ext cx="101600" cy="1498600"/>
          </a:xfrm>
          <a:prstGeom prst="rect">
            <a:avLst/>
          </a:prstGeom>
          <a:solidFill>
            <a:srgbClr val="3A6B1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C0EEFF66-3BE5-528C-31C4-F0F832536CF1}"/>
              </a:ext>
            </a:extLst>
          </p:cNvPr>
          <p:cNvSpPr/>
          <p:nvPr/>
        </p:nvSpPr>
        <p:spPr>
          <a:xfrm>
            <a:off x="330200" y="736600"/>
            <a:ext cx="11760200" cy="1498600"/>
          </a:xfrm>
          <a:prstGeom prst="rect">
            <a:avLst/>
          </a:prstGeom>
          <a:solidFill>
            <a:srgbClr val="F1FAF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B6B51FA3-0BA4-A0D4-B3C1-6F437C4FE554}"/>
              </a:ext>
            </a:extLst>
          </p:cNvPr>
          <p:cNvSpPr txBox="1"/>
          <p:nvPr/>
        </p:nvSpPr>
        <p:spPr>
          <a:xfrm>
            <a:off x="431800" y="838200"/>
            <a:ext cx="2540000" cy="369332"/>
          </a:xfrm>
          <a:prstGeom prst="rect">
            <a:avLst/>
          </a:prstGeom>
          <a:noFill/>
        </p:spPr>
        <p:txBody>
          <a:bodyPr vert="horz" wrap="square" lIns="38100" tIns="12700" rIns="38100" bIns="12700" rtlCol="0">
            <a:noAutofit/>
          </a:bodyPr>
          <a:lstStyle/>
          <a:p>
            <a:r>
              <a:rPr lang="en-US" sz="1100" b="1">
                <a:solidFill>
                  <a:srgbClr val="4A2E1A"/>
                </a:solidFill>
              </a:rPr>
              <a:t>Accountability</a:t>
            </a:r>
          </a:p>
        </p:txBody>
      </p:sp>
      <p:cxnSp>
        <p:nvCxnSpPr>
          <p:cNvPr id="10" name="Straight Connector 9">
            <a:extLst>
              <a:ext uri="{FF2B5EF4-FFF2-40B4-BE49-F238E27FC236}">
                <a16:creationId xmlns:a16="http://schemas.microsoft.com/office/drawing/2014/main" id="{22DF476B-2092-440E-3B0E-B61D92BA3A59}"/>
              </a:ext>
            </a:extLst>
          </p:cNvPr>
          <p:cNvCxnSpPr/>
          <p:nvPr/>
        </p:nvCxnSpPr>
        <p:spPr>
          <a:xfrm>
            <a:off x="431800" y="1143000"/>
            <a:ext cx="11582400" cy="0"/>
          </a:xfrm>
          <a:prstGeom prst="line">
            <a:avLst/>
          </a:prstGeom>
          <a:ln w="9525">
            <a:solidFill>
              <a:srgbClr val="CEECCC"/>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AAC3EA5A-A4F2-DFB2-A7E5-1184BA38D182}"/>
              </a:ext>
            </a:extLst>
          </p:cNvPr>
          <p:cNvSpPr txBox="1"/>
          <p:nvPr/>
        </p:nvSpPr>
        <p:spPr>
          <a:xfrm>
            <a:off x="431800" y="1193800"/>
            <a:ext cx="11582400" cy="369332"/>
          </a:xfrm>
          <a:prstGeom prst="rect">
            <a:avLst/>
          </a:prstGeom>
          <a:noFill/>
        </p:spPr>
        <p:txBody>
          <a:bodyPr vert="horz" wrap="square" lIns="38100" tIns="12700" rIns="38100" bIns="12700" rtlCol="0">
            <a:noAutofit/>
          </a:bodyPr>
          <a:lstStyle/>
          <a:p>
            <a:r>
              <a:rPr lang="en-US" sz="950">
                <a:solidFill>
                  <a:srgbClr val="4A2E1A"/>
                </a:solidFill>
              </a:rPr>
              <a:t>Every data asset must have a named Data Owner, Data Steward, and Data Custodian. Approval responsibility remains with the Data Owner and cannot be delegated. This is explicitly preserved in Sections 3.1-3.3 and the new Ownership Register (3.4).</a:t>
            </a:r>
          </a:p>
        </p:txBody>
      </p:sp>
      <p:sp>
        <p:nvSpPr>
          <p:cNvPr id="12" name="Rectangle 11">
            <a:extLst>
              <a:ext uri="{FF2B5EF4-FFF2-40B4-BE49-F238E27FC236}">
                <a16:creationId xmlns:a16="http://schemas.microsoft.com/office/drawing/2014/main" id="{FF57C719-D861-8F92-48C1-F85A6D3CDC4D}"/>
              </a:ext>
            </a:extLst>
          </p:cNvPr>
          <p:cNvSpPr/>
          <p:nvPr/>
        </p:nvSpPr>
        <p:spPr>
          <a:xfrm>
            <a:off x="177800" y="2273300"/>
            <a:ext cx="101600" cy="1498600"/>
          </a:xfrm>
          <a:prstGeom prst="rect">
            <a:avLst/>
          </a:prstGeom>
          <a:solidFill>
            <a:srgbClr val="3A6B1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6343D122-B382-F382-31FB-5BC646019CC5}"/>
              </a:ext>
            </a:extLst>
          </p:cNvPr>
          <p:cNvSpPr/>
          <p:nvPr/>
        </p:nvSpPr>
        <p:spPr>
          <a:xfrm>
            <a:off x="330200" y="2273300"/>
            <a:ext cx="11760200" cy="1498600"/>
          </a:xfrm>
          <a:prstGeom prst="rect">
            <a:avLst/>
          </a:prstGeom>
          <a:solidFill>
            <a:srgbClr val="F1FAF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41586AF0-3C98-782A-D22F-596F5D4BDA42}"/>
              </a:ext>
            </a:extLst>
          </p:cNvPr>
          <p:cNvSpPr txBox="1"/>
          <p:nvPr/>
        </p:nvSpPr>
        <p:spPr>
          <a:xfrm>
            <a:off x="431800" y="2374900"/>
            <a:ext cx="2540000" cy="369332"/>
          </a:xfrm>
          <a:prstGeom prst="rect">
            <a:avLst/>
          </a:prstGeom>
          <a:noFill/>
        </p:spPr>
        <p:txBody>
          <a:bodyPr vert="horz" wrap="square" lIns="38100" tIns="12700" rIns="38100" bIns="12700" rtlCol="0">
            <a:noAutofit/>
          </a:bodyPr>
          <a:lstStyle/>
          <a:p>
            <a:r>
              <a:rPr lang="en-US" sz="1100" b="1">
                <a:solidFill>
                  <a:srgbClr val="4A2E1A"/>
                </a:solidFill>
              </a:rPr>
              <a:t>PDPA &amp; Compliance</a:t>
            </a:r>
          </a:p>
        </p:txBody>
      </p:sp>
      <p:cxnSp>
        <p:nvCxnSpPr>
          <p:cNvPr id="15" name="Straight Connector 14">
            <a:extLst>
              <a:ext uri="{FF2B5EF4-FFF2-40B4-BE49-F238E27FC236}">
                <a16:creationId xmlns:a16="http://schemas.microsoft.com/office/drawing/2014/main" id="{ED124F60-DDE3-122A-33FE-110FE1E9A36B}"/>
              </a:ext>
            </a:extLst>
          </p:cNvPr>
          <p:cNvCxnSpPr/>
          <p:nvPr/>
        </p:nvCxnSpPr>
        <p:spPr>
          <a:xfrm>
            <a:off x="431800" y="2679700"/>
            <a:ext cx="11582400" cy="0"/>
          </a:xfrm>
          <a:prstGeom prst="line">
            <a:avLst/>
          </a:prstGeom>
          <a:ln w="9525">
            <a:solidFill>
              <a:srgbClr val="CEECCC"/>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207E2288-6F8F-EFF0-80C8-BEF443D5734C}"/>
              </a:ext>
            </a:extLst>
          </p:cNvPr>
          <p:cNvSpPr txBox="1"/>
          <p:nvPr/>
        </p:nvSpPr>
        <p:spPr>
          <a:xfrm>
            <a:off x="431800" y="2730500"/>
            <a:ext cx="11582400" cy="369332"/>
          </a:xfrm>
          <a:prstGeom prst="rect">
            <a:avLst/>
          </a:prstGeom>
          <a:noFill/>
        </p:spPr>
        <p:txBody>
          <a:bodyPr vert="horz" wrap="square" lIns="38100" tIns="12700" rIns="38100" bIns="12700" rtlCol="0">
            <a:noAutofit/>
          </a:bodyPr>
          <a:lstStyle/>
          <a:p>
            <a:r>
              <a:rPr lang="en-US" sz="950">
                <a:solidFill>
                  <a:srgbClr val="4A2E1A"/>
                </a:solidFill>
              </a:rPr>
              <a:t>All personal and sensitive data must be identified and escalated to Legal / Regulatory Compliance (DPO). Section 5.0 compliance and audit evidence requirements are unchanged. Classification requirements in 4.1 and 4.3 are fully retained.</a:t>
            </a:r>
          </a:p>
        </p:txBody>
      </p:sp>
      <p:sp>
        <p:nvSpPr>
          <p:cNvPr id="17" name="Rectangle 16">
            <a:extLst>
              <a:ext uri="{FF2B5EF4-FFF2-40B4-BE49-F238E27FC236}">
                <a16:creationId xmlns:a16="http://schemas.microsoft.com/office/drawing/2014/main" id="{CF7F5A8F-67BB-8166-2ABB-49493A95AC97}"/>
              </a:ext>
            </a:extLst>
          </p:cNvPr>
          <p:cNvSpPr/>
          <p:nvPr/>
        </p:nvSpPr>
        <p:spPr>
          <a:xfrm>
            <a:off x="177800" y="3810000"/>
            <a:ext cx="101600" cy="1498600"/>
          </a:xfrm>
          <a:prstGeom prst="rect">
            <a:avLst/>
          </a:prstGeom>
          <a:solidFill>
            <a:srgbClr val="3A6B1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FD4AD5D8-6FAD-FB55-38DF-C06D20D236E7}"/>
              </a:ext>
            </a:extLst>
          </p:cNvPr>
          <p:cNvSpPr/>
          <p:nvPr/>
        </p:nvSpPr>
        <p:spPr>
          <a:xfrm>
            <a:off x="330200" y="3810000"/>
            <a:ext cx="11760200" cy="1498600"/>
          </a:xfrm>
          <a:prstGeom prst="rect">
            <a:avLst/>
          </a:prstGeom>
          <a:solidFill>
            <a:srgbClr val="F1FAF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15F18623-778B-1B15-4A54-AA46A5479965}"/>
              </a:ext>
            </a:extLst>
          </p:cNvPr>
          <p:cNvSpPr txBox="1"/>
          <p:nvPr/>
        </p:nvSpPr>
        <p:spPr>
          <a:xfrm>
            <a:off x="431800" y="3911600"/>
            <a:ext cx="2540000" cy="369332"/>
          </a:xfrm>
          <a:prstGeom prst="rect">
            <a:avLst/>
          </a:prstGeom>
          <a:noFill/>
        </p:spPr>
        <p:txBody>
          <a:bodyPr vert="horz" wrap="square" lIns="38100" tIns="12700" rIns="38100" bIns="12700" rtlCol="0">
            <a:noAutofit/>
          </a:bodyPr>
          <a:lstStyle/>
          <a:p>
            <a:r>
              <a:rPr lang="en-US" sz="1100" b="1">
                <a:solidFill>
                  <a:srgbClr val="4A2E1A"/>
                </a:solidFill>
              </a:rPr>
              <a:t>Approval Gate</a:t>
            </a:r>
          </a:p>
        </p:txBody>
      </p:sp>
      <p:cxnSp>
        <p:nvCxnSpPr>
          <p:cNvPr id="20" name="Straight Connector 19">
            <a:extLst>
              <a:ext uri="{FF2B5EF4-FFF2-40B4-BE49-F238E27FC236}">
                <a16:creationId xmlns:a16="http://schemas.microsoft.com/office/drawing/2014/main" id="{16886660-3CAD-B841-0359-65A135DA127F}"/>
              </a:ext>
            </a:extLst>
          </p:cNvPr>
          <p:cNvCxnSpPr/>
          <p:nvPr/>
        </p:nvCxnSpPr>
        <p:spPr>
          <a:xfrm>
            <a:off x="431800" y="4216400"/>
            <a:ext cx="11582400" cy="0"/>
          </a:xfrm>
          <a:prstGeom prst="line">
            <a:avLst/>
          </a:prstGeom>
          <a:ln w="9525">
            <a:solidFill>
              <a:srgbClr val="CEECCC"/>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15768BF0-68B6-FF8D-C7A2-3B0FFFA47C2E}"/>
              </a:ext>
            </a:extLst>
          </p:cNvPr>
          <p:cNvSpPr txBox="1"/>
          <p:nvPr/>
        </p:nvSpPr>
        <p:spPr>
          <a:xfrm>
            <a:off x="431800" y="4267200"/>
            <a:ext cx="11582400" cy="369332"/>
          </a:xfrm>
          <a:prstGeom prst="rect">
            <a:avLst/>
          </a:prstGeom>
          <a:noFill/>
        </p:spPr>
        <p:txBody>
          <a:bodyPr vert="horz" wrap="square" lIns="38100" tIns="12700" rIns="38100" bIns="12700" rtlCol="0">
            <a:noAutofit/>
          </a:bodyPr>
          <a:lstStyle/>
          <a:p>
            <a:r>
              <a:rPr lang="en-US" sz="950">
                <a:solidFill>
                  <a:srgbClr val="4A2E1A"/>
                </a:solidFill>
              </a:rPr>
              <a:t>No data asset may be used in reporting, analytics, or AI applications before metadata is registered and reaches approved status. The WHAT (approval required before use) is unchanged. Only the HOW changes (status field instead of system workflow).</a:t>
            </a:r>
          </a:p>
        </p:txBody>
      </p:sp>
      <p:sp>
        <p:nvSpPr>
          <p:cNvPr id="22" name="Rectangle 21">
            <a:extLst>
              <a:ext uri="{FF2B5EF4-FFF2-40B4-BE49-F238E27FC236}">
                <a16:creationId xmlns:a16="http://schemas.microsoft.com/office/drawing/2014/main" id="{D1A55139-667D-3350-D084-197B1F018983}"/>
              </a:ext>
            </a:extLst>
          </p:cNvPr>
          <p:cNvSpPr/>
          <p:nvPr/>
        </p:nvSpPr>
        <p:spPr>
          <a:xfrm>
            <a:off x="177800" y="5346700"/>
            <a:ext cx="101600" cy="1498600"/>
          </a:xfrm>
          <a:prstGeom prst="rect">
            <a:avLst/>
          </a:prstGeom>
          <a:solidFill>
            <a:srgbClr val="3A6B1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D130F0A0-1944-B258-9E43-8A287C454C7E}"/>
              </a:ext>
            </a:extLst>
          </p:cNvPr>
          <p:cNvSpPr/>
          <p:nvPr/>
        </p:nvSpPr>
        <p:spPr>
          <a:xfrm>
            <a:off x="330200" y="5346700"/>
            <a:ext cx="11760200" cy="1498600"/>
          </a:xfrm>
          <a:prstGeom prst="rect">
            <a:avLst/>
          </a:prstGeom>
          <a:solidFill>
            <a:srgbClr val="F1FAF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71E9F42E-E076-E931-697B-DF27986E5474}"/>
              </a:ext>
            </a:extLst>
          </p:cNvPr>
          <p:cNvSpPr txBox="1"/>
          <p:nvPr/>
        </p:nvSpPr>
        <p:spPr>
          <a:xfrm>
            <a:off x="431800" y="5448300"/>
            <a:ext cx="2540000" cy="369332"/>
          </a:xfrm>
          <a:prstGeom prst="rect">
            <a:avLst/>
          </a:prstGeom>
          <a:noFill/>
        </p:spPr>
        <p:txBody>
          <a:bodyPr vert="horz" wrap="square" lIns="38100" tIns="12700" rIns="38100" bIns="12700" rtlCol="0">
            <a:noAutofit/>
          </a:bodyPr>
          <a:lstStyle/>
          <a:p>
            <a:r>
              <a:rPr lang="en-US" sz="1100" b="1">
                <a:solidFill>
                  <a:srgbClr val="4A2E1A"/>
                </a:solidFill>
              </a:rPr>
              <a:t>Scope Commitment</a:t>
            </a:r>
          </a:p>
        </p:txBody>
      </p:sp>
      <p:cxnSp>
        <p:nvCxnSpPr>
          <p:cNvPr id="25" name="Straight Connector 24">
            <a:extLst>
              <a:ext uri="{FF2B5EF4-FFF2-40B4-BE49-F238E27FC236}">
                <a16:creationId xmlns:a16="http://schemas.microsoft.com/office/drawing/2014/main" id="{45521208-4CBF-027B-02CD-5208BB8E267D}"/>
              </a:ext>
            </a:extLst>
          </p:cNvPr>
          <p:cNvCxnSpPr/>
          <p:nvPr/>
        </p:nvCxnSpPr>
        <p:spPr>
          <a:xfrm>
            <a:off x="431800" y="5753100"/>
            <a:ext cx="11582400" cy="0"/>
          </a:xfrm>
          <a:prstGeom prst="line">
            <a:avLst/>
          </a:prstGeom>
          <a:ln w="9525">
            <a:solidFill>
              <a:srgbClr val="CEECCC"/>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4BB980C8-A5E5-923C-CAC8-80F4CDCFAE63}"/>
              </a:ext>
            </a:extLst>
          </p:cNvPr>
          <p:cNvSpPr txBox="1"/>
          <p:nvPr/>
        </p:nvSpPr>
        <p:spPr>
          <a:xfrm>
            <a:off x="431800" y="5803900"/>
            <a:ext cx="11582400" cy="369332"/>
          </a:xfrm>
          <a:prstGeom prst="rect">
            <a:avLst/>
          </a:prstGeom>
          <a:noFill/>
        </p:spPr>
        <p:txBody>
          <a:bodyPr vert="horz" wrap="square" lIns="38100" tIns="12700" rIns="38100" bIns="12700" rtlCol="0">
            <a:noAutofit/>
          </a:bodyPr>
          <a:lstStyle/>
          <a:p>
            <a:r>
              <a:rPr lang="en-US" sz="950">
                <a:solidFill>
                  <a:srgbClr val="4A2E1A"/>
                </a:solidFill>
              </a:rPr>
              <a:t>The SOP still requires all data assets used in reporting, analytics, or AI to be governed. The change narrows STARTING SCOPE to the Data Asset Register -- full governance coverage remains the long-term target.</a:t>
            </a:r>
          </a:p>
        </p:txBody>
      </p:sp>
    </p:spTree>
    <p:extLst>
      <p:ext uri="{BB962C8B-B14F-4D97-AF65-F5344CB8AC3E}">
        <p14:creationId xmlns:p14="http://schemas.microsoft.com/office/powerpoint/2010/main" val="5531226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D57BC10-E112-AEF9-CA2B-053057021000}"/>
              </a:ext>
            </a:extLst>
          </p:cNvPr>
          <p:cNvSpPr/>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31244440-DCFF-2F5E-26DC-79EEFDA3526D}"/>
              </a:ext>
            </a:extLst>
          </p:cNvPr>
          <p:cNvSpPr/>
          <p:nvPr/>
        </p:nvSpPr>
        <p:spPr>
          <a:xfrm>
            <a:off x="0" y="0"/>
            <a:ext cx="12192000" cy="609600"/>
          </a:xfrm>
          <a:prstGeom prst="rect">
            <a:avLst/>
          </a:prstGeom>
          <a:solidFill>
            <a:srgbClr val="4A2E1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C8BE53CF-68DF-B208-D2AA-C52FB219C9E7}"/>
              </a:ext>
            </a:extLst>
          </p:cNvPr>
          <p:cNvSpPr/>
          <p:nvPr/>
        </p:nvSpPr>
        <p:spPr>
          <a:xfrm>
            <a:off x="0" y="0"/>
            <a:ext cx="63500" cy="68580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AF1EC34-F1E0-D00F-8F9E-232F796B4933}"/>
              </a:ext>
            </a:extLst>
          </p:cNvPr>
          <p:cNvSpPr txBox="1"/>
          <p:nvPr/>
        </p:nvSpPr>
        <p:spPr>
          <a:xfrm>
            <a:off x="177800" y="127000"/>
            <a:ext cx="11684000" cy="369332"/>
          </a:xfrm>
          <a:prstGeom prst="rect">
            <a:avLst/>
          </a:prstGeom>
          <a:noFill/>
        </p:spPr>
        <p:txBody>
          <a:bodyPr vert="horz" wrap="square" lIns="38100" tIns="12700" rIns="38100" bIns="12700" rtlCol="0">
            <a:noAutofit/>
          </a:bodyPr>
          <a:lstStyle/>
          <a:p>
            <a:r>
              <a:rPr lang="en-US" sz="1400" b="1">
                <a:solidFill>
                  <a:srgbClr val="FFFFFF"/>
                </a:solidFill>
              </a:rPr>
              <a:t>Datahub Metadata Template  --  What is Mandatory and Why</a:t>
            </a:r>
          </a:p>
        </p:txBody>
      </p:sp>
      <p:cxnSp>
        <p:nvCxnSpPr>
          <p:cNvPr id="6" name="Straight Connector 5">
            <a:extLst>
              <a:ext uri="{FF2B5EF4-FFF2-40B4-BE49-F238E27FC236}">
                <a16:creationId xmlns:a16="http://schemas.microsoft.com/office/drawing/2014/main" id="{BF2DAA1E-1528-6FA8-D828-B093B6AF5A01}"/>
              </a:ext>
            </a:extLst>
          </p:cNvPr>
          <p:cNvCxnSpPr/>
          <p:nvPr/>
        </p:nvCxnSpPr>
        <p:spPr>
          <a:xfrm>
            <a:off x="0" y="609600"/>
            <a:ext cx="121920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B9A205D9-E698-7E38-A5F7-E91484EEB1E9}"/>
              </a:ext>
            </a:extLst>
          </p:cNvPr>
          <p:cNvSpPr/>
          <p:nvPr/>
        </p:nvSpPr>
        <p:spPr>
          <a:xfrm>
            <a:off x="177800" y="660400"/>
            <a:ext cx="3873500" cy="355600"/>
          </a:xfrm>
          <a:prstGeom prst="rect">
            <a:avLst/>
          </a:prstGeom>
          <a:solidFill>
            <a:srgbClr val="506F1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7953571C-67F2-F784-5A91-1B0F853D814A}"/>
              </a:ext>
            </a:extLst>
          </p:cNvPr>
          <p:cNvSpPr txBox="1"/>
          <p:nvPr/>
        </p:nvSpPr>
        <p:spPr>
          <a:xfrm>
            <a:off x="228600" y="698500"/>
            <a:ext cx="3771900" cy="369332"/>
          </a:xfrm>
          <a:prstGeom prst="rect">
            <a:avLst/>
          </a:prstGeom>
          <a:noFill/>
        </p:spPr>
        <p:txBody>
          <a:bodyPr vert="horz" wrap="square" lIns="38100" tIns="12700" rIns="38100" bIns="12700" rtlCol="0">
            <a:noAutofit/>
          </a:bodyPr>
          <a:lstStyle/>
          <a:p>
            <a:pPr algn="ctr"/>
            <a:r>
              <a:rPr lang="en-US" sz="800" b="1">
                <a:solidFill>
                  <a:srgbClr val="FFFFFF"/>
                </a:solidFill>
              </a:rPr>
              <a:t>Core Mandatory  --  All Data Assets</a:t>
            </a:r>
          </a:p>
        </p:txBody>
      </p:sp>
      <p:sp>
        <p:nvSpPr>
          <p:cNvPr id="9" name="Rectangle 8">
            <a:extLst>
              <a:ext uri="{FF2B5EF4-FFF2-40B4-BE49-F238E27FC236}">
                <a16:creationId xmlns:a16="http://schemas.microsoft.com/office/drawing/2014/main" id="{699A9FEC-8E41-8765-4892-E4271B3B3F25}"/>
              </a:ext>
            </a:extLst>
          </p:cNvPr>
          <p:cNvSpPr/>
          <p:nvPr/>
        </p:nvSpPr>
        <p:spPr>
          <a:xfrm>
            <a:off x="177800" y="1016000"/>
            <a:ext cx="3873500" cy="5791200"/>
          </a:xfrm>
          <a:prstGeom prst="rect">
            <a:avLst/>
          </a:prstGeom>
          <a:solidFill>
            <a:srgbClr val="E9F5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A9FD0DD9-6BFC-E23C-0570-181AB296CECF}"/>
              </a:ext>
            </a:extLst>
          </p:cNvPr>
          <p:cNvSpPr txBox="1"/>
          <p:nvPr/>
        </p:nvSpPr>
        <p:spPr>
          <a:xfrm>
            <a:off x="254000" y="1066800"/>
            <a:ext cx="3721100" cy="369332"/>
          </a:xfrm>
          <a:prstGeom prst="rect">
            <a:avLst/>
          </a:prstGeom>
          <a:noFill/>
        </p:spPr>
        <p:txBody>
          <a:bodyPr vert="horz" wrap="square" lIns="38100" tIns="12700" rIns="38100" bIns="12700" rtlCol="0">
            <a:noAutofit/>
          </a:bodyPr>
          <a:lstStyle/>
          <a:p>
            <a:r>
              <a:rPr lang="en-US" sz="800">
                <a:solidFill>
                  <a:srgbClr val="4A2E1A"/>
                </a:solidFill>
              </a:rPr>
              <a:t>Domain/Subject Area -- SOP 4.1
System / Application Name -- SOP 4.1
Schema Name -- SOP 4.1
Table Name -- SOP 4.1
Column Name -- SOP 4.1
Business Name -- SOP 4.1
Business Description (EN) -- SOP 4.1
Business Description (TH) -- SOP 4.1
PII Classification -- SOP 4.1 / 4.3
Data Classification -- SOP 4.1 / 4.3
Review Status (draft/reviewed/approved) -- SOP 4.4
Change summary -- SOP 4.6
Last Updated Date -- SOP 4.6
Known Caveats -- SOP 4.7
Status (active/deprecated) -- SOP 4.8</a:t>
            </a:r>
          </a:p>
        </p:txBody>
      </p:sp>
      <p:sp>
        <p:nvSpPr>
          <p:cNvPr id="11" name="Rectangle 10">
            <a:extLst>
              <a:ext uri="{FF2B5EF4-FFF2-40B4-BE49-F238E27FC236}">
                <a16:creationId xmlns:a16="http://schemas.microsoft.com/office/drawing/2014/main" id="{D57EE8D5-02D8-B81C-6979-99BBF4BD281C}"/>
              </a:ext>
            </a:extLst>
          </p:cNvPr>
          <p:cNvSpPr/>
          <p:nvPr/>
        </p:nvSpPr>
        <p:spPr>
          <a:xfrm>
            <a:off x="4152900" y="660400"/>
            <a:ext cx="3873500" cy="355600"/>
          </a:xfrm>
          <a:prstGeom prst="rect">
            <a:avLst/>
          </a:prstGeom>
          <a:solidFill>
            <a:srgbClr val="8B4E1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4A2C2C0E-88C0-5724-5361-FDF0C875305C}"/>
              </a:ext>
            </a:extLst>
          </p:cNvPr>
          <p:cNvSpPr txBox="1"/>
          <p:nvPr/>
        </p:nvSpPr>
        <p:spPr>
          <a:xfrm>
            <a:off x="4203700" y="698500"/>
            <a:ext cx="3771900" cy="369332"/>
          </a:xfrm>
          <a:prstGeom prst="rect">
            <a:avLst/>
          </a:prstGeom>
          <a:noFill/>
        </p:spPr>
        <p:txBody>
          <a:bodyPr vert="horz" wrap="square" lIns="38100" tIns="12700" rIns="38100" bIns="12700" rtlCol="0">
            <a:noAutofit/>
          </a:bodyPr>
          <a:lstStyle/>
          <a:p>
            <a:pPr algn="ctr"/>
            <a:r>
              <a:rPr lang="en-US" sz="800" b="1">
                <a:solidFill>
                  <a:srgbClr val="FFFFFF"/>
                </a:solidFill>
              </a:rPr>
              <a:t>AI Project Mandatory  --  Chat-to-Data Tables</a:t>
            </a:r>
          </a:p>
        </p:txBody>
      </p:sp>
      <p:sp>
        <p:nvSpPr>
          <p:cNvPr id="13" name="Rectangle 12">
            <a:extLst>
              <a:ext uri="{FF2B5EF4-FFF2-40B4-BE49-F238E27FC236}">
                <a16:creationId xmlns:a16="http://schemas.microsoft.com/office/drawing/2014/main" id="{423A4C0C-EFC5-2E5B-25F0-5C227EC8DDFE}"/>
              </a:ext>
            </a:extLst>
          </p:cNvPr>
          <p:cNvSpPr/>
          <p:nvPr/>
        </p:nvSpPr>
        <p:spPr>
          <a:xfrm>
            <a:off x="4152900" y="1016000"/>
            <a:ext cx="3873500" cy="5791200"/>
          </a:xfrm>
          <a:prstGeom prst="rect">
            <a:avLst/>
          </a:prstGeom>
          <a:solidFill>
            <a:srgbClr val="F8EEE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5FAB5CDF-A73E-C72E-95D8-96DF0D2056B4}"/>
              </a:ext>
            </a:extLst>
          </p:cNvPr>
          <p:cNvSpPr txBox="1"/>
          <p:nvPr/>
        </p:nvSpPr>
        <p:spPr>
          <a:xfrm>
            <a:off x="4229100" y="1066800"/>
            <a:ext cx="3721100" cy="369332"/>
          </a:xfrm>
          <a:prstGeom prst="rect">
            <a:avLst/>
          </a:prstGeom>
          <a:noFill/>
        </p:spPr>
        <p:txBody>
          <a:bodyPr vert="horz" wrap="square" lIns="38100" tIns="12700" rIns="38100" bIns="12700" rtlCol="0">
            <a:noAutofit/>
          </a:bodyPr>
          <a:lstStyle/>
          <a:p>
            <a:r>
              <a:rPr lang="en-US" sz="800">
                <a:solidFill>
                  <a:srgbClr val="4A2E1A"/>
                </a:solidFill>
              </a:rPr>
              <a:t>Data Type -- SOP 4.2
Primary Key (Y/N) -- SOP 4.2
Example Value -- SOP 4.2
Sensitive Data Category -- SOP 4.1
Business Owner -- SOP 3.4
Source System -- SOP 3.4
Data Steward -- SOP 3.4
Update Frequency -- SOP 4.2
Lineage Upstream -- SOP 4.2
User Synonyms -- SOP 4.2
Row Grain Description -- SOP 4.2
Recommended Date Filter -- SOP 4.2
Owning Job / DAG -- SOP 4.2
Metric Definition -- SOP 4.2
Canonical Filter Rule -- SOP 4.2
Join Key Type -- SOP 4.2
Safe for Chat (Y/N) -- SOP 4.5
+ Known Caveats (also required) -- SOP 4.7</a:t>
            </a:r>
          </a:p>
        </p:txBody>
      </p:sp>
      <p:sp>
        <p:nvSpPr>
          <p:cNvPr id="15" name="Rectangle 14">
            <a:extLst>
              <a:ext uri="{FF2B5EF4-FFF2-40B4-BE49-F238E27FC236}">
                <a16:creationId xmlns:a16="http://schemas.microsoft.com/office/drawing/2014/main" id="{A36C7F96-4592-9AB0-7165-C7CFD5E753AE}"/>
              </a:ext>
            </a:extLst>
          </p:cNvPr>
          <p:cNvSpPr/>
          <p:nvPr/>
        </p:nvSpPr>
        <p:spPr>
          <a:xfrm>
            <a:off x="8128000" y="660400"/>
            <a:ext cx="3873500" cy="355600"/>
          </a:xfrm>
          <a:prstGeom prst="rect">
            <a:avLst/>
          </a:prstGeom>
          <a:solidFill>
            <a:srgbClr val="0077C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45A6BDFE-E25E-D772-524F-49130F36DBEF}"/>
              </a:ext>
            </a:extLst>
          </p:cNvPr>
          <p:cNvSpPr txBox="1"/>
          <p:nvPr/>
        </p:nvSpPr>
        <p:spPr>
          <a:xfrm>
            <a:off x="8178800" y="698500"/>
            <a:ext cx="3771900" cy="369332"/>
          </a:xfrm>
          <a:prstGeom prst="rect">
            <a:avLst/>
          </a:prstGeom>
          <a:noFill/>
        </p:spPr>
        <p:txBody>
          <a:bodyPr vert="horz" wrap="square" lIns="38100" tIns="12700" rIns="38100" bIns="12700" rtlCol="0">
            <a:noAutofit/>
          </a:bodyPr>
          <a:lstStyle/>
          <a:p>
            <a:pPr algn="ctr"/>
            <a:r>
              <a:rPr lang="en-US" sz="800" b="1">
                <a:solidFill>
                  <a:srgbClr val="FFFFFF"/>
                </a:solidFill>
              </a:rPr>
              <a:t>Optional  --  Fill If Available</a:t>
            </a:r>
          </a:p>
        </p:txBody>
      </p:sp>
      <p:sp>
        <p:nvSpPr>
          <p:cNvPr id="17" name="Rectangle 16">
            <a:extLst>
              <a:ext uri="{FF2B5EF4-FFF2-40B4-BE49-F238E27FC236}">
                <a16:creationId xmlns:a16="http://schemas.microsoft.com/office/drawing/2014/main" id="{05CE8337-2C24-17D1-367A-56C86A8AD246}"/>
              </a:ext>
            </a:extLst>
          </p:cNvPr>
          <p:cNvSpPr/>
          <p:nvPr/>
        </p:nvSpPr>
        <p:spPr>
          <a:xfrm>
            <a:off x="8128000" y="1016000"/>
            <a:ext cx="3873500" cy="5791200"/>
          </a:xfrm>
          <a:prstGeom prst="rect">
            <a:avLst/>
          </a:prstGeom>
          <a:solidFill>
            <a:srgbClr val="E7F8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B85056B2-1453-71EF-B7FF-347DAB3130DC}"/>
              </a:ext>
            </a:extLst>
          </p:cNvPr>
          <p:cNvSpPr txBox="1"/>
          <p:nvPr/>
        </p:nvSpPr>
        <p:spPr>
          <a:xfrm>
            <a:off x="8204200" y="1066800"/>
            <a:ext cx="3721100" cy="369332"/>
          </a:xfrm>
          <a:prstGeom prst="rect">
            <a:avLst/>
          </a:prstGeom>
          <a:noFill/>
        </p:spPr>
        <p:txBody>
          <a:bodyPr vert="horz" wrap="square" lIns="38100" tIns="12700" rIns="38100" bIns="12700" rtlCol="0">
            <a:noAutofit/>
          </a:bodyPr>
          <a:lstStyle/>
          <a:p>
            <a:r>
              <a:rPr lang="en-US" sz="800">
                <a:solidFill>
                  <a:srgbClr val="4A2E1A"/>
                </a:solidFill>
              </a:rPr>
              <a:t>Business Glossary Term
Length / Precision
Nullable (Y/N)
Foreign Key Reference
Default Value
Possible Values / Enum
Business Validation Rule
Technical Validation Rule
Reference Master Data
Transformation Logic
Data Quality Rule
Retention Policy
Lineage Downstream
API / Interface Source
Remarks</a:t>
            </a:r>
          </a:p>
        </p:txBody>
      </p:sp>
    </p:spTree>
    <p:extLst>
      <p:ext uri="{BB962C8B-B14F-4D97-AF65-F5344CB8AC3E}">
        <p14:creationId xmlns:p14="http://schemas.microsoft.com/office/powerpoint/2010/main" val="7503673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CFE99EB-4FE8-56F4-7DB2-C2CDB76D433D}"/>
              </a:ext>
            </a:extLst>
          </p:cNvPr>
          <p:cNvSpPr/>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3D175C04-91DB-DE22-4D15-13FF2C91678E}"/>
              </a:ext>
            </a:extLst>
          </p:cNvPr>
          <p:cNvSpPr/>
          <p:nvPr/>
        </p:nvSpPr>
        <p:spPr>
          <a:xfrm>
            <a:off x="0" y="0"/>
            <a:ext cx="12192000" cy="609600"/>
          </a:xfrm>
          <a:prstGeom prst="rect">
            <a:avLst/>
          </a:prstGeom>
          <a:solidFill>
            <a:srgbClr val="4A2E1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BD7AD160-8D86-8F15-20B7-9E8A42CE128A}"/>
              </a:ext>
            </a:extLst>
          </p:cNvPr>
          <p:cNvSpPr/>
          <p:nvPr/>
        </p:nvSpPr>
        <p:spPr>
          <a:xfrm>
            <a:off x="0" y="0"/>
            <a:ext cx="63500" cy="68580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70051882-F324-8C97-24AA-4244AF16C94C}"/>
              </a:ext>
            </a:extLst>
          </p:cNvPr>
          <p:cNvSpPr txBox="1"/>
          <p:nvPr/>
        </p:nvSpPr>
        <p:spPr>
          <a:xfrm>
            <a:off x="177800" y="127000"/>
            <a:ext cx="11684000" cy="369332"/>
          </a:xfrm>
          <a:prstGeom prst="rect">
            <a:avLst/>
          </a:prstGeom>
          <a:noFill/>
        </p:spPr>
        <p:txBody>
          <a:bodyPr vert="horz" wrap="square" lIns="38100" tIns="12700" rIns="38100" bIns="12700" rtlCol="0">
            <a:noAutofit/>
          </a:bodyPr>
          <a:lstStyle/>
          <a:p>
            <a:r>
              <a:rPr lang="en-US" sz="1400" b="1">
                <a:solidFill>
                  <a:srgbClr val="FFFFFF"/>
                </a:solidFill>
              </a:rPr>
              <a:t>Mandatory_Guide  --  Policy Section Reference per Field</a:t>
            </a:r>
          </a:p>
        </p:txBody>
      </p:sp>
      <p:cxnSp>
        <p:nvCxnSpPr>
          <p:cNvPr id="6" name="Straight Connector 5">
            <a:extLst>
              <a:ext uri="{FF2B5EF4-FFF2-40B4-BE49-F238E27FC236}">
                <a16:creationId xmlns:a16="http://schemas.microsoft.com/office/drawing/2014/main" id="{E9BDE2FE-3BCB-F5FC-9498-3D03C2F5A992}"/>
              </a:ext>
            </a:extLst>
          </p:cNvPr>
          <p:cNvCxnSpPr/>
          <p:nvPr/>
        </p:nvCxnSpPr>
        <p:spPr>
          <a:xfrm>
            <a:off x="0" y="609600"/>
            <a:ext cx="12192000" cy="0"/>
          </a:xfrm>
          <a:prstGeom prst="line">
            <a:avLst/>
          </a:prstGeom>
          <a:ln w="9525">
            <a:solidFill>
              <a:srgbClr val="EAE3DD"/>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8C1300D5-DCFD-E471-4A16-596251E13CB2}"/>
              </a:ext>
            </a:extLst>
          </p:cNvPr>
          <p:cNvSpPr/>
          <p:nvPr/>
        </p:nvSpPr>
        <p:spPr>
          <a:xfrm>
            <a:off x="177800" y="660400"/>
            <a:ext cx="5842000" cy="355600"/>
          </a:xfrm>
          <a:prstGeom prst="rect">
            <a:avLst/>
          </a:prstGeom>
          <a:solidFill>
            <a:srgbClr val="506F1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AA9AE296-A0E7-E6AD-277A-A527BED26C01}"/>
              </a:ext>
            </a:extLst>
          </p:cNvPr>
          <p:cNvSpPr txBox="1"/>
          <p:nvPr/>
        </p:nvSpPr>
        <p:spPr>
          <a:xfrm>
            <a:off x="228600" y="723900"/>
            <a:ext cx="5740400" cy="369332"/>
          </a:xfrm>
          <a:prstGeom prst="rect">
            <a:avLst/>
          </a:prstGeom>
          <a:noFill/>
        </p:spPr>
        <p:txBody>
          <a:bodyPr vert="horz" wrap="square" lIns="38100" tIns="12700" rIns="38100" bIns="12700" rtlCol="0">
            <a:noAutofit/>
          </a:bodyPr>
          <a:lstStyle/>
          <a:p>
            <a:r>
              <a:rPr lang="en-US" sz="900" b="1">
                <a:solidFill>
                  <a:srgbClr val="FFFFFF"/>
                </a:solidFill>
              </a:rPr>
              <a:t>SECTION A: Core Mandatory (All Assets)</a:t>
            </a:r>
          </a:p>
        </p:txBody>
      </p:sp>
      <p:sp>
        <p:nvSpPr>
          <p:cNvPr id="9" name="Rectangle 8">
            <a:extLst>
              <a:ext uri="{FF2B5EF4-FFF2-40B4-BE49-F238E27FC236}">
                <a16:creationId xmlns:a16="http://schemas.microsoft.com/office/drawing/2014/main" id="{8B670D37-D02B-172A-2B58-9746EFF35CBA}"/>
              </a:ext>
            </a:extLst>
          </p:cNvPr>
          <p:cNvSpPr/>
          <p:nvPr/>
        </p:nvSpPr>
        <p:spPr>
          <a:xfrm>
            <a:off x="177800" y="1016000"/>
            <a:ext cx="5842000" cy="5740400"/>
          </a:xfrm>
          <a:prstGeom prst="rect">
            <a:avLst/>
          </a:prstGeom>
          <a:solidFill>
            <a:srgbClr val="EEF7E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F075154E-5F86-A0A9-8B8E-7BF1CDC324D2}"/>
              </a:ext>
            </a:extLst>
          </p:cNvPr>
          <p:cNvSpPr txBox="1"/>
          <p:nvPr/>
        </p:nvSpPr>
        <p:spPr>
          <a:xfrm>
            <a:off x="228600" y="1066800"/>
            <a:ext cx="5740400" cy="369332"/>
          </a:xfrm>
          <a:prstGeom prst="rect">
            <a:avLst/>
          </a:prstGeom>
          <a:noFill/>
        </p:spPr>
        <p:txBody>
          <a:bodyPr vert="horz" wrap="square" lIns="38100" tIns="12700" rIns="38100" bIns="12700" rtlCol="0">
            <a:noAutofit/>
          </a:bodyPr>
          <a:lstStyle/>
          <a:p>
            <a:r>
              <a:rPr lang="en-US" sz="950">
                <a:solidFill>
                  <a:srgbClr val="4A2E1A"/>
                </a:solidFill>
              </a:rPr>
              <a:t>Domain / System / Schema / Table / Column: SOP 4.1 Onboarding
Business Name / Business Description EN &amp; TH: SOP 4.1 Onboarding
PII Classification / Data Classification: SOP 4.1 / 4.3 Validation
Review Status (draft-reviewed-approved): SOP 4.4 Approval
Version / Change summary / Change approve: SOP 4.6 Maintenance
Created Date / Last Updated Date: SOP 4.6 / 5.0 Compliance
Known Caveats: SOP 4.7 Quality Monitoring
Status (active-deprecated): SOP 4.8 Lifecycle</a:t>
            </a:r>
          </a:p>
        </p:txBody>
      </p:sp>
      <p:sp>
        <p:nvSpPr>
          <p:cNvPr id="11" name="Rectangle 10">
            <a:extLst>
              <a:ext uri="{FF2B5EF4-FFF2-40B4-BE49-F238E27FC236}">
                <a16:creationId xmlns:a16="http://schemas.microsoft.com/office/drawing/2014/main" id="{B5FAD1F6-4027-EEBF-9752-4A55F2D7739F}"/>
              </a:ext>
            </a:extLst>
          </p:cNvPr>
          <p:cNvSpPr/>
          <p:nvPr/>
        </p:nvSpPr>
        <p:spPr>
          <a:xfrm>
            <a:off x="6172200" y="660400"/>
            <a:ext cx="5842000" cy="355600"/>
          </a:xfrm>
          <a:prstGeom prst="rect">
            <a:avLst/>
          </a:prstGeom>
          <a:solidFill>
            <a:srgbClr val="8B4E1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D88D11FD-5B48-8B95-ADAE-D7F56089695D}"/>
              </a:ext>
            </a:extLst>
          </p:cNvPr>
          <p:cNvSpPr txBox="1"/>
          <p:nvPr/>
        </p:nvSpPr>
        <p:spPr>
          <a:xfrm>
            <a:off x="6223000" y="723900"/>
            <a:ext cx="5740400" cy="369332"/>
          </a:xfrm>
          <a:prstGeom prst="rect">
            <a:avLst/>
          </a:prstGeom>
          <a:noFill/>
        </p:spPr>
        <p:txBody>
          <a:bodyPr vert="horz" wrap="square" lIns="38100" tIns="12700" rIns="38100" bIns="12700" rtlCol="0">
            <a:noAutofit/>
          </a:bodyPr>
          <a:lstStyle/>
          <a:p>
            <a:r>
              <a:rPr lang="en-US" sz="900" b="1">
                <a:solidFill>
                  <a:srgbClr val="FFFFFF"/>
                </a:solidFill>
              </a:rPr>
              <a:t>SECTION B: AI Project Mandatory (Chat-to-Data)</a:t>
            </a:r>
          </a:p>
        </p:txBody>
      </p:sp>
      <p:sp>
        <p:nvSpPr>
          <p:cNvPr id="13" name="Rectangle 12">
            <a:extLst>
              <a:ext uri="{FF2B5EF4-FFF2-40B4-BE49-F238E27FC236}">
                <a16:creationId xmlns:a16="http://schemas.microsoft.com/office/drawing/2014/main" id="{01CBA8F6-DD75-FC26-1088-178069B5F54B}"/>
              </a:ext>
            </a:extLst>
          </p:cNvPr>
          <p:cNvSpPr/>
          <p:nvPr/>
        </p:nvSpPr>
        <p:spPr>
          <a:xfrm>
            <a:off x="6172200" y="1016000"/>
            <a:ext cx="5842000" cy="5740400"/>
          </a:xfrm>
          <a:prstGeom prst="rect">
            <a:avLst/>
          </a:prstGeom>
          <a:solidFill>
            <a:srgbClr val="F8F2E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2397FC80-511B-9414-DA78-F321ECD36828}"/>
              </a:ext>
            </a:extLst>
          </p:cNvPr>
          <p:cNvSpPr txBox="1"/>
          <p:nvPr/>
        </p:nvSpPr>
        <p:spPr>
          <a:xfrm>
            <a:off x="6223000" y="1066800"/>
            <a:ext cx="5740400" cy="369332"/>
          </a:xfrm>
          <a:prstGeom prst="rect">
            <a:avLst/>
          </a:prstGeom>
          <a:noFill/>
        </p:spPr>
        <p:txBody>
          <a:bodyPr vert="horz" wrap="square" lIns="38100" tIns="12700" rIns="38100" bIns="12700" rtlCol="0">
            <a:noAutofit/>
          </a:bodyPr>
          <a:lstStyle/>
          <a:p>
            <a:r>
              <a:rPr lang="en-US" sz="950">
                <a:solidFill>
                  <a:srgbClr val="4A2E1A"/>
                </a:solidFill>
              </a:rPr>
              <a:t>Data Type / Primary Key / Example Value: SOP 4.2 Enrichment
Sensitive Data Category: SOP 4.1 / 4.3
Business Owner / Source System / Data Steward: SOP 3.4 Ownership Register
Update Frequency / Lineage Upstream: SOP 4.2 Enrichment
User Synonyms / Row Grain / Date Filter: SOP 4.2 (AI Fields)
Owning Job/DAG: SOP 4.2 Technical Metadata
Metric Definition / Canonical Filter / Join Key: SOP 4.2 (AI Fields)
Safe for Chat (Y/N): SOP 4.5 Publication
Known Caveats: SOP 4.7 Quality Monitoring</a:t>
            </a:r>
          </a:p>
        </p:txBody>
      </p:sp>
    </p:spTree>
    <p:extLst>
      <p:ext uri="{BB962C8B-B14F-4D97-AF65-F5344CB8AC3E}">
        <p14:creationId xmlns:p14="http://schemas.microsoft.com/office/powerpoint/2010/main" val="4150207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BDA238F-9F8C-2D33-A439-D17322962184}"/>
              </a:ext>
            </a:extLst>
          </p:cNvPr>
          <p:cNvSpPr/>
          <p:nvPr/>
        </p:nvSpPr>
        <p:spPr>
          <a:xfrm>
            <a:off x="0" y="0"/>
            <a:ext cx="12192000" cy="6858000"/>
          </a:xfrm>
          <a:prstGeom prst="rect">
            <a:avLst/>
          </a:prstGeom>
          <a:solidFill>
            <a:srgbClr val="4A2E1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C3FBB2FB-CCBF-DCFB-9CB5-7CB99ECE2C2F}"/>
              </a:ext>
            </a:extLst>
          </p:cNvPr>
          <p:cNvSpPr/>
          <p:nvPr/>
        </p:nvSpPr>
        <p:spPr>
          <a:xfrm>
            <a:off x="0" y="0"/>
            <a:ext cx="63500" cy="68580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A2BC9EEC-B6C4-C6C3-F13B-2D1761E68E58}"/>
              </a:ext>
            </a:extLst>
          </p:cNvPr>
          <p:cNvSpPr/>
          <p:nvPr/>
        </p:nvSpPr>
        <p:spPr>
          <a:xfrm>
            <a:off x="508000" y="3556000"/>
            <a:ext cx="11176000" cy="127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0E50C78E-CC26-8772-8371-9069862D54D8}"/>
              </a:ext>
            </a:extLst>
          </p:cNvPr>
          <p:cNvSpPr txBox="1"/>
          <p:nvPr/>
        </p:nvSpPr>
        <p:spPr>
          <a:xfrm>
            <a:off x="508000" y="762000"/>
            <a:ext cx="11176000" cy="369332"/>
          </a:xfrm>
          <a:prstGeom prst="rect">
            <a:avLst/>
          </a:prstGeom>
          <a:noFill/>
        </p:spPr>
        <p:txBody>
          <a:bodyPr vert="horz" wrap="square" lIns="38100" tIns="12700" rIns="38100" bIns="12700" rtlCol="0">
            <a:noAutofit/>
          </a:bodyPr>
          <a:lstStyle/>
          <a:p>
            <a:r>
              <a:rPr lang="en-US" sz="1100">
                <a:solidFill>
                  <a:srgbClr val="8D7A6B"/>
                </a:solidFill>
              </a:rPr>
              <a:t>SPW-BDSI-SP-002  |  Metadata Management SOP</a:t>
            </a:r>
          </a:p>
        </p:txBody>
      </p:sp>
      <p:sp>
        <p:nvSpPr>
          <p:cNvPr id="6" name="TextBox 5">
            <a:extLst>
              <a:ext uri="{FF2B5EF4-FFF2-40B4-BE49-F238E27FC236}">
                <a16:creationId xmlns:a16="http://schemas.microsoft.com/office/drawing/2014/main" id="{729DE023-8531-BEB1-9A81-2AEA45F85193}"/>
              </a:ext>
            </a:extLst>
          </p:cNvPr>
          <p:cNvSpPr txBox="1"/>
          <p:nvPr/>
        </p:nvSpPr>
        <p:spPr>
          <a:xfrm>
            <a:off x="508000" y="1143000"/>
            <a:ext cx="11176000" cy="369332"/>
          </a:xfrm>
          <a:prstGeom prst="rect">
            <a:avLst/>
          </a:prstGeom>
          <a:noFill/>
        </p:spPr>
        <p:txBody>
          <a:bodyPr vert="horz" wrap="square" lIns="38100" tIns="12700" rIns="38100" bIns="12700" rtlCol="0">
            <a:noAutofit/>
          </a:bodyPr>
          <a:lstStyle/>
          <a:p>
            <a:r>
              <a:rPr lang="en-US" sz="3200" b="1">
                <a:solidFill>
                  <a:srgbClr val="FFFFFF"/>
                </a:solidFill>
              </a:rPr>
              <a:t>Next Steps</a:t>
            </a:r>
          </a:p>
        </p:txBody>
      </p:sp>
      <p:sp>
        <p:nvSpPr>
          <p:cNvPr id="7" name="TextBox 6">
            <a:extLst>
              <a:ext uri="{FF2B5EF4-FFF2-40B4-BE49-F238E27FC236}">
                <a16:creationId xmlns:a16="http://schemas.microsoft.com/office/drawing/2014/main" id="{B1D59346-5B93-1EB9-4A78-18CA62FF9098}"/>
              </a:ext>
            </a:extLst>
          </p:cNvPr>
          <p:cNvSpPr txBox="1"/>
          <p:nvPr/>
        </p:nvSpPr>
        <p:spPr>
          <a:xfrm>
            <a:off x="508000" y="1905000"/>
            <a:ext cx="11176000" cy="369332"/>
          </a:xfrm>
          <a:prstGeom prst="rect">
            <a:avLst/>
          </a:prstGeom>
          <a:noFill/>
        </p:spPr>
        <p:txBody>
          <a:bodyPr vert="horz" wrap="square" lIns="38100" tIns="12700" rIns="38100" bIns="12700" rtlCol="0">
            <a:noAutofit/>
          </a:bodyPr>
          <a:lstStyle/>
          <a:p>
            <a:r>
              <a:rPr lang="en-US" sz="1000">
                <a:solidFill>
                  <a:srgbClr val="EAE3DD"/>
                </a:solidFill>
              </a:rPr>
              <a:t>1.  Review this change proposal with the team and Data Owners for each in-scope domain</a:t>
            </a:r>
          </a:p>
        </p:txBody>
      </p:sp>
      <p:sp>
        <p:nvSpPr>
          <p:cNvPr id="8" name="TextBox 7">
            <a:extLst>
              <a:ext uri="{FF2B5EF4-FFF2-40B4-BE49-F238E27FC236}">
                <a16:creationId xmlns:a16="http://schemas.microsoft.com/office/drawing/2014/main" id="{B34A705E-96AF-3E1B-2737-924679B88C1F}"/>
              </a:ext>
            </a:extLst>
          </p:cNvPr>
          <p:cNvSpPr txBox="1"/>
          <p:nvPr/>
        </p:nvSpPr>
        <p:spPr>
          <a:xfrm>
            <a:off x="508000" y="2311400"/>
            <a:ext cx="11176000" cy="369332"/>
          </a:xfrm>
          <a:prstGeom prst="rect">
            <a:avLst/>
          </a:prstGeom>
          <a:noFill/>
        </p:spPr>
        <p:txBody>
          <a:bodyPr vert="horz" wrap="square" lIns="38100" tIns="12700" rIns="38100" bIns="12700" rtlCol="0">
            <a:noAutofit/>
          </a:bodyPr>
          <a:lstStyle/>
          <a:p>
            <a:r>
              <a:rPr lang="en-US" sz="1000">
                <a:solidFill>
                  <a:srgbClr val="EAE3DD"/>
                </a:solidFill>
              </a:rPr>
              <a:t>2.  Confirm scope of Data Asset Register for initial SOP Rev 1 implementation</a:t>
            </a:r>
          </a:p>
        </p:txBody>
      </p:sp>
      <p:sp>
        <p:nvSpPr>
          <p:cNvPr id="9" name="TextBox 8">
            <a:extLst>
              <a:ext uri="{FF2B5EF4-FFF2-40B4-BE49-F238E27FC236}">
                <a16:creationId xmlns:a16="http://schemas.microsoft.com/office/drawing/2014/main" id="{30CA2DDC-2A8A-CB3E-80A2-F1B3B623BC7B}"/>
              </a:ext>
            </a:extLst>
          </p:cNvPr>
          <p:cNvSpPr txBox="1"/>
          <p:nvPr/>
        </p:nvSpPr>
        <p:spPr>
          <a:xfrm>
            <a:off x="508000" y="2717800"/>
            <a:ext cx="11176000" cy="369332"/>
          </a:xfrm>
          <a:prstGeom prst="rect">
            <a:avLst/>
          </a:prstGeom>
          <a:noFill/>
        </p:spPr>
        <p:txBody>
          <a:bodyPr vert="horz" wrap="square" lIns="38100" tIns="12700" rIns="38100" bIns="12700" rtlCol="0">
            <a:noAutofit/>
          </a:bodyPr>
          <a:lstStyle/>
          <a:p>
            <a:r>
              <a:rPr lang="en-US" sz="1000">
                <a:solidFill>
                  <a:srgbClr val="EAE3DD"/>
                </a:solidFill>
              </a:rPr>
              <a:t>3.  Begin metadata registration using the revised template starting with highest-priority data assets</a:t>
            </a:r>
          </a:p>
        </p:txBody>
      </p:sp>
      <p:sp>
        <p:nvSpPr>
          <p:cNvPr id="10" name="Rectangle 9">
            <a:extLst>
              <a:ext uri="{FF2B5EF4-FFF2-40B4-BE49-F238E27FC236}">
                <a16:creationId xmlns:a16="http://schemas.microsoft.com/office/drawing/2014/main" id="{A579B1A2-A3E3-6CD3-3CF3-E2FB7A697A96}"/>
              </a:ext>
            </a:extLst>
          </p:cNvPr>
          <p:cNvSpPr/>
          <p:nvPr/>
        </p:nvSpPr>
        <p:spPr>
          <a:xfrm>
            <a:off x="508000" y="3746500"/>
            <a:ext cx="11176000" cy="127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8380BC55-E658-28D1-2C34-702E11B7A95C}"/>
              </a:ext>
            </a:extLst>
          </p:cNvPr>
          <p:cNvSpPr txBox="1"/>
          <p:nvPr/>
        </p:nvSpPr>
        <p:spPr>
          <a:xfrm>
            <a:off x="508000" y="3873500"/>
            <a:ext cx="11176000" cy="369332"/>
          </a:xfrm>
          <a:prstGeom prst="rect">
            <a:avLst/>
          </a:prstGeom>
          <a:noFill/>
        </p:spPr>
        <p:txBody>
          <a:bodyPr vert="horz" wrap="square" lIns="38100" tIns="12700" rIns="38100" bIns="12700" rtlCol="0">
            <a:noAutofit/>
          </a:bodyPr>
          <a:lstStyle/>
          <a:p>
            <a:r>
              <a:rPr lang="en-US" sz="900">
                <a:solidFill>
                  <a:srgbClr val="8D7A6B"/>
                </a:solidFill>
              </a:rPr>
              <a:t>Reference Files:</a:t>
            </a:r>
          </a:p>
        </p:txBody>
      </p:sp>
      <p:sp>
        <p:nvSpPr>
          <p:cNvPr id="12" name="TextBox 11">
            <a:extLst>
              <a:ext uri="{FF2B5EF4-FFF2-40B4-BE49-F238E27FC236}">
                <a16:creationId xmlns:a16="http://schemas.microsoft.com/office/drawing/2014/main" id="{835FE9FE-66CD-316A-FEF3-FC294449EBBB}"/>
              </a:ext>
            </a:extLst>
          </p:cNvPr>
          <p:cNvSpPr txBox="1"/>
          <p:nvPr/>
        </p:nvSpPr>
        <p:spPr>
          <a:xfrm>
            <a:off x="508000" y="4127500"/>
            <a:ext cx="11176000" cy="369332"/>
          </a:xfrm>
          <a:prstGeom prst="rect">
            <a:avLst/>
          </a:prstGeom>
          <a:noFill/>
        </p:spPr>
        <p:txBody>
          <a:bodyPr vert="horz" wrap="square" lIns="38100" tIns="12700" rIns="38100" bIns="12700" rtlCol="0">
            <a:noAutofit/>
          </a:bodyPr>
          <a:lstStyle/>
          <a:p>
            <a:r>
              <a:rPr lang="en-US" sz="900">
                <a:solidFill>
                  <a:srgbClr val="A86325"/>
                </a:solidFill>
              </a:rPr>
              <a:t>SOP_Meta Data Practical v.2.docx   |   Datahub_metadata_template.xlsx   |   Mandatory_Guide (tab)</a:t>
            </a:r>
          </a:p>
        </p:txBody>
      </p:sp>
      <p:sp>
        <p:nvSpPr>
          <p:cNvPr id="13" name="TextBox 12">
            <a:extLst>
              <a:ext uri="{FF2B5EF4-FFF2-40B4-BE49-F238E27FC236}">
                <a16:creationId xmlns:a16="http://schemas.microsoft.com/office/drawing/2014/main" id="{9C0073AA-F105-235E-8E79-1362982F855F}"/>
              </a:ext>
            </a:extLst>
          </p:cNvPr>
          <p:cNvSpPr txBox="1"/>
          <p:nvPr/>
        </p:nvSpPr>
        <p:spPr>
          <a:xfrm>
            <a:off x="508000" y="4445000"/>
            <a:ext cx="11176000" cy="369332"/>
          </a:xfrm>
          <a:prstGeom prst="rect">
            <a:avLst/>
          </a:prstGeom>
          <a:noFill/>
        </p:spPr>
        <p:txBody>
          <a:bodyPr vert="horz" wrap="square" lIns="38100" tIns="12700" rIns="38100" bIns="12700" rtlCol="0">
            <a:noAutofit/>
          </a:bodyPr>
          <a:lstStyle/>
          <a:p>
            <a:r>
              <a:rPr lang="en-US" sz="900">
                <a:solidFill>
                  <a:srgbClr val="8D7A6B"/>
                </a:solidFill>
              </a:rPr>
              <a:t>04_DataGovernance_30pct\Metadata\</a:t>
            </a:r>
          </a:p>
        </p:txBody>
      </p:sp>
    </p:spTree>
    <p:extLst>
      <p:ext uri="{BB962C8B-B14F-4D97-AF65-F5344CB8AC3E}">
        <p14:creationId xmlns:p14="http://schemas.microsoft.com/office/powerpoint/2010/main" val="27755328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2817</Words>
  <Application>Microsoft Office PowerPoint</Application>
  <PresentationFormat>Custom</PresentationFormat>
  <Paragraphs>173</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Sowan Yuthyuenyong</dc:creator>
  <cp:lastModifiedBy>Sowan Yuthyuenyong</cp:lastModifiedBy>
  <cp:revision>1</cp:revision>
  <dcterms:created xsi:type="dcterms:W3CDTF">2026-05-16T15:24:50Z</dcterms:created>
  <dcterms:modified xsi:type="dcterms:W3CDTF">2026-05-16T15:24:50Z</dcterms:modified>
</cp:coreProperties>
</file>