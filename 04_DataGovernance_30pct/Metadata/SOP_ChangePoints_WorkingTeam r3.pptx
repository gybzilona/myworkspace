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019C-FEA6-88A0-7772-375C6B1A62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B08D34-B58E-032F-CB38-B52A0AC84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207584-FA83-FE12-C6C4-8D996DAC412B}"/>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48A8ABEF-D315-65F0-7A44-069CC9978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11110-705A-87DF-C091-53F842127C82}"/>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3485182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6878A-8360-8CE8-0E73-D1D4254FC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4ADE76-7558-1AE8-715F-88DB85A7FC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EDDAA-42AE-68C6-CAE3-349DD9C5CF7A}"/>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E9A30577-BBFB-B38E-0F97-8E6C213B2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F7055-1488-739B-0D29-AE5F89AE54F6}"/>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7028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BDD1E-4E2C-9B6C-0BCA-A180C5C2BF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FD3BFC-C0BA-25CC-DCC6-E71A93F71A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5712F9-750F-278D-6159-5C44E3EDC9C1}"/>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B8541F73-B767-58B1-C82E-3A1336120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B240C-74A5-CB69-A5E3-38D807B371BA}"/>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3640206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C6346-CB8C-CDB3-A52C-E8E2FD9630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C6AF27-5FD4-CDA1-23BA-13948AA5EC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68410E-EAE3-5502-923B-77247EA8E8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037225-0544-1EE8-2F77-A0A1EFB8A6FC}"/>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6" name="Footer Placeholder 5">
            <a:extLst>
              <a:ext uri="{FF2B5EF4-FFF2-40B4-BE49-F238E27FC236}">
                <a16:creationId xmlns:a16="http://schemas.microsoft.com/office/drawing/2014/main" id="{64986FC2-AFAA-B91E-4120-C6C9B2E40D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CDA80-D47D-1042-CCFF-F468A8A1BCE6}"/>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105960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8208A-57AE-051A-4A2B-5F514F897F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FC00A6-8F56-3F89-9BE1-6B86447D93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F18E69-C762-1FF9-66D9-3D8348882F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8E0B32-5597-D41B-F684-A7E1C98276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C497FE-4D11-648A-1A86-DE00A50DDE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2631F-18AE-C2F7-C96B-2C575645BC43}"/>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8" name="Footer Placeholder 7">
            <a:extLst>
              <a:ext uri="{FF2B5EF4-FFF2-40B4-BE49-F238E27FC236}">
                <a16:creationId xmlns:a16="http://schemas.microsoft.com/office/drawing/2014/main" id="{AE2327C2-5798-6520-9397-E1BAF12207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5A1756-E414-A82A-49A6-C74516A5393A}"/>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2606094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02819-3C7A-8B77-14FA-18DF7CC862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E56A36-4A61-9C65-68E4-23865DFBFBE4}"/>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4" name="Footer Placeholder 3">
            <a:extLst>
              <a:ext uri="{FF2B5EF4-FFF2-40B4-BE49-F238E27FC236}">
                <a16:creationId xmlns:a16="http://schemas.microsoft.com/office/drawing/2014/main" id="{E093317A-5220-BE42-E7C3-6ED9135114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D62282-8D49-993A-3E4C-9CB160E9A7E2}"/>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2600447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7E4FBD-A377-566F-5C69-3E3586D19352}"/>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3" name="Footer Placeholder 2">
            <a:extLst>
              <a:ext uri="{FF2B5EF4-FFF2-40B4-BE49-F238E27FC236}">
                <a16:creationId xmlns:a16="http://schemas.microsoft.com/office/drawing/2014/main" id="{9872964C-AC4C-189B-7A77-53D60461E1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BB84A6-9165-5BAC-D7A1-2B0D432CBFD0}"/>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2511248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D3DF-8DC8-7606-E07E-FE1BE0116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3A7267-21D0-F3CD-47D3-C229610B3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58865C-F837-1BF1-0E46-48D464BD0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E34EF-F3A3-AFD7-FE49-080844AF216E}"/>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6" name="Footer Placeholder 5">
            <a:extLst>
              <a:ext uri="{FF2B5EF4-FFF2-40B4-BE49-F238E27FC236}">
                <a16:creationId xmlns:a16="http://schemas.microsoft.com/office/drawing/2014/main" id="{D338569F-33F9-C42D-F7C7-C1A6DAB86D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0A1712-8E70-165C-C6CC-106526E755A4}"/>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1648683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A1742-6356-2FD4-C109-F8F451BB8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17BC9B-5060-FB25-93B8-A16410BBE3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814BC7-A1FA-45B9-426C-4DD2FFCCA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A7EC6-F08C-B551-4198-59AFF3D16553}"/>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6" name="Footer Placeholder 5">
            <a:extLst>
              <a:ext uri="{FF2B5EF4-FFF2-40B4-BE49-F238E27FC236}">
                <a16:creationId xmlns:a16="http://schemas.microsoft.com/office/drawing/2014/main" id="{BC8C2B09-7079-397D-36FA-A780A70836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18C7F-A84D-4841-E53C-B41B8D571C5E}"/>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2164841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2B354-FD72-2698-2C51-D8DBA63212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01B0AD-7432-3D19-E97A-AC0D350364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32C3F5-57D3-3968-06FF-9D2486C50DC4}"/>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6FE55C81-BC4C-B480-42A2-0C58269FE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CA7B4E-8AD1-0601-571F-B091E42CF47F}"/>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474801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0C04A-2DA0-21BF-54DC-807EC97B77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036AD0-0118-D452-D194-F6CF5BFF89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A2DA36-7379-5CB6-C165-151D31CEF339}"/>
              </a:ext>
            </a:extLst>
          </p:cNvPr>
          <p:cNvSpPr>
            <a:spLocks noGrp="1"/>
          </p:cNvSpPr>
          <p:nvPr>
            <p:ph type="dt" sz="half" idx="10"/>
          </p:nvPr>
        </p:nvSpPr>
        <p:spPr/>
        <p:txBody>
          <a:body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E08BB6EB-3DEF-A476-3BE4-D71F15DAF4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19F86-1206-66EE-06C4-305B581019D0}"/>
              </a:ext>
            </a:extLst>
          </p:cNvPr>
          <p:cNvSpPr>
            <a:spLocks noGrp="1"/>
          </p:cNvSpPr>
          <p:nvPr>
            <p:ph type="sldNum" sz="quarter" idx="12"/>
          </p:nvPr>
        </p:nvSpPr>
        <p:spPr/>
        <p:txBody>
          <a:bodyPr/>
          <a:lstStyle/>
          <a:p>
            <a:fld id="{79A41D1D-999A-4E82-856D-50A4C62A179D}" type="slidenum">
              <a:rPr lang="en-US" smtClean="0"/>
              <a:t>‹#›</a:t>
            </a:fld>
            <a:endParaRPr lang="en-US"/>
          </a:p>
        </p:txBody>
      </p:sp>
    </p:spTree>
    <p:extLst>
      <p:ext uri="{BB962C8B-B14F-4D97-AF65-F5344CB8AC3E}">
        <p14:creationId xmlns:p14="http://schemas.microsoft.com/office/powerpoint/2010/main" val="1390836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1BCD1-786A-DB61-7E88-1E520E4129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692847-3AC8-70A7-632E-631AFB9A2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2524B-B63F-B0C9-7526-54C6F99CA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BE6506-D4C0-45A4-81AB-DAD284272EF9}" type="datetimeFigureOut">
              <a:rPr lang="en-US" smtClean="0"/>
              <a:t>14/05/2026</a:t>
            </a:fld>
            <a:endParaRPr lang="en-US"/>
          </a:p>
        </p:txBody>
      </p:sp>
      <p:sp>
        <p:nvSpPr>
          <p:cNvPr id="5" name="Footer Placeholder 4">
            <a:extLst>
              <a:ext uri="{FF2B5EF4-FFF2-40B4-BE49-F238E27FC236}">
                <a16:creationId xmlns:a16="http://schemas.microsoft.com/office/drawing/2014/main" id="{59EC6F5C-AF30-8022-4E96-B94FCAFC57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D21839-2613-9B67-7307-CBBDAE64C0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41D1D-999A-4E82-856D-50A4C62A179D}" type="slidenum">
              <a:rPr lang="en-US" smtClean="0"/>
              <a:t>‹#›</a:t>
            </a:fld>
            <a:endParaRPr lang="en-US"/>
          </a:p>
        </p:txBody>
      </p:sp>
    </p:spTree>
    <p:extLst>
      <p:ext uri="{BB962C8B-B14F-4D97-AF65-F5344CB8AC3E}">
        <p14:creationId xmlns:p14="http://schemas.microsoft.com/office/powerpoint/2010/main" val="387679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0D51C5-8F55-1448-2DB5-877E5BDC0FE6}"/>
              </a:ext>
            </a:extLst>
          </p:cNvPr>
          <p:cNvSpPr/>
          <p:nvPr/>
        </p:nvSpPr>
        <p:spPr>
          <a:xfrm>
            <a:off x="0" y="0"/>
            <a:ext cx="12192000" cy="68580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B9E2427-884A-A353-D6F4-E5CD79BF1A5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8994BA1-E9AA-3FB6-52B1-539248D9ADB1}"/>
              </a:ext>
            </a:extLst>
          </p:cNvPr>
          <p:cNvSpPr/>
          <p:nvPr/>
        </p:nvSpPr>
        <p:spPr>
          <a:xfrm>
            <a:off x="508000" y="38100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11404D2-909D-FC56-0274-58EB2789C1D2}"/>
              </a:ext>
            </a:extLst>
          </p:cNvPr>
          <p:cNvSpPr txBox="1"/>
          <p:nvPr/>
        </p:nvSpPr>
        <p:spPr>
          <a:xfrm>
            <a:off x="508000" y="1016000"/>
            <a:ext cx="11176000" cy="369332"/>
          </a:xfrm>
          <a:prstGeom prst="rect">
            <a:avLst/>
          </a:prstGeom>
          <a:noFill/>
        </p:spPr>
        <p:txBody>
          <a:bodyPr vert="horz" wrap="square" lIns="38100" tIns="12700" rIns="38100" bIns="12700" rtlCol="0">
            <a:noAutofit/>
          </a:bodyPr>
          <a:lstStyle/>
          <a:p>
            <a:r>
              <a:rPr lang="en-US" sz="1100">
                <a:solidFill>
                  <a:srgbClr val="8D7A6B"/>
                </a:solidFill>
              </a:rPr>
              <a:t>SPW-BDSI-SP-002  |  Metadata Management SOP</a:t>
            </a:r>
          </a:p>
        </p:txBody>
      </p:sp>
      <p:sp>
        <p:nvSpPr>
          <p:cNvPr id="6" name="TextBox 5">
            <a:extLst>
              <a:ext uri="{FF2B5EF4-FFF2-40B4-BE49-F238E27FC236}">
                <a16:creationId xmlns:a16="http://schemas.microsoft.com/office/drawing/2014/main" id="{404B1312-00B3-9FDB-677B-485A6E8B08DA}"/>
              </a:ext>
            </a:extLst>
          </p:cNvPr>
          <p:cNvSpPr txBox="1"/>
          <p:nvPr/>
        </p:nvSpPr>
        <p:spPr>
          <a:xfrm>
            <a:off x="508000" y="1422400"/>
            <a:ext cx="11176000" cy="369332"/>
          </a:xfrm>
          <a:prstGeom prst="rect">
            <a:avLst/>
          </a:prstGeom>
          <a:noFill/>
        </p:spPr>
        <p:txBody>
          <a:bodyPr vert="horz" wrap="square" lIns="38100" tIns="12700" rIns="38100" bIns="12700" rtlCol="0">
            <a:noAutofit/>
          </a:bodyPr>
          <a:lstStyle/>
          <a:p>
            <a:r>
              <a:rPr lang="en-US" sz="4000" b="1">
                <a:solidFill>
                  <a:srgbClr val="FFFFFF"/>
                </a:solidFill>
              </a:rPr>
              <a:t>SOP Change Points</a:t>
            </a:r>
          </a:p>
        </p:txBody>
      </p:sp>
      <p:sp>
        <p:nvSpPr>
          <p:cNvPr id="7" name="TextBox 6">
            <a:extLst>
              <a:ext uri="{FF2B5EF4-FFF2-40B4-BE49-F238E27FC236}">
                <a16:creationId xmlns:a16="http://schemas.microsoft.com/office/drawing/2014/main" id="{7CF26E8D-10CD-5A3C-0B77-AE30F5D787C4}"/>
              </a:ext>
            </a:extLst>
          </p:cNvPr>
          <p:cNvSpPr txBox="1"/>
          <p:nvPr/>
        </p:nvSpPr>
        <p:spPr>
          <a:xfrm>
            <a:off x="508000" y="2349500"/>
            <a:ext cx="11176000" cy="369332"/>
          </a:xfrm>
          <a:prstGeom prst="rect">
            <a:avLst/>
          </a:prstGeom>
          <a:noFill/>
        </p:spPr>
        <p:txBody>
          <a:bodyPr vert="horz" wrap="square" lIns="38100" tIns="12700" rIns="38100" bIns="12700" rtlCol="0">
            <a:noAutofit/>
          </a:bodyPr>
          <a:lstStyle/>
          <a:p>
            <a:r>
              <a:rPr lang="en-US" sz="1500">
                <a:solidFill>
                  <a:srgbClr val="A86325"/>
                </a:solidFill>
              </a:rPr>
              <a:t>Working Team Briefing  --  All 18 Changed Sections</a:t>
            </a:r>
          </a:p>
        </p:txBody>
      </p:sp>
      <p:sp>
        <p:nvSpPr>
          <p:cNvPr id="8" name="TextBox 7">
            <a:extLst>
              <a:ext uri="{FF2B5EF4-FFF2-40B4-BE49-F238E27FC236}">
                <a16:creationId xmlns:a16="http://schemas.microsoft.com/office/drawing/2014/main" id="{919D518E-6A9C-0470-3AAB-494F517B9A8D}"/>
              </a:ext>
            </a:extLst>
          </p:cNvPr>
          <p:cNvSpPr txBox="1"/>
          <p:nvPr/>
        </p:nvSpPr>
        <p:spPr>
          <a:xfrm>
            <a:off x="508000" y="4013200"/>
            <a:ext cx="11176000" cy="369332"/>
          </a:xfrm>
          <a:prstGeom prst="rect">
            <a:avLst/>
          </a:prstGeom>
          <a:noFill/>
        </p:spPr>
        <p:txBody>
          <a:bodyPr vert="horz" wrap="square" lIns="38100" tIns="12700" rIns="38100" bIns="12700" rtlCol="0">
            <a:noAutofit/>
          </a:bodyPr>
          <a:lstStyle/>
          <a:p>
            <a:r>
              <a:rPr lang="en-US" sz="1100">
                <a:solidFill>
                  <a:srgbClr val="8D7A6B"/>
                </a:solidFill>
              </a:rPr>
              <a:t>Full original and revised text per section  |  Key phrases highlighted in red (removed) and blue (added)</a:t>
            </a:r>
          </a:p>
        </p:txBody>
      </p:sp>
      <p:sp>
        <p:nvSpPr>
          <p:cNvPr id="9" name="TextBox 8">
            <a:extLst>
              <a:ext uri="{FF2B5EF4-FFF2-40B4-BE49-F238E27FC236}">
                <a16:creationId xmlns:a16="http://schemas.microsoft.com/office/drawing/2014/main" id="{48CC5697-94EC-F7C9-2422-3421C0F5C3E5}"/>
              </a:ext>
            </a:extLst>
          </p:cNvPr>
          <p:cNvSpPr txBox="1"/>
          <p:nvPr/>
        </p:nvSpPr>
        <p:spPr>
          <a:xfrm>
            <a:off x="508000" y="4445000"/>
            <a:ext cx="11176000" cy="369332"/>
          </a:xfrm>
          <a:prstGeom prst="rect">
            <a:avLst/>
          </a:prstGeom>
          <a:noFill/>
        </p:spPr>
        <p:txBody>
          <a:bodyPr vert="horz" wrap="square" lIns="38100" tIns="12700" rIns="38100" bIns="12700" rtlCol="0">
            <a:noAutofit/>
          </a:bodyPr>
          <a:lstStyle/>
          <a:p>
            <a:r>
              <a:rPr lang="en-US" sz="1100">
                <a:solidFill>
                  <a:srgbClr val="8D7A6B"/>
                </a:solidFill>
              </a:rPr>
              <a:t>BDSI - IT - XPO  |  May 2026</a:t>
            </a:r>
          </a:p>
        </p:txBody>
      </p:sp>
    </p:spTree>
    <p:extLst>
      <p:ext uri="{BB962C8B-B14F-4D97-AF65-F5344CB8AC3E}">
        <p14:creationId xmlns:p14="http://schemas.microsoft.com/office/powerpoint/2010/main" val="2964757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8305-8B80-0524-BE0A-E08E731188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C6D33E-F5EA-989A-2435-62C571973083}"/>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B0B996-DAFC-EFAD-E22F-860FE436DC8A}"/>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226F7554-227B-3B99-9CBF-6522E99C4B2F}"/>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32D95F-BC82-6E3C-4E60-25C868D5BE8A}"/>
              </a:ext>
            </a:extLst>
          </p:cNvPr>
          <p:cNvSpPr txBox="1"/>
          <p:nvPr/>
        </p:nvSpPr>
        <p:spPr>
          <a:xfrm>
            <a:off x="114300" y="14986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1</a:t>
            </a:r>
          </a:p>
        </p:txBody>
      </p:sp>
      <p:sp>
        <p:nvSpPr>
          <p:cNvPr id="16" name="TextBox 15">
            <a:extLst>
              <a:ext uri="{FF2B5EF4-FFF2-40B4-BE49-F238E27FC236}">
                <a16:creationId xmlns:a16="http://schemas.microsoft.com/office/drawing/2014/main" id="{BEC0463F-0F81-99BF-C58D-0593CC9CB733}"/>
              </a:ext>
            </a:extLst>
          </p:cNvPr>
          <p:cNvSpPr txBox="1"/>
          <p:nvPr/>
        </p:nvSpPr>
        <p:spPr>
          <a:xfrm>
            <a:off x="114300" y="28829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2</a:t>
            </a:r>
          </a:p>
        </p:txBody>
      </p:sp>
      <p:sp>
        <p:nvSpPr>
          <p:cNvPr id="22" name="TextBox 21">
            <a:extLst>
              <a:ext uri="{FF2B5EF4-FFF2-40B4-BE49-F238E27FC236}">
                <a16:creationId xmlns:a16="http://schemas.microsoft.com/office/drawing/2014/main" id="{C9138037-CA14-BE28-BF78-8AA1C6C4774D}"/>
              </a:ext>
            </a:extLst>
          </p:cNvPr>
          <p:cNvSpPr txBox="1"/>
          <p:nvPr/>
        </p:nvSpPr>
        <p:spPr>
          <a:xfrm>
            <a:off x="114300" y="42672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3</a:t>
            </a:r>
          </a:p>
        </p:txBody>
      </p:sp>
      <p:pic>
        <p:nvPicPr>
          <p:cNvPr id="27" name="Picture 26">
            <a:extLst>
              <a:ext uri="{FF2B5EF4-FFF2-40B4-BE49-F238E27FC236}">
                <a16:creationId xmlns:a16="http://schemas.microsoft.com/office/drawing/2014/main" id="{718D0853-4857-D611-1EAE-B8B90F03AA00}"/>
              </a:ext>
            </a:extLst>
          </p:cNvPr>
          <p:cNvPicPr>
            <a:picLocks noChangeAspect="1"/>
          </p:cNvPicPr>
          <p:nvPr/>
        </p:nvPicPr>
        <p:blipFill>
          <a:blip r:embed="rId2"/>
          <a:stretch>
            <a:fillRect/>
          </a:stretch>
        </p:blipFill>
        <p:spPr>
          <a:xfrm>
            <a:off x="440017" y="773668"/>
            <a:ext cx="8363324" cy="5570106"/>
          </a:xfrm>
          <a:prstGeom prst="rect">
            <a:avLst/>
          </a:prstGeom>
        </p:spPr>
      </p:pic>
      <p:sp>
        <p:nvSpPr>
          <p:cNvPr id="26" name="TextBox 25">
            <a:extLst>
              <a:ext uri="{FF2B5EF4-FFF2-40B4-BE49-F238E27FC236}">
                <a16:creationId xmlns:a16="http://schemas.microsoft.com/office/drawing/2014/main" id="{30BA0E36-75BF-0636-95E4-5D2ADE6E0D54}"/>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600" b="1" dirty="0">
                <a:solidFill>
                  <a:srgbClr val="FFFFFF"/>
                </a:solidFill>
              </a:rPr>
              <a:t>Context: Why This Review – Meta Data Template</a:t>
            </a:r>
          </a:p>
        </p:txBody>
      </p:sp>
    </p:spTree>
    <p:extLst>
      <p:ext uri="{BB962C8B-B14F-4D97-AF65-F5344CB8AC3E}">
        <p14:creationId xmlns:p14="http://schemas.microsoft.com/office/powerpoint/2010/main" val="186553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A4A4D5-ED42-0059-BF4F-728A4EFB58E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4BF0402-BD91-2EF1-162E-93C1F696A3AF}"/>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FB6E613-B6CF-3D9D-65ED-0C96CA88B3AA}"/>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A8B5B7-E2FB-2F33-026C-0428E0A01265}"/>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600" b="1" dirty="0">
                <a:solidFill>
                  <a:srgbClr val="FFFFFF"/>
                </a:solidFill>
              </a:rPr>
              <a:t>Context: Why This Review</a:t>
            </a:r>
          </a:p>
        </p:txBody>
      </p:sp>
      <p:cxnSp>
        <p:nvCxnSpPr>
          <p:cNvPr id="6" name="Straight Connector 5">
            <a:extLst>
              <a:ext uri="{FF2B5EF4-FFF2-40B4-BE49-F238E27FC236}">
                <a16:creationId xmlns:a16="http://schemas.microsoft.com/office/drawing/2014/main" id="{5B8438CB-BFB3-1AAA-5826-77B1E665FD3F}"/>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578E104-1649-01DF-FB5F-E6E694C8BF7F}"/>
              </a:ext>
            </a:extLst>
          </p:cNvPr>
          <p:cNvSpPr/>
          <p:nvPr/>
        </p:nvSpPr>
        <p:spPr>
          <a:xfrm>
            <a:off x="114300" y="762000"/>
            <a:ext cx="11938000" cy="9398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ABF17F-9D0C-DE64-38DB-BB34A7A4420C}"/>
              </a:ext>
            </a:extLst>
          </p:cNvPr>
          <p:cNvSpPr txBox="1"/>
          <p:nvPr/>
        </p:nvSpPr>
        <p:spPr>
          <a:xfrm>
            <a:off x="203200" y="863600"/>
            <a:ext cx="1143000" cy="369332"/>
          </a:xfrm>
          <a:prstGeom prst="rect">
            <a:avLst/>
          </a:prstGeom>
          <a:noFill/>
        </p:spPr>
        <p:txBody>
          <a:bodyPr vert="horz" wrap="square" lIns="38100" tIns="12700" rIns="38100" bIns="12700" rtlCol="0">
            <a:noAutofit/>
          </a:bodyPr>
          <a:lstStyle/>
          <a:p>
            <a:r>
              <a:rPr lang="en-US" sz="1000" b="1">
                <a:solidFill>
                  <a:srgbClr val="A86325"/>
                </a:solidFill>
              </a:rPr>
              <a:t>Background</a:t>
            </a:r>
          </a:p>
        </p:txBody>
      </p:sp>
      <p:cxnSp>
        <p:nvCxnSpPr>
          <p:cNvPr id="9" name="Straight Connector 8">
            <a:extLst>
              <a:ext uri="{FF2B5EF4-FFF2-40B4-BE49-F238E27FC236}">
                <a16:creationId xmlns:a16="http://schemas.microsoft.com/office/drawing/2014/main" id="{DAACDDAB-AC63-7951-D8E8-E99D5A93C237}"/>
              </a:ext>
            </a:extLst>
          </p:cNvPr>
          <p:cNvCxnSpPr/>
          <p:nvPr/>
        </p:nvCxnSpPr>
        <p:spPr>
          <a:xfrm>
            <a:off x="203200" y="1143000"/>
            <a:ext cx="11633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003A760-7A84-62EC-06FF-EE78D88E0334}"/>
              </a:ext>
            </a:extLst>
          </p:cNvPr>
          <p:cNvSpPr txBox="1"/>
          <p:nvPr/>
        </p:nvSpPr>
        <p:spPr>
          <a:xfrm>
            <a:off x="203200" y="1193800"/>
            <a:ext cx="11633200" cy="369332"/>
          </a:xfrm>
          <a:prstGeom prst="rect">
            <a:avLst/>
          </a:prstGeom>
          <a:noFill/>
        </p:spPr>
        <p:txBody>
          <a:bodyPr vert="horz" wrap="square" lIns="38100" tIns="12700" rIns="38100" bIns="12700" rtlCol="0">
            <a:noAutofit/>
          </a:bodyPr>
          <a:lstStyle/>
          <a:p>
            <a:r>
              <a:rPr lang="en-US" sz="1050">
                <a:solidFill>
                  <a:srgbClr val="4A2E1A"/>
                </a:solidFill>
              </a:rPr>
              <a:t>The original SOP was designed as full Enterprise Governance -- referencing workflow automation, RBAC, system enforcement, and audit logs. None of this infrastructure exists yet, making the original SOP unexecutable.</a:t>
            </a:r>
          </a:p>
        </p:txBody>
      </p:sp>
      <p:sp>
        <p:nvSpPr>
          <p:cNvPr id="11" name="Rectangle 10">
            <a:extLst>
              <a:ext uri="{FF2B5EF4-FFF2-40B4-BE49-F238E27FC236}">
                <a16:creationId xmlns:a16="http://schemas.microsoft.com/office/drawing/2014/main" id="{93813ED8-FE82-C1A2-0CA4-8808EE421CDB}"/>
              </a:ext>
            </a:extLst>
          </p:cNvPr>
          <p:cNvSpPr/>
          <p:nvPr/>
        </p:nvSpPr>
        <p:spPr>
          <a:xfrm>
            <a:off x="114300" y="1752600"/>
            <a:ext cx="11938000" cy="9398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A5384E-F699-A08F-C00E-B0C1C06CFF55}"/>
              </a:ext>
            </a:extLst>
          </p:cNvPr>
          <p:cNvSpPr txBox="1"/>
          <p:nvPr/>
        </p:nvSpPr>
        <p:spPr>
          <a:xfrm>
            <a:off x="203200" y="1854200"/>
            <a:ext cx="1143000" cy="369332"/>
          </a:xfrm>
          <a:prstGeom prst="rect">
            <a:avLst/>
          </a:prstGeom>
          <a:noFill/>
        </p:spPr>
        <p:txBody>
          <a:bodyPr vert="horz" wrap="square" lIns="38100" tIns="12700" rIns="38100" bIns="12700" rtlCol="0">
            <a:noAutofit/>
          </a:bodyPr>
          <a:lstStyle/>
          <a:p>
            <a:r>
              <a:rPr lang="en-US" sz="1000" b="1">
                <a:solidFill>
                  <a:srgbClr val="A86325"/>
                </a:solidFill>
              </a:rPr>
              <a:t>Goal</a:t>
            </a:r>
          </a:p>
        </p:txBody>
      </p:sp>
      <p:cxnSp>
        <p:nvCxnSpPr>
          <p:cNvPr id="13" name="Straight Connector 12">
            <a:extLst>
              <a:ext uri="{FF2B5EF4-FFF2-40B4-BE49-F238E27FC236}">
                <a16:creationId xmlns:a16="http://schemas.microsoft.com/office/drawing/2014/main" id="{AF6A29AF-EF05-4BB0-5670-455306AFB4CF}"/>
              </a:ext>
            </a:extLst>
          </p:cNvPr>
          <p:cNvCxnSpPr/>
          <p:nvPr/>
        </p:nvCxnSpPr>
        <p:spPr>
          <a:xfrm>
            <a:off x="203200" y="2133600"/>
            <a:ext cx="11633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5249FE2-9F55-E46E-DA73-86A90D9A4DA0}"/>
              </a:ext>
            </a:extLst>
          </p:cNvPr>
          <p:cNvSpPr txBox="1"/>
          <p:nvPr/>
        </p:nvSpPr>
        <p:spPr>
          <a:xfrm>
            <a:off x="203200" y="2184400"/>
            <a:ext cx="11633200" cy="369332"/>
          </a:xfrm>
          <a:prstGeom prst="rect">
            <a:avLst/>
          </a:prstGeom>
          <a:noFill/>
        </p:spPr>
        <p:txBody>
          <a:bodyPr vert="horz" wrap="square" lIns="38100" tIns="12700" rIns="38100" bIns="12700" rtlCol="0">
            <a:noAutofit/>
          </a:bodyPr>
          <a:lstStyle/>
          <a:p>
            <a:r>
              <a:rPr lang="en-US" sz="1050">
                <a:solidFill>
                  <a:srgbClr val="4A2E1A"/>
                </a:solidFill>
              </a:rPr>
              <a:t>Revise the SOP to be practically usable for the Chat-to-Data project without conflicting with governance principles -- focus on mandatory fields, ownership register, and practical controls.</a:t>
            </a:r>
          </a:p>
        </p:txBody>
      </p:sp>
      <p:sp>
        <p:nvSpPr>
          <p:cNvPr id="15" name="Rectangle 14">
            <a:extLst>
              <a:ext uri="{FF2B5EF4-FFF2-40B4-BE49-F238E27FC236}">
                <a16:creationId xmlns:a16="http://schemas.microsoft.com/office/drawing/2014/main" id="{A8B1CD51-AB51-3438-D232-43CB18A6FFA0}"/>
              </a:ext>
            </a:extLst>
          </p:cNvPr>
          <p:cNvSpPr/>
          <p:nvPr/>
        </p:nvSpPr>
        <p:spPr>
          <a:xfrm>
            <a:off x="114300" y="2743200"/>
            <a:ext cx="11938000" cy="9398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E738B64-95E7-46D9-3B2A-02B6CF5C67A2}"/>
              </a:ext>
            </a:extLst>
          </p:cNvPr>
          <p:cNvSpPr txBox="1"/>
          <p:nvPr/>
        </p:nvSpPr>
        <p:spPr>
          <a:xfrm>
            <a:off x="203200" y="2844800"/>
            <a:ext cx="1143000" cy="369332"/>
          </a:xfrm>
          <a:prstGeom prst="rect">
            <a:avLst/>
          </a:prstGeom>
          <a:noFill/>
        </p:spPr>
        <p:txBody>
          <a:bodyPr vert="horz" wrap="square" lIns="38100" tIns="12700" rIns="38100" bIns="12700" rtlCol="0">
            <a:noAutofit/>
          </a:bodyPr>
          <a:lstStyle/>
          <a:p>
            <a:r>
              <a:rPr lang="en-US" sz="1000" b="1">
                <a:solidFill>
                  <a:srgbClr val="A86325"/>
                </a:solidFill>
              </a:rPr>
              <a:t>Approach</a:t>
            </a:r>
          </a:p>
        </p:txBody>
      </p:sp>
      <p:cxnSp>
        <p:nvCxnSpPr>
          <p:cNvPr id="17" name="Straight Connector 16">
            <a:extLst>
              <a:ext uri="{FF2B5EF4-FFF2-40B4-BE49-F238E27FC236}">
                <a16:creationId xmlns:a16="http://schemas.microsoft.com/office/drawing/2014/main" id="{99E1E2C2-9CBC-0FF1-1498-67010DFE89A5}"/>
              </a:ext>
            </a:extLst>
          </p:cNvPr>
          <p:cNvCxnSpPr/>
          <p:nvPr/>
        </p:nvCxnSpPr>
        <p:spPr>
          <a:xfrm>
            <a:off x="203200" y="3124200"/>
            <a:ext cx="11633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0603A7B-6667-B11D-5F1E-C40DF2DE482A}"/>
              </a:ext>
            </a:extLst>
          </p:cNvPr>
          <p:cNvSpPr txBox="1"/>
          <p:nvPr/>
        </p:nvSpPr>
        <p:spPr>
          <a:xfrm>
            <a:off x="203200" y="3175000"/>
            <a:ext cx="11633200" cy="369332"/>
          </a:xfrm>
          <a:prstGeom prst="rect">
            <a:avLst/>
          </a:prstGeom>
          <a:noFill/>
        </p:spPr>
        <p:txBody>
          <a:bodyPr vert="horz" wrap="square" lIns="38100" tIns="12700" rIns="38100" bIns="12700" rtlCol="0">
            <a:noAutofit/>
          </a:bodyPr>
          <a:lstStyle/>
          <a:p>
            <a:r>
              <a:rPr lang="en-US" sz="1050">
                <a:solidFill>
                  <a:srgbClr val="4A2E1A"/>
                </a:solidFill>
              </a:rPr>
              <a:t>Review all 18 changed sections: remove clauses requiring systems not yet built, retain all accountability requirements, and add Datahub template column references for the AI project.</a:t>
            </a:r>
          </a:p>
        </p:txBody>
      </p:sp>
      <p:sp>
        <p:nvSpPr>
          <p:cNvPr id="19" name="Rectangle 18">
            <a:extLst>
              <a:ext uri="{FF2B5EF4-FFF2-40B4-BE49-F238E27FC236}">
                <a16:creationId xmlns:a16="http://schemas.microsoft.com/office/drawing/2014/main" id="{BC52EDAA-C09F-CEC5-DF63-3AD9F5812877}"/>
              </a:ext>
            </a:extLst>
          </p:cNvPr>
          <p:cNvSpPr/>
          <p:nvPr/>
        </p:nvSpPr>
        <p:spPr>
          <a:xfrm>
            <a:off x="114300" y="3733800"/>
            <a:ext cx="11938000" cy="9398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96B5EAB-1705-A293-4362-7EB4B9B3618F}"/>
              </a:ext>
            </a:extLst>
          </p:cNvPr>
          <p:cNvSpPr txBox="1"/>
          <p:nvPr/>
        </p:nvSpPr>
        <p:spPr>
          <a:xfrm>
            <a:off x="203200" y="3835400"/>
            <a:ext cx="1143000" cy="369332"/>
          </a:xfrm>
          <a:prstGeom prst="rect">
            <a:avLst/>
          </a:prstGeom>
          <a:noFill/>
        </p:spPr>
        <p:txBody>
          <a:bodyPr vert="horz" wrap="square" lIns="38100" tIns="12700" rIns="38100" bIns="12700" rtlCol="0">
            <a:noAutofit/>
          </a:bodyPr>
          <a:lstStyle/>
          <a:p>
            <a:r>
              <a:rPr lang="en-US" sz="1000" b="1">
                <a:solidFill>
                  <a:srgbClr val="A86325"/>
                </a:solidFill>
              </a:rPr>
              <a:t>Outcome</a:t>
            </a:r>
          </a:p>
        </p:txBody>
      </p:sp>
      <p:cxnSp>
        <p:nvCxnSpPr>
          <p:cNvPr id="21" name="Straight Connector 20">
            <a:extLst>
              <a:ext uri="{FF2B5EF4-FFF2-40B4-BE49-F238E27FC236}">
                <a16:creationId xmlns:a16="http://schemas.microsoft.com/office/drawing/2014/main" id="{C045E8C3-5700-9458-643B-E4A45E771324}"/>
              </a:ext>
            </a:extLst>
          </p:cNvPr>
          <p:cNvCxnSpPr/>
          <p:nvPr/>
        </p:nvCxnSpPr>
        <p:spPr>
          <a:xfrm>
            <a:off x="203200" y="4114800"/>
            <a:ext cx="11633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A0D8D96-D7C1-F00F-FF52-E280AE024E2A}"/>
              </a:ext>
            </a:extLst>
          </p:cNvPr>
          <p:cNvSpPr txBox="1"/>
          <p:nvPr/>
        </p:nvSpPr>
        <p:spPr>
          <a:xfrm>
            <a:off x="203200" y="4165600"/>
            <a:ext cx="11633200" cy="369332"/>
          </a:xfrm>
          <a:prstGeom prst="rect">
            <a:avLst/>
          </a:prstGeom>
          <a:noFill/>
        </p:spPr>
        <p:txBody>
          <a:bodyPr vert="horz" wrap="square" lIns="38100" tIns="12700" rIns="38100" bIns="12700" rtlCol="0">
            <a:noAutofit/>
          </a:bodyPr>
          <a:lstStyle/>
          <a:p>
            <a:r>
              <a:rPr lang="en-US" sz="1050">
                <a:solidFill>
                  <a:srgbClr val="4A2E1A"/>
                </a:solidFill>
              </a:rPr>
              <a:t>The revised SOP is executable today. The Datahub template (columns A-H mandatory for all assets, AI project columns for Chat-to-Data tables) is the concrete field-level reference.</a:t>
            </a:r>
          </a:p>
        </p:txBody>
      </p:sp>
    </p:spTree>
    <p:extLst>
      <p:ext uri="{BB962C8B-B14F-4D97-AF65-F5344CB8AC3E}">
        <p14:creationId xmlns:p14="http://schemas.microsoft.com/office/powerpoint/2010/main" val="45796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4E35DF-B763-C101-A9A1-714AE811942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0BE5D5D-2F6F-FA0F-FB8A-AA1A6D10BE99}"/>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3513CB1-CFA0-F448-17D2-C6919711E1FE}"/>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F9BEE3D-4A48-39B0-B224-F0C70F86056D}"/>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600" b="1">
                <a:solidFill>
                  <a:srgbClr val="FFFFFF"/>
                </a:solidFill>
              </a:rPr>
              <a:t>Why We Changed the SOP</a:t>
            </a:r>
          </a:p>
        </p:txBody>
      </p:sp>
      <p:cxnSp>
        <p:nvCxnSpPr>
          <p:cNvPr id="6" name="Straight Connector 5">
            <a:extLst>
              <a:ext uri="{FF2B5EF4-FFF2-40B4-BE49-F238E27FC236}">
                <a16:creationId xmlns:a16="http://schemas.microsoft.com/office/drawing/2014/main" id="{C7CFFA27-9CB4-27AE-BC6E-2898240E38D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1F01BF6-F236-AC3B-9B61-46F5EF0382D3}"/>
              </a:ext>
            </a:extLst>
          </p:cNvPr>
          <p:cNvSpPr txBox="1"/>
          <p:nvPr/>
        </p:nvSpPr>
        <p:spPr>
          <a:xfrm>
            <a:off x="114300" y="762000"/>
            <a:ext cx="11430000" cy="369332"/>
          </a:xfrm>
          <a:prstGeom prst="rect">
            <a:avLst/>
          </a:prstGeom>
          <a:noFill/>
        </p:spPr>
        <p:txBody>
          <a:bodyPr vert="horz" wrap="square" lIns="38100" tIns="12700" rIns="38100" bIns="12700" rtlCol="0">
            <a:noAutofit/>
          </a:bodyPr>
          <a:lstStyle/>
          <a:p>
            <a:r>
              <a:rPr lang="en-US" sz="1200">
                <a:solidFill>
                  <a:srgbClr val="4A2E1A"/>
                </a:solidFill>
              </a:rPr>
              <a:t>Three driving reasons for the revision:</a:t>
            </a:r>
          </a:p>
        </p:txBody>
      </p:sp>
      <p:sp>
        <p:nvSpPr>
          <p:cNvPr id="8" name="Rectangle 7">
            <a:extLst>
              <a:ext uri="{FF2B5EF4-FFF2-40B4-BE49-F238E27FC236}">
                <a16:creationId xmlns:a16="http://schemas.microsoft.com/office/drawing/2014/main" id="{BF8DC01E-A31D-C64A-6067-4AFA15E8015C}"/>
              </a:ext>
            </a:extLst>
          </p:cNvPr>
          <p:cNvSpPr/>
          <p:nvPr/>
        </p:nvSpPr>
        <p:spPr>
          <a:xfrm>
            <a:off x="114300" y="1117600"/>
            <a:ext cx="11938000" cy="13335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46991A1-F451-E711-7408-C7FC8E1517EE}"/>
              </a:ext>
            </a:extLst>
          </p:cNvPr>
          <p:cNvSpPr/>
          <p:nvPr/>
        </p:nvSpPr>
        <p:spPr>
          <a:xfrm>
            <a:off x="114300" y="1117600"/>
            <a:ext cx="660400" cy="13335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DE25A99-D07E-E920-4907-A1C04002B593}"/>
              </a:ext>
            </a:extLst>
          </p:cNvPr>
          <p:cNvSpPr txBox="1"/>
          <p:nvPr/>
        </p:nvSpPr>
        <p:spPr>
          <a:xfrm>
            <a:off x="114300" y="14986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1</a:t>
            </a:r>
          </a:p>
        </p:txBody>
      </p:sp>
      <p:sp>
        <p:nvSpPr>
          <p:cNvPr id="11" name="TextBox 10">
            <a:extLst>
              <a:ext uri="{FF2B5EF4-FFF2-40B4-BE49-F238E27FC236}">
                <a16:creationId xmlns:a16="http://schemas.microsoft.com/office/drawing/2014/main" id="{7AABEED8-B551-7B0D-330D-CC90BAD5D703}"/>
              </a:ext>
            </a:extLst>
          </p:cNvPr>
          <p:cNvSpPr txBox="1"/>
          <p:nvPr/>
        </p:nvSpPr>
        <p:spPr>
          <a:xfrm>
            <a:off x="863600" y="1219200"/>
            <a:ext cx="11049000" cy="369332"/>
          </a:xfrm>
          <a:prstGeom prst="rect">
            <a:avLst/>
          </a:prstGeom>
          <a:noFill/>
        </p:spPr>
        <p:txBody>
          <a:bodyPr vert="horz" wrap="square" lIns="38100" tIns="12700" rIns="38100" bIns="12700" rtlCol="0">
            <a:noAutofit/>
          </a:bodyPr>
          <a:lstStyle/>
          <a:p>
            <a:r>
              <a:rPr lang="en-US" sz="1100" b="1">
                <a:solidFill>
                  <a:srgbClr val="4A2E1A"/>
                </a:solidFill>
              </a:rPr>
              <a:t>The original SOP was written for full enterprise governance maturity</a:t>
            </a:r>
          </a:p>
        </p:txBody>
      </p:sp>
      <p:cxnSp>
        <p:nvCxnSpPr>
          <p:cNvPr id="12" name="Straight Connector 11">
            <a:extLst>
              <a:ext uri="{FF2B5EF4-FFF2-40B4-BE49-F238E27FC236}">
                <a16:creationId xmlns:a16="http://schemas.microsoft.com/office/drawing/2014/main" id="{79A8067C-9823-9862-6D1E-0E73F8FF68A3}"/>
              </a:ext>
            </a:extLst>
          </p:cNvPr>
          <p:cNvCxnSpPr/>
          <p:nvPr/>
        </p:nvCxnSpPr>
        <p:spPr>
          <a:xfrm>
            <a:off x="863600" y="1524000"/>
            <a:ext cx="110998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B4C7424-0E81-04E5-1EB0-53CB17CDB7E9}"/>
              </a:ext>
            </a:extLst>
          </p:cNvPr>
          <p:cNvSpPr txBox="1"/>
          <p:nvPr/>
        </p:nvSpPr>
        <p:spPr>
          <a:xfrm>
            <a:off x="863600" y="1574800"/>
            <a:ext cx="11099800" cy="369332"/>
          </a:xfrm>
          <a:prstGeom prst="rect">
            <a:avLst/>
          </a:prstGeom>
          <a:noFill/>
        </p:spPr>
        <p:txBody>
          <a:bodyPr vert="horz" wrap="square" lIns="38100" tIns="12700" rIns="38100" bIns="12700" rtlCol="0">
            <a:noAutofit/>
          </a:bodyPr>
          <a:lstStyle/>
          <a:p>
            <a:r>
              <a:rPr lang="en-US" sz="1000">
                <a:solidFill>
                  <a:srgbClr val="8D7A6B"/>
                </a:solidFill>
              </a:rPr>
              <a:t>It required workflow automation, RBAC, system-enforced validation, and DGC oversight -- infrastructure that does not yet exist. The SOP described controls no one could actually execute, which created a compliance gap rather than closing one.</a:t>
            </a:r>
          </a:p>
        </p:txBody>
      </p:sp>
      <p:sp>
        <p:nvSpPr>
          <p:cNvPr id="14" name="Rectangle 13">
            <a:extLst>
              <a:ext uri="{FF2B5EF4-FFF2-40B4-BE49-F238E27FC236}">
                <a16:creationId xmlns:a16="http://schemas.microsoft.com/office/drawing/2014/main" id="{0C0E11BC-7CD9-742E-BB9F-639071B3FEAA}"/>
              </a:ext>
            </a:extLst>
          </p:cNvPr>
          <p:cNvSpPr/>
          <p:nvPr/>
        </p:nvSpPr>
        <p:spPr>
          <a:xfrm>
            <a:off x="114300" y="2501900"/>
            <a:ext cx="11938000" cy="13335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71048CE-E6C2-EF9C-C12C-EAB38971EE26}"/>
              </a:ext>
            </a:extLst>
          </p:cNvPr>
          <p:cNvSpPr/>
          <p:nvPr/>
        </p:nvSpPr>
        <p:spPr>
          <a:xfrm>
            <a:off x="114300" y="2501900"/>
            <a:ext cx="660400" cy="13335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08CE928-9AFB-B32A-F2E8-F90B32FDD0F1}"/>
              </a:ext>
            </a:extLst>
          </p:cNvPr>
          <p:cNvSpPr txBox="1"/>
          <p:nvPr/>
        </p:nvSpPr>
        <p:spPr>
          <a:xfrm>
            <a:off x="114300" y="28829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2</a:t>
            </a:r>
          </a:p>
        </p:txBody>
      </p:sp>
      <p:sp>
        <p:nvSpPr>
          <p:cNvPr id="17" name="TextBox 16">
            <a:extLst>
              <a:ext uri="{FF2B5EF4-FFF2-40B4-BE49-F238E27FC236}">
                <a16:creationId xmlns:a16="http://schemas.microsoft.com/office/drawing/2014/main" id="{A80AC2A6-19BC-4416-5213-E3B44510A5BE}"/>
              </a:ext>
            </a:extLst>
          </p:cNvPr>
          <p:cNvSpPr txBox="1"/>
          <p:nvPr/>
        </p:nvSpPr>
        <p:spPr>
          <a:xfrm>
            <a:off x="863600" y="2603500"/>
            <a:ext cx="11049000" cy="369332"/>
          </a:xfrm>
          <a:prstGeom prst="rect">
            <a:avLst/>
          </a:prstGeom>
          <a:noFill/>
        </p:spPr>
        <p:txBody>
          <a:bodyPr vert="horz" wrap="square" lIns="38100" tIns="12700" rIns="38100" bIns="12700" rtlCol="0">
            <a:noAutofit/>
          </a:bodyPr>
          <a:lstStyle/>
          <a:p>
            <a:r>
              <a:rPr lang="en-US" sz="1100" b="1">
                <a:solidFill>
                  <a:srgbClr val="4A2E1A"/>
                </a:solidFill>
              </a:rPr>
              <a:t>The Chat-to-Data AI project requires a practical, executable standard</a:t>
            </a:r>
          </a:p>
        </p:txBody>
      </p:sp>
      <p:cxnSp>
        <p:nvCxnSpPr>
          <p:cNvPr id="18" name="Straight Connector 17">
            <a:extLst>
              <a:ext uri="{FF2B5EF4-FFF2-40B4-BE49-F238E27FC236}">
                <a16:creationId xmlns:a16="http://schemas.microsoft.com/office/drawing/2014/main" id="{A2023E2D-1D24-3572-CF7B-6F1A41FCC91A}"/>
              </a:ext>
            </a:extLst>
          </p:cNvPr>
          <p:cNvCxnSpPr/>
          <p:nvPr/>
        </p:nvCxnSpPr>
        <p:spPr>
          <a:xfrm>
            <a:off x="863600" y="2908300"/>
            <a:ext cx="110998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DBEE389-92D5-35C0-0C65-9D6310ECBCDA}"/>
              </a:ext>
            </a:extLst>
          </p:cNvPr>
          <p:cNvSpPr txBox="1"/>
          <p:nvPr/>
        </p:nvSpPr>
        <p:spPr>
          <a:xfrm>
            <a:off x="863600" y="2959100"/>
            <a:ext cx="11099800" cy="369332"/>
          </a:xfrm>
          <a:prstGeom prst="rect">
            <a:avLst/>
          </a:prstGeom>
          <a:noFill/>
        </p:spPr>
        <p:txBody>
          <a:bodyPr vert="horz" wrap="square" lIns="38100" tIns="12700" rIns="38100" bIns="12700" rtlCol="0">
            <a:noAutofit/>
          </a:bodyPr>
          <a:lstStyle/>
          <a:p>
            <a:r>
              <a:rPr lang="en-US" sz="1000">
                <a:solidFill>
                  <a:srgbClr val="8D7A6B"/>
                </a:solidFill>
              </a:rPr>
              <a:t>The team needed clear, immediate guidance: which metadata fields are mandatory, who is responsible, and what constitutes a ready data asset. The original SOP did not answer these questions concisely.</a:t>
            </a:r>
          </a:p>
        </p:txBody>
      </p:sp>
      <p:sp>
        <p:nvSpPr>
          <p:cNvPr id="20" name="Rectangle 19">
            <a:extLst>
              <a:ext uri="{FF2B5EF4-FFF2-40B4-BE49-F238E27FC236}">
                <a16:creationId xmlns:a16="http://schemas.microsoft.com/office/drawing/2014/main" id="{BC75AE1A-9590-EB3E-B782-3D2A9D4D7706}"/>
              </a:ext>
            </a:extLst>
          </p:cNvPr>
          <p:cNvSpPr/>
          <p:nvPr/>
        </p:nvSpPr>
        <p:spPr>
          <a:xfrm>
            <a:off x="114300" y="3886200"/>
            <a:ext cx="11938000" cy="13335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B44CE9B-C5DC-B087-8089-DA697905D2B0}"/>
              </a:ext>
            </a:extLst>
          </p:cNvPr>
          <p:cNvSpPr/>
          <p:nvPr/>
        </p:nvSpPr>
        <p:spPr>
          <a:xfrm>
            <a:off x="114300" y="3886200"/>
            <a:ext cx="660400" cy="13335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01D825B-4BC0-79F1-D469-3E1B549EB906}"/>
              </a:ext>
            </a:extLst>
          </p:cNvPr>
          <p:cNvSpPr txBox="1"/>
          <p:nvPr/>
        </p:nvSpPr>
        <p:spPr>
          <a:xfrm>
            <a:off x="114300" y="4267200"/>
            <a:ext cx="660400" cy="369332"/>
          </a:xfrm>
          <a:prstGeom prst="rect">
            <a:avLst/>
          </a:prstGeom>
          <a:noFill/>
        </p:spPr>
        <p:txBody>
          <a:bodyPr vert="horz" wrap="square" lIns="38100" tIns="12700" rIns="38100" bIns="12700" rtlCol="0">
            <a:noAutofit/>
          </a:bodyPr>
          <a:lstStyle/>
          <a:p>
            <a:pPr algn="ctr"/>
            <a:r>
              <a:rPr lang="en-US" sz="2400" b="1">
                <a:solidFill>
                  <a:srgbClr val="FFFFFF"/>
                </a:solidFill>
              </a:rPr>
              <a:t>3</a:t>
            </a:r>
          </a:p>
        </p:txBody>
      </p:sp>
      <p:sp>
        <p:nvSpPr>
          <p:cNvPr id="23" name="TextBox 22">
            <a:extLst>
              <a:ext uri="{FF2B5EF4-FFF2-40B4-BE49-F238E27FC236}">
                <a16:creationId xmlns:a16="http://schemas.microsoft.com/office/drawing/2014/main" id="{CFC13B5C-98AD-9E1B-3E5B-55100D6B1B98}"/>
              </a:ext>
            </a:extLst>
          </p:cNvPr>
          <p:cNvSpPr txBox="1"/>
          <p:nvPr/>
        </p:nvSpPr>
        <p:spPr>
          <a:xfrm>
            <a:off x="863600" y="3987800"/>
            <a:ext cx="11049000" cy="369332"/>
          </a:xfrm>
          <a:prstGeom prst="rect">
            <a:avLst/>
          </a:prstGeom>
          <a:noFill/>
        </p:spPr>
        <p:txBody>
          <a:bodyPr vert="horz" wrap="square" lIns="38100" tIns="12700" rIns="38100" bIns="12700" rtlCol="0">
            <a:noAutofit/>
          </a:bodyPr>
          <a:lstStyle/>
          <a:p>
            <a:r>
              <a:rPr lang="en-US" sz="1100" b="1">
                <a:solidFill>
                  <a:srgbClr val="4A2E1A"/>
                </a:solidFill>
              </a:rPr>
              <a:t>The Datahub Metadata Template provides a concrete field-level reference</a:t>
            </a:r>
          </a:p>
        </p:txBody>
      </p:sp>
      <p:cxnSp>
        <p:nvCxnSpPr>
          <p:cNvPr id="24" name="Straight Connector 23">
            <a:extLst>
              <a:ext uri="{FF2B5EF4-FFF2-40B4-BE49-F238E27FC236}">
                <a16:creationId xmlns:a16="http://schemas.microsoft.com/office/drawing/2014/main" id="{8C0EEEB0-D383-7F29-B0A5-8C4376C98A70}"/>
              </a:ext>
            </a:extLst>
          </p:cNvPr>
          <p:cNvCxnSpPr/>
          <p:nvPr/>
        </p:nvCxnSpPr>
        <p:spPr>
          <a:xfrm>
            <a:off x="863600" y="4292600"/>
            <a:ext cx="110998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17C875F-692E-477B-C76E-C411FBA901E4}"/>
              </a:ext>
            </a:extLst>
          </p:cNvPr>
          <p:cNvSpPr txBox="1"/>
          <p:nvPr/>
        </p:nvSpPr>
        <p:spPr>
          <a:xfrm>
            <a:off x="863600" y="4343400"/>
            <a:ext cx="11099800" cy="369332"/>
          </a:xfrm>
          <a:prstGeom prst="rect">
            <a:avLst/>
          </a:prstGeom>
          <a:noFill/>
        </p:spPr>
        <p:txBody>
          <a:bodyPr vert="horz" wrap="square" lIns="38100" tIns="12700" rIns="38100" bIns="12700" rtlCol="0">
            <a:noAutofit/>
          </a:bodyPr>
          <a:lstStyle/>
          <a:p>
            <a:r>
              <a:rPr lang="en-US" sz="1000">
                <a:solidFill>
                  <a:srgbClr val="8D7A6B"/>
                </a:solidFill>
              </a:rPr>
              <a:t>Columns A-H are now the universal mandatory baseline for all registered data assets. AI-project tables require additional columns (Data Type, PII, Lineage, Synonyms, Grain, etc.). The revised SOP references these explicitly.</a:t>
            </a:r>
          </a:p>
        </p:txBody>
      </p:sp>
    </p:spTree>
    <p:extLst>
      <p:ext uri="{BB962C8B-B14F-4D97-AF65-F5344CB8AC3E}">
        <p14:creationId xmlns:p14="http://schemas.microsoft.com/office/powerpoint/2010/main" val="2413837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4AB0D2-6AF9-DE89-B84F-13539FE57C7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4CFBDE4-4EA2-AD0B-C328-0796FAA680CB}"/>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D8EEC9-71AA-C6E3-25E4-A8A073784710}"/>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230B50-8C39-00B9-37B2-9C36CF4DADC1}"/>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400" b="1">
                <a:solidFill>
                  <a:srgbClr val="FFFFFF"/>
                </a:solidFill>
              </a:rPr>
              <a:t>Summary of All 18 Changes</a:t>
            </a:r>
          </a:p>
        </p:txBody>
      </p:sp>
      <p:cxnSp>
        <p:nvCxnSpPr>
          <p:cNvPr id="6" name="Straight Connector 5">
            <a:extLst>
              <a:ext uri="{FF2B5EF4-FFF2-40B4-BE49-F238E27FC236}">
                <a16:creationId xmlns:a16="http://schemas.microsoft.com/office/drawing/2014/main" id="{F196DCCE-E255-0FCC-7C3F-994BFC250543}"/>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D32BFE1-A6BB-7E9F-3E9C-1361BB5292A3}"/>
              </a:ext>
            </a:extLst>
          </p:cNvPr>
          <p:cNvSpPr/>
          <p:nvPr/>
        </p:nvSpPr>
        <p:spPr>
          <a:xfrm>
            <a:off x="114300" y="736600"/>
            <a:ext cx="5905500" cy="27686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C6D6F5-319F-973C-A7A6-9F5BEF39F5E5}"/>
              </a:ext>
            </a:extLst>
          </p:cNvPr>
          <p:cNvSpPr/>
          <p:nvPr/>
        </p:nvSpPr>
        <p:spPr>
          <a:xfrm>
            <a:off x="114300" y="736600"/>
            <a:ext cx="5905500" cy="3302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9EEB706-9EBD-6429-E5EE-9DBBB56C6834}"/>
              </a:ext>
            </a:extLst>
          </p:cNvPr>
          <p:cNvSpPr txBox="1"/>
          <p:nvPr/>
        </p:nvSpPr>
        <p:spPr>
          <a:xfrm>
            <a:off x="190500" y="800100"/>
            <a:ext cx="5753100" cy="369332"/>
          </a:xfrm>
          <a:prstGeom prst="rect">
            <a:avLst/>
          </a:prstGeom>
          <a:noFill/>
        </p:spPr>
        <p:txBody>
          <a:bodyPr vert="horz" wrap="square" lIns="38100" tIns="12700" rIns="38100" bIns="12700" rtlCol="0">
            <a:noAutofit/>
          </a:bodyPr>
          <a:lstStyle/>
          <a:p>
            <a:r>
              <a:rPr lang="en-US" sz="950" b="1">
                <a:solidFill>
                  <a:srgbClr val="FFFFFF"/>
                </a:solidFill>
              </a:rPr>
              <a:t>Scope &amp; Governance  (1.1 -- 2.1)</a:t>
            </a:r>
          </a:p>
        </p:txBody>
      </p:sp>
      <p:sp>
        <p:nvSpPr>
          <p:cNvPr id="10" name="TextBox 9">
            <a:extLst>
              <a:ext uri="{FF2B5EF4-FFF2-40B4-BE49-F238E27FC236}">
                <a16:creationId xmlns:a16="http://schemas.microsoft.com/office/drawing/2014/main" id="{6B02865E-328E-312A-E013-5B7BDD7EC611}"/>
              </a:ext>
            </a:extLst>
          </p:cNvPr>
          <p:cNvSpPr txBox="1"/>
          <p:nvPr/>
        </p:nvSpPr>
        <p:spPr>
          <a:xfrm>
            <a:off x="165100" y="1117600"/>
            <a:ext cx="457200" cy="369332"/>
          </a:xfrm>
          <a:prstGeom prst="rect">
            <a:avLst/>
          </a:prstGeom>
          <a:noFill/>
        </p:spPr>
        <p:txBody>
          <a:bodyPr vert="horz" wrap="square" lIns="38100" tIns="12700" rIns="38100" bIns="12700" rtlCol="0">
            <a:noAutofit/>
          </a:bodyPr>
          <a:lstStyle/>
          <a:p>
            <a:r>
              <a:rPr lang="en-US" sz="850" b="1">
                <a:solidFill>
                  <a:srgbClr val="A86325"/>
                </a:solidFill>
              </a:rPr>
              <a:t>1.1</a:t>
            </a:r>
          </a:p>
        </p:txBody>
      </p:sp>
      <p:sp>
        <p:nvSpPr>
          <p:cNvPr id="11" name="TextBox 10">
            <a:extLst>
              <a:ext uri="{FF2B5EF4-FFF2-40B4-BE49-F238E27FC236}">
                <a16:creationId xmlns:a16="http://schemas.microsoft.com/office/drawing/2014/main" id="{D06F81FD-1C5B-3392-B060-A4BC066E2912}"/>
              </a:ext>
            </a:extLst>
          </p:cNvPr>
          <p:cNvSpPr txBox="1"/>
          <p:nvPr/>
        </p:nvSpPr>
        <p:spPr>
          <a:xfrm>
            <a:off x="673100" y="1117600"/>
            <a:ext cx="1117600" cy="369332"/>
          </a:xfrm>
          <a:prstGeom prst="rect">
            <a:avLst/>
          </a:prstGeom>
          <a:noFill/>
        </p:spPr>
        <p:txBody>
          <a:bodyPr vert="horz" wrap="square" lIns="38100" tIns="12700" rIns="38100" bIns="12700" rtlCol="0">
            <a:noAutofit/>
          </a:bodyPr>
          <a:lstStyle/>
          <a:p>
            <a:r>
              <a:rPr lang="en-US" sz="850" b="1">
                <a:solidFill>
                  <a:srgbClr val="4A2E1A"/>
                </a:solidFill>
              </a:rPr>
              <a:t>Objective</a:t>
            </a:r>
          </a:p>
        </p:txBody>
      </p:sp>
      <p:sp>
        <p:nvSpPr>
          <p:cNvPr id="12" name="TextBox 11">
            <a:extLst>
              <a:ext uri="{FF2B5EF4-FFF2-40B4-BE49-F238E27FC236}">
                <a16:creationId xmlns:a16="http://schemas.microsoft.com/office/drawing/2014/main" id="{83AD5297-485C-304B-1312-F51A5B6C4875}"/>
              </a:ext>
            </a:extLst>
          </p:cNvPr>
          <p:cNvSpPr txBox="1"/>
          <p:nvPr/>
        </p:nvSpPr>
        <p:spPr>
          <a:xfrm>
            <a:off x="1841500" y="1117600"/>
            <a:ext cx="4127500" cy="369332"/>
          </a:xfrm>
          <a:prstGeom prst="rect">
            <a:avLst/>
          </a:prstGeom>
          <a:noFill/>
        </p:spPr>
        <p:txBody>
          <a:bodyPr vert="horz" wrap="square" lIns="38100" tIns="12700" rIns="38100" bIns="12700" rtlCol="0">
            <a:noAutofit/>
          </a:bodyPr>
          <a:lstStyle/>
          <a:p>
            <a:r>
              <a:rPr lang="en-US" sz="850">
                <a:solidFill>
                  <a:srgbClr val="8D7A6B"/>
                </a:solidFill>
              </a:rPr>
              <a:t>Audit-heavy framing removed; focus narrowed to analytics / AI assets</a:t>
            </a:r>
          </a:p>
        </p:txBody>
      </p:sp>
      <p:cxnSp>
        <p:nvCxnSpPr>
          <p:cNvPr id="13" name="Straight Connector 12">
            <a:extLst>
              <a:ext uri="{FF2B5EF4-FFF2-40B4-BE49-F238E27FC236}">
                <a16:creationId xmlns:a16="http://schemas.microsoft.com/office/drawing/2014/main" id="{140D66C0-8FCE-B93F-CCAE-A2CCC10704D1}"/>
              </a:ext>
            </a:extLst>
          </p:cNvPr>
          <p:cNvCxnSpPr/>
          <p:nvPr/>
        </p:nvCxnSpPr>
        <p:spPr>
          <a:xfrm>
            <a:off x="165100" y="13462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46B624D-F34F-F3D7-3496-DF4C07C726AF}"/>
              </a:ext>
            </a:extLst>
          </p:cNvPr>
          <p:cNvSpPr txBox="1"/>
          <p:nvPr/>
        </p:nvSpPr>
        <p:spPr>
          <a:xfrm>
            <a:off x="165100" y="1397000"/>
            <a:ext cx="457200" cy="369332"/>
          </a:xfrm>
          <a:prstGeom prst="rect">
            <a:avLst/>
          </a:prstGeom>
          <a:noFill/>
        </p:spPr>
        <p:txBody>
          <a:bodyPr vert="horz" wrap="square" lIns="38100" tIns="12700" rIns="38100" bIns="12700" rtlCol="0">
            <a:noAutofit/>
          </a:bodyPr>
          <a:lstStyle/>
          <a:p>
            <a:r>
              <a:rPr lang="en-US" sz="850" b="1">
                <a:solidFill>
                  <a:srgbClr val="A86325"/>
                </a:solidFill>
              </a:rPr>
              <a:t>1.2</a:t>
            </a:r>
          </a:p>
        </p:txBody>
      </p:sp>
      <p:sp>
        <p:nvSpPr>
          <p:cNvPr id="15" name="TextBox 14">
            <a:extLst>
              <a:ext uri="{FF2B5EF4-FFF2-40B4-BE49-F238E27FC236}">
                <a16:creationId xmlns:a16="http://schemas.microsoft.com/office/drawing/2014/main" id="{0BDFD14C-F423-D840-9A13-16AAE7854366}"/>
              </a:ext>
            </a:extLst>
          </p:cNvPr>
          <p:cNvSpPr txBox="1"/>
          <p:nvPr/>
        </p:nvSpPr>
        <p:spPr>
          <a:xfrm>
            <a:off x="673100" y="1397000"/>
            <a:ext cx="1117600" cy="369332"/>
          </a:xfrm>
          <a:prstGeom prst="rect">
            <a:avLst/>
          </a:prstGeom>
          <a:noFill/>
        </p:spPr>
        <p:txBody>
          <a:bodyPr vert="horz" wrap="square" lIns="38100" tIns="12700" rIns="38100" bIns="12700" rtlCol="0">
            <a:noAutofit/>
          </a:bodyPr>
          <a:lstStyle/>
          <a:p>
            <a:r>
              <a:rPr lang="en-US" sz="850" b="1">
                <a:solidFill>
                  <a:srgbClr val="4A2E1A"/>
                </a:solidFill>
              </a:rPr>
              <a:t>Scope</a:t>
            </a:r>
          </a:p>
        </p:txBody>
      </p:sp>
      <p:sp>
        <p:nvSpPr>
          <p:cNvPr id="16" name="TextBox 15">
            <a:extLst>
              <a:ext uri="{FF2B5EF4-FFF2-40B4-BE49-F238E27FC236}">
                <a16:creationId xmlns:a16="http://schemas.microsoft.com/office/drawing/2014/main" id="{5B972E3B-60E5-688E-A9AC-4CE8560E4B1C}"/>
              </a:ext>
            </a:extLst>
          </p:cNvPr>
          <p:cNvSpPr txBox="1"/>
          <p:nvPr/>
        </p:nvSpPr>
        <p:spPr>
          <a:xfrm>
            <a:off x="1841500" y="1397000"/>
            <a:ext cx="4127500" cy="369332"/>
          </a:xfrm>
          <a:prstGeom prst="rect">
            <a:avLst/>
          </a:prstGeom>
          <a:noFill/>
        </p:spPr>
        <p:txBody>
          <a:bodyPr vert="horz" wrap="square" lIns="38100" tIns="12700" rIns="38100" bIns="12700" rtlCol="0">
            <a:noAutofit/>
          </a:bodyPr>
          <a:lstStyle/>
          <a:p>
            <a:r>
              <a:rPr lang="en-US" sz="850">
                <a:solidFill>
                  <a:srgbClr val="8D7A6B"/>
                </a:solidFill>
              </a:rPr>
              <a:t>Enterprise-wide -&gt; Data Asset Register (phased by priority)</a:t>
            </a:r>
          </a:p>
        </p:txBody>
      </p:sp>
      <p:cxnSp>
        <p:nvCxnSpPr>
          <p:cNvPr id="17" name="Straight Connector 16">
            <a:extLst>
              <a:ext uri="{FF2B5EF4-FFF2-40B4-BE49-F238E27FC236}">
                <a16:creationId xmlns:a16="http://schemas.microsoft.com/office/drawing/2014/main" id="{00493CBD-CEF2-DD4C-D37D-825CC106A7CC}"/>
              </a:ext>
            </a:extLst>
          </p:cNvPr>
          <p:cNvCxnSpPr/>
          <p:nvPr/>
        </p:nvCxnSpPr>
        <p:spPr>
          <a:xfrm>
            <a:off x="165100" y="16256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3C239A2-4F0C-5FA8-355A-D1FB6557AAC8}"/>
              </a:ext>
            </a:extLst>
          </p:cNvPr>
          <p:cNvSpPr txBox="1"/>
          <p:nvPr/>
        </p:nvSpPr>
        <p:spPr>
          <a:xfrm>
            <a:off x="165100" y="1676400"/>
            <a:ext cx="457200" cy="369332"/>
          </a:xfrm>
          <a:prstGeom prst="rect">
            <a:avLst/>
          </a:prstGeom>
          <a:noFill/>
        </p:spPr>
        <p:txBody>
          <a:bodyPr vert="horz" wrap="square" lIns="38100" tIns="12700" rIns="38100" bIns="12700" rtlCol="0">
            <a:noAutofit/>
          </a:bodyPr>
          <a:lstStyle/>
          <a:p>
            <a:r>
              <a:rPr lang="en-US" sz="850" b="1">
                <a:solidFill>
                  <a:srgbClr val="A86325"/>
                </a:solidFill>
              </a:rPr>
              <a:t>1.3</a:t>
            </a:r>
          </a:p>
        </p:txBody>
      </p:sp>
      <p:sp>
        <p:nvSpPr>
          <p:cNvPr id="19" name="TextBox 18">
            <a:extLst>
              <a:ext uri="{FF2B5EF4-FFF2-40B4-BE49-F238E27FC236}">
                <a16:creationId xmlns:a16="http://schemas.microsoft.com/office/drawing/2014/main" id="{8045B245-FC9B-1388-2718-F0A22D044C7C}"/>
              </a:ext>
            </a:extLst>
          </p:cNvPr>
          <p:cNvSpPr txBox="1"/>
          <p:nvPr/>
        </p:nvSpPr>
        <p:spPr>
          <a:xfrm>
            <a:off x="673100" y="1676400"/>
            <a:ext cx="1117600" cy="369332"/>
          </a:xfrm>
          <a:prstGeom prst="rect">
            <a:avLst/>
          </a:prstGeom>
          <a:noFill/>
        </p:spPr>
        <p:txBody>
          <a:bodyPr vert="horz" wrap="square" lIns="38100" tIns="12700" rIns="38100" bIns="12700" rtlCol="0">
            <a:noAutofit/>
          </a:bodyPr>
          <a:lstStyle/>
          <a:p>
            <a:r>
              <a:rPr lang="en-US" sz="850" b="1">
                <a:solidFill>
                  <a:srgbClr val="4A2E1A"/>
                </a:solidFill>
              </a:rPr>
              <a:t>Internal Control</a:t>
            </a:r>
          </a:p>
        </p:txBody>
      </p:sp>
      <p:sp>
        <p:nvSpPr>
          <p:cNvPr id="20" name="TextBox 19">
            <a:extLst>
              <a:ext uri="{FF2B5EF4-FFF2-40B4-BE49-F238E27FC236}">
                <a16:creationId xmlns:a16="http://schemas.microsoft.com/office/drawing/2014/main" id="{6F52DD74-6129-E29E-1E0B-D585E2D780B1}"/>
              </a:ext>
            </a:extLst>
          </p:cNvPr>
          <p:cNvSpPr txBox="1"/>
          <p:nvPr/>
        </p:nvSpPr>
        <p:spPr>
          <a:xfrm>
            <a:off x="1841500" y="1676400"/>
            <a:ext cx="4127500" cy="369332"/>
          </a:xfrm>
          <a:prstGeom prst="rect">
            <a:avLst/>
          </a:prstGeom>
          <a:noFill/>
        </p:spPr>
        <p:txBody>
          <a:bodyPr vert="horz" wrap="square" lIns="38100" tIns="12700" rIns="38100" bIns="12700" rtlCol="0">
            <a:noAutofit/>
          </a:bodyPr>
          <a:lstStyle/>
          <a:p>
            <a:r>
              <a:rPr lang="en-US" sz="850">
                <a:solidFill>
                  <a:srgbClr val="8D7A6B"/>
                </a:solidFill>
              </a:rPr>
              <a:t>DGC multi-domain escalation removed; DPO escalation retained</a:t>
            </a:r>
          </a:p>
        </p:txBody>
      </p:sp>
      <p:cxnSp>
        <p:nvCxnSpPr>
          <p:cNvPr id="21" name="Straight Connector 20">
            <a:extLst>
              <a:ext uri="{FF2B5EF4-FFF2-40B4-BE49-F238E27FC236}">
                <a16:creationId xmlns:a16="http://schemas.microsoft.com/office/drawing/2014/main" id="{6CBF9652-B129-2D72-40A3-B462CC53AF4A}"/>
              </a:ext>
            </a:extLst>
          </p:cNvPr>
          <p:cNvCxnSpPr/>
          <p:nvPr/>
        </p:nvCxnSpPr>
        <p:spPr>
          <a:xfrm>
            <a:off x="165100" y="19050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4FD1462-2C96-5F82-9275-D5B318E14941}"/>
              </a:ext>
            </a:extLst>
          </p:cNvPr>
          <p:cNvSpPr txBox="1"/>
          <p:nvPr/>
        </p:nvSpPr>
        <p:spPr>
          <a:xfrm>
            <a:off x="165100" y="1955800"/>
            <a:ext cx="457200" cy="369332"/>
          </a:xfrm>
          <a:prstGeom prst="rect">
            <a:avLst/>
          </a:prstGeom>
          <a:noFill/>
        </p:spPr>
        <p:txBody>
          <a:bodyPr vert="horz" wrap="square" lIns="38100" tIns="12700" rIns="38100" bIns="12700" rtlCol="0">
            <a:noAutofit/>
          </a:bodyPr>
          <a:lstStyle/>
          <a:p>
            <a:r>
              <a:rPr lang="en-US" sz="850" b="1">
                <a:solidFill>
                  <a:srgbClr val="A86325"/>
                </a:solidFill>
              </a:rPr>
              <a:t>2.1</a:t>
            </a:r>
          </a:p>
        </p:txBody>
      </p:sp>
      <p:sp>
        <p:nvSpPr>
          <p:cNvPr id="23" name="TextBox 22">
            <a:extLst>
              <a:ext uri="{FF2B5EF4-FFF2-40B4-BE49-F238E27FC236}">
                <a16:creationId xmlns:a16="http://schemas.microsoft.com/office/drawing/2014/main" id="{45AFF6DC-AB88-2726-BF1F-1D2F3EEC153C}"/>
              </a:ext>
            </a:extLst>
          </p:cNvPr>
          <p:cNvSpPr txBox="1"/>
          <p:nvPr/>
        </p:nvSpPr>
        <p:spPr>
          <a:xfrm>
            <a:off x="673100" y="1955800"/>
            <a:ext cx="1117600" cy="369332"/>
          </a:xfrm>
          <a:prstGeom prst="rect">
            <a:avLst/>
          </a:prstGeom>
          <a:noFill/>
        </p:spPr>
        <p:txBody>
          <a:bodyPr vert="horz" wrap="square" lIns="38100" tIns="12700" rIns="38100" bIns="12700" rtlCol="0">
            <a:noAutofit/>
          </a:bodyPr>
          <a:lstStyle/>
          <a:p>
            <a:r>
              <a:rPr lang="en-US" sz="850" b="1">
                <a:solidFill>
                  <a:srgbClr val="4A2E1A"/>
                </a:solidFill>
              </a:rPr>
              <a:t>Revision History</a:t>
            </a:r>
          </a:p>
        </p:txBody>
      </p:sp>
      <p:sp>
        <p:nvSpPr>
          <p:cNvPr id="24" name="TextBox 23">
            <a:extLst>
              <a:ext uri="{FF2B5EF4-FFF2-40B4-BE49-F238E27FC236}">
                <a16:creationId xmlns:a16="http://schemas.microsoft.com/office/drawing/2014/main" id="{00EA0143-DED4-197A-6136-75E401450E82}"/>
              </a:ext>
            </a:extLst>
          </p:cNvPr>
          <p:cNvSpPr txBox="1"/>
          <p:nvPr/>
        </p:nvSpPr>
        <p:spPr>
          <a:xfrm>
            <a:off x="1841500" y="1955800"/>
            <a:ext cx="4127500" cy="369332"/>
          </a:xfrm>
          <a:prstGeom prst="rect">
            <a:avLst/>
          </a:prstGeom>
          <a:noFill/>
        </p:spPr>
        <p:txBody>
          <a:bodyPr vert="horz" wrap="square" lIns="38100" tIns="12700" rIns="38100" bIns="12700" rtlCol="0">
            <a:noAutofit/>
          </a:bodyPr>
          <a:lstStyle/>
          <a:p>
            <a:r>
              <a:rPr lang="en-US" sz="850">
                <a:solidFill>
                  <a:srgbClr val="8D7A6B"/>
                </a:solidFill>
              </a:rPr>
              <a:t>Rev 1 added; proportionate implementation approach recorded</a:t>
            </a:r>
          </a:p>
        </p:txBody>
      </p:sp>
      <p:cxnSp>
        <p:nvCxnSpPr>
          <p:cNvPr id="25" name="Straight Connector 24">
            <a:extLst>
              <a:ext uri="{FF2B5EF4-FFF2-40B4-BE49-F238E27FC236}">
                <a16:creationId xmlns:a16="http://schemas.microsoft.com/office/drawing/2014/main" id="{9EBAB9EC-E596-9C0A-1B17-335EE396AD13}"/>
              </a:ext>
            </a:extLst>
          </p:cNvPr>
          <p:cNvCxnSpPr/>
          <p:nvPr/>
        </p:nvCxnSpPr>
        <p:spPr>
          <a:xfrm>
            <a:off x="165100" y="21844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CCA4498-A7B6-73CE-0B0B-CD175BEE87CB}"/>
              </a:ext>
            </a:extLst>
          </p:cNvPr>
          <p:cNvSpPr/>
          <p:nvPr/>
        </p:nvSpPr>
        <p:spPr>
          <a:xfrm>
            <a:off x="6210300" y="736600"/>
            <a:ext cx="5905500" cy="27686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93735D-C63E-1FA5-0D0C-6284B5D03E9F}"/>
              </a:ext>
            </a:extLst>
          </p:cNvPr>
          <p:cNvSpPr/>
          <p:nvPr/>
        </p:nvSpPr>
        <p:spPr>
          <a:xfrm>
            <a:off x="6210300" y="736600"/>
            <a:ext cx="5905500" cy="3302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4FA7820-C5FE-D22B-4861-BA4D806B982C}"/>
              </a:ext>
            </a:extLst>
          </p:cNvPr>
          <p:cNvSpPr txBox="1"/>
          <p:nvPr/>
        </p:nvSpPr>
        <p:spPr>
          <a:xfrm>
            <a:off x="6286500" y="800100"/>
            <a:ext cx="5753100" cy="369332"/>
          </a:xfrm>
          <a:prstGeom prst="rect">
            <a:avLst/>
          </a:prstGeom>
          <a:noFill/>
        </p:spPr>
        <p:txBody>
          <a:bodyPr vert="horz" wrap="square" lIns="38100" tIns="12700" rIns="38100" bIns="12700" rtlCol="0">
            <a:noAutofit/>
          </a:bodyPr>
          <a:lstStyle/>
          <a:p>
            <a:r>
              <a:rPr lang="en-US" sz="950" b="1">
                <a:solidFill>
                  <a:srgbClr val="FFFFFF"/>
                </a:solidFill>
              </a:rPr>
              <a:t>Roles &amp; Accountability  (3.1 -- 3.4)</a:t>
            </a:r>
          </a:p>
        </p:txBody>
      </p:sp>
      <p:sp>
        <p:nvSpPr>
          <p:cNvPr id="29" name="TextBox 28">
            <a:extLst>
              <a:ext uri="{FF2B5EF4-FFF2-40B4-BE49-F238E27FC236}">
                <a16:creationId xmlns:a16="http://schemas.microsoft.com/office/drawing/2014/main" id="{C2E95CA3-4BA1-733E-7ED0-8545FDB0E809}"/>
              </a:ext>
            </a:extLst>
          </p:cNvPr>
          <p:cNvSpPr txBox="1"/>
          <p:nvPr/>
        </p:nvSpPr>
        <p:spPr>
          <a:xfrm>
            <a:off x="6261100" y="1117600"/>
            <a:ext cx="457200" cy="369332"/>
          </a:xfrm>
          <a:prstGeom prst="rect">
            <a:avLst/>
          </a:prstGeom>
          <a:noFill/>
        </p:spPr>
        <p:txBody>
          <a:bodyPr vert="horz" wrap="square" lIns="38100" tIns="12700" rIns="38100" bIns="12700" rtlCol="0">
            <a:noAutofit/>
          </a:bodyPr>
          <a:lstStyle/>
          <a:p>
            <a:r>
              <a:rPr lang="en-US" sz="850" b="1">
                <a:solidFill>
                  <a:srgbClr val="A86325"/>
                </a:solidFill>
              </a:rPr>
              <a:t>3.1</a:t>
            </a:r>
          </a:p>
        </p:txBody>
      </p:sp>
      <p:sp>
        <p:nvSpPr>
          <p:cNvPr id="30" name="TextBox 29">
            <a:extLst>
              <a:ext uri="{FF2B5EF4-FFF2-40B4-BE49-F238E27FC236}">
                <a16:creationId xmlns:a16="http://schemas.microsoft.com/office/drawing/2014/main" id="{0DD91D62-D208-B328-28CF-144453C10CFE}"/>
              </a:ext>
            </a:extLst>
          </p:cNvPr>
          <p:cNvSpPr txBox="1"/>
          <p:nvPr/>
        </p:nvSpPr>
        <p:spPr>
          <a:xfrm>
            <a:off x="6769100" y="1117600"/>
            <a:ext cx="1117600" cy="369332"/>
          </a:xfrm>
          <a:prstGeom prst="rect">
            <a:avLst/>
          </a:prstGeom>
          <a:noFill/>
        </p:spPr>
        <p:txBody>
          <a:bodyPr vert="horz" wrap="square" lIns="38100" tIns="12700" rIns="38100" bIns="12700" rtlCol="0">
            <a:noAutofit/>
          </a:bodyPr>
          <a:lstStyle/>
          <a:p>
            <a:r>
              <a:rPr lang="en-US" sz="850" b="1">
                <a:solidFill>
                  <a:srgbClr val="4A2E1A"/>
                </a:solidFill>
              </a:rPr>
              <a:t>Data Owner</a:t>
            </a:r>
          </a:p>
        </p:txBody>
      </p:sp>
      <p:sp>
        <p:nvSpPr>
          <p:cNvPr id="31" name="TextBox 30">
            <a:extLst>
              <a:ext uri="{FF2B5EF4-FFF2-40B4-BE49-F238E27FC236}">
                <a16:creationId xmlns:a16="http://schemas.microsoft.com/office/drawing/2014/main" id="{C77BE0DD-4884-02A8-BB17-6D3C94028414}"/>
              </a:ext>
            </a:extLst>
          </p:cNvPr>
          <p:cNvSpPr txBox="1"/>
          <p:nvPr/>
        </p:nvSpPr>
        <p:spPr>
          <a:xfrm>
            <a:off x="7937500" y="1117600"/>
            <a:ext cx="4127500" cy="369332"/>
          </a:xfrm>
          <a:prstGeom prst="rect">
            <a:avLst/>
          </a:prstGeom>
          <a:noFill/>
        </p:spPr>
        <p:txBody>
          <a:bodyPr vert="horz" wrap="square" lIns="38100" tIns="12700" rIns="38100" bIns="12700" rtlCol="0">
            <a:noAutofit/>
          </a:bodyPr>
          <a:lstStyle/>
          <a:p>
            <a:r>
              <a:rPr lang="en-US" sz="850">
                <a:solidFill>
                  <a:srgbClr val="8D7A6B"/>
                </a:solidFill>
              </a:rPr>
              <a:t>Minor wording: 'responsible for approving' -&gt; 'approves'</a:t>
            </a:r>
          </a:p>
        </p:txBody>
      </p:sp>
      <p:cxnSp>
        <p:nvCxnSpPr>
          <p:cNvPr id="32" name="Straight Connector 31">
            <a:extLst>
              <a:ext uri="{FF2B5EF4-FFF2-40B4-BE49-F238E27FC236}">
                <a16:creationId xmlns:a16="http://schemas.microsoft.com/office/drawing/2014/main" id="{F0AACDDB-7D89-882C-5699-34F5A91D218D}"/>
              </a:ext>
            </a:extLst>
          </p:cNvPr>
          <p:cNvCxnSpPr/>
          <p:nvPr/>
        </p:nvCxnSpPr>
        <p:spPr>
          <a:xfrm>
            <a:off x="6261100" y="13462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E39BF3F-EFDA-F1D9-9CE5-2761B9C45D16}"/>
              </a:ext>
            </a:extLst>
          </p:cNvPr>
          <p:cNvSpPr txBox="1"/>
          <p:nvPr/>
        </p:nvSpPr>
        <p:spPr>
          <a:xfrm>
            <a:off x="6261100" y="1397000"/>
            <a:ext cx="457200" cy="369332"/>
          </a:xfrm>
          <a:prstGeom prst="rect">
            <a:avLst/>
          </a:prstGeom>
          <a:noFill/>
        </p:spPr>
        <p:txBody>
          <a:bodyPr vert="horz" wrap="square" lIns="38100" tIns="12700" rIns="38100" bIns="12700" rtlCol="0">
            <a:noAutofit/>
          </a:bodyPr>
          <a:lstStyle/>
          <a:p>
            <a:r>
              <a:rPr lang="en-US" sz="850" b="1">
                <a:solidFill>
                  <a:srgbClr val="A86325"/>
                </a:solidFill>
              </a:rPr>
              <a:t>3.3</a:t>
            </a:r>
          </a:p>
        </p:txBody>
      </p:sp>
      <p:sp>
        <p:nvSpPr>
          <p:cNvPr id="34" name="TextBox 33">
            <a:extLst>
              <a:ext uri="{FF2B5EF4-FFF2-40B4-BE49-F238E27FC236}">
                <a16:creationId xmlns:a16="http://schemas.microsoft.com/office/drawing/2014/main" id="{855C89FD-263C-F82E-5530-F90DEE0B9D62}"/>
              </a:ext>
            </a:extLst>
          </p:cNvPr>
          <p:cNvSpPr txBox="1"/>
          <p:nvPr/>
        </p:nvSpPr>
        <p:spPr>
          <a:xfrm>
            <a:off x="6769100" y="1397000"/>
            <a:ext cx="1117600" cy="369332"/>
          </a:xfrm>
          <a:prstGeom prst="rect">
            <a:avLst/>
          </a:prstGeom>
          <a:noFill/>
        </p:spPr>
        <p:txBody>
          <a:bodyPr vert="horz" wrap="square" lIns="38100" tIns="12700" rIns="38100" bIns="12700" rtlCol="0">
            <a:noAutofit/>
          </a:bodyPr>
          <a:lstStyle/>
          <a:p>
            <a:r>
              <a:rPr lang="en-US" sz="850" b="1">
                <a:solidFill>
                  <a:srgbClr val="4A2E1A"/>
                </a:solidFill>
              </a:rPr>
              <a:t>Data Custodian</a:t>
            </a:r>
          </a:p>
        </p:txBody>
      </p:sp>
      <p:sp>
        <p:nvSpPr>
          <p:cNvPr id="35" name="TextBox 34">
            <a:extLst>
              <a:ext uri="{FF2B5EF4-FFF2-40B4-BE49-F238E27FC236}">
                <a16:creationId xmlns:a16="http://schemas.microsoft.com/office/drawing/2014/main" id="{AA04C5FD-C6BD-B0CE-8FF2-19A6500A0A00}"/>
              </a:ext>
            </a:extLst>
          </p:cNvPr>
          <p:cNvSpPr txBox="1"/>
          <p:nvPr/>
        </p:nvSpPr>
        <p:spPr>
          <a:xfrm>
            <a:off x="7937500" y="1397000"/>
            <a:ext cx="4127500" cy="369332"/>
          </a:xfrm>
          <a:prstGeom prst="rect">
            <a:avLst/>
          </a:prstGeom>
          <a:noFill/>
        </p:spPr>
        <p:txBody>
          <a:bodyPr vert="horz" wrap="square" lIns="38100" tIns="12700" rIns="38100" bIns="12700" rtlCol="0">
            <a:noAutofit/>
          </a:bodyPr>
          <a:lstStyle/>
          <a:p>
            <a:r>
              <a:rPr lang="en-US" sz="850">
                <a:solidFill>
                  <a:srgbClr val="8D7A6B"/>
                </a:solidFill>
              </a:rPr>
              <a:t>Role-label prefix removed; responsibilities unchanged</a:t>
            </a:r>
          </a:p>
        </p:txBody>
      </p:sp>
      <p:cxnSp>
        <p:nvCxnSpPr>
          <p:cNvPr id="36" name="Straight Connector 35">
            <a:extLst>
              <a:ext uri="{FF2B5EF4-FFF2-40B4-BE49-F238E27FC236}">
                <a16:creationId xmlns:a16="http://schemas.microsoft.com/office/drawing/2014/main" id="{2C1F1967-9B41-E403-5D37-2059A395D165}"/>
              </a:ext>
            </a:extLst>
          </p:cNvPr>
          <p:cNvCxnSpPr/>
          <p:nvPr/>
        </p:nvCxnSpPr>
        <p:spPr>
          <a:xfrm>
            <a:off x="6261100" y="16256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285F232-1DD9-381C-8600-3AF132B317F4}"/>
              </a:ext>
            </a:extLst>
          </p:cNvPr>
          <p:cNvSpPr txBox="1"/>
          <p:nvPr/>
        </p:nvSpPr>
        <p:spPr>
          <a:xfrm>
            <a:off x="6261100" y="1676400"/>
            <a:ext cx="457200" cy="369332"/>
          </a:xfrm>
          <a:prstGeom prst="rect">
            <a:avLst/>
          </a:prstGeom>
          <a:noFill/>
        </p:spPr>
        <p:txBody>
          <a:bodyPr vert="horz" wrap="square" lIns="38100" tIns="12700" rIns="38100" bIns="12700" rtlCol="0">
            <a:noAutofit/>
          </a:bodyPr>
          <a:lstStyle/>
          <a:p>
            <a:r>
              <a:rPr lang="en-US" sz="850" b="1">
                <a:solidFill>
                  <a:srgbClr val="A86325"/>
                </a:solidFill>
              </a:rPr>
              <a:t>3.4</a:t>
            </a:r>
          </a:p>
        </p:txBody>
      </p:sp>
      <p:sp>
        <p:nvSpPr>
          <p:cNvPr id="38" name="TextBox 37">
            <a:extLst>
              <a:ext uri="{FF2B5EF4-FFF2-40B4-BE49-F238E27FC236}">
                <a16:creationId xmlns:a16="http://schemas.microsoft.com/office/drawing/2014/main" id="{8376F65A-DD60-FFF9-E8E1-FF8BFEF56781}"/>
              </a:ext>
            </a:extLst>
          </p:cNvPr>
          <p:cNvSpPr txBox="1"/>
          <p:nvPr/>
        </p:nvSpPr>
        <p:spPr>
          <a:xfrm>
            <a:off x="6769100" y="1676400"/>
            <a:ext cx="1117600" cy="369332"/>
          </a:xfrm>
          <a:prstGeom prst="rect">
            <a:avLst/>
          </a:prstGeom>
          <a:noFill/>
        </p:spPr>
        <p:txBody>
          <a:bodyPr vert="horz" wrap="square" lIns="38100" tIns="12700" rIns="38100" bIns="12700" rtlCol="0">
            <a:noAutofit/>
          </a:bodyPr>
          <a:lstStyle/>
          <a:p>
            <a:r>
              <a:rPr lang="en-US" sz="850" b="1">
                <a:solidFill>
                  <a:srgbClr val="4A2E1A"/>
                </a:solidFill>
              </a:rPr>
              <a:t>DGC</a:t>
            </a:r>
          </a:p>
        </p:txBody>
      </p:sp>
      <p:sp>
        <p:nvSpPr>
          <p:cNvPr id="39" name="TextBox 38">
            <a:extLst>
              <a:ext uri="{FF2B5EF4-FFF2-40B4-BE49-F238E27FC236}">
                <a16:creationId xmlns:a16="http://schemas.microsoft.com/office/drawing/2014/main" id="{304C87C6-06E6-1962-8DF9-589497793FCA}"/>
              </a:ext>
            </a:extLst>
          </p:cNvPr>
          <p:cNvSpPr txBox="1"/>
          <p:nvPr/>
        </p:nvSpPr>
        <p:spPr>
          <a:xfrm>
            <a:off x="7937500" y="1676400"/>
            <a:ext cx="4127500" cy="369332"/>
          </a:xfrm>
          <a:prstGeom prst="rect">
            <a:avLst/>
          </a:prstGeom>
          <a:noFill/>
        </p:spPr>
        <p:txBody>
          <a:bodyPr vert="horz" wrap="square" lIns="38100" tIns="12700" rIns="38100" bIns="12700" rtlCol="0">
            <a:noAutofit/>
          </a:bodyPr>
          <a:lstStyle/>
          <a:p>
            <a:r>
              <a:rPr lang="en-US" sz="850">
                <a:solidFill>
                  <a:srgbClr val="8D7A6B"/>
                </a:solidFill>
              </a:rPr>
              <a:t>DGC removed; replaced by Ownership Register (4 contacts per asset)</a:t>
            </a:r>
          </a:p>
        </p:txBody>
      </p:sp>
      <p:cxnSp>
        <p:nvCxnSpPr>
          <p:cNvPr id="40" name="Straight Connector 39">
            <a:extLst>
              <a:ext uri="{FF2B5EF4-FFF2-40B4-BE49-F238E27FC236}">
                <a16:creationId xmlns:a16="http://schemas.microsoft.com/office/drawing/2014/main" id="{45BD0D52-5BAF-319E-1B45-249B28390C83}"/>
              </a:ext>
            </a:extLst>
          </p:cNvPr>
          <p:cNvCxnSpPr/>
          <p:nvPr/>
        </p:nvCxnSpPr>
        <p:spPr>
          <a:xfrm>
            <a:off x="6261100" y="19050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AC9ED4F-0B9C-4F95-911A-F609AA0649B6}"/>
              </a:ext>
            </a:extLst>
          </p:cNvPr>
          <p:cNvSpPr/>
          <p:nvPr/>
        </p:nvSpPr>
        <p:spPr>
          <a:xfrm>
            <a:off x="114300" y="3594100"/>
            <a:ext cx="5905500" cy="27686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72FACB3-C950-7DB0-3A55-79D3D085977A}"/>
              </a:ext>
            </a:extLst>
          </p:cNvPr>
          <p:cNvSpPr/>
          <p:nvPr/>
        </p:nvSpPr>
        <p:spPr>
          <a:xfrm>
            <a:off x="114300" y="3594100"/>
            <a:ext cx="5905500" cy="3302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DD2911A-F9F0-C6C6-F534-52CA2898E9E2}"/>
              </a:ext>
            </a:extLst>
          </p:cNvPr>
          <p:cNvSpPr txBox="1"/>
          <p:nvPr/>
        </p:nvSpPr>
        <p:spPr>
          <a:xfrm>
            <a:off x="190500" y="3657600"/>
            <a:ext cx="5753100" cy="369332"/>
          </a:xfrm>
          <a:prstGeom prst="rect">
            <a:avLst/>
          </a:prstGeom>
          <a:noFill/>
        </p:spPr>
        <p:txBody>
          <a:bodyPr vert="horz" wrap="square" lIns="38100" tIns="12700" rIns="38100" bIns="12700" rtlCol="0">
            <a:noAutofit/>
          </a:bodyPr>
          <a:lstStyle/>
          <a:p>
            <a:r>
              <a:rPr lang="en-US" sz="950" b="1">
                <a:solidFill>
                  <a:srgbClr val="FFFFFF"/>
                </a:solidFill>
              </a:rPr>
              <a:t>Procedures  (4.1 -- 4.8)</a:t>
            </a:r>
          </a:p>
        </p:txBody>
      </p:sp>
      <p:sp>
        <p:nvSpPr>
          <p:cNvPr id="44" name="TextBox 43">
            <a:extLst>
              <a:ext uri="{FF2B5EF4-FFF2-40B4-BE49-F238E27FC236}">
                <a16:creationId xmlns:a16="http://schemas.microsoft.com/office/drawing/2014/main" id="{EEA93FD2-E936-38EA-77F4-012FC80F04F3}"/>
              </a:ext>
            </a:extLst>
          </p:cNvPr>
          <p:cNvSpPr txBox="1"/>
          <p:nvPr/>
        </p:nvSpPr>
        <p:spPr>
          <a:xfrm>
            <a:off x="165100" y="3975100"/>
            <a:ext cx="457200" cy="369332"/>
          </a:xfrm>
          <a:prstGeom prst="rect">
            <a:avLst/>
          </a:prstGeom>
          <a:noFill/>
        </p:spPr>
        <p:txBody>
          <a:bodyPr vert="horz" wrap="square" lIns="38100" tIns="12700" rIns="38100" bIns="12700" rtlCol="0">
            <a:noAutofit/>
          </a:bodyPr>
          <a:lstStyle/>
          <a:p>
            <a:r>
              <a:rPr lang="en-US" sz="850" b="1">
                <a:solidFill>
                  <a:srgbClr val="A86325"/>
                </a:solidFill>
              </a:rPr>
              <a:t>4.1</a:t>
            </a:r>
          </a:p>
        </p:txBody>
      </p:sp>
      <p:sp>
        <p:nvSpPr>
          <p:cNvPr id="45" name="TextBox 44">
            <a:extLst>
              <a:ext uri="{FF2B5EF4-FFF2-40B4-BE49-F238E27FC236}">
                <a16:creationId xmlns:a16="http://schemas.microsoft.com/office/drawing/2014/main" id="{6923B3B7-14D4-3D31-9C56-45F21D6FA88E}"/>
              </a:ext>
            </a:extLst>
          </p:cNvPr>
          <p:cNvSpPr txBox="1"/>
          <p:nvPr/>
        </p:nvSpPr>
        <p:spPr>
          <a:xfrm>
            <a:off x="673100" y="3975100"/>
            <a:ext cx="1117600" cy="369332"/>
          </a:xfrm>
          <a:prstGeom prst="rect">
            <a:avLst/>
          </a:prstGeom>
          <a:noFill/>
        </p:spPr>
        <p:txBody>
          <a:bodyPr vert="horz" wrap="square" lIns="38100" tIns="12700" rIns="38100" bIns="12700" rtlCol="0">
            <a:noAutofit/>
          </a:bodyPr>
          <a:lstStyle/>
          <a:p>
            <a:r>
              <a:rPr lang="en-US" sz="850" b="1">
                <a:solidFill>
                  <a:srgbClr val="4A2E1A"/>
                </a:solidFill>
              </a:rPr>
              <a:t>Onboarding</a:t>
            </a:r>
          </a:p>
        </p:txBody>
      </p:sp>
      <p:sp>
        <p:nvSpPr>
          <p:cNvPr id="46" name="TextBox 45">
            <a:extLst>
              <a:ext uri="{FF2B5EF4-FFF2-40B4-BE49-F238E27FC236}">
                <a16:creationId xmlns:a16="http://schemas.microsoft.com/office/drawing/2014/main" id="{5C04BE39-4442-D2C2-0D59-688DA571A0EF}"/>
              </a:ext>
            </a:extLst>
          </p:cNvPr>
          <p:cNvSpPr txBox="1"/>
          <p:nvPr/>
        </p:nvSpPr>
        <p:spPr>
          <a:xfrm>
            <a:off x="1841500" y="3975100"/>
            <a:ext cx="4127500" cy="369332"/>
          </a:xfrm>
          <a:prstGeom prst="rect">
            <a:avLst/>
          </a:prstGeom>
          <a:noFill/>
        </p:spPr>
        <p:txBody>
          <a:bodyPr vert="horz" wrap="square" lIns="38100" tIns="12700" rIns="38100" bIns="12700" rtlCol="0">
            <a:noAutofit/>
          </a:bodyPr>
          <a:lstStyle/>
          <a:p>
            <a:r>
              <a:rPr lang="en-US" sz="850">
                <a:solidFill>
                  <a:srgbClr val="8D7A6B"/>
                </a:solidFill>
              </a:rPr>
              <a:t>Datahub template cols A-H mandatory; system enforcement removed</a:t>
            </a:r>
          </a:p>
        </p:txBody>
      </p:sp>
      <p:cxnSp>
        <p:nvCxnSpPr>
          <p:cNvPr id="47" name="Straight Connector 46">
            <a:extLst>
              <a:ext uri="{FF2B5EF4-FFF2-40B4-BE49-F238E27FC236}">
                <a16:creationId xmlns:a16="http://schemas.microsoft.com/office/drawing/2014/main" id="{2EDA0227-B918-D8C0-7D8A-AFE86808F37E}"/>
              </a:ext>
            </a:extLst>
          </p:cNvPr>
          <p:cNvCxnSpPr/>
          <p:nvPr/>
        </p:nvCxnSpPr>
        <p:spPr>
          <a:xfrm>
            <a:off x="165100" y="42037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B6890BB-2384-E1F3-5595-D780FCCD0ABF}"/>
              </a:ext>
            </a:extLst>
          </p:cNvPr>
          <p:cNvSpPr txBox="1"/>
          <p:nvPr/>
        </p:nvSpPr>
        <p:spPr>
          <a:xfrm>
            <a:off x="165100" y="4254500"/>
            <a:ext cx="457200" cy="369332"/>
          </a:xfrm>
          <a:prstGeom prst="rect">
            <a:avLst/>
          </a:prstGeom>
          <a:noFill/>
        </p:spPr>
        <p:txBody>
          <a:bodyPr vert="horz" wrap="square" lIns="38100" tIns="12700" rIns="38100" bIns="12700" rtlCol="0">
            <a:noAutofit/>
          </a:bodyPr>
          <a:lstStyle/>
          <a:p>
            <a:r>
              <a:rPr lang="en-US" sz="850" b="1">
                <a:solidFill>
                  <a:srgbClr val="A86325"/>
                </a:solidFill>
              </a:rPr>
              <a:t>4.2</a:t>
            </a:r>
          </a:p>
        </p:txBody>
      </p:sp>
      <p:sp>
        <p:nvSpPr>
          <p:cNvPr id="49" name="TextBox 48">
            <a:extLst>
              <a:ext uri="{FF2B5EF4-FFF2-40B4-BE49-F238E27FC236}">
                <a16:creationId xmlns:a16="http://schemas.microsoft.com/office/drawing/2014/main" id="{0F5C715C-6764-4428-2336-B2ECBD106874}"/>
              </a:ext>
            </a:extLst>
          </p:cNvPr>
          <p:cNvSpPr txBox="1"/>
          <p:nvPr/>
        </p:nvSpPr>
        <p:spPr>
          <a:xfrm>
            <a:off x="673100" y="4254500"/>
            <a:ext cx="1117600" cy="369332"/>
          </a:xfrm>
          <a:prstGeom prst="rect">
            <a:avLst/>
          </a:prstGeom>
          <a:noFill/>
        </p:spPr>
        <p:txBody>
          <a:bodyPr vert="horz" wrap="square" lIns="38100" tIns="12700" rIns="38100" bIns="12700" rtlCol="0">
            <a:noAutofit/>
          </a:bodyPr>
          <a:lstStyle/>
          <a:p>
            <a:r>
              <a:rPr lang="en-US" sz="850" b="1">
                <a:solidFill>
                  <a:srgbClr val="4A2E1A"/>
                </a:solidFill>
              </a:rPr>
              <a:t>Enrichment</a:t>
            </a:r>
          </a:p>
        </p:txBody>
      </p:sp>
      <p:sp>
        <p:nvSpPr>
          <p:cNvPr id="50" name="TextBox 49">
            <a:extLst>
              <a:ext uri="{FF2B5EF4-FFF2-40B4-BE49-F238E27FC236}">
                <a16:creationId xmlns:a16="http://schemas.microsoft.com/office/drawing/2014/main" id="{8FF2D4C0-017B-8053-3EC3-4FAA68DAB3AE}"/>
              </a:ext>
            </a:extLst>
          </p:cNvPr>
          <p:cNvSpPr txBox="1"/>
          <p:nvPr/>
        </p:nvSpPr>
        <p:spPr>
          <a:xfrm>
            <a:off x="1841500" y="4254500"/>
            <a:ext cx="4127500" cy="369332"/>
          </a:xfrm>
          <a:prstGeom prst="rect">
            <a:avLst/>
          </a:prstGeom>
          <a:noFill/>
        </p:spPr>
        <p:txBody>
          <a:bodyPr vert="horz" wrap="square" lIns="38100" tIns="12700" rIns="38100" bIns="12700" rtlCol="0">
            <a:noAutofit/>
          </a:bodyPr>
          <a:lstStyle/>
          <a:p>
            <a:r>
              <a:rPr lang="en-US" sz="850">
                <a:solidFill>
                  <a:srgbClr val="8D7A6B"/>
                </a:solidFill>
              </a:rPr>
              <a:t>Fields revised: generic governance -&gt; query/AI-specific + AI columns</a:t>
            </a:r>
          </a:p>
        </p:txBody>
      </p:sp>
      <p:cxnSp>
        <p:nvCxnSpPr>
          <p:cNvPr id="51" name="Straight Connector 50">
            <a:extLst>
              <a:ext uri="{FF2B5EF4-FFF2-40B4-BE49-F238E27FC236}">
                <a16:creationId xmlns:a16="http://schemas.microsoft.com/office/drawing/2014/main" id="{06805C7A-57A9-CD88-B3A6-0EF99D129A9E}"/>
              </a:ext>
            </a:extLst>
          </p:cNvPr>
          <p:cNvCxnSpPr/>
          <p:nvPr/>
        </p:nvCxnSpPr>
        <p:spPr>
          <a:xfrm>
            <a:off x="165100" y="44831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48E9F4D-1F3D-CC99-F2E2-06E68DB3EE27}"/>
              </a:ext>
            </a:extLst>
          </p:cNvPr>
          <p:cNvSpPr txBox="1"/>
          <p:nvPr/>
        </p:nvSpPr>
        <p:spPr>
          <a:xfrm>
            <a:off x="165100" y="4533900"/>
            <a:ext cx="457200" cy="369332"/>
          </a:xfrm>
          <a:prstGeom prst="rect">
            <a:avLst/>
          </a:prstGeom>
          <a:noFill/>
        </p:spPr>
        <p:txBody>
          <a:bodyPr vert="horz" wrap="square" lIns="38100" tIns="12700" rIns="38100" bIns="12700" rtlCol="0">
            <a:noAutofit/>
          </a:bodyPr>
          <a:lstStyle/>
          <a:p>
            <a:r>
              <a:rPr lang="en-US" sz="850" b="1">
                <a:solidFill>
                  <a:srgbClr val="A86325"/>
                </a:solidFill>
              </a:rPr>
              <a:t>4.3</a:t>
            </a:r>
          </a:p>
        </p:txBody>
      </p:sp>
      <p:sp>
        <p:nvSpPr>
          <p:cNvPr id="53" name="TextBox 52">
            <a:extLst>
              <a:ext uri="{FF2B5EF4-FFF2-40B4-BE49-F238E27FC236}">
                <a16:creationId xmlns:a16="http://schemas.microsoft.com/office/drawing/2014/main" id="{D05F6FFA-3954-21A6-F97F-5209D0CD4F8C}"/>
              </a:ext>
            </a:extLst>
          </p:cNvPr>
          <p:cNvSpPr txBox="1"/>
          <p:nvPr/>
        </p:nvSpPr>
        <p:spPr>
          <a:xfrm>
            <a:off x="673100" y="4533900"/>
            <a:ext cx="1117600" cy="369332"/>
          </a:xfrm>
          <a:prstGeom prst="rect">
            <a:avLst/>
          </a:prstGeom>
          <a:noFill/>
        </p:spPr>
        <p:txBody>
          <a:bodyPr vert="horz" wrap="square" lIns="38100" tIns="12700" rIns="38100" bIns="12700" rtlCol="0">
            <a:noAutofit/>
          </a:bodyPr>
          <a:lstStyle/>
          <a:p>
            <a:r>
              <a:rPr lang="en-US" sz="850" b="1">
                <a:solidFill>
                  <a:srgbClr val="4A2E1A"/>
                </a:solidFill>
              </a:rPr>
              <a:t>Validation</a:t>
            </a:r>
          </a:p>
        </p:txBody>
      </p:sp>
      <p:sp>
        <p:nvSpPr>
          <p:cNvPr id="54" name="TextBox 53">
            <a:extLst>
              <a:ext uri="{FF2B5EF4-FFF2-40B4-BE49-F238E27FC236}">
                <a16:creationId xmlns:a16="http://schemas.microsoft.com/office/drawing/2014/main" id="{ED24874B-EE49-113D-A406-8B4CBA77C256}"/>
              </a:ext>
            </a:extLst>
          </p:cNvPr>
          <p:cNvSpPr txBox="1"/>
          <p:nvPr/>
        </p:nvSpPr>
        <p:spPr>
          <a:xfrm>
            <a:off x="1841500" y="4533900"/>
            <a:ext cx="4127500" cy="369332"/>
          </a:xfrm>
          <a:prstGeom prst="rect">
            <a:avLst/>
          </a:prstGeom>
          <a:noFill/>
        </p:spPr>
        <p:txBody>
          <a:bodyPr vert="horz" wrap="square" lIns="38100" tIns="12700" rIns="38100" bIns="12700" rtlCol="0">
            <a:noAutofit/>
          </a:bodyPr>
          <a:lstStyle/>
          <a:p>
            <a:r>
              <a:rPr lang="en-US" sz="850">
                <a:solidFill>
                  <a:srgbClr val="8D7A6B"/>
                </a:solidFill>
              </a:rPr>
              <a:t>System checklist removed; manual validation retained</a:t>
            </a:r>
          </a:p>
        </p:txBody>
      </p:sp>
      <p:cxnSp>
        <p:nvCxnSpPr>
          <p:cNvPr id="55" name="Straight Connector 54">
            <a:extLst>
              <a:ext uri="{FF2B5EF4-FFF2-40B4-BE49-F238E27FC236}">
                <a16:creationId xmlns:a16="http://schemas.microsoft.com/office/drawing/2014/main" id="{F5467603-ADB1-28C3-726A-8455C5D06D89}"/>
              </a:ext>
            </a:extLst>
          </p:cNvPr>
          <p:cNvCxnSpPr/>
          <p:nvPr/>
        </p:nvCxnSpPr>
        <p:spPr>
          <a:xfrm>
            <a:off x="165100" y="47625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B7D89D3-94D0-1357-8DAA-F73D40465902}"/>
              </a:ext>
            </a:extLst>
          </p:cNvPr>
          <p:cNvSpPr txBox="1"/>
          <p:nvPr/>
        </p:nvSpPr>
        <p:spPr>
          <a:xfrm>
            <a:off x="165100" y="4813300"/>
            <a:ext cx="457200" cy="369332"/>
          </a:xfrm>
          <a:prstGeom prst="rect">
            <a:avLst/>
          </a:prstGeom>
          <a:noFill/>
        </p:spPr>
        <p:txBody>
          <a:bodyPr vert="horz" wrap="square" lIns="38100" tIns="12700" rIns="38100" bIns="12700" rtlCol="0">
            <a:noAutofit/>
          </a:bodyPr>
          <a:lstStyle/>
          <a:p>
            <a:r>
              <a:rPr lang="en-US" sz="850" b="1">
                <a:solidFill>
                  <a:srgbClr val="A86325"/>
                </a:solidFill>
              </a:rPr>
              <a:t>4.4</a:t>
            </a:r>
          </a:p>
        </p:txBody>
      </p:sp>
      <p:sp>
        <p:nvSpPr>
          <p:cNvPr id="57" name="TextBox 56">
            <a:extLst>
              <a:ext uri="{FF2B5EF4-FFF2-40B4-BE49-F238E27FC236}">
                <a16:creationId xmlns:a16="http://schemas.microsoft.com/office/drawing/2014/main" id="{98FF81C2-EC25-ABFE-22CF-38CF96D7869E}"/>
              </a:ext>
            </a:extLst>
          </p:cNvPr>
          <p:cNvSpPr txBox="1"/>
          <p:nvPr/>
        </p:nvSpPr>
        <p:spPr>
          <a:xfrm>
            <a:off x="673100" y="4813300"/>
            <a:ext cx="1117600" cy="369332"/>
          </a:xfrm>
          <a:prstGeom prst="rect">
            <a:avLst/>
          </a:prstGeom>
          <a:noFill/>
        </p:spPr>
        <p:txBody>
          <a:bodyPr vert="horz" wrap="square" lIns="38100" tIns="12700" rIns="38100" bIns="12700" rtlCol="0">
            <a:noAutofit/>
          </a:bodyPr>
          <a:lstStyle/>
          <a:p>
            <a:r>
              <a:rPr lang="en-US" sz="850" b="1">
                <a:solidFill>
                  <a:srgbClr val="4A2E1A"/>
                </a:solidFill>
              </a:rPr>
              <a:t>Approval</a:t>
            </a:r>
          </a:p>
        </p:txBody>
      </p:sp>
      <p:sp>
        <p:nvSpPr>
          <p:cNvPr id="58" name="TextBox 57">
            <a:extLst>
              <a:ext uri="{FF2B5EF4-FFF2-40B4-BE49-F238E27FC236}">
                <a16:creationId xmlns:a16="http://schemas.microsoft.com/office/drawing/2014/main" id="{971C0E45-F0B0-BF36-4F50-728D1207DD53}"/>
              </a:ext>
            </a:extLst>
          </p:cNvPr>
          <p:cNvSpPr txBox="1"/>
          <p:nvPr/>
        </p:nvSpPr>
        <p:spPr>
          <a:xfrm>
            <a:off x="1841500" y="4813300"/>
            <a:ext cx="4127500" cy="369332"/>
          </a:xfrm>
          <a:prstGeom prst="rect">
            <a:avLst/>
          </a:prstGeom>
          <a:noFill/>
        </p:spPr>
        <p:txBody>
          <a:bodyPr vert="horz" wrap="square" lIns="38100" tIns="12700" rIns="38100" bIns="12700" rtlCol="0">
            <a:noAutofit/>
          </a:bodyPr>
          <a:lstStyle/>
          <a:p>
            <a:r>
              <a:rPr lang="en-US" sz="850">
                <a:solidFill>
                  <a:srgbClr val="8D7A6B"/>
                </a:solidFill>
              </a:rPr>
              <a:t>DGC/system workflow removed; status tracking fields only</a:t>
            </a:r>
          </a:p>
        </p:txBody>
      </p:sp>
      <p:cxnSp>
        <p:nvCxnSpPr>
          <p:cNvPr id="59" name="Straight Connector 58">
            <a:extLst>
              <a:ext uri="{FF2B5EF4-FFF2-40B4-BE49-F238E27FC236}">
                <a16:creationId xmlns:a16="http://schemas.microsoft.com/office/drawing/2014/main" id="{53691A8E-D780-00FC-26C4-102B38A56D7D}"/>
              </a:ext>
            </a:extLst>
          </p:cNvPr>
          <p:cNvCxnSpPr/>
          <p:nvPr/>
        </p:nvCxnSpPr>
        <p:spPr>
          <a:xfrm>
            <a:off x="165100" y="50419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3FEF82C-7FA0-1275-547B-800B66379A76}"/>
              </a:ext>
            </a:extLst>
          </p:cNvPr>
          <p:cNvSpPr txBox="1"/>
          <p:nvPr/>
        </p:nvSpPr>
        <p:spPr>
          <a:xfrm>
            <a:off x="165100" y="5092700"/>
            <a:ext cx="457200" cy="369332"/>
          </a:xfrm>
          <a:prstGeom prst="rect">
            <a:avLst/>
          </a:prstGeom>
          <a:noFill/>
        </p:spPr>
        <p:txBody>
          <a:bodyPr vert="horz" wrap="square" lIns="38100" tIns="12700" rIns="38100" bIns="12700" rtlCol="0">
            <a:noAutofit/>
          </a:bodyPr>
          <a:lstStyle/>
          <a:p>
            <a:r>
              <a:rPr lang="en-US" sz="850" b="1">
                <a:solidFill>
                  <a:srgbClr val="A86325"/>
                </a:solidFill>
              </a:rPr>
              <a:t>4.5</a:t>
            </a:r>
          </a:p>
        </p:txBody>
      </p:sp>
      <p:sp>
        <p:nvSpPr>
          <p:cNvPr id="61" name="TextBox 60">
            <a:extLst>
              <a:ext uri="{FF2B5EF4-FFF2-40B4-BE49-F238E27FC236}">
                <a16:creationId xmlns:a16="http://schemas.microsoft.com/office/drawing/2014/main" id="{6AE22C51-144D-7F26-4B05-610C1448B791}"/>
              </a:ext>
            </a:extLst>
          </p:cNvPr>
          <p:cNvSpPr txBox="1"/>
          <p:nvPr/>
        </p:nvSpPr>
        <p:spPr>
          <a:xfrm>
            <a:off x="673100" y="5092700"/>
            <a:ext cx="1117600" cy="369332"/>
          </a:xfrm>
          <a:prstGeom prst="rect">
            <a:avLst/>
          </a:prstGeom>
          <a:noFill/>
        </p:spPr>
        <p:txBody>
          <a:bodyPr vert="horz" wrap="square" lIns="38100" tIns="12700" rIns="38100" bIns="12700" rtlCol="0">
            <a:noAutofit/>
          </a:bodyPr>
          <a:lstStyle/>
          <a:p>
            <a:r>
              <a:rPr lang="en-US" sz="850" b="1">
                <a:solidFill>
                  <a:srgbClr val="4A2E1A"/>
                </a:solidFill>
              </a:rPr>
              <a:t>Publication</a:t>
            </a:r>
          </a:p>
        </p:txBody>
      </p:sp>
      <p:sp>
        <p:nvSpPr>
          <p:cNvPr id="62" name="TextBox 61">
            <a:extLst>
              <a:ext uri="{FF2B5EF4-FFF2-40B4-BE49-F238E27FC236}">
                <a16:creationId xmlns:a16="http://schemas.microsoft.com/office/drawing/2014/main" id="{E5D2217F-E111-60CE-4382-0E0684A76585}"/>
              </a:ext>
            </a:extLst>
          </p:cNvPr>
          <p:cNvSpPr txBox="1"/>
          <p:nvPr/>
        </p:nvSpPr>
        <p:spPr>
          <a:xfrm>
            <a:off x="1841500" y="5092700"/>
            <a:ext cx="4127500" cy="369332"/>
          </a:xfrm>
          <a:prstGeom prst="rect">
            <a:avLst/>
          </a:prstGeom>
          <a:noFill/>
        </p:spPr>
        <p:txBody>
          <a:bodyPr vert="horz" wrap="square" lIns="38100" tIns="12700" rIns="38100" bIns="12700" rtlCol="0">
            <a:noAutofit/>
          </a:bodyPr>
          <a:lstStyle/>
          <a:p>
            <a:r>
              <a:rPr lang="en-US" sz="850">
                <a:solidFill>
                  <a:srgbClr val="8D7A6B"/>
                </a:solidFill>
              </a:rPr>
              <a:t>RBAC removed; usage control flags per asset</a:t>
            </a:r>
          </a:p>
        </p:txBody>
      </p:sp>
      <p:cxnSp>
        <p:nvCxnSpPr>
          <p:cNvPr id="63" name="Straight Connector 62">
            <a:extLst>
              <a:ext uri="{FF2B5EF4-FFF2-40B4-BE49-F238E27FC236}">
                <a16:creationId xmlns:a16="http://schemas.microsoft.com/office/drawing/2014/main" id="{14454119-383D-0607-2253-5D00E26FD6FC}"/>
              </a:ext>
            </a:extLst>
          </p:cNvPr>
          <p:cNvCxnSpPr/>
          <p:nvPr/>
        </p:nvCxnSpPr>
        <p:spPr>
          <a:xfrm>
            <a:off x="165100" y="53213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E9D4FD7-7D77-AC7B-4369-0759A94F9ED1}"/>
              </a:ext>
            </a:extLst>
          </p:cNvPr>
          <p:cNvSpPr txBox="1"/>
          <p:nvPr/>
        </p:nvSpPr>
        <p:spPr>
          <a:xfrm>
            <a:off x="165100" y="5372100"/>
            <a:ext cx="457200" cy="369332"/>
          </a:xfrm>
          <a:prstGeom prst="rect">
            <a:avLst/>
          </a:prstGeom>
          <a:noFill/>
        </p:spPr>
        <p:txBody>
          <a:bodyPr vert="horz" wrap="square" lIns="38100" tIns="12700" rIns="38100" bIns="12700" rtlCol="0">
            <a:noAutofit/>
          </a:bodyPr>
          <a:lstStyle/>
          <a:p>
            <a:r>
              <a:rPr lang="en-US" sz="850" b="1">
                <a:solidFill>
                  <a:srgbClr val="A86325"/>
                </a:solidFill>
              </a:rPr>
              <a:t>4.6</a:t>
            </a:r>
          </a:p>
        </p:txBody>
      </p:sp>
      <p:sp>
        <p:nvSpPr>
          <p:cNvPr id="65" name="TextBox 64">
            <a:extLst>
              <a:ext uri="{FF2B5EF4-FFF2-40B4-BE49-F238E27FC236}">
                <a16:creationId xmlns:a16="http://schemas.microsoft.com/office/drawing/2014/main" id="{DF853BB8-E236-267F-786F-1A72858D622A}"/>
              </a:ext>
            </a:extLst>
          </p:cNvPr>
          <p:cNvSpPr txBox="1"/>
          <p:nvPr/>
        </p:nvSpPr>
        <p:spPr>
          <a:xfrm>
            <a:off x="673100" y="5372100"/>
            <a:ext cx="1117600" cy="369332"/>
          </a:xfrm>
          <a:prstGeom prst="rect">
            <a:avLst/>
          </a:prstGeom>
          <a:noFill/>
        </p:spPr>
        <p:txBody>
          <a:bodyPr vert="horz" wrap="square" lIns="38100" tIns="12700" rIns="38100" bIns="12700" rtlCol="0">
            <a:noAutofit/>
          </a:bodyPr>
          <a:lstStyle/>
          <a:p>
            <a:r>
              <a:rPr lang="en-US" sz="850" b="1">
                <a:solidFill>
                  <a:srgbClr val="4A2E1A"/>
                </a:solidFill>
              </a:rPr>
              <a:t>Change Mgmt</a:t>
            </a:r>
          </a:p>
        </p:txBody>
      </p:sp>
      <p:sp>
        <p:nvSpPr>
          <p:cNvPr id="66" name="TextBox 65">
            <a:extLst>
              <a:ext uri="{FF2B5EF4-FFF2-40B4-BE49-F238E27FC236}">
                <a16:creationId xmlns:a16="http://schemas.microsoft.com/office/drawing/2014/main" id="{79359CB4-C040-653F-E8DF-FB5232BEFFC2}"/>
              </a:ext>
            </a:extLst>
          </p:cNvPr>
          <p:cNvSpPr txBox="1"/>
          <p:nvPr/>
        </p:nvSpPr>
        <p:spPr>
          <a:xfrm>
            <a:off x="1841500" y="5372100"/>
            <a:ext cx="4127500" cy="369332"/>
          </a:xfrm>
          <a:prstGeom prst="rect">
            <a:avLst/>
          </a:prstGeom>
          <a:noFill/>
        </p:spPr>
        <p:txBody>
          <a:bodyPr vert="horz" wrap="square" lIns="38100" tIns="12700" rIns="38100" bIns="12700" rtlCol="0">
            <a:noAutofit/>
          </a:bodyPr>
          <a:lstStyle/>
          <a:p>
            <a:r>
              <a:rPr lang="en-US" sz="850">
                <a:solidFill>
                  <a:srgbClr val="8D7A6B"/>
                </a:solidFill>
              </a:rPr>
              <a:t>Immutable log removed; lightweight change record fields</a:t>
            </a:r>
          </a:p>
        </p:txBody>
      </p:sp>
      <p:cxnSp>
        <p:nvCxnSpPr>
          <p:cNvPr id="67" name="Straight Connector 66">
            <a:extLst>
              <a:ext uri="{FF2B5EF4-FFF2-40B4-BE49-F238E27FC236}">
                <a16:creationId xmlns:a16="http://schemas.microsoft.com/office/drawing/2014/main" id="{6017FE6B-4AB2-766F-99F3-B0A624A8FCDB}"/>
              </a:ext>
            </a:extLst>
          </p:cNvPr>
          <p:cNvCxnSpPr/>
          <p:nvPr/>
        </p:nvCxnSpPr>
        <p:spPr>
          <a:xfrm>
            <a:off x="165100" y="56007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E214972-6501-296B-BBD9-572BC041B504}"/>
              </a:ext>
            </a:extLst>
          </p:cNvPr>
          <p:cNvSpPr txBox="1"/>
          <p:nvPr/>
        </p:nvSpPr>
        <p:spPr>
          <a:xfrm>
            <a:off x="165100" y="5651500"/>
            <a:ext cx="457200" cy="369332"/>
          </a:xfrm>
          <a:prstGeom prst="rect">
            <a:avLst/>
          </a:prstGeom>
          <a:noFill/>
        </p:spPr>
        <p:txBody>
          <a:bodyPr vert="horz" wrap="square" lIns="38100" tIns="12700" rIns="38100" bIns="12700" rtlCol="0">
            <a:noAutofit/>
          </a:bodyPr>
          <a:lstStyle/>
          <a:p>
            <a:r>
              <a:rPr lang="en-US" sz="850" b="1">
                <a:solidFill>
                  <a:srgbClr val="A86325"/>
                </a:solidFill>
              </a:rPr>
              <a:t>4.7</a:t>
            </a:r>
          </a:p>
        </p:txBody>
      </p:sp>
      <p:sp>
        <p:nvSpPr>
          <p:cNvPr id="69" name="TextBox 68">
            <a:extLst>
              <a:ext uri="{FF2B5EF4-FFF2-40B4-BE49-F238E27FC236}">
                <a16:creationId xmlns:a16="http://schemas.microsoft.com/office/drawing/2014/main" id="{29D4DAE4-EAC6-DBEA-0D87-AD32465694D7}"/>
              </a:ext>
            </a:extLst>
          </p:cNvPr>
          <p:cNvSpPr txBox="1"/>
          <p:nvPr/>
        </p:nvSpPr>
        <p:spPr>
          <a:xfrm>
            <a:off x="673100" y="5651500"/>
            <a:ext cx="1117600" cy="369332"/>
          </a:xfrm>
          <a:prstGeom prst="rect">
            <a:avLst/>
          </a:prstGeom>
          <a:noFill/>
        </p:spPr>
        <p:txBody>
          <a:bodyPr vert="horz" wrap="square" lIns="38100" tIns="12700" rIns="38100" bIns="12700" rtlCol="0">
            <a:noAutofit/>
          </a:bodyPr>
          <a:lstStyle/>
          <a:p>
            <a:r>
              <a:rPr lang="en-US" sz="850" b="1">
                <a:solidFill>
                  <a:srgbClr val="4A2E1A"/>
                </a:solidFill>
              </a:rPr>
              <a:t>Quality</a:t>
            </a:r>
          </a:p>
        </p:txBody>
      </p:sp>
      <p:sp>
        <p:nvSpPr>
          <p:cNvPr id="70" name="TextBox 69">
            <a:extLst>
              <a:ext uri="{FF2B5EF4-FFF2-40B4-BE49-F238E27FC236}">
                <a16:creationId xmlns:a16="http://schemas.microsoft.com/office/drawing/2014/main" id="{8FFA6307-53AF-296F-0FE1-D80771EDC737}"/>
              </a:ext>
            </a:extLst>
          </p:cNvPr>
          <p:cNvSpPr txBox="1"/>
          <p:nvPr/>
        </p:nvSpPr>
        <p:spPr>
          <a:xfrm>
            <a:off x="1841500" y="5651500"/>
            <a:ext cx="4127500" cy="369332"/>
          </a:xfrm>
          <a:prstGeom prst="rect">
            <a:avLst/>
          </a:prstGeom>
          <a:noFill/>
        </p:spPr>
        <p:txBody>
          <a:bodyPr vert="horz" wrap="square" lIns="38100" tIns="12700" rIns="38100" bIns="12700" rtlCol="0">
            <a:noAutofit/>
          </a:bodyPr>
          <a:lstStyle/>
          <a:p>
            <a:r>
              <a:rPr lang="en-US" sz="850">
                <a:solidFill>
                  <a:srgbClr val="8D7A6B"/>
                </a:solidFill>
              </a:rPr>
              <a:t>SLA/dashboard removed; caveats section per asset</a:t>
            </a:r>
          </a:p>
        </p:txBody>
      </p:sp>
      <p:cxnSp>
        <p:nvCxnSpPr>
          <p:cNvPr id="71" name="Straight Connector 70">
            <a:extLst>
              <a:ext uri="{FF2B5EF4-FFF2-40B4-BE49-F238E27FC236}">
                <a16:creationId xmlns:a16="http://schemas.microsoft.com/office/drawing/2014/main" id="{C4D061AF-A6E9-178A-A11B-845CEFFD9EAC}"/>
              </a:ext>
            </a:extLst>
          </p:cNvPr>
          <p:cNvCxnSpPr/>
          <p:nvPr/>
        </p:nvCxnSpPr>
        <p:spPr>
          <a:xfrm>
            <a:off x="165100" y="58801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79BE49EC-E62C-3F48-0EEB-E410C0021C42}"/>
              </a:ext>
            </a:extLst>
          </p:cNvPr>
          <p:cNvSpPr txBox="1"/>
          <p:nvPr/>
        </p:nvSpPr>
        <p:spPr>
          <a:xfrm>
            <a:off x="165100" y="5930900"/>
            <a:ext cx="457200" cy="369332"/>
          </a:xfrm>
          <a:prstGeom prst="rect">
            <a:avLst/>
          </a:prstGeom>
          <a:noFill/>
        </p:spPr>
        <p:txBody>
          <a:bodyPr vert="horz" wrap="square" lIns="38100" tIns="12700" rIns="38100" bIns="12700" rtlCol="0">
            <a:noAutofit/>
          </a:bodyPr>
          <a:lstStyle/>
          <a:p>
            <a:r>
              <a:rPr lang="en-US" sz="850" b="1">
                <a:solidFill>
                  <a:srgbClr val="A86325"/>
                </a:solidFill>
              </a:rPr>
              <a:t>4.8</a:t>
            </a:r>
          </a:p>
        </p:txBody>
      </p:sp>
      <p:sp>
        <p:nvSpPr>
          <p:cNvPr id="73" name="TextBox 72">
            <a:extLst>
              <a:ext uri="{FF2B5EF4-FFF2-40B4-BE49-F238E27FC236}">
                <a16:creationId xmlns:a16="http://schemas.microsoft.com/office/drawing/2014/main" id="{7C2485DC-FF99-5711-273A-0D63F2C167AE}"/>
              </a:ext>
            </a:extLst>
          </p:cNvPr>
          <p:cNvSpPr txBox="1"/>
          <p:nvPr/>
        </p:nvSpPr>
        <p:spPr>
          <a:xfrm>
            <a:off x="673100" y="5930900"/>
            <a:ext cx="1117600" cy="369332"/>
          </a:xfrm>
          <a:prstGeom prst="rect">
            <a:avLst/>
          </a:prstGeom>
          <a:noFill/>
        </p:spPr>
        <p:txBody>
          <a:bodyPr vert="horz" wrap="square" lIns="38100" tIns="12700" rIns="38100" bIns="12700" rtlCol="0">
            <a:noAutofit/>
          </a:bodyPr>
          <a:lstStyle/>
          <a:p>
            <a:r>
              <a:rPr lang="en-US" sz="850" b="1">
                <a:solidFill>
                  <a:srgbClr val="4A2E1A"/>
                </a:solidFill>
              </a:rPr>
              <a:t>Retirement</a:t>
            </a:r>
          </a:p>
        </p:txBody>
      </p:sp>
      <p:sp>
        <p:nvSpPr>
          <p:cNvPr id="74" name="TextBox 73">
            <a:extLst>
              <a:ext uri="{FF2B5EF4-FFF2-40B4-BE49-F238E27FC236}">
                <a16:creationId xmlns:a16="http://schemas.microsoft.com/office/drawing/2014/main" id="{A97CB707-4B89-3822-9D1D-67816C3212CE}"/>
              </a:ext>
            </a:extLst>
          </p:cNvPr>
          <p:cNvSpPr txBox="1"/>
          <p:nvPr/>
        </p:nvSpPr>
        <p:spPr>
          <a:xfrm>
            <a:off x="1841500" y="5930900"/>
            <a:ext cx="4127500" cy="369332"/>
          </a:xfrm>
          <a:prstGeom prst="rect">
            <a:avLst/>
          </a:prstGeom>
          <a:noFill/>
        </p:spPr>
        <p:txBody>
          <a:bodyPr vert="horz" wrap="square" lIns="38100" tIns="12700" rIns="38100" bIns="12700" rtlCol="0">
            <a:noAutofit/>
          </a:bodyPr>
          <a:lstStyle/>
          <a:p>
            <a:r>
              <a:rPr lang="en-US" sz="850">
                <a:solidFill>
                  <a:srgbClr val="8D7A6B"/>
                </a:solidFill>
              </a:rPr>
              <a:t>Archive workflow removed; active/deprecated status fields</a:t>
            </a:r>
          </a:p>
        </p:txBody>
      </p:sp>
      <p:cxnSp>
        <p:nvCxnSpPr>
          <p:cNvPr id="75" name="Straight Connector 74">
            <a:extLst>
              <a:ext uri="{FF2B5EF4-FFF2-40B4-BE49-F238E27FC236}">
                <a16:creationId xmlns:a16="http://schemas.microsoft.com/office/drawing/2014/main" id="{2DDAF8AC-076F-5246-4FFB-6ECBC9C8173A}"/>
              </a:ext>
            </a:extLst>
          </p:cNvPr>
          <p:cNvCxnSpPr/>
          <p:nvPr/>
        </p:nvCxnSpPr>
        <p:spPr>
          <a:xfrm>
            <a:off x="165100" y="61595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6B421D2F-BCBA-5CC1-4E6F-85B7343A528B}"/>
              </a:ext>
            </a:extLst>
          </p:cNvPr>
          <p:cNvSpPr/>
          <p:nvPr/>
        </p:nvSpPr>
        <p:spPr>
          <a:xfrm>
            <a:off x="6210300" y="3594100"/>
            <a:ext cx="5905500" cy="27686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8D20501-ED55-A82A-B79F-B5A4A52A80E4}"/>
              </a:ext>
            </a:extLst>
          </p:cNvPr>
          <p:cNvSpPr/>
          <p:nvPr/>
        </p:nvSpPr>
        <p:spPr>
          <a:xfrm>
            <a:off x="6210300" y="3594100"/>
            <a:ext cx="5905500" cy="3302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782C61DB-E19C-E912-5CA0-EFB65A9338BC}"/>
              </a:ext>
            </a:extLst>
          </p:cNvPr>
          <p:cNvSpPr txBox="1"/>
          <p:nvPr/>
        </p:nvSpPr>
        <p:spPr>
          <a:xfrm>
            <a:off x="6286500" y="3657600"/>
            <a:ext cx="5753100" cy="369332"/>
          </a:xfrm>
          <a:prstGeom prst="rect">
            <a:avLst/>
          </a:prstGeom>
          <a:noFill/>
        </p:spPr>
        <p:txBody>
          <a:bodyPr vert="horz" wrap="square" lIns="38100" tIns="12700" rIns="38100" bIns="12700" rtlCol="0">
            <a:noAutofit/>
          </a:bodyPr>
          <a:lstStyle/>
          <a:p>
            <a:r>
              <a:rPr lang="fr-FR" sz="950" b="1">
                <a:solidFill>
                  <a:srgbClr val="FFFFFF"/>
                </a:solidFill>
              </a:rPr>
              <a:t>Controls &amp; Appendix  (5.0 -- App.A)</a:t>
            </a:r>
            <a:endParaRPr lang="en-US" sz="950" b="1">
              <a:solidFill>
                <a:srgbClr val="FFFFFF"/>
              </a:solidFill>
            </a:endParaRPr>
          </a:p>
        </p:txBody>
      </p:sp>
      <p:sp>
        <p:nvSpPr>
          <p:cNvPr id="79" name="TextBox 78">
            <a:extLst>
              <a:ext uri="{FF2B5EF4-FFF2-40B4-BE49-F238E27FC236}">
                <a16:creationId xmlns:a16="http://schemas.microsoft.com/office/drawing/2014/main" id="{3D28DB35-EBF9-5ADC-A59B-4B5BDEB951E1}"/>
              </a:ext>
            </a:extLst>
          </p:cNvPr>
          <p:cNvSpPr txBox="1"/>
          <p:nvPr/>
        </p:nvSpPr>
        <p:spPr>
          <a:xfrm>
            <a:off x="6261100" y="3975100"/>
            <a:ext cx="457200" cy="369332"/>
          </a:xfrm>
          <a:prstGeom prst="rect">
            <a:avLst/>
          </a:prstGeom>
          <a:noFill/>
        </p:spPr>
        <p:txBody>
          <a:bodyPr vert="horz" wrap="square" lIns="38100" tIns="12700" rIns="38100" bIns="12700" rtlCol="0">
            <a:noAutofit/>
          </a:bodyPr>
          <a:lstStyle/>
          <a:p>
            <a:r>
              <a:rPr lang="en-US" sz="850" b="1">
                <a:solidFill>
                  <a:srgbClr val="A86325"/>
                </a:solidFill>
              </a:rPr>
              <a:t>5.0</a:t>
            </a:r>
          </a:p>
        </p:txBody>
      </p:sp>
      <p:sp>
        <p:nvSpPr>
          <p:cNvPr id="80" name="TextBox 79">
            <a:extLst>
              <a:ext uri="{FF2B5EF4-FFF2-40B4-BE49-F238E27FC236}">
                <a16:creationId xmlns:a16="http://schemas.microsoft.com/office/drawing/2014/main" id="{FC589977-8441-2906-AD13-EB5408B9DC42}"/>
              </a:ext>
            </a:extLst>
          </p:cNvPr>
          <p:cNvSpPr txBox="1"/>
          <p:nvPr/>
        </p:nvSpPr>
        <p:spPr>
          <a:xfrm>
            <a:off x="6769100" y="3975100"/>
            <a:ext cx="1117600" cy="369332"/>
          </a:xfrm>
          <a:prstGeom prst="rect">
            <a:avLst/>
          </a:prstGeom>
          <a:noFill/>
        </p:spPr>
        <p:txBody>
          <a:bodyPr vert="horz" wrap="square" lIns="38100" tIns="12700" rIns="38100" bIns="12700" rtlCol="0">
            <a:noAutofit/>
          </a:bodyPr>
          <a:lstStyle/>
          <a:p>
            <a:r>
              <a:rPr lang="en-US" sz="850" b="1">
                <a:solidFill>
                  <a:srgbClr val="4A2E1A"/>
                </a:solidFill>
              </a:rPr>
              <a:t>Compliance</a:t>
            </a:r>
          </a:p>
        </p:txBody>
      </p:sp>
      <p:sp>
        <p:nvSpPr>
          <p:cNvPr id="81" name="TextBox 80">
            <a:extLst>
              <a:ext uri="{FF2B5EF4-FFF2-40B4-BE49-F238E27FC236}">
                <a16:creationId xmlns:a16="http://schemas.microsoft.com/office/drawing/2014/main" id="{12754BF4-0DB4-ABDC-D7BC-C69D290B896A}"/>
              </a:ext>
            </a:extLst>
          </p:cNvPr>
          <p:cNvSpPr txBox="1"/>
          <p:nvPr/>
        </p:nvSpPr>
        <p:spPr>
          <a:xfrm>
            <a:off x="7937500" y="3975100"/>
            <a:ext cx="4127500" cy="369332"/>
          </a:xfrm>
          <a:prstGeom prst="rect">
            <a:avLst/>
          </a:prstGeom>
          <a:noFill/>
        </p:spPr>
        <p:txBody>
          <a:bodyPr vert="horz" wrap="square" lIns="38100" tIns="12700" rIns="38100" bIns="12700" rtlCol="0">
            <a:noAutofit/>
          </a:bodyPr>
          <a:lstStyle/>
          <a:p>
            <a:r>
              <a:rPr lang="en-US" sz="850">
                <a:solidFill>
                  <a:srgbClr val="8D7A6B"/>
                </a:solidFill>
              </a:rPr>
              <a:t>System logs replaced by simplified traceability fields</a:t>
            </a:r>
          </a:p>
        </p:txBody>
      </p:sp>
      <p:cxnSp>
        <p:nvCxnSpPr>
          <p:cNvPr id="82" name="Straight Connector 81">
            <a:extLst>
              <a:ext uri="{FF2B5EF4-FFF2-40B4-BE49-F238E27FC236}">
                <a16:creationId xmlns:a16="http://schemas.microsoft.com/office/drawing/2014/main" id="{ACD41FE8-D2EC-3FDF-523E-F40A8DABD3A6}"/>
              </a:ext>
            </a:extLst>
          </p:cNvPr>
          <p:cNvCxnSpPr/>
          <p:nvPr/>
        </p:nvCxnSpPr>
        <p:spPr>
          <a:xfrm>
            <a:off x="6261100" y="42037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C917BC64-D6A4-D67B-A8E4-9D381DB11E9C}"/>
              </a:ext>
            </a:extLst>
          </p:cNvPr>
          <p:cNvSpPr txBox="1"/>
          <p:nvPr/>
        </p:nvSpPr>
        <p:spPr>
          <a:xfrm>
            <a:off x="6261100" y="4254500"/>
            <a:ext cx="457200" cy="369332"/>
          </a:xfrm>
          <a:prstGeom prst="rect">
            <a:avLst/>
          </a:prstGeom>
          <a:noFill/>
        </p:spPr>
        <p:txBody>
          <a:bodyPr vert="horz" wrap="square" lIns="38100" tIns="12700" rIns="38100" bIns="12700" rtlCol="0">
            <a:noAutofit/>
          </a:bodyPr>
          <a:lstStyle/>
          <a:p>
            <a:r>
              <a:rPr lang="en-US" sz="850" b="1">
                <a:solidFill>
                  <a:srgbClr val="A86325"/>
                </a:solidFill>
              </a:rPr>
              <a:t>6.0</a:t>
            </a:r>
          </a:p>
        </p:txBody>
      </p:sp>
      <p:sp>
        <p:nvSpPr>
          <p:cNvPr id="84" name="TextBox 83">
            <a:extLst>
              <a:ext uri="{FF2B5EF4-FFF2-40B4-BE49-F238E27FC236}">
                <a16:creationId xmlns:a16="http://schemas.microsoft.com/office/drawing/2014/main" id="{A4DF7D38-1FC2-A215-682A-6AB15423E7D4}"/>
              </a:ext>
            </a:extLst>
          </p:cNvPr>
          <p:cNvSpPr txBox="1"/>
          <p:nvPr/>
        </p:nvSpPr>
        <p:spPr>
          <a:xfrm>
            <a:off x="6769100" y="4254500"/>
            <a:ext cx="1117600" cy="369332"/>
          </a:xfrm>
          <a:prstGeom prst="rect">
            <a:avLst/>
          </a:prstGeom>
          <a:noFill/>
        </p:spPr>
        <p:txBody>
          <a:bodyPr vert="horz" wrap="square" lIns="38100" tIns="12700" rIns="38100" bIns="12700" rtlCol="0">
            <a:noAutofit/>
          </a:bodyPr>
          <a:lstStyle/>
          <a:p>
            <a:r>
              <a:rPr lang="en-US" sz="850" b="1">
                <a:solidFill>
                  <a:srgbClr val="4A2E1A"/>
                </a:solidFill>
              </a:rPr>
              <a:t>PRC</a:t>
            </a:r>
          </a:p>
        </p:txBody>
      </p:sp>
      <p:sp>
        <p:nvSpPr>
          <p:cNvPr id="85" name="TextBox 84">
            <a:extLst>
              <a:ext uri="{FF2B5EF4-FFF2-40B4-BE49-F238E27FC236}">
                <a16:creationId xmlns:a16="http://schemas.microsoft.com/office/drawing/2014/main" id="{F471AEB4-B361-9552-6314-3C6E7417CA48}"/>
              </a:ext>
            </a:extLst>
          </p:cNvPr>
          <p:cNvSpPr txBox="1"/>
          <p:nvPr/>
        </p:nvSpPr>
        <p:spPr>
          <a:xfrm>
            <a:off x="7937500" y="4254500"/>
            <a:ext cx="4127500" cy="369332"/>
          </a:xfrm>
          <a:prstGeom prst="rect">
            <a:avLst/>
          </a:prstGeom>
          <a:noFill/>
        </p:spPr>
        <p:txBody>
          <a:bodyPr vert="horz" wrap="square" lIns="38100" tIns="12700" rIns="38100" bIns="12700" rtlCol="0">
            <a:noAutofit/>
          </a:bodyPr>
          <a:lstStyle/>
          <a:p>
            <a:r>
              <a:rPr lang="en-US" sz="850">
                <a:solidFill>
                  <a:srgbClr val="8D7A6B"/>
                </a:solidFill>
              </a:rPr>
              <a:t>9-process enterprise PRC -&gt; 5 practical query-level risks</a:t>
            </a:r>
          </a:p>
        </p:txBody>
      </p:sp>
      <p:cxnSp>
        <p:nvCxnSpPr>
          <p:cNvPr id="86" name="Straight Connector 85">
            <a:extLst>
              <a:ext uri="{FF2B5EF4-FFF2-40B4-BE49-F238E27FC236}">
                <a16:creationId xmlns:a16="http://schemas.microsoft.com/office/drawing/2014/main" id="{25D3057B-F037-3B0E-8EDD-467F6AC22F53}"/>
              </a:ext>
            </a:extLst>
          </p:cNvPr>
          <p:cNvCxnSpPr/>
          <p:nvPr/>
        </p:nvCxnSpPr>
        <p:spPr>
          <a:xfrm>
            <a:off x="6261100" y="44831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6F40341B-F075-3D83-A767-3CBD70B824EB}"/>
              </a:ext>
            </a:extLst>
          </p:cNvPr>
          <p:cNvSpPr txBox="1"/>
          <p:nvPr/>
        </p:nvSpPr>
        <p:spPr>
          <a:xfrm>
            <a:off x="6261100" y="4533900"/>
            <a:ext cx="457200" cy="369332"/>
          </a:xfrm>
          <a:prstGeom prst="rect">
            <a:avLst/>
          </a:prstGeom>
          <a:noFill/>
        </p:spPr>
        <p:txBody>
          <a:bodyPr vert="horz" wrap="square" lIns="38100" tIns="12700" rIns="38100" bIns="12700" rtlCol="0">
            <a:noAutofit/>
          </a:bodyPr>
          <a:lstStyle/>
          <a:p>
            <a:r>
              <a:rPr lang="en-US" sz="850" b="1">
                <a:solidFill>
                  <a:srgbClr val="A86325"/>
                </a:solidFill>
              </a:rPr>
              <a:t>App.A</a:t>
            </a:r>
          </a:p>
        </p:txBody>
      </p:sp>
      <p:sp>
        <p:nvSpPr>
          <p:cNvPr id="88" name="TextBox 87">
            <a:extLst>
              <a:ext uri="{FF2B5EF4-FFF2-40B4-BE49-F238E27FC236}">
                <a16:creationId xmlns:a16="http://schemas.microsoft.com/office/drawing/2014/main" id="{AF1579EA-91F5-CC55-898B-C9DDDCD80192}"/>
              </a:ext>
            </a:extLst>
          </p:cNvPr>
          <p:cNvSpPr txBox="1"/>
          <p:nvPr/>
        </p:nvSpPr>
        <p:spPr>
          <a:xfrm>
            <a:off x="6769100" y="4533900"/>
            <a:ext cx="1117600" cy="369332"/>
          </a:xfrm>
          <a:prstGeom prst="rect">
            <a:avLst/>
          </a:prstGeom>
          <a:noFill/>
        </p:spPr>
        <p:txBody>
          <a:bodyPr vert="horz" wrap="square" lIns="38100" tIns="12700" rIns="38100" bIns="12700" rtlCol="0">
            <a:noAutofit/>
          </a:bodyPr>
          <a:lstStyle/>
          <a:p>
            <a:r>
              <a:rPr lang="en-US" sz="850" b="1">
                <a:solidFill>
                  <a:srgbClr val="4A2E1A"/>
                </a:solidFill>
              </a:rPr>
              <a:t>Appendix A</a:t>
            </a:r>
          </a:p>
        </p:txBody>
      </p:sp>
      <p:sp>
        <p:nvSpPr>
          <p:cNvPr id="89" name="TextBox 88">
            <a:extLst>
              <a:ext uri="{FF2B5EF4-FFF2-40B4-BE49-F238E27FC236}">
                <a16:creationId xmlns:a16="http://schemas.microsoft.com/office/drawing/2014/main" id="{04937643-3B0A-E933-D027-F9D2384CB7BA}"/>
              </a:ext>
            </a:extLst>
          </p:cNvPr>
          <p:cNvSpPr txBox="1"/>
          <p:nvPr/>
        </p:nvSpPr>
        <p:spPr>
          <a:xfrm>
            <a:off x="7937500" y="4533900"/>
            <a:ext cx="4127500" cy="369332"/>
          </a:xfrm>
          <a:prstGeom prst="rect">
            <a:avLst/>
          </a:prstGeom>
          <a:noFill/>
        </p:spPr>
        <p:txBody>
          <a:bodyPr vert="horz" wrap="square" lIns="38100" tIns="12700" rIns="38100" bIns="12700" rtlCol="0">
            <a:noAutofit/>
          </a:bodyPr>
          <a:lstStyle/>
          <a:p>
            <a:r>
              <a:rPr lang="en-US" sz="850">
                <a:solidFill>
                  <a:srgbClr val="8D7A6B"/>
                </a:solidFill>
              </a:rPr>
              <a:t>RACI matrix -&gt; Datahub template column reference (A-H + AI columns)</a:t>
            </a:r>
          </a:p>
        </p:txBody>
      </p:sp>
      <p:cxnSp>
        <p:nvCxnSpPr>
          <p:cNvPr id="90" name="Straight Connector 89">
            <a:extLst>
              <a:ext uri="{FF2B5EF4-FFF2-40B4-BE49-F238E27FC236}">
                <a16:creationId xmlns:a16="http://schemas.microsoft.com/office/drawing/2014/main" id="{515744FC-ED14-3EB2-6B87-7982B2293856}"/>
              </a:ext>
            </a:extLst>
          </p:cNvPr>
          <p:cNvCxnSpPr/>
          <p:nvPr/>
        </p:nvCxnSpPr>
        <p:spPr>
          <a:xfrm>
            <a:off x="6261100" y="4762500"/>
            <a:ext cx="58039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780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BCF31B-88A1-BBAB-EB5E-C0A0EC74479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B8687B5-B90E-39F9-B93A-E09EE54D0A1D}"/>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850AAC8-2F5E-4F85-E959-693B1BC4848F}"/>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F9D6FF5-9EB4-6DA8-548F-A1CE1BE6E450}"/>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600" b="1">
                <a:solidFill>
                  <a:srgbClr val="FFFFFF"/>
                </a:solidFill>
              </a:rPr>
              <a:t>How to Read This Deck</a:t>
            </a:r>
          </a:p>
        </p:txBody>
      </p:sp>
      <p:cxnSp>
        <p:nvCxnSpPr>
          <p:cNvPr id="6" name="Straight Connector 5">
            <a:extLst>
              <a:ext uri="{FF2B5EF4-FFF2-40B4-BE49-F238E27FC236}">
                <a16:creationId xmlns:a16="http://schemas.microsoft.com/office/drawing/2014/main" id="{11C359DE-7C38-C34F-ACC8-72B33950C0B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85EC13-AA64-8F3F-C420-6052F9E56487}"/>
              </a:ext>
            </a:extLst>
          </p:cNvPr>
          <p:cNvSpPr/>
          <p:nvPr/>
        </p:nvSpPr>
        <p:spPr>
          <a:xfrm>
            <a:off x="114300" y="787400"/>
            <a:ext cx="11938000" cy="1219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0938CA8-7AB7-2405-2A03-E52A8EC596E6}"/>
              </a:ext>
            </a:extLst>
          </p:cNvPr>
          <p:cNvSpPr/>
          <p:nvPr/>
        </p:nvSpPr>
        <p:spPr>
          <a:xfrm>
            <a:off x="114300" y="787400"/>
            <a:ext cx="914400" cy="1219200"/>
          </a:xfrm>
          <a:prstGeom prst="rect">
            <a:avLst/>
          </a:prstGeom>
          <a:solidFill>
            <a:srgbClr val="DCDC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E94EE4B-2431-76A0-D5B3-692A1E587316}"/>
              </a:ext>
            </a:extLst>
          </p:cNvPr>
          <p:cNvSpPr txBox="1"/>
          <p:nvPr/>
        </p:nvSpPr>
        <p:spPr>
          <a:xfrm>
            <a:off x="114300" y="1168400"/>
            <a:ext cx="914400" cy="369332"/>
          </a:xfrm>
          <a:prstGeom prst="rect">
            <a:avLst/>
          </a:prstGeom>
          <a:noFill/>
        </p:spPr>
        <p:txBody>
          <a:bodyPr vert="horz" wrap="square" lIns="38100" tIns="12700" rIns="38100" bIns="12700" rtlCol="0">
            <a:noAutofit/>
          </a:bodyPr>
          <a:lstStyle/>
          <a:p>
            <a:pPr algn="ctr"/>
            <a:r>
              <a:rPr lang="en-US" sz="900" b="1">
                <a:solidFill>
                  <a:srgbClr val="4A2E1A"/>
                </a:solidFill>
              </a:rPr>
              <a:t>ORIGINAL</a:t>
            </a:r>
          </a:p>
        </p:txBody>
      </p:sp>
      <p:cxnSp>
        <p:nvCxnSpPr>
          <p:cNvPr id="10" name="Straight Connector 9">
            <a:extLst>
              <a:ext uri="{FF2B5EF4-FFF2-40B4-BE49-F238E27FC236}">
                <a16:creationId xmlns:a16="http://schemas.microsoft.com/office/drawing/2014/main" id="{EAD2D2F7-4127-A4CF-E059-EB5C32791159}"/>
              </a:ext>
            </a:extLst>
          </p:cNvPr>
          <p:cNvCxnSpPr/>
          <p:nvPr/>
        </p:nvCxnSpPr>
        <p:spPr>
          <a:xfrm>
            <a:off x="1092200" y="1066800"/>
            <a:ext cx="10871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03FD1E3-7198-63F5-D414-0E2EAD0E7A9B}"/>
              </a:ext>
            </a:extLst>
          </p:cNvPr>
          <p:cNvSpPr txBox="1"/>
          <p:nvPr/>
        </p:nvSpPr>
        <p:spPr>
          <a:xfrm>
            <a:off x="1092200" y="889000"/>
            <a:ext cx="10871200" cy="369332"/>
          </a:xfrm>
          <a:prstGeom prst="rect">
            <a:avLst/>
          </a:prstGeom>
          <a:noFill/>
        </p:spPr>
        <p:txBody>
          <a:bodyPr vert="horz" wrap="square" lIns="38100" tIns="12700" rIns="38100" bIns="12700" rtlCol="0">
            <a:noAutofit/>
          </a:bodyPr>
          <a:lstStyle/>
          <a:p>
            <a:r>
              <a:rPr lang="en-US" sz="1100">
                <a:solidFill>
                  <a:srgbClr val="4A2E1A"/>
                </a:solidFill>
              </a:rPr>
              <a:t>Light red background. Full text from the original SOP.docx. Phrases that are removed or changed are highlighted in RED. This is reference material -- read it to understand what existed before.</a:t>
            </a:r>
          </a:p>
        </p:txBody>
      </p:sp>
      <p:sp>
        <p:nvSpPr>
          <p:cNvPr id="12" name="Rectangle 11">
            <a:extLst>
              <a:ext uri="{FF2B5EF4-FFF2-40B4-BE49-F238E27FC236}">
                <a16:creationId xmlns:a16="http://schemas.microsoft.com/office/drawing/2014/main" id="{72BFD2EF-6860-8DD2-753E-5520917F7337}"/>
              </a:ext>
            </a:extLst>
          </p:cNvPr>
          <p:cNvSpPr/>
          <p:nvPr/>
        </p:nvSpPr>
        <p:spPr>
          <a:xfrm>
            <a:off x="114300" y="2057400"/>
            <a:ext cx="11938000" cy="12192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26629C3-9F16-4490-731A-3F2F5C1E2DA3}"/>
              </a:ext>
            </a:extLst>
          </p:cNvPr>
          <p:cNvSpPr/>
          <p:nvPr/>
        </p:nvSpPr>
        <p:spPr>
          <a:xfrm>
            <a:off x="114300" y="2057400"/>
            <a:ext cx="914400" cy="1219200"/>
          </a:xfrm>
          <a:prstGeom prst="rect">
            <a:avLst/>
          </a:prstGeom>
          <a:solidFill>
            <a:srgbClr val="D7E8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A62A882-272D-E3E2-21B5-E9612F432030}"/>
              </a:ext>
            </a:extLst>
          </p:cNvPr>
          <p:cNvSpPr txBox="1"/>
          <p:nvPr/>
        </p:nvSpPr>
        <p:spPr>
          <a:xfrm>
            <a:off x="114300" y="2438400"/>
            <a:ext cx="914400" cy="369332"/>
          </a:xfrm>
          <a:prstGeom prst="rect">
            <a:avLst/>
          </a:prstGeom>
          <a:noFill/>
        </p:spPr>
        <p:txBody>
          <a:bodyPr vert="horz" wrap="square" lIns="38100" tIns="12700" rIns="38100" bIns="12700" rtlCol="0">
            <a:noAutofit/>
          </a:bodyPr>
          <a:lstStyle/>
          <a:p>
            <a:pPr algn="ctr"/>
            <a:r>
              <a:rPr lang="en-US" sz="900" b="1">
                <a:solidFill>
                  <a:srgbClr val="4A2E1A"/>
                </a:solidFill>
              </a:rPr>
              <a:t>CHANGE</a:t>
            </a:r>
          </a:p>
        </p:txBody>
      </p:sp>
      <p:cxnSp>
        <p:nvCxnSpPr>
          <p:cNvPr id="15" name="Straight Connector 14">
            <a:extLst>
              <a:ext uri="{FF2B5EF4-FFF2-40B4-BE49-F238E27FC236}">
                <a16:creationId xmlns:a16="http://schemas.microsoft.com/office/drawing/2014/main" id="{757CE6AA-1107-B241-C08C-52F34DDFEA20}"/>
              </a:ext>
            </a:extLst>
          </p:cNvPr>
          <p:cNvCxnSpPr/>
          <p:nvPr/>
        </p:nvCxnSpPr>
        <p:spPr>
          <a:xfrm>
            <a:off x="1092200" y="2336800"/>
            <a:ext cx="10871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6DD13CB-145D-42E7-ED7F-49820D66EC9A}"/>
              </a:ext>
            </a:extLst>
          </p:cNvPr>
          <p:cNvSpPr txBox="1"/>
          <p:nvPr/>
        </p:nvSpPr>
        <p:spPr>
          <a:xfrm>
            <a:off x="1092200" y="2159000"/>
            <a:ext cx="10871200" cy="369332"/>
          </a:xfrm>
          <a:prstGeom prst="rect">
            <a:avLst/>
          </a:prstGeom>
          <a:noFill/>
        </p:spPr>
        <p:txBody>
          <a:bodyPr vert="horz" wrap="square" lIns="38100" tIns="12700" rIns="38100" bIns="12700" rtlCol="0">
            <a:noAutofit/>
          </a:bodyPr>
          <a:lstStyle/>
          <a:p>
            <a:r>
              <a:rPr lang="en-US" sz="1100">
                <a:solidFill>
                  <a:srgbClr val="4A2E1A"/>
                </a:solidFill>
              </a:rPr>
              <a:t>Light amber background. Full revised text from the updated SOP. New or replacement key phrases are highlighted in BLUE. A bold KEY CHANGE line summarises the most important difference.</a:t>
            </a:r>
          </a:p>
        </p:txBody>
      </p:sp>
      <p:sp>
        <p:nvSpPr>
          <p:cNvPr id="17" name="Rectangle 16">
            <a:extLst>
              <a:ext uri="{FF2B5EF4-FFF2-40B4-BE49-F238E27FC236}">
                <a16:creationId xmlns:a16="http://schemas.microsoft.com/office/drawing/2014/main" id="{01A0BD4D-3AA2-B05D-C914-8C3FFFFDBF3F}"/>
              </a:ext>
            </a:extLst>
          </p:cNvPr>
          <p:cNvSpPr/>
          <p:nvPr/>
        </p:nvSpPr>
        <p:spPr>
          <a:xfrm>
            <a:off x="114300" y="3327400"/>
            <a:ext cx="11938000" cy="1219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72FA5D-5A7C-7708-EDC1-F93FE741722F}"/>
              </a:ext>
            </a:extLst>
          </p:cNvPr>
          <p:cNvSpPr/>
          <p:nvPr/>
        </p:nvSpPr>
        <p:spPr>
          <a:xfrm>
            <a:off x="114300" y="3327400"/>
            <a:ext cx="914400" cy="1219200"/>
          </a:xfrm>
          <a:prstGeom prst="rect">
            <a:avLst/>
          </a:prstGeom>
          <a:solidFill>
            <a:srgbClr val="DEE7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FE2D652-FA9A-C3A0-038A-356154B74CD8}"/>
              </a:ext>
            </a:extLst>
          </p:cNvPr>
          <p:cNvSpPr txBox="1"/>
          <p:nvPr/>
        </p:nvSpPr>
        <p:spPr>
          <a:xfrm>
            <a:off x="114300" y="3708400"/>
            <a:ext cx="914400" cy="369332"/>
          </a:xfrm>
          <a:prstGeom prst="rect">
            <a:avLst/>
          </a:prstGeom>
          <a:noFill/>
        </p:spPr>
        <p:txBody>
          <a:bodyPr vert="horz" wrap="square" lIns="38100" tIns="12700" rIns="38100" bIns="12700" rtlCol="0">
            <a:noAutofit/>
          </a:bodyPr>
          <a:lstStyle/>
          <a:p>
            <a:pPr algn="ctr"/>
            <a:r>
              <a:rPr lang="en-US" sz="900" b="1">
                <a:solidFill>
                  <a:srgbClr val="4A2E1A"/>
                </a:solidFill>
              </a:rPr>
              <a:t>WHY</a:t>
            </a:r>
          </a:p>
        </p:txBody>
      </p:sp>
      <p:cxnSp>
        <p:nvCxnSpPr>
          <p:cNvPr id="20" name="Straight Connector 19">
            <a:extLst>
              <a:ext uri="{FF2B5EF4-FFF2-40B4-BE49-F238E27FC236}">
                <a16:creationId xmlns:a16="http://schemas.microsoft.com/office/drawing/2014/main" id="{35D3B6F5-A3FD-551B-0295-F9F55B603A85}"/>
              </a:ext>
            </a:extLst>
          </p:cNvPr>
          <p:cNvCxnSpPr/>
          <p:nvPr/>
        </p:nvCxnSpPr>
        <p:spPr>
          <a:xfrm>
            <a:off x="1092200" y="3606800"/>
            <a:ext cx="108712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243AD2C-C946-3A69-F843-DEF3F0B65258}"/>
              </a:ext>
            </a:extLst>
          </p:cNvPr>
          <p:cNvSpPr txBox="1"/>
          <p:nvPr/>
        </p:nvSpPr>
        <p:spPr>
          <a:xfrm>
            <a:off x="1092200" y="3429000"/>
            <a:ext cx="10871200" cy="369332"/>
          </a:xfrm>
          <a:prstGeom prst="rect">
            <a:avLst/>
          </a:prstGeom>
          <a:noFill/>
        </p:spPr>
        <p:txBody>
          <a:bodyPr vert="horz" wrap="square" lIns="38100" tIns="12700" rIns="38100" bIns="12700" rtlCol="0">
            <a:noAutofit/>
          </a:bodyPr>
          <a:lstStyle/>
          <a:p>
            <a:r>
              <a:rPr lang="en-US" sz="1100">
                <a:solidFill>
                  <a:srgbClr val="4A2E1A"/>
                </a:solidFill>
              </a:rPr>
              <a:t>Light green background. Explanation of why this section was changed -- the governance rationale, the practical constraint removed, or the improvement made.</a:t>
            </a:r>
          </a:p>
        </p:txBody>
      </p:sp>
      <p:sp>
        <p:nvSpPr>
          <p:cNvPr id="22" name="TextBox 21">
            <a:extLst>
              <a:ext uri="{FF2B5EF4-FFF2-40B4-BE49-F238E27FC236}">
                <a16:creationId xmlns:a16="http://schemas.microsoft.com/office/drawing/2014/main" id="{2108A93E-04D4-13EC-A6B0-849D27F0BAD0}"/>
              </a:ext>
            </a:extLst>
          </p:cNvPr>
          <p:cNvSpPr txBox="1"/>
          <p:nvPr/>
        </p:nvSpPr>
        <p:spPr>
          <a:xfrm>
            <a:off x="114300" y="4673600"/>
            <a:ext cx="11938000" cy="369332"/>
          </a:xfrm>
          <a:prstGeom prst="rect">
            <a:avLst/>
          </a:prstGeom>
          <a:noFill/>
        </p:spPr>
        <p:txBody>
          <a:bodyPr vert="horz" wrap="square" lIns="38100" tIns="12700" rIns="38100" bIns="12700" rtlCol="0">
            <a:noAutofit/>
          </a:bodyPr>
          <a:lstStyle/>
          <a:p>
            <a:pPr algn="ctr"/>
            <a:r>
              <a:rPr lang="en-US" sz="1050">
                <a:solidFill>
                  <a:srgbClr val="8D7A6B"/>
                </a:solidFill>
              </a:rPr>
              <a:t>Each of the 18 changed sections follows this 3-row structure on a single slide  |  One-page summary on slide 4</a:t>
            </a:r>
          </a:p>
        </p:txBody>
      </p:sp>
    </p:spTree>
    <p:extLst>
      <p:ext uri="{BB962C8B-B14F-4D97-AF65-F5344CB8AC3E}">
        <p14:creationId xmlns:p14="http://schemas.microsoft.com/office/powerpoint/2010/main" val="3076619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2BD908-4391-FF96-9534-8F21F225ADDA}"/>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E38C615-149E-310D-20C9-FF606240AF67}"/>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EF1673-7D0B-4D86-5C63-1E250CF22315}"/>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1865609-0F15-5BD9-59E4-400454F9BDEB}"/>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4F1DCF-FDF6-2776-6550-49B98FA0F515}"/>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1.1</a:t>
            </a:r>
          </a:p>
        </p:txBody>
      </p:sp>
      <p:sp>
        <p:nvSpPr>
          <p:cNvPr id="7" name="TextBox 6">
            <a:extLst>
              <a:ext uri="{FF2B5EF4-FFF2-40B4-BE49-F238E27FC236}">
                <a16:creationId xmlns:a16="http://schemas.microsoft.com/office/drawing/2014/main" id="{B6A14381-DD87-B6E2-9C30-3FF9A5DE4520}"/>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1.1  Objective</a:t>
            </a:r>
          </a:p>
        </p:txBody>
      </p:sp>
      <p:sp>
        <p:nvSpPr>
          <p:cNvPr id="8" name="TextBox 7">
            <a:extLst>
              <a:ext uri="{FF2B5EF4-FFF2-40B4-BE49-F238E27FC236}">
                <a16:creationId xmlns:a16="http://schemas.microsoft.com/office/drawing/2014/main" id="{9E6FF2A9-0F30-ADA8-BCC4-70B777C5B9B1}"/>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1.1 / 18</a:t>
            </a:r>
          </a:p>
        </p:txBody>
      </p:sp>
      <p:cxnSp>
        <p:nvCxnSpPr>
          <p:cNvPr id="9" name="Straight Connector 8">
            <a:extLst>
              <a:ext uri="{FF2B5EF4-FFF2-40B4-BE49-F238E27FC236}">
                <a16:creationId xmlns:a16="http://schemas.microsoft.com/office/drawing/2014/main" id="{C33CDE99-24CD-370E-525E-751BAE10B82D}"/>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BF22B34-4E56-D6EC-48C0-F32A41C2FA4D}"/>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BCF079-3156-0D38-5B8A-96EF60F74166}"/>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6019FFBF-C30F-E11E-C10B-8EF2C7C6CF0E}"/>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812C4A6-76C0-FB18-53C8-31AAE9378065}"/>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This procedure establishes a </a:t>
            </a:r>
            <a:r>
              <a:rPr lang="en-US" sz="950">
                <a:solidFill>
                  <a:srgbClr val="2222B2"/>
                </a:solidFill>
              </a:rPr>
              <a:t>controlled, auditable, and risk-aligned</a:t>
            </a:r>
            <a:r>
              <a:rPr lang="en-US" sz="950">
                <a:solidFill>
                  <a:srgbClr val="4A2E1A"/>
                </a:solidFill>
              </a:rPr>
              <a:t> framework for managing metadata across Siam Piwat under an Embedded Data Governance Model. The purpose of this procedure is to ensure that </a:t>
            </a:r>
            <a:r>
              <a:rPr lang="en-US" sz="950">
                <a:solidFill>
                  <a:srgbClr val="2222B2"/>
                </a:solidFill>
              </a:rPr>
              <a:t>all enterprise data assets are properly managed</a:t>
            </a:r>
            <a:r>
              <a:rPr lang="en-US" sz="950">
                <a:solidFill>
                  <a:srgbClr val="4A2E1A"/>
                </a:solidFill>
              </a:rPr>
              <a:t> so that they are discoverable, understandable, trusted, and compliant with applicable laws and </a:t>
            </a:r>
            <a:r>
              <a:rPr lang="en-US" sz="950">
                <a:solidFill>
                  <a:srgbClr val="2222B2"/>
                </a:solidFill>
              </a:rPr>
              <a:t>internal policies, including the Personal Data Protection Act (PDPA)</a:t>
            </a:r>
            <a:r>
              <a:rPr lang="en-US" sz="950">
                <a:solidFill>
                  <a:srgbClr val="4A2E1A"/>
                </a:solidFill>
              </a:rPr>
              <a:t>. This procedure supports accurate reporting, reliable analytics, and effective use of data for business operations, artificial intelligence initiatives, and decision-making.</a:t>
            </a:r>
          </a:p>
        </p:txBody>
      </p:sp>
      <p:cxnSp>
        <p:nvCxnSpPr>
          <p:cNvPr id="14" name="Straight Connector 13">
            <a:extLst>
              <a:ext uri="{FF2B5EF4-FFF2-40B4-BE49-F238E27FC236}">
                <a16:creationId xmlns:a16="http://schemas.microsoft.com/office/drawing/2014/main" id="{DFDD7FE9-6B48-A1FA-1F04-6A722AE998D0}"/>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EC47157-8D0F-DC8D-01D3-99DA183A5694}"/>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EDAFAC-D1BB-AC62-13DB-EC9F75EFE564}"/>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8B662F-C68D-7DDF-46FC-F0957B336C5F}"/>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81A5F9CB-DD71-5001-AFE5-F7DF3FB694A4}"/>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DE5C8D4-89BF-0CF0-E7C1-9DCC835151D6}"/>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Compliance-heavy framing removed; practical governance intent retained</a:t>
            </a:r>
          </a:p>
        </p:txBody>
      </p:sp>
      <p:cxnSp>
        <p:nvCxnSpPr>
          <p:cNvPr id="20" name="Straight Connector 19">
            <a:extLst>
              <a:ext uri="{FF2B5EF4-FFF2-40B4-BE49-F238E27FC236}">
                <a16:creationId xmlns:a16="http://schemas.microsoft.com/office/drawing/2014/main" id="{E44ED779-29E2-2F36-04B0-D62F0D15E634}"/>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495B980-EC81-6591-7836-F83C68BE4D50}"/>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This procedure establishes a </a:t>
            </a:r>
            <a:r>
              <a:rPr lang="en-US" sz="1000">
                <a:solidFill>
                  <a:srgbClr val="3296EB"/>
                </a:solidFill>
              </a:rPr>
              <a:t>governance framework</a:t>
            </a:r>
            <a:r>
              <a:rPr lang="en-US" sz="1000">
                <a:solidFill>
                  <a:srgbClr val="4A2E1A"/>
                </a:solidFill>
              </a:rPr>
              <a:t> for managing metadata across Siam Piwat under an Embedded Data Governance Model. The purpose is to ensure that </a:t>
            </a:r>
            <a:r>
              <a:rPr lang="en-US" sz="1000">
                <a:solidFill>
                  <a:srgbClr val="3296EB"/>
                </a:solidFill>
              </a:rPr>
              <a:t>data assets used in reporting, analytics, and AI applications</a:t>
            </a:r>
            <a:r>
              <a:rPr lang="en-US" sz="1000">
                <a:solidFill>
                  <a:srgbClr val="4A2E1A"/>
                </a:solidFill>
              </a:rPr>
              <a:t> are discoverable, understandable, trusted, and compliant with </a:t>
            </a:r>
            <a:r>
              <a:rPr lang="en-US" sz="1000">
                <a:solidFill>
                  <a:srgbClr val="3296EB"/>
                </a:solidFill>
              </a:rPr>
              <a:t>applicable laws including PDPA</a:t>
            </a:r>
            <a:r>
              <a:rPr lang="en-US" sz="1000">
                <a:solidFill>
                  <a:srgbClr val="4A2E1A"/>
                </a:solidFill>
              </a:rPr>
              <a:t>. This procedure supports accurate reporting, reliable analytics, and effective use of data for business operations, AI initiatives, and decision-making.</a:t>
            </a:r>
          </a:p>
        </p:txBody>
      </p:sp>
      <p:cxnSp>
        <p:nvCxnSpPr>
          <p:cNvPr id="22" name="Straight Connector 21">
            <a:extLst>
              <a:ext uri="{FF2B5EF4-FFF2-40B4-BE49-F238E27FC236}">
                <a16:creationId xmlns:a16="http://schemas.microsoft.com/office/drawing/2014/main" id="{C2D0AD92-85C1-AD07-91F0-DF59FAC2AF3B}"/>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895FACF-D431-7F61-EE41-0C44B0FDFFF7}"/>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AED71DB-409A-3AD3-741A-39820F329801}"/>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8DC4B9E6-CB29-4518-210B-A7730E8866F1}"/>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C759FB7-500D-9568-72AF-5D6A3B7FFBC5}"/>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Objective reframed from compliance-audit-heavy to practical governance intent. 'All enterprise data assets' narrowed to assets used in reporting/analytics/AI. PDPA reference simplified without reducing legal compliance intent.</a:t>
            </a:r>
          </a:p>
        </p:txBody>
      </p:sp>
    </p:spTree>
    <p:extLst>
      <p:ext uri="{BB962C8B-B14F-4D97-AF65-F5344CB8AC3E}">
        <p14:creationId xmlns:p14="http://schemas.microsoft.com/office/powerpoint/2010/main" val="2472795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0B951-5A74-6EED-92C1-C310EBF8231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6E24C1F-E030-1F15-AA78-36AF10DC9C4A}"/>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5166E7E-1E2B-DE1E-EFC3-F9AF6A5CFCB3}"/>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D12E14E-09FB-41F1-F649-00929E781E63}"/>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A106D8-B0D7-A45D-225D-CC7DC13AB85A}"/>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1.2</a:t>
            </a:r>
          </a:p>
        </p:txBody>
      </p:sp>
      <p:sp>
        <p:nvSpPr>
          <p:cNvPr id="7" name="TextBox 6">
            <a:extLst>
              <a:ext uri="{FF2B5EF4-FFF2-40B4-BE49-F238E27FC236}">
                <a16:creationId xmlns:a16="http://schemas.microsoft.com/office/drawing/2014/main" id="{34250E9A-55A1-F887-A775-D49695179C35}"/>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1.2  Scope</a:t>
            </a:r>
          </a:p>
        </p:txBody>
      </p:sp>
      <p:sp>
        <p:nvSpPr>
          <p:cNvPr id="8" name="TextBox 7">
            <a:extLst>
              <a:ext uri="{FF2B5EF4-FFF2-40B4-BE49-F238E27FC236}">
                <a16:creationId xmlns:a16="http://schemas.microsoft.com/office/drawing/2014/main" id="{C0422176-5D61-28D1-120D-B6EBE15192D8}"/>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1.2 / 18</a:t>
            </a:r>
          </a:p>
        </p:txBody>
      </p:sp>
      <p:cxnSp>
        <p:nvCxnSpPr>
          <p:cNvPr id="9" name="Straight Connector 8">
            <a:extLst>
              <a:ext uri="{FF2B5EF4-FFF2-40B4-BE49-F238E27FC236}">
                <a16:creationId xmlns:a16="http://schemas.microsoft.com/office/drawing/2014/main" id="{02F8744F-949A-C981-3DAA-E55164078DE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5AC9B83-2E65-80D3-8F56-F1EDF2752506}"/>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532145A-2A3C-582E-2439-10DF59AE7D9A}"/>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1ACB40A-237C-73F2-86F8-C2D6F9AD93C2}"/>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7F790EC-B2A9-29E5-4769-588962B2CB74}"/>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This procedure applies to </a:t>
            </a:r>
            <a:r>
              <a:rPr lang="en-US" sz="950">
                <a:solidFill>
                  <a:srgbClr val="2222B2"/>
                </a:solidFill>
              </a:rPr>
              <a:t>all metadata across Siam Piwat Group</a:t>
            </a:r>
            <a:r>
              <a:rPr lang="en-US" sz="950">
                <a:solidFill>
                  <a:srgbClr val="4A2E1A"/>
                </a:solidFill>
              </a:rPr>
              <a:t>. It covers metadata associated with </a:t>
            </a:r>
            <a:r>
              <a:rPr lang="en-US" sz="950">
                <a:solidFill>
                  <a:srgbClr val="2222B2"/>
                </a:solidFill>
              </a:rPr>
              <a:t>all data assets, including business, technical, and operational metadata</a:t>
            </a:r>
            <a:r>
              <a:rPr lang="en-US" sz="950">
                <a:solidFill>
                  <a:srgbClr val="4A2E1A"/>
                </a:solidFill>
              </a:rPr>
              <a:t>, as well as master data, transactional data, analytical datasets, reports, dashboards, and AI or analytics use cases. It also applies to </a:t>
            </a:r>
            <a:r>
              <a:rPr lang="en-US" sz="950">
                <a:solidFill>
                  <a:srgbClr val="2222B2"/>
                </a:solidFill>
              </a:rPr>
              <a:t>data stored and processed across all platforms, including both on-premise and cloud environments within the Group</a:t>
            </a:r>
            <a:r>
              <a:rPr lang="en-US" sz="950">
                <a:solidFill>
                  <a:srgbClr val="4A2E1A"/>
                </a:solidFill>
              </a:rPr>
              <a:t>. All metadata created, maintained, or used within Siam Piwat Group must comply with this procedure throughout its lifecycle.</a:t>
            </a:r>
          </a:p>
        </p:txBody>
      </p:sp>
      <p:cxnSp>
        <p:nvCxnSpPr>
          <p:cNvPr id="14" name="Straight Connector 13">
            <a:extLst>
              <a:ext uri="{FF2B5EF4-FFF2-40B4-BE49-F238E27FC236}">
                <a16:creationId xmlns:a16="http://schemas.microsoft.com/office/drawing/2014/main" id="{E4651D9A-CD28-22CB-C2B8-0739FDB75150}"/>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6FA4DCE-E94C-28C9-7994-D047C69C583B}"/>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80F2F15-3324-4BC9-3B21-45FD518715CA}"/>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25C0191-3A8F-1293-599E-D2CBEE1A2D88}"/>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FECFFFFA-3E90-EB28-4CB5-1C38E6D3EC2C}"/>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2A125F2-0D70-77DC-DE93-A72D44C30FF7}"/>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Enterprise-wide scope replaced by Data Asset Register; phased delivery is now SOP-compliant</a:t>
            </a:r>
          </a:p>
        </p:txBody>
      </p:sp>
      <p:cxnSp>
        <p:nvCxnSpPr>
          <p:cNvPr id="20" name="Straight Connector 19">
            <a:extLst>
              <a:ext uri="{FF2B5EF4-FFF2-40B4-BE49-F238E27FC236}">
                <a16:creationId xmlns:a16="http://schemas.microsoft.com/office/drawing/2014/main" id="{43BFE88F-D458-82AB-9D65-2C2469C3A4D2}"/>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7479348-48A9-4676-3103-25DD693868D4}"/>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This procedure applies to all </a:t>
            </a:r>
            <a:r>
              <a:rPr lang="en-US" sz="1000">
                <a:solidFill>
                  <a:srgbClr val="3296EB"/>
                </a:solidFill>
              </a:rPr>
              <a:t>data assets registered in the Data Asset Register</a:t>
            </a:r>
            <a:r>
              <a:rPr lang="en-US" sz="1000">
                <a:solidFill>
                  <a:srgbClr val="4A2E1A"/>
                </a:solidFill>
              </a:rPr>
              <a:t> as designated in-scope by BDSI. The active scope of implementation is determined based on business priority and available resources, and is </a:t>
            </a:r>
            <a:r>
              <a:rPr lang="en-US" sz="1000">
                <a:solidFill>
                  <a:srgbClr val="3296EB"/>
                </a:solidFill>
              </a:rPr>
              <a:t>maintained separately in the Data Asset Register</a:t>
            </a:r>
            <a:r>
              <a:rPr lang="en-US" sz="1000">
                <a:solidFill>
                  <a:srgbClr val="4A2E1A"/>
                </a:solidFill>
              </a:rPr>
              <a:t>. </a:t>
            </a:r>
            <a:r>
              <a:rPr lang="en-US" sz="1000">
                <a:solidFill>
                  <a:srgbClr val="3296EB"/>
                </a:solidFill>
              </a:rPr>
              <a:t>Implementation may be phased</a:t>
            </a:r>
            <a:r>
              <a:rPr lang="en-US" sz="1000">
                <a:solidFill>
                  <a:srgbClr val="4A2E1A"/>
                </a:solidFill>
              </a:rPr>
              <a:t>; data assets not yet registered are expected to be onboarded progressively in order of business priority. All metadata created, maintained, or used within Siam Piwat Group must comply with this procedure throughout its lifecycle.</a:t>
            </a:r>
          </a:p>
        </p:txBody>
      </p:sp>
      <p:cxnSp>
        <p:nvCxnSpPr>
          <p:cNvPr id="22" name="Straight Connector 21">
            <a:extLst>
              <a:ext uri="{FF2B5EF4-FFF2-40B4-BE49-F238E27FC236}">
                <a16:creationId xmlns:a16="http://schemas.microsoft.com/office/drawing/2014/main" id="{334B8BEE-2EF3-E738-87D0-DB14C5B8BFE0}"/>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50D1D26-C02E-E4FC-2DC3-DA8BF11ABA13}"/>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F557F0-B3DA-BFD2-26FD-0EAAFF8224BE}"/>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D3D780F7-E12F-40C4-EF1D-31AAF2851C93}"/>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C8F501B-C4CA-B82A-D36A-9A2C38A34110}"/>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Original scope covered every asset and platform across the entire Group -- not achievable in a single delivery. Data Asset Register is now the authoritative scope list; phased delivery is SOP-compliant. Compliance requirement for the full lifecycle retained unchanged.</a:t>
            </a:r>
          </a:p>
        </p:txBody>
      </p:sp>
    </p:spTree>
    <p:extLst>
      <p:ext uri="{BB962C8B-B14F-4D97-AF65-F5344CB8AC3E}">
        <p14:creationId xmlns:p14="http://schemas.microsoft.com/office/powerpoint/2010/main" val="441029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B50BAF-132D-A24F-CDCB-FDE13F0ADF2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030A183-1728-087B-BF12-64C6CF5DBB0D}"/>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5C545B3-37CB-EBBA-EFF2-0F92A6824145}"/>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17885BA-5F8F-7124-A48D-831A1925B895}"/>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780D374-A37B-E85A-46A3-E38C5065D070}"/>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1.3</a:t>
            </a:r>
          </a:p>
        </p:txBody>
      </p:sp>
      <p:sp>
        <p:nvSpPr>
          <p:cNvPr id="7" name="TextBox 6">
            <a:extLst>
              <a:ext uri="{FF2B5EF4-FFF2-40B4-BE49-F238E27FC236}">
                <a16:creationId xmlns:a16="http://schemas.microsoft.com/office/drawing/2014/main" id="{FF43E90C-6671-77A0-22AF-0074B0250499}"/>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1.3  Internal Control Framework</a:t>
            </a:r>
          </a:p>
        </p:txBody>
      </p:sp>
      <p:sp>
        <p:nvSpPr>
          <p:cNvPr id="8" name="TextBox 7">
            <a:extLst>
              <a:ext uri="{FF2B5EF4-FFF2-40B4-BE49-F238E27FC236}">
                <a16:creationId xmlns:a16="http://schemas.microsoft.com/office/drawing/2014/main" id="{1753BC1E-196F-AA63-2996-E35FFA57BFDA}"/>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1.3 / 18</a:t>
            </a:r>
          </a:p>
        </p:txBody>
      </p:sp>
      <p:cxnSp>
        <p:nvCxnSpPr>
          <p:cNvPr id="9" name="Straight Connector 8">
            <a:extLst>
              <a:ext uri="{FF2B5EF4-FFF2-40B4-BE49-F238E27FC236}">
                <a16:creationId xmlns:a16="http://schemas.microsoft.com/office/drawing/2014/main" id="{11BC963A-7111-91F2-3F28-26156F49C718}"/>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A25F27F-32B4-D07C-5868-09A78E801B92}"/>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C9B6E1B-3106-6E1F-C492-F5C2B4E69327}"/>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BB01E12-1DB9-F951-98D9-4F44E931A3DC}"/>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4574E49-2D2E-6A98-2116-66FD9F6C2BA1}"/>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1.3.1 Embedded Governance: Metadata governance responsibilities are embedded within business and technology functions. Each business domain is responsible for managing its own data and metadata, with accountability assigned according to data usage and ownership.
</a:t>
            </a:r>
            <a:r>
              <a:rPr lang="en-US" sz="950">
                <a:solidFill>
                  <a:srgbClr val="2222B2"/>
                </a:solidFill>
              </a:rPr>
              <a:t>1.3.2 Governance Oversight and Escalation:</a:t>
            </a:r>
            <a:r>
              <a:rPr lang="en-US" sz="950">
                <a:solidFill>
                  <a:srgbClr val="4A2E1A"/>
                </a:solidFill>
              </a:rPr>
              <a:t> Issues that involve multiple business domains or present significant risk must be escalated to the </a:t>
            </a:r>
            <a:r>
              <a:rPr lang="en-US" sz="950">
                <a:solidFill>
                  <a:srgbClr val="2222B2"/>
                </a:solidFill>
              </a:rPr>
              <a:t>Data Governance Committee (DGC) for resolution</a:t>
            </a:r>
            <a:r>
              <a:rPr lang="en-US" sz="950">
                <a:solidFill>
                  <a:srgbClr val="4A2E1A"/>
                </a:solidFill>
              </a:rPr>
              <a:t>. Where metadata involves personal data or regulatory considerations, the matter must be escalated through the appropriate data owner, data steward, and data custodian to Legal and Regulatory Compliance (Data Protection Officer) and, </a:t>
            </a:r>
            <a:r>
              <a:rPr lang="en-US" sz="950">
                <a:solidFill>
                  <a:srgbClr val="2222B2"/>
                </a:solidFill>
              </a:rPr>
              <a:t>where required, to the Digital and IT Steering Committee</a:t>
            </a:r>
            <a:r>
              <a:rPr lang="en-US" sz="950">
                <a:solidFill>
                  <a:srgbClr val="4A2E1A"/>
                </a:solidFill>
              </a:rPr>
              <a:t> for direction and decision.</a:t>
            </a:r>
          </a:p>
        </p:txBody>
      </p:sp>
      <p:cxnSp>
        <p:nvCxnSpPr>
          <p:cNvPr id="14" name="Straight Connector 13">
            <a:extLst>
              <a:ext uri="{FF2B5EF4-FFF2-40B4-BE49-F238E27FC236}">
                <a16:creationId xmlns:a16="http://schemas.microsoft.com/office/drawing/2014/main" id="{46D745C8-6BDA-8025-1F85-695D23035DD4}"/>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4A0CADC-222A-C614-5B02-2DDBC6424127}"/>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2F6A67-B12E-634A-5735-D3C4B93BAD47}"/>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4709361-F862-6868-EF49-7ED09A2C3381}"/>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C6A4FB68-AD5E-8064-703B-5A4389F3A71A}"/>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2B4C704-3961-2F55-85FB-6B44DA55B5A7}"/>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DGC escalation removed; PDPA/DPO escalation retained as legal obligation</a:t>
            </a:r>
          </a:p>
        </p:txBody>
      </p:sp>
      <p:cxnSp>
        <p:nvCxnSpPr>
          <p:cNvPr id="20" name="Straight Connector 19">
            <a:extLst>
              <a:ext uri="{FF2B5EF4-FFF2-40B4-BE49-F238E27FC236}">
                <a16:creationId xmlns:a16="http://schemas.microsoft.com/office/drawing/2014/main" id="{6F227B8D-4C94-0106-6C3C-92BD0A93EB87}"/>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9F1B399-1F63-8A8B-7697-0D7F098FB48E}"/>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Metadata governance responsibilities are embedded within business and technology functions. Each business domain is responsible for managing its own data and metadata, with accountability assigned according to data usage and ownership. </a:t>
            </a:r>
            <a:r>
              <a:rPr lang="en-US" sz="1000">
                <a:solidFill>
                  <a:srgbClr val="3296EB"/>
                </a:solidFill>
              </a:rPr>
              <a:t>Issues involving personal data or regulatory considerations must be escalated to Legal and Regulatory Compliance (Data Protection Officer) as required</a:t>
            </a:r>
            <a:r>
              <a:rPr lang="en-US" sz="1000">
                <a:solidFill>
                  <a:srgbClr val="4A2E1A"/>
                </a:solidFill>
              </a:rPr>
              <a:t>.</a:t>
            </a:r>
          </a:p>
        </p:txBody>
      </p:sp>
      <p:cxnSp>
        <p:nvCxnSpPr>
          <p:cNvPr id="22" name="Straight Connector 21">
            <a:extLst>
              <a:ext uri="{FF2B5EF4-FFF2-40B4-BE49-F238E27FC236}">
                <a16:creationId xmlns:a16="http://schemas.microsoft.com/office/drawing/2014/main" id="{C7F68855-B988-A0A1-9A76-28D30EB37BB0}"/>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8B03AF2-CF6F-989A-AD72-7D8C2EE882F1}"/>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BB373EA-8E1C-983F-840B-5F8D485B1634}"/>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F0DF16AC-1CDD-FD07-1D88-E5310DB2A581}"/>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5B73ED9-093F-B130-00FB-C62E2621B7B0}"/>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DGC multi-domain escalation (subsection 1.3.2) removed: formal DGC engagement for every cross-domain issue is a mature-governance requirement not yet operationally practical. DPO escalation retained as a legal obligation under PDPA. Subsection numbering removed; merged into a single clear paragraph.</a:t>
            </a:r>
          </a:p>
        </p:txBody>
      </p:sp>
    </p:spTree>
    <p:extLst>
      <p:ext uri="{BB962C8B-B14F-4D97-AF65-F5344CB8AC3E}">
        <p14:creationId xmlns:p14="http://schemas.microsoft.com/office/powerpoint/2010/main" val="2871470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B6696E-11C1-F74C-A9F6-A03E94357DE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2B976FB-646D-1F5E-DCF5-A4C7E4D0F07D}"/>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4BF47E4-226E-517B-9C3A-4FF55A9598BA}"/>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E5CB314-368F-02A8-2BA2-CB373D4C8898}"/>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7AAF2C-2D53-DA3F-4E4A-8284471C5351}"/>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2.1</a:t>
            </a:r>
          </a:p>
        </p:txBody>
      </p:sp>
      <p:sp>
        <p:nvSpPr>
          <p:cNvPr id="7" name="TextBox 6">
            <a:extLst>
              <a:ext uri="{FF2B5EF4-FFF2-40B4-BE49-F238E27FC236}">
                <a16:creationId xmlns:a16="http://schemas.microsoft.com/office/drawing/2014/main" id="{84A08D31-2250-9F55-DDDA-5E11BF917377}"/>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2 / 2.1  Revision History</a:t>
            </a:r>
          </a:p>
        </p:txBody>
      </p:sp>
      <p:sp>
        <p:nvSpPr>
          <p:cNvPr id="8" name="TextBox 7">
            <a:extLst>
              <a:ext uri="{FF2B5EF4-FFF2-40B4-BE49-F238E27FC236}">
                <a16:creationId xmlns:a16="http://schemas.microsoft.com/office/drawing/2014/main" id="{BD9F5D95-831C-248C-BE6C-2FAEAB4C4B21}"/>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2.1 / 18</a:t>
            </a:r>
          </a:p>
        </p:txBody>
      </p:sp>
      <p:cxnSp>
        <p:nvCxnSpPr>
          <p:cNvPr id="9" name="Straight Connector 8">
            <a:extLst>
              <a:ext uri="{FF2B5EF4-FFF2-40B4-BE49-F238E27FC236}">
                <a16:creationId xmlns:a16="http://schemas.microsoft.com/office/drawing/2014/main" id="{DFC4DFEA-E125-A8C9-9DD0-7376CBE52265}"/>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ED54540-522C-6963-3DC7-51F01E3B5684}"/>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4B7033C-D3CF-92AF-85DB-1D814FC3AFC6}"/>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0940F071-92B5-6FF8-40B4-426F4884ED9E}"/>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95D2C52-EC36-89D6-9C17-2781E3AA8F1B}"/>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1050">
                <a:solidFill>
                  <a:srgbClr val="4A2E1A"/>
                </a:solidFill>
              </a:rPr>
              <a:t>2.1 Revision Purpose: This document is established to formalize and standardize Metadata Management across Siam Piwat Group.
Revision table:
Rev 0  |  May 2026  |  BDSI, IT, XPO  |  Initial issuance of Metadata Management SOP, including governance framework and procurement controls
(</a:t>
            </a:r>
            <a:r>
              <a:rPr lang="en-US" sz="1050">
                <a:solidFill>
                  <a:srgbClr val="2222B2"/>
                </a:solidFill>
              </a:rPr>
              <a:t>No further revisions recorded in original version</a:t>
            </a:r>
            <a:r>
              <a:rPr lang="en-US" sz="1050">
                <a:solidFill>
                  <a:srgbClr val="4A2E1A"/>
                </a:solidFill>
              </a:rPr>
              <a:t>)</a:t>
            </a:r>
          </a:p>
        </p:txBody>
      </p:sp>
      <p:cxnSp>
        <p:nvCxnSpPr>
          <p:cNvPr id="14" name="Straight Connector 13">
            <a:extLst>
              <a:ext uri="{FF2B5EF4-FFF2-40B4-BE49-F238E27FC236}">
                <a16:creationId xmlns:a16="http://schemas.microsoft.com/office/drawing/2014/main" id="{7B7C9431-3474-6CB5-B52E-959A3C439E1A}"/>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3E7ED19-2689-2820-39C4-1C6459EFD354}"/>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D4C933-9F0E-E99F-CB7D-C42FDB52B6E7}"/>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DAC043D-E467-0366-1961-D50D373CFBC9}"/>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861656F3-FB42-C885-1E7F-EADD3FC48CBF}"/>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7B65EE9-5ECA-B1F4-7B2C-78DDF547090F}"/>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Rev 1 added: records governance review; proportionate approach now part of formal SOP history</a:t>
            </a:r>
          </a:p>
        </p:txBody>
      </p:sp>
      <p:cxnSp>
        <p:nvCxnSpPr>
          <p:cNvPr id="20" name="Straight Connector 19">
            <a:extLst>
              <a:ext uri="{FF2B5EF4-FFF2-40B4-BE49-F238E27FC236}">
                <a16:creationId xmlns:a16="http://schemas.microsoft.com/office/drawing/2014/main" id="{E1AF6E5D-F9FA-8149-470D-B3292EC6B184}"/>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EF35E1F-DCDA-92AF-02E7-DFEDAA70D974}"/>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100">
                <a:solidFill>
                  <a:srgbClr val="4A2E1A"/>
                </a:solidFill>
              </a:rPr>
              <a:t>Revision table (updated):
Rev 0  |  May 2026  |  BDSI, IT, XPO  |  Initial issuance of Metadata Management SOP, including governance framework and procurement controls
</a:t>
            </a:r>
            <a:r>
              <a:rPr lang="en-US" sz="1100">
                <a:solidFill>
                  <a:srgbClr val="3296EB"/>
                </a:solidFill>
              </a:rPr>
              <a:t>Rev 1  |  May 2026  |  BDSI, IT, XPO</a:t>
            </a:r>
            <a:r>
              <a:rPr lang="en-US" sz="1100">
                <a:solidFill>
                  <a:srgbClr val="4A2E1A"/>
                </a:solidFill>
              </a:rPr>
              <a:t>  |  </a:t>
            </a:r>
            <a:r>
              <a:rPr lang="en-US" sz="1100">
                <a:solidFill>
                  <a:srgbClr val="3296EB"/>
                </a:solidFill>
              </a:rPr>
              <a:t>Procedures revised following governance review</a:t>
            </a:r>
            <a:r>
              <a:rPr lang="en-US" sz="1100">
                <a:solidFill>
                  <a:srgbClr val="4A2E1A"/>
                </a:solidFill>
              </a:rPr>
              <a:t> to align with proportionate, practical implementation approach. </a:t>
            </a:r>
            <a:r>
              <a:rPr lang="en-US" sz="1100">
                <a:solidFill>
                  <a:srgbClr val="3296EB"/>
                </a:solidFill>
              </a:rPr>
              <a:t>Active scope maintained in the Data Asset Register</a:t>
            </a:r>
            <a:r>
              <a:rPr lang="en-US" sz="1100">
                <a:solidFill>
                  <a:srgbClr val="4A2E1A"/>
                </a:solidFill>
              </a:rPr>
              <a:t>.</a:t>
            </a:r>
          </a:p>
        </p:txBody>
      </p:sp>
      <p:cxnSp>
        <p:nvCxnSpPr>
          <p:cNvPr id="22" name="Straight Connector 21">
            <a:extLst>
              <a:ext uri="{FF2B5EF4-FFF2-40B4-BE49-F238E27FC236}">
                <a16:creationId xmlns:a16="http://schemas.microsoft.com/office/drawing/2014/main" id="{FE9936FC-D14F-7E2E-0C29-6F302E87FF64}"/>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9A7997E-96EC-72C4-C2CB-E021964E5463}"/>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71DEE86-2ED7-614E-7F28-3CCBE690179F}"/>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27085B77-6305-65C9-3640-004CAFB5CA0D}"/>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595C759-EDD8-F668-72EC-457714E034A1}"/>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100">
                <a:solidFill>
                  <a:srgbClr val="4A2E1A"/>
                </a:solidFill>
              </a:rPr>
              <a:t>Rev 1 formally records the governance-team-reviewed changes. Wording is policy-neutral: no project names or table counts, keeping the SOP reusable. Provides a clear audit trail of when and why procedures were revised.</a:t>
            </a:r>
          </a:p>
        </p:txBody>
      </p:sp>
    </p:spTree>
    <p:extLst>
      <p:ext uri="{BB962C8B-B14F-4D97-AF65-F5344CB8AC3E}">
        <p14:creationId xmlns:p14="http://schemas.microsoft.com/office/powerpoint/2010/main" val="2829939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2A8FD3-AC71-7956-3A2A-31F3AFEE0A6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D4DD56-DAA2-B603-7469-693B255275D5}"/>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EE808C-8E54-49C6-0D77-CEACAEC3B1EC}"/>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403C9F-0C5B-8949-C4B6-C9383C6A7515}"/>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F3617F-50B0-F8CA-E3D8-D61BE312228B}"/>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3.1</a:t>
            </a:r>
          </a:p>
        </p:txBody>
      </p:sp>
      <p:sp>
        <p:nvSpPr>
          <p:cNvPr id="7" name="TextBox 6">
            <a:extLst>
              <a:ext uri="{FF2B5EF4-FFF2-40B4-BE49-F238E27FC236}">
                <a16:creationId xmlns:a16="http://schemas.microsoft.com/office/drawing/2014/main" id="{272156C1-7B2C-4AAF-6324-F1978CF0AE97}"/>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3.1  Data Owner</a:t>
            </a:r>
          </a:p>
        </p:txBody>
      </p:sp>
      <p:sp>
        <p:nvSpPr>
          <p:cNvPr id="8" name="TextBox 7">
            <a:extLst>
              <a:ext uri="{FF2B5EF4-FFF2-40B4-BE49-F238E27FC236}">
                <a16:creationId xmlns:a16="http://schemas.microsoft.com/office/drawing/2014/main" id="{35B4E4FF-4CB1-819C-7821-102780E1E15D}"/>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3.1 / 18</a:t>
            </a:r>
          </a:p>
        </p:txBody>
      </p:sp>
      <p:cxnSp>
        <p:nvCxnSpPr>
          <p:cNvPr id="9" name="Straight Connector 8">
            <a:extLst>
              <a:ext uri="{FF2B5EF4-FFF2-40B4-BE49-F238E27FC236}">
                <a16:creationId xmlns:a16="http://schemas.microsoft.com/office/drawing/2014/main" id="{2E50E9FE-AAF6-2C7A-579E-54149556681C}"/>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F5EA082-8F7C-9376-58EE-767EF1832F38}"/>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7C48249-4778-2BED-F693-269C1AB4CBE3}"/>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72624D6-C55C-2FE2-5452-F7D73E97FC7E}"/>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2A0651F-8DC1-8399-C8EB-8CD900A144BC}"/>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1050">
                <a:solidFill>
                  <a:srgbClr val="4A2E1A"/>
                </a:solidFill>
              </a:rPr>
              <a:t>The Data Owner is accountable for the business meaning, usage, and risk associated with the data. The Data Owner </a:t>
            </a:r>
            <a:r>
              <a:rPr lang="en-US" sz="1050">
                <a:solidFill>
                  <a:srgbClr val="2222B2"/>
                </a:solidFill>
              </a:rPr>
              <a:t>is responsible for approving</a:t>
            </a:r>
            <a:r>
              <a:rPr lang="en-US" sz="1050">
                <a:solidFill>
                  <a:srgbClr val="4A2E1A"/>
                </a:solidFill>
              </a:rPr>
              <a:t> the business definition, data classification, and intended use </a:t>
            </a:r>
            <a:r>
              <a:rPr lang="en-US" sz="1050">
                <a:solidFill>
                  <a:srgbClr val="2222B2"/>
                </a:solidFill>
              </a:rPr>
              <a:t>of the data</a:t>
            </a:r>
            <a:r>
              <a:rPr lang="en-US" sz="1050">
                <a:solidFill>
                  <a:srgbClr val="4A2E1A"/>
                </a:solidFill>
              </a:rPr>
              <a:t>. This accountability remains with the Data Owner and cannot be delegated.</a:t>
            </a:r>
          </a:p>
        </p:txBody>
      </p:sp>
      <p:cxnSp>
        <p:nvCxnSpPr>
          <p:cNvPr id="14" name="Straight Connector 13">
            <a:extLst>
              <a:ext uri="{FF2B5EF4-FFF2-40B4-BE49-F238E27FC236}">
                <a16:creationId xmlns:a16="http://schemas.microsoft.com/office/drawing/2014/main" id="{4AA4FB12-4099-618E-7AD8-BC9F15264641}"/>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B983193-B03E-D4E8-31C9-0CE77A38C97D}"/>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1A50CBD-763D-085A-7781-516C8DFE31AD}"/>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F8414E4-174B-F117-877E-7ACF9A2040E3}"/>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84542C61-CF4C-74D6-1292-AEE43DA04C46}"/>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DF9D292-500D-DFFB-0606-067578B47153}"/>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Minor wording change only -- accountability and approval responsibility fully preserved</a:t>
            </a:r>
          </a:p>
        </p:txBody>
      </p:sp>
      <p:cxnSp>
        <p:nvCxnSpPr>
          <p:cNvPr id="20" name="Straight Connector 19">
            <a:extLst>
              <a:ext uri="{FF2B5EF4-FFF2-40B4-BE49-F238E27FC236}">
                <a16:creationId xmlns:a16="http://schemas.microsoft.com/office/drawing/2014/main" id="{3B474322-1CA9-E1F8-F885-93C569F79C50}"/>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9F517CA-77F6-8E5C-3DAF-98A8BC524197}"/>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100">
                <a:solidFill>
                  <a:srgbClr val="4A2E1A"/>
                </a:solidFill>
              </a:rPr>
              <a:t>The Data Owner is accountable for the business meaning, usage, and risk associated with the data. The Data Owner </a:t>
            </a:r>
            <a:r>
              <a:rPr lang="en-US" sz="1100">
                <a:solidFill>
                  <a:srgbClr val="3296EB"/>
                </a:solidFill>
              </a:rPr>
              <a:t>approves the business definition, data classification, and intended use</a:t>
            </a:r>
            <a:r>
              <a:rPr lang="en-US" sz="1100">
                <a:solidFill>
                  <a:srgbClr val="4A2E1A"/>
                </a:solidFill>
              </a:rPr>
              <a:t>. This accountability remains with the Data Owner and cannot be delegated.</a:t>
            </a:r>
          </a:p>
        </p:txBody>
      </p:sp>
      <p:cxnSp>
        <p:nvCxnSpPr>
          <p:cNvPr id="22" name="Straight Connector 21">
            <a:extLst>
              <a:ext uri="{FF2B5EF4-FFF2-40B4-BE49-F238E27FC236}">
                <a16:creationId xmlns:a16="http://schemas.microsoft.com/office/drawing/2014/main" id="{73E6A0AB-8951-2FC1-D9E1-1B3C2436E273}"/>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216381E-ECC0-3134-9664-5CF87A867F2D}"/>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C043F87-548E-D603-07F4-F476B3A1E409}"/>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B2264DF9-42D9-0467-5E62-9E6C1A0EBA2C}"/>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B49B5E4-1A94-4E03-0F16-06D094215E24}"/>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100">
                <a:solidFill>
                  <a:srgbClr val="4A2E1A"/>
                </a:solidFill>
              </a:rPr>
              <a:t>Minor wording simplification only: 'is responsible for approving' shortened to 'approves' (active voice, same meaning). Trailing 'of the data' removed as redundant. No governance intent changed.</a:t>
            </a:r>
          </a:p>
        </p:txBody>
      </p:sp>
    </p:spTree>
    <p:extLst>
      <p:ext uri="{BB962C8B-B14F-4D97-AF65-F5344CB8AC3E}">
        <p14:creationId xmlns:p14="http://schemas.microsoft.com/office/powerpoint/2010/main" val="4246824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B25E4F-9271-11F4-3DC9-D31B1FBA675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6C245CE-885B-94DD-3607-8C949F382801}"/>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CC427AC-8C59-E2F8-EEA6-BA9CD918E1DE}"/>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999AEBE-E674-5751-9752-886935155A11}"/>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03DF1AF-7554-B8EF-CD1C-40C989022879}"/>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3.3</a:t>
            </a:r>
          </a:p>
        </p:txBody>
      </p:sp>
      <p:sp>
        <p:nvSpPr>
          <p:cNvPr id="7" name="TextBox 6">
            <a:extLst>
              <a:ext uri="{FF2B5EF4-FFF2-40B4-BE49-F238E27FC236}">
                <a16:creationId xmlns:a16="http://schemas.microsoft.com/office/drawing/2014/main" id="{7843BD04-A044-6773-292A-979590C314B9}"/>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3.3  Data Custodian / IT / XPO</a:t>
            </a:r>
          </a:p>
        </p:txBody>
      </p:sp>
      <p:sp>
        <p:nvSpPr>
          <p:cNvPr id="8" name="TextBox 7">
            <a:extLst>
              <a:ext uri="{FF2B5EF4-FFF2-40B4-BE49-F238E27FC236}">
                <a16:creationId xmlns:a16="http://schemas.microsoft.com/office/drawing/2014/main" id="{F9F41CEA-A36F-39A9-609C-DBA3AED3A8B0}"/>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3.3 / 18</a:t>
            </a:r>
          </a:p>
        </p:txBody>
      </p:sp>
      <p:cxnSp>
        <p:nvCxnSpPr>
          <p:cNvPr id="9" name="Straight Connector 8">
            <a:extLst>
              <a:ext uri="{FF2B5EF4-FFF2-40B4-BE49-F238E27FC236}">
                <a16:creationId xmlns:a16="http://schemas.microsoft.com/office/drawing/2014/main" id="{2409A0C9-0DD4-4B89-6F79-B9D5A4241B3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95CD5DB-95DB-1606-0772-3626476DD389}"/>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7A08593-0E72-9A01-90D9-13B3661ACF9C}"/>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F15DD8F-17F6-CE67-8CBD-DD078D91452C}"/>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20C12D-E5DA-FFFC-79A1-9DA3751A08B2}"/>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1050">
                <a:solidFill>
                  <a:srgbClr val="2222B2"/>
                </a:solidFill>
              </a:rPr>
              <a:t>The Data Custodian, IT, or XPO functions are responsible for</a:t>
            </a:r>
            <a:r>
              <a:rPr lang="en-US" sz="1050">
                <a:solidFill>
                  <a:srgbClr val="4A2E1A"/>
                </a:solidFill>
              </a:rPr>
              <a:t> managing and owning technical metadata and ensuring system-level controls. This includes capturing metadata from systems, maintaining data structures, and ensuring that data lineage and system integration are properly documented.</a:t>
            </a:r>
          </a:p>
        </p:txBody>
      </p:sp>
      <p:cxnSp>
        <p:nvCxnSpPr>
          <p:cNvPr id="14" name="Straight Connector 13">
            <a:extLst>
              <a:ext uri="{FF2B5EF4-FFF2-40B4-BE49-F238E27FC236}">
                <a16:creationId xmlns:a16="http://schemas.microsoft.com/office/drawing/2014/main" id="{7A657C7B-1C1B-98B9-E4C1-9AE98FCD0656}"/>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92FA0B8-4DC8-EB1D-7175-40B14B7C42A5}"/>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4B52880-2027-BAC9-2677-A065EA57D73E}"/>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ADF3C28-883D-3629-4908-002D0866C41B}"/>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2ACFF455-3706-00C8-AFE5-9E51148BB218}"/>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8AB31D-60E2-A0A9-E2D5-617D59C3F136}"/>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Role-label prefix removed; all responsibilities unchanged</a:t>
            </a:r>
          </a:p>
        </p:txBody>
      </p:sp>
      <p:cxnSp>
        <p:nvCxnSpPr>
          <p:cNvPr id="20" name="Straight Connector 19">
            <a:extLst>
              <a:ext uri="{FF2B5EF4-FFF2-40B4-BE49-F238E27FC236}">
                <a16:creationId xmlns:a16="http://schemas.microsoft.com/office/drawing/2014/main" id="{0E21AE7B-B6DF-66AD-D5DB-9D1E587EBAE9}"/>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D70E7B9-3E09-E019-5BF0-BA984DA5B832}"/>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100">
                <a:solidFill>
                  <a:srgbClr val="3296EB"/>
                </a:solidFill>
              </a:rPr>
              <a:t>Responsible for managing and owning technical metadata and ensuring system-level controls</a:t>
            </a:r>
            <a:r>
              <a:rPr lang="en-US" sz="1100">
                <a:solidFill>
                  <a:srgbClr val="4A2E1A"/>
                </a:solidFill>
              </a:rPr>
              <a:t>. This includes capturing metadata from systems, maintaining data structures, and ensuring that data lineage and system integration are properly documented.</a:t>
            </a:r>
          </a:p>
        </p:txBody>
      </p:sp>
      <p:cxnSp>
        <p:nvCxnSpPr>
          <p:cNvPr id="22" name="Straight Connector 21">
            <a:extLst>
              <a:ext uri="{FF2B5EF4-FFF2-40B4-BE49-F238E27FC236}">
                <a16:creationId xmlns:a16="http://schemas.microsoft.com/office/drawing/2014/main" id="{9BAD887B-691E-3183-4BF1-4D734895A903}"/>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1C88B8E-1D2F-8023-71C6-F4B0904A644D}"/>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9BD803A-A7D4-BB1B-9B9A-D4AD1AB036CE}"/>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77DA949C-181C-3932-0A20-DC689191FF74}"/>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0A36F24-B722-8BFE-BEBC-EEBCCD1AD46B}"/>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100">
                <a:solidFill>
                  <a:srgbClr val="4A2E1A"/>
                </a:solidFill>
              </a:rPr>
              <a:t>Opening role-label prefix removed since the section heading already names the role. All responsibilities are fully preserved. Minor style change with no governance impact.</a:t>
            </a:r>
          </a:p>
        </p:txBody>
      </p:sp>
    </p:spTree>
    <p:extLst>
      <p:ext uri="{BB962C8B-B14F-4D97-AF65-F5344CB8AC3E}">
        <p14:creationId xmlns:p14="http://schemas.microsoft.com/office/powerpoint/2010/main" val="2585622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AEE12D-2C4F-AFE4-EB1B-ED0AE630CB9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F08759D-4F1E-150A-9195-181C6D082AF3}"/>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86F338-40AD-58C2-E904-92AD9E6C5C43}"/>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A9B743B-908E-025B-F385-DCC4C6CAB4A5}"/>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34E42E8-CB2A-86D0-A4BD-D8A6DE2DBAED}"/>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3.4</a:t>
            </a:r>
          </a:p>
        </p:txBody>
      </p:sp>
      <p:sp>
        <p:nvSpPr>
          <p:cNvPr id="7" name="TextBox 6">
            <a:extLst>
              <a:ext uri="{FF2B5EF4-FFF2-40B4-BE49-F238E27FC236}">
                <a16:creationId xmlns:a16="http://schemas.microsoft.com/office/drawing/2014/main" id="{C26C27A6-1ED7-829B-4B97-4FFEC2DCB0BF}"/>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3.4  DGC -&gt; Ownership Register</a:t>
            </a:r>
          </a:p>
        </p:txBody>
      </p:sp>
      <p:sp>
        <p:nvSpPr>
          <p:cNvPr id="8" name="TextBox 7">
            <a:extLst>
              <a:ext uri="{FF2B5EF4-FFF2-40B4-BE49-F238E27FC236}">
                <a16:creationId xmlns:a16="http://schemas.microsoft.com/office/drawing/2014/main" id="{D300B1C3-CF4C-4237-F173-EB2B0E2CC19C}"/>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3.4 / 18</a:t>
            </a:r>
          </a:p>
        </p:txBody>
      </p:sp>
      <p:cxnSp>
        <p:nvCxnSpPr>
          <p:cNvPr id="9" name="Straight Connector 8">
            <a:extLst>
              <a:ext uri="{FF2B5EF4-FFF2-40B4-BE49-F238E27FC236}">
                <a16:creationId xmlns:a16="http://schemas.microsoft.com/office/drawing/2014/main" id="{05589C9C-865F-08F6-8A37-BFB4160665E6}"/>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F0ABD96-D66A-9679-5EC7-F8A8A6FF3B90}"/>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76DCA51-6C72-4461-E996-F76E4B4809E4}"/>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B1AFFD6D-2A3E-2CDF-C6A6-76640E80F250}"/>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586664A-7423-E599-EF90-59C614A0CEF1}"/>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3.4 Data Governance Committee (DGC)
The </a:t>
            </a:r>
            <a:r>
              <a:rPr lang="en-US" sz="950">
                <a:solidFill>
                  <a:srgbClr val="2222B2"/>
                </a:solidFill>
              </a:rPr>
              <a:t>Data Governance Committee is the final decision authority for cross-domain issues, high-risk cases, and enterprise-level standards</a:t>
            </a:r>
            <a:r>
              <a:rPr lang="en-US" sz="950">
                <a:solidFill>
                  <a:srgbClr val="4A2E1A"/>
                </a:solidFill>
              </a:rPr>
              <a:t>.</a:t>
            </a:r>
          </a:p>
        </p:txBody>
      </p:sp>
      <p:cxnSp>
        <p:nvCxnSpPr>
          <p:cNvPr id="14" name="Straight Connector 13">
            <a:extLst>
              <a:ext uri="{FF2B5EF4-FFF2-40B4-BE49-F238E27FC236}">
                <a16:creationId xmlns:a16="http://schemas.microsoft.com/office/drawing/2014/main" id="{091C6327-84FA-D96A-BE27-A11DBC7FD3F6}"/>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81DA548-D675-C037-AC80-59F010D05AB6}"/>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F63A10A-C933-7B43-E8E7-B31DFDD6EA27}"/>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85CA566-257D-1A79-4F56-39031BD4A54E}"/>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32E208E6-CE90-6383-8100-353F222DF45E}"/>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7C007BF-2E95-523B-EDF7-9E678807517B}"/>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DGC removed; each data asset now has 4 named owners recorded in an Ownership Register</a:t>
            </a:r>
          </a:p>
        </p:txBody>
      </p:sp>
      <p:cxnSp>
        <p:nvCxnSpPr>
          <p:cNvPr id="20" name="Straight Connector 19">
            <a:extLst>
              <a:ext uri="{FF2B5EF4-FFF2-40B4-BE49-F238E27FC236}">
                <a16:creationId xmlns:a16="http://schemas.microsoft.com/office/drawing/2014/main" id="{11B6553F-96F7-1390-471B-0488D8E12D95}"/>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78C0EB8-57DC-B397-B5BB-AFCB68A69C02}"/>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3.4 </a:t>
            </a:r>
            <a:r>
              <a:rPr lang="en-US" sz="1000">
                <a:solidFill>
                  <a:srgbClr val="3296EB"/>
                </a:solidFill>
              </a:rPr>
              <a:t>Ownership Register</a:t>
            </a:r>
            <a:r>
              <a:rPr lang="en-US" sz="1000">
                <a:solidFill>
                  <a:srgbClr val="4A2E1A"/>
                </a:solidFill>
              </a:rPr>
              <a:t>
For each registered data asset, the following ownership contacts must be recorded and kept current:
- </a:t>
            </a:r>
            <a:r>
              <a:rPr lang="en-US" sz="1000">
                <a:solidFill>
                  <a:srgbClr val="3296EB"/>
                </a:solidFill>
              </a:rPr>
              <a:t>Business Owner: accountable</a:t>
            </a:r>
            <a:r>
              <a:rPr lang="en-US" sz="1000">
                <a:solidFill>
                  <a:srgbClr val="4A2E1A"/>
                </a:solidFill>
              </a:rPr>
              <a:t> for business meaning and usage
- </a:t>
            </a:r>
            <a:r>
              <a:rPr lang="en-US" sz="1000">
                <a:solidFill>
                  <a:srgbClr val="3296EB"/>
                </a:solidFill>
              </a:rPr>
              <a:t>Technical Owner: responsible</a:t>
            </a:r>
            <a:r>
              <a:rPr lang="en-US" sz="1000">
                <a:solidFill>
                  <a:srgbClr val="4A2E1A"/>
                </a:solidFill>
              </a:rPr>
              <a:t> for system-level metadata and schema
- </a:t>
            </a:r>
            <a:r>
              <a:rPr lang="en-US" sz="1000">
                <a:solidFill>
                  <a:srgbClr val="3296EB"/>
                </a:solidFill>
              </a:rPr>
              <a:t>Data Steward / Contact:</a:t>
            </a:r>
            <a:r>
              <a:rPr lang="en-US" sz="1000">
                <a:solidFill>
                  <a:srgbClr val="4A2E1A"/>
                </a:solidFill>
              </a:rPr>
              <a:t> responsible for maintaining and updating metadata
- </a:t>
            </a:r>
            <a:r>
              <a:rPr lang="en-US" sz="1000">
                <a:solidFill>
                  <a:srgbClr val="3296EB"/>
                </a:solidFill>
              </a:rPr>
              <a:t>Upstream Job Owner:</a:t>
            </a:r>
            <a:r>
              <a:rPr lang="en-US" sz="1000">
                <a:solidFill>
                  <a:srgbClr val="4A2E1A"/>
                </a:solidFill>
              </a:rPr>
              <a:t> responsible for the pipeline or job that populates the data asset</a:t>
            </a:r>
          </a:p>
        </p:txBody>
      </p:sp>
      <p:cxnSp>
        <p:nvCxnSpPr>
          <p:cNvPr id="22" name="Straight Connector 21">
            <a:extLst>
              <a:ext uri="{FF2B5EF4-FFF2-40B4-BE49-F238E27FC236}">
                <a16:creationId xmlns:a16="http://schemas.microsoft.com/office/drawing/2014/main" id="{AC615D1C-3967-695C-7753-9A9600F41201}"/>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5880126-2755-8EF0-D60F-6312930B7814}"/>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7589E4B-5EF6-76DC-9EB9-A41A38169B6E}"/>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1D05134C-8C2C-AE8B-D1A5-49D5B2B0252D}"/>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637167B-A16B-7611-C5BB-11D937AC03C5}"/>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DGC as 'final decision authority' is a mature-governance tier not yet fully operational. Replaced by a practical Ownership Register ensuring every asset has a named, contactable owner -- the essential accountability needed at this stage. DGC oversight can be reintroduced in a later SOP revision as governance matures.</a:t>
            </a:r>
          </a:p>
        </p:txBody>
      </p:sp>
    </p:spTree>
    <p:extLst>
      <p:ext uri="{BB962C8B-B14F-4D97-AF65-F5344CB8AC3E}">
        <p14:creationId xmlns:p14="http://schemas.microsoft.com/office/powerpoint/2010/main" val="4194462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EA2949-F821-642D-C842-90FB2C83652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DA54BAA-87D4-5F1C-F237-C2F690A33642}"/>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9EF62B1-5C69-CDAF-FEBB-27BC9D5ED2BA}"/>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A6911F6-1E8C-2563-38F3-7046EFDA4389}"/>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8FADED2-34BA-566B-F1E0-48932E4472DC}"/>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4.1</a:t>
            </a:r>
          </a:p>
        </p:txBody>
      </p:sp>
      <p:sp>
        <p:nvSpPr>
          <p:cNvPr id="7" name="TextBox 6">
            <a:extLst>
              <a:ext uri="{FF2B5EF4-FFF2-40B4-BE49-F238E27FC236}">
                <a16:creationId xmlns:a16="http://schemas.microsoft.com/office/drawing/2014/main" id="{312062FE-E0F5-BC20-874D-85D390241BE5}"/>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4.1  Metadata Onboarding and Registration</a:t>
            </a:r>
          </a:p>
        </p:txBody>
      </p:sp>
      <p:sp>
        <p:nvSpPr>
          <p:cNvPr id="8" name="TextBox 7">
            <a:extLst>
              <a:ext uri="{FF2B5EF4-FFF2-40B4-BE49-F238E27FC236}">
                <a16:creationId xmlns:a16="http://schemas.microsoft.com/office/drawing/2014/main" id="{A09E11D1-039F-38A8-F246-031BAAA818D5}"/>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4.1 / 18</a:t>
            </a:r>
          </a:p>
        </p:txBody>
      </p:sp>
      <p:cxnSp>
        <p:nvCxnSpPr>
          <p:cNvPr id="9" name="Straight Connector 8">
            <a:extLst>
              <a:ext uri="{FF2B5EF4-FFF2-40B4-BE49-F238E27FC236}">
                <a16:creationId xmlns:a16="http://schemas.microsoft.com/office/drawing/2014/main" id="{1A150F6B-E6B1-E6C8-E6A4-67A1503792B7}"/>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932AA0B-EA40-7FDD-2CB3-AF6EEE8FE764}"/>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FD2889-767D-E84A-E889-CAFB35BB50AA}"/>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190EC6B-452B-48AE-EA9F-E7D3E935300E}"/>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0A2CC96-D371-6862-AF0F-94A26CBD255D}"/>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2222B2"/>
                </a:solidFill>
              </a:rPr>
              <a:t>This process is used to ensure that</a:t>
            </a:r>
            <a:r>
              <a:rPr lang="en-US" sz="900">
                <a:solidFill>
                  <a:srgbClr val="4A2E1A"/>
                </a:solidFill>
              </a:rPr>
              <a:t> all data assets are properly identified, assigned ownership, and classified before being used within Siam Piwat Group. The Data Steward identifies new or modified data assets by reviewing business processes, system documentation, and data sources. The Data Steward registers the data asset in the designated metadata system and completes all mandatory metadata fields, including: Data Owner, Data Steward, Business definition and Data classification. </a:t>
            </a:r>
            <a:r>
              <a:rPr lang="en-US" sz="900">
                <a:solidFill>
                  <a:srgbClr val="2222B2"/>
                </a:solidFill>
              </a:rPr>
              <a:t>The system enforces completion of required fields and does not allow the dataset to be activated or used</a:t>
            </a:r>
            <a:r>
              <a:rPr lang="en-US" sz="900">
                <a:solidFill>
                  <a:srgbClr val="4A2E1A"/>
                </a:solidFill>
              </a:rPr>
              <a:t> until all mandatory information is provided. The Data Steward assesses whether the dataset contains personal or sensitive data. Where classified as personal or sensitive, the Data Steward </a:t>
            </a:r>
            <a:r>
              <a:rPr lang="en-US" sz="900">
                <a:solidFill>
                  <a:srgbClr val="2222B2"/>
                </a:solidFill>
              </a:rPr>
              <a:t>escalates through the appropriate data custodian, data steward, and data owner to Legal and Regulatory Compliance (DPO)</a:t>
            </a:r>
            <a:r>
              <a:rPr lang="en-US" sz="900">
                <a:solidFill>
                  <a:srgbClr val="4A2E1A"/>
                </a:solidFill>
              </a:rPr>
              <a:t> for review.</a:t>
            </a:r>
          </a:p>
        </p:txBody>
      </p:sp>
      <p:cxnSp>
        <p:nvCxnSpPr>
          <p:cNvPr id="14" name="Straight Connector 13">
            <a:extLst>
              <a:ext uri="{FF2B5EF4-FFF2-40B4-BE49-F238E27FC236}">
                <a16:creationId xmlns:a16="http://schemas.microsoft.com/office/drawing/2014/main" id="{CDDEB817-4A0D-F560-0257-94D4ACB3D8FA}"/>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0F77878-0236-2570-33AB-EBCA60C694F0}"/>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233E6F8-CA2A-8D31-C99C-56FD6DE4795F}"/>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99015CC-CB67-9150-7C96-ADDFE12B43F8}"/>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BB103BCF-5D47-BB98-2EDA-5F8EE1FA2D55}"/>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B23ACEB-0E7B-87F9-ECFF-39C10216B3AC}"/>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Datahub Metadata Template columns A-H are now the explicit mandatory baseline for registration</a:t>
            </a:r>
          </a:p>
        </p:txBody>
      </p:sp>
      <p:cxnSp>
        <p:nvCxnSpPr>
          <p:cNvPr id="20" name="Straight Connector 19">
            <a:extLst>
              <a:ext uri="{FF2B5EF4-FFF2-40B4-BE49-F238E27FC236}">
                <a16:creationId xmlns:a16="http://schemas.microsoft.com/office/drawing/2014/main" id="{F6A84DF0-7D86-8729-5228-53E4DF82EA82}"/>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6F9AE4-F9DF-9993-D534-10E827AA2C3E}"/>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registers each in-scope data asset and completes all </a:t>
            </a:r>
            <a:r>
              <a:rPr lang="en-US" sz="950">
                <a:solidFill>
                  <a:srgbClr val="3296EB"/>
                </a:solidFill>
              </a:rPr>
              <a:t>mandatory fields in the Datahub Metadata Template</a:t>
            </a:r>
            <a:r>
              <a:rPr lang="en-US" sz="950">
                <a:solidFill>
                  <a:srgbClr val="4A2E1A"/>
                </a:solidFill>
              </a:rPr>
              <a:t>. </a:t>
            </a:r>
            <a:r>
              <a:rPr lang="en-US" sz="950">
                <a:solidFill>
                  <a:srgbClr val="3296EB"/>
                </a:solidFill>
              </a:rPr>
              <a:t>Columns A through H are mandatory</a:t>
            </a:r>
            <a:r>
              <a:rPr lang="en-US" sz="950">
                <a:solidFill>
                  <a:srgbClr val="4A2E1A"/>
                </a:solidFill>
              </a:rPr>
              <a:t> for all registered data assets: </a:t>
            </a:r>
            <a:r>
              <a:rPr lang="en-US" sz="950">
                <a:solidFill>
                  <a:srgbClr val="3296EB"/>
                </a:solidFill>
              </a:rPr>
              <a:t>Domain (A), System/Application Name (B), Schema Name (C)</a:t>
            </a:r>
            <a:r>
              <a:rPr lang="en-US" sz="950">
                <a:solidFill>
                  <a:srgbClr val="4A2E1A"/>
                </a:solidFill>
              </a:rPr>
              <a:t>, Table Name (D), Column Name (E), Business Name (F), Business Description EN (G), and Business Description TH (H). </a:t>
            </a:r>
            <a:r>
              <a:rPr lang="en-US" sz="950">
                <a:solidFill>
                  <a:srgbClr val="3296EB"/>
                </a:solidFill>
              </a:rPr>
              <a:t>Registration must be completed before the data asset is used</a:t>
            </a:r>
            <a:r>
              <a:rPr lang="en-US" sz="950">
                <a:solidFill>
                  <a:srgbClr val="4A2E1A"/>
                </a:solidFill>
              </a:rPr>
              <a:t> in reporting, analytics, or AI applications.</a:t>
            </a:r>
          </a:p>
        </p:txBody>
      </p:sp>
      <p:cxnSp>
        <p:nvCxnSpPr>
          <p:cNvPr id="22" name="Straight Connector 21">
            <a:extLst>
              <a:ext uri="{FF2B5EF4-FFF2-40B4-BE49-F238E27FC236}">
                <a16:creationId xmlns:a16="http://schemas.microsoft.com/office/drawing/2014/main" id="{9B0AFB27-FEF2-6E1F-03FD-D4F3FE183411}"/>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BAE040E-1CB4-585D-24E0-275C7F3A80D1}"/>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C18F0CA-F6A0-9004-E07E-BB5970470FCD}"/>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76639B9E-BBF3-BF09-B482-F9D64C5F401F}"/>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916D61B-69FD-4FEF-9D7D-98EE002118E1}"/>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System-enforcement clause removed: the platform that auto-blocks activation is not yet built. DPO escalation chain simplified (handled in section 1.3). Mandatory fields are now explicitly mapped to the Datahub Metadata Template: columns A-H are the required baseline for every registered data asset.</a:t>
            </a:r>
          </a:p>
        </p:txBody>
      </p:sp>
    </p:spTree>
    <p:extLst>
      <p:ext uri="{BB962C8B-B14F-4D97-AF65-F5344CB8AC3E}">
        <p14:creationId xmlns:p14="http://schemas.microsoft.com/office/powerpoint/2010/main" val="358771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7BFFB1-585D-CA5D-ABC0-C7A4D2D01B5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F8B0BDD-AA1F-1C48-A18B-497384660FF0}"/>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5002C39-6E1C-9D78-562D-7E10C89D016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8AD7687-01DE-BAC6-C64C-918193A6D7EA}"/>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CC2FE86-F2A0-E7A7-3B89-03D01FC6313D}"/>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4.2</a:t>
            </a:r>
          </a:p>
        </p:txBody>
      </p:sp>
      <p:sp>
        <p:nvSpPr>
          <p:cNvPr id="7" name="TextBox 6">
            <a:extLst>
              <a:ext uri="{FF2B5EF4-FFF2-40B4-BE49-F238E27FC236}">
                <a16:creationId xmlns:a16="http://schemas.microsoft.com/office/drawing/2014/main" id="{B780C689-420A-B63E-AE9D-49FC8060BF5F}"/>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4.2  Metadata Capture and Enrichment</a:t>
            </a:r>
          </a:p>
        </p:txBody>
      </p:sp>
      <p:sp>
        <p:nvSpPr>
          <p:cNvPr id="8" name="TextBox 7">
            <a:extLst>
              <a:ext uri="{FF2B5EF4-FFF2-40B4-BE49-F238E27FC236}">
                <a16:creationId xmlns:a16="http://schemas.microsoft.com/office/drawing/2014/main" id="{54EC9361-B084-146C-B590-B469D03BB1AE}"/>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4.2 / 18</a:t>
            </a:r>
          </a:p>
        </p:txBody>
      </p:sp>
      <p:cxnSp>
        <p:nvCxnSpPr>
          <p:cNvPr id="9" name="Straight Connector 8">
            <a:extLst>
              <a:ext uri="{FF2B5EF4-FFF2-40B4-BE49-F238E27FC236}">
                <a16:creationId xmlns:a16="http://schemas.microsoft.com/office/drawing/2014/main" id="{FA4F2977-5961-8D7A-CC8C-A54EBFEF7FF5}"/>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8CA7F86-C042-3071-7A36-67A3FDC48B9D}"/>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C945AD9-127E-8125-3328-CE7CF684C12B}"/>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DC3608F5-8612-2FD8-2649-B911CB32D6ED}"/>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BEB38B3-2B58-7DD3-BDCB-F366F9B69C6A}"/>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2222B2"/>
                </a:solidFill>
              </a:rPr>
              <a:t>This process is used to ensure that</a:t>
            </a:r>
            <a:r>
              <a:rPr lang="en-US" sz="900">
                <a:solidFill>
                  <a:srgbClr val="4A2E1A"/>
                </a:solidFill>
              </a:rPr>
              <a:t> metadata is complete, standardized, and sufficiently detailed to support correct usage and interpretation. The Data Steward defines and documents business metadata using </a:t>
            </a:r>
            <a:r>
              <a:rPr lang="en-US" sz="900">
                <a:solidFill>
                  <a:srgbClr val="2222B2"/>
                </a:solidFill>
              </a:rPr>
              <a:t>standardized terminology based on the approved data dictionary and templates</a:t>
            </a:r>
            <a:r>
              <a:rPr lang="en-US" sz="900">
                <a:solidFill>
                  <a:srgbClr val="4A2E1A"/>
                </a:solidFill>
              </a:rPr>
              <a:t>. The Data Custodian (IT / XPO) captures and maintains technical metadata directly from source systems where possible, including data structure and system attributes. The Data Steward ensures that metadata includes sufficient context for usage, including: </a:t>
            </a:r>
            <a:r>
              <a:rPr lang="en-US" sz="900">
                <a:solidFill>
                  <a:srgbClr val="2222B2"/>
                </a:solidFill>
              </a:rPr>
              <a:t>Data source | Business purpose of use | Usage constraints | Data refresh frequency</a:t>
            </a:r>
            <a:r>
              <a:rPr lang="en-US" sz="900">
                <a:solidFill>
                  <a:srgbClr val="4A2E1A"/>
                </a:solidFill>
              </a:rPr>
              <a:t>. Where applicable, </a:t>
            </a:r>
            <a:r>
              <a:rPr lang="en-US" sz="900">
                <a:solidFill>
                  <a:srgbClr val="2222B2"/>
                </a:solidFill>
              </a:rPr>
              <a:t>data lineage must be documented to show the relationship between upstream and downstream data</a:t>
            </a:r>
            <a:r>
              <a:rPr lang="en-US" sz="900">
                <a:solidFill>
                  <a:srgbClr val="4A2E1A"/>
                </a:solidFill>
              </a:rPr>
              <a:t>. Metadata shall be progressively enriched when additional information becomes available or when data usage expands.</a:t>
            </a:r>
          </a:p>
        </p:txBody>
      </p:sp>
      <p:cxnSp>
        <p:nvCxnSpPr>
          <p:cNvPr id="14" name="Straight Connector 13">
            <a:extLst>
              <a:ext uri="{FF2B5EF4-FFF2-40B4-BE49-F238E27FC236}">
                <a16:creationId xmlns:a16="http://schemas.microsoft.com/office/drawing/2014/main" id="{24492169-26BB-DBBD-0401-787672B977C1}"/>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D87BEEF-FAFA-D512-2751-43F0E0689A1E}"/>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D658B7-4BE0-E803-7C11-1DA1234B237C}"/>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A6C0C27-9EDD-024E-1253-DC7DBC01E603}"/>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3C54AACE-D1CF-3A4A-80CC-CE56281A59A9}"/>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DC0020-6FDC-9A39-4072-93AD67282498}"/>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Required metadata fields revised from generic governance to query/AI-specific; AI tables have extra mandatory columns</a:t>
            </a:r>
          </a:p>
        </p:txBody>
      </p:sp>
      <p:cxnSp>
        <p:nvCxnSpPr>
          <p:cNvPr id="20" name="Straight Connector 19">
            <a:extLst>
              <a:ext uri="{FF2B5EF4-FFF2-40B4-BE49-F238E27FC236}">
                <a16:creationId xmlns:a16="http://schemas.microsoft.com/office/drawing/2014/main" id="{524AEAAE-6987-5283-1F70-DD1E6207F00B}"/>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17E633C-B48C-0885-16C9-E38DFCB9764D}"/>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documents business metadata using standardized terminology. The Data Custodian captures and maintains technical metadata from source systems. For each registered data asset, metadata must include: </a:t>
            </a:r>
            <a:r>
              <a:rPr lang="en-US" sz="950">
                <a:solidFill>
                  <a:srgbClr val="3296EB"/>
                </a:solidFill>
              </a:rPr>
              <a:t>Asset purpose and business meaning</a:t>
            </a:r>
            <a:r>
              <a:rPr lang="en-US" sz="950">
                <a:solidFill>
                  <a:srgbClr val="4A2E1A"/>
                </a:solidFill>
              </a:rPr>
              <a:t> | </a:t>
            </a:r>
            <a:r>
              <a:rPr lang="en-US" sz="950">
                <a:solidFill>
                  <a:srgbClr val="3296EB"/>
                </a:solidFill>
              </a:rPr>
              <a:t>Column or field definitions and common synonyms</a:t>
            </a:r>
            <a:r>
              <a:rPr lang="en-US" sz="950">
                <a:solidFill>
                  <a:srgbClr val="4A2E1A"/>
                </a:solidFill>
              </a:rPr>
              <a:t> | </a:t>
            </a:r>
            <a:r>
              <a:rPr lang="en-US" sz="950">
                <a:solidFill>
                  <a:srgbClr val="3296EB"/>
                </a:solidFill>
              </a:rPr>
              <a:t>Row grain, primary keys, and date/time columns</a:t>
            </a:r>
            <a:r>
              <a:rPr lang="en-US" sz="950">
                <a:solidFill>
                  <a:srgbClr val="4A2E1A"/>
                </a:solidFill>
              </a:rPr>
              <a:t> | </a:t>
            </a:r>
            <a:r>
              <a:rPr lang="en-US" sz="950">
                <a:solidFill>
                  <a:srgbClr val="3296EB"/>
                </a:solidFill>
              </a:rPr>
              <a:t>Metric definitions with canonical filter predicates</a:t>
            </a:r>
            <a:r>
              <a:rPr lang="en-US" sz="950">
                <a:solidFill>
                  <a:srgbClr val="4A2E1A"/>
                </a:solidFill>
              </a:rPr>
              <a:t> | </a:t>
            </a:r>
            <a:r>
              <a:rPr lang="en-US" sz="950">
                <a:solidFill>
                  <a:srgbClr val="3296EB"/>
                </a:solidFill>
              </a:rPr>
              <a:t>Join rules to related data assets</a:t>
            </a:r>
            <a:r>
              <a:rPr lang="en-US" sz="950">
                <a:solidFill>
                  <a:srgbClr val="4A2E1A"/>
                </a:solidFill>
              </a:rPr>
              <a:t> | </a:t>
            </a:r>
            <a:r>
              <a:rPr lang="en-US" sz="950">
                <a:solidFill>
                  <a:srgbClr val="3296EB"/>
                </a:solidFill>
              </a:rPr>
              <a:t>Known caveats: stale fields</a:t>
            </a:r>
            <a:r>
              <a:rPr lang="en-US" sz="950">
                <a:solidFill>
                  <a:srgbClr val="4A2E1A"/>
                </a:solidFill>
              </a:rPr>
              <a:t>, unreliable columns, open questions. Metadata shall be enriched progressively as usage expands. For data assets used in AI or Chat-to-Data applications, </a:t>
            </a:r>
            <a:r>
              <a:rPr lang="en-US" sz="950">
                <a:solidFill>
                  <a:srgbClr val="3296EB"/>
                </a:solidFill>
              </a:rPr>
              <a:t>additional mandatory columns apply -- see Appendix A Column Reference</a:t>
            </a:r>
            <a:r>
              <a:rPr lang="en-US" sz="950">
                <a:solidFill>
                  <a:srgbClr val="4A2E1A"/>
                </a:solidFill>
              </a:rPr>
              <a:t>.</a:t>
            </a:r>
          </a:p>
        </p:txBody>
      </p:sp>
      <p:cxnSp>
        <p:nvCxnSpPr>
          <p:cNvPr id="22" name="Straight Connector 21">
            <a:extLst>
              <a:ext uri="{FF2B5EF4-FFF2-40B4-BE49-F238E27FC236}">
                <a16:creationId xmlns:a16="http://schemas.microsoft.com/office/drawing/2014/main" id="{AB9613A7-8F10-390E-82F2-20A00F584F81}"/>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669F2CB-A113-754E-7279-2FE7B0081765}"/>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16C684F-C8AC-81B0-CE84-342B78AF5D15}"/>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B98693F2-D101-1CE2-243D-F7733395B2ED}"/>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FC25053-265A-8BBB-986B-891EBD1C0098}"/>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Required fields completely revised: original generic governance fields (data source, purpose, constraints, refresh frequency) replaced by query-specific fields that help users and AI choose the correct table, column, join, and filter. Caveats added as a mandatory field. AI project tables require additional Datahub template columns beyond A-H (referenced in Appendix A).</a:t>
            </a:r>
          </a:p>
        </p:txBody>
      </p:sp>
    </p:spTree>
    <p:extLst>
      <p:ext uri="{BB962C8B-B14F-4D97-AF65-F5344CB8AC3E}">
        <p14:creationId xmlns:p14="http://schemas.microsoft.com/office/powerpoint/2010/main" val="1668620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BC49E5-F595-D514-28F3-9F844472968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74A17B6-96E4-263F-69F7-54CBB2C5EAC0}"/>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239C7E6-E37B-E7B9-021A-7E2BE7727A6B}"/>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5F22B13-BA43-FEE2-8CDE-8D62A8BD04E7}"/>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0ED949A-7636-8A00-026C-CB76358EF0FE}"/>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4.3</a:t>
            </a:r>
          </a:p>
        </p:txBody>
      </p:sp>
      <p:sp>
        <p:nvSpPr>
          <p:cNvPr id="7" name="TextBox 6">
            <a:extLst>
              <a:ext uri="{FF2B5EF4-FFF2-40B4-BE49-F238E27FC236}">
                <a16:creationId xmlns:a16="http://schemas.microsoft.com/office/drawing/2014/main" id="{5F1AAB02-FC68-80DB-BE03-8868C732898B}"/>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4.3  Metadata Validation</a:t>
            </a:r>
          </a:p>
        </p:txBody>
      </p:sp>
      <p:sp>
        <p:nvSpPr>
          <p:cNvPr id="8" name="TextBox 7">
            <a:extLst>
              <a:ext uri="{FF2B5EF4-FFF2-40B4-BE49-F238E27FC236}">
                <a16:creationId xmlns:a16="http://schemas.microsoft.com/office/drawing/2014/main" id="{42964AD4-215C-F599-8DAC-4B354AB0B97B}"/>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4.3 / 18</a:t>
            </a:r>
          </a:p>
        </p:txBody>
      </p:sp>
      <p:cxnSp>
        <p:nvCxnSpPr>
          <p:cNvPr id="9" name="Straight Connector 8">
            <a:extLst>
              <a:ext uri="{FF2B5EF4-FFF2-40B4-BE49-F238E27FC236}">
                <a16:creationId xmlns:a16="http://schemas.microsoft.com/office/drawing/2014/main" id="{2B5DC070-39C2-A201-BF02-56A38E75EE4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352A25D-2648-ACCD-555E-104F2C6BA0CB}"/>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D8D2884-281D-9FFA-293C-61E24D7109BB}"/>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959FE3E-BBC9-BF61-52F6-0DD6DB6E00FD}"/>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2F12B30-1DF0-DA52-BE16-341C468EE2A6}"/>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2222B2"/>
                </a:solidFill>
              </a:rPr>
              <a:t>This process is used to ensure that</a:t>
            </a:r>
            <a:r>
              <a:rPr lang="en-US" sz="950">
                <a:solidFill>
                  <a:srgbClr val="4A2E1A"/>
                </a:solidFill>
              </a:rPr>
              <a:t> metadata is complete, accurate, and aligned with business and regulatory requirements prior to approval. The Data Steward performs validation </a:t>
            </a:r>
            <a:r>
              <a:rPr lang="en-US" sz="950">
                <a:solidFill>
                  <a:srgbClr val="2222B2"/>
                </a:solidFill>
              </a:rPr>
              <a:t>using a structured checklist within the system</a:t>
            </a:r>
            <a:r>
              <a:rPr lang="en-US" sz="950">
                <a:solidFill>
                  <a:srgbClr val="4A2E1A"/>
                </a:solidFill>
              </a:rPr>
              <a:t> to confirm: Completeness of required metadata fields | Clarity and consistency of business definitions | Correct assignment of Data Owner and Data Steward | Accuracy of data classification. The Data Steward verifies that data classification complies with applicable laws, including PDPA, and internal policies. Where classification or usage is unclear, the Data Steward must escalate prior to proceeding. </a:t>
            </a:r>
            <a:r>
              <a:rPr lang="en-US" sz="950">
                <a:solidFill>
                  <a:srgbClr val="2222B2"/>
                </a:solidFill>
              </a:rPr>
              <a:t>Metadata cannot be submitted for approval until all validation requirements are completed.</a:t>
            </a:r>
          </a:p>
        </p:txBody>
      </p:sp>
      <p:cxnSp>
        <p:nvCxnSpPr>
          <p:cNvPr id="14" name="Straight Connector 13">
            <a:extLst>
              <a:ext uri="{FF2B5EF4-FFF2-40B4-BE49-F238E27FC236}">
                <a16:creationId xmlns:a16="http://schemas.microsoft.com/office/drawing/2014/main" id="{3F011812-EAC4-0D12-B72E-3B437B388FDB}"/>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B6E81B5-2D8D-7591-B6DD-09A693CDC284}"/>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CBF85FD-4260-9A18-06C1-DE35AE07CBBC}"/>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B4AF2F8-44AA-B2D6-D8B7-07D0E101FFB4}"/>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71F4EBFC-2F0A-2D05-171F-2CDFFA324F4A}"/>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EDBB4DB-D45D-C527-9527-7A5E1117382C}"/>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System checklist and submission-gate removed; manual validation process retained</a:t>
            </a:r>
          </a:p>
        </p:txBody>
      </p:sp>
      <p:cxnSp>
        <p:nvCxnSpPr>
          <p:cNvPr id="20" name="Straight Connector 19">
            <a:extLst>
              <a:ext uri="{FF2B5EF4-FFF2-40B4-BE49-F238E27FC236}">
                <a16:creationId xmlns:a16="http://schemas.microsoft.com/office/drawing/2014/main" id="{B9D02F0A-70AE-4829-3EC4-6D2AB12F9E92}"/>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7E9A41B-8816-1139-299D-F0FFC61DEBDB}"/>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The Data Steward </a:t>
            </a:r>
            <a:r>
              <a:rPr lang="en-US" sz="1000">
                <a:solidFill>
                  <a:srgbClr val="3296EB"/>
                </a:solidFill>
              </a:rPr>
              <a:t>validates metadata for completeness, definition clarity, correct ownership assignment, and data classification</a:t>
            </a:r>
            <a:r>
              <a:rPr lang="en-US" sz="1000">
                <a:solidFill>
                  <a:srgbClr val="4A2E1A"/>
                </a:solidFill>
              </a:rPr>
              <a:t> before submission. Classification must comply with PDPA and internal policy. Where classification or usage is unclear, the Data Steward must </a:t>
            </a:r>
            <a:r>
              <a:rPr lang="en-US" sz="1000">
                <a:solidFill>
                  <a:srgbClr val="3296EB"/>
                </a:solidFill>
              </a:rPr>
              <a:t>escalate prior to proceeding</a:t>
            </a:r>
            <a:r>
              <a:rPr lang="en-US" sz="1000">
                <a:solidFill>
                  <a:srgbClr val="4A2E1A"/>
                </a:solidFill>
              </a:rPr>
              <a:t>.</a:t>
            </a:r>
          </a:p>
        </p:txBody>
      </p:sp>
      <p:cxnSp>
        <p:nvCxnSpPr>
          <p:cNvPr id="22" name="Straight Connector 21">
            <a:extLst>
              <a:ext uri="{FF2B5EF4-FFF2-40B4-BE49-F238E27FC236}">
                <a16:creationId xmlns:a16="http://schemas.microsoft.com/office/drawing/2014/main" id="{38B66C11-89F0-FBBC-D300-2DE6D537459B}"/>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6CF51A0-E679-6D25-7E9C-593F40933F4A}"/>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5A3184E-C5A5-C5C7-A367-D9584DD239ED}"/>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F54D9795-27C8-EC18-E6CE-26A2E0EDB970}"/>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0BF0B61-C209-81B1-7186-A6F2F6D568E0}"/>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Process preamble removed -- direct procedural language. 'Structured checklist within the system' removed: the system validation tool is not yet built; the team validates manually. 'Cannot be submitted' enforcement clause removed for the same reason. Core validation requirements fully preserved in condensed form.</a:t>
            </a:r>
          </a:p>
        </p:txBody>
      </p:sp>
    </p:spTree>
    <p:extLst>
      <p:ext uri="{BB962C8B-B14F-4D97-AF65-F5344CB8AC3E}">
        <p14:creationId xmlns:p14="http://schemas.microsoft.com/office/powerpoint/2010/main" val="304886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52A5A-DEB4-3B5F-752B-0CA27E637CF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6428E0-5808-86A5-8FCB-BF20167359FD}"/>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C571DC6-FF98-8ED1-959E-D324AEF6848E}"/>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DD9C208-0AAE-5EC9-B617-2AAF5DCB1E66}"/>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46B0F2-95CE-36EC-6C6C-428968030CA3}"/>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4.4</a:t>
            </a:r>
          </a:p>
        </p:txBody>
      </p:sp>
      <p:sp>
        <p:nvSpPr>
          <p:cNvPr id="7" name="TextBox 6">
            <a:extLst>
              <a:ext uri="{FF2B5EF4-FFF2-40B4-BE49-F238E27FC236}">
                <a16:creationId xmlns:a16="http://schemas.microsoft.com/office/drawing/2014/main" id="{4F493497-ACCD-0F4F-CE86-DC87CB093A72}"/>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4.4  Metadata Review and Status Tracking</a:t>
            </a:r>
          </a:p>
        </p:txBody>
      </p:sp>
      <p:sp>
        <p:nvSpPr>
          <p:cNvPr id="8" name="TextBox 7">
            <a:extLst>
              <a:ext uri="{FF2B5EF4-FFF2-40B4-BE49-F238E27FC236}">
                <a16:creationId xmlns:a16="http://schemas.microsoft.com/office/drawing/2014/main" id="{E055B874-D75F-D15D-7137-BFDC32EEB771}"/>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4.4 / 18</a:t>
            </a:r>
          </a:p>
        </p:txBody>
      </p:sp>
      <p:cxnSp>
        <p:nvCxnSpPr>
          <p:cNvPr id="9" name="Straight Connector 8">
            <a:extLst>
              <a:ext uri="{FF2B5EF4-FFF2-40B4-BE49-F238E27FC236}">
                <a16:creationId xmlns:a16="http://schemas.microsoft.com/office/drawing/2014/main" id="{AD0A38E9-B19B-B1EE-DD44-E93FFBE83710}"/>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2638214-0DC8-49E8-D03D-723CB6306731}"/>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751705F-8743-5C12-81A2-ABDEE0886443}"/>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AF3535A-EE5B-46B7-838A-DBE0F9BF3E08}"/>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7A5D996-8CB2-240F-59D7-B295944DA216}"/>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4A2E1A"/>
                </a:solidFill>
              </a:rPr>
              <a:t>This process is used to establish formal accountability and authorization for metadata usage. The Data Steward submits the validated metadata to the Data Owner </a:t>
            </a:r>
            <a:r>
              <a:rPr lang="en-US" sz="900">
                <a:solidFill>
                  <a:srgbClr val="2222B2"/>
                </a:solidFill>
              </a:rPr>
              <a:t>through the system workflow</a:t>
            </a:r>
            <a:r>
              <a:rPr lang="en-US" sz="900">
                <a:solidFill>
                  <a:srgbClr val="4A2E1A"/>
                </a:solidFill>
              </a:rPr>
              <a:t>. The Data Owner reviews and approves the metadata, including business definition, classification, and intended usage. </a:t>
            </a:r>
            <a:r>
              <a:rPr lang="en-US" sz="900">
                <a:solidFill>
                  <a:srgbClr val="2222B2"/>
                </a:solidFill>
              </a:rPr>
              <a:t>The system enforces segregation of duties</a:t>
            </a:r>
            <a:r>
              <a:rPr lang="en-US" sz="900">
                <a:solidFill>
                  <a:srgbClr val="4A2E1A"/>
                </a:solidFill>
              </a:rPr>
              <a:t> such that the Data Steward who prepared the metadata is not permitted to approve it. Where the data involves cross-functional impact or high-risk classification, the Data Owner </a:t>
            </a:r>
            <a:r>
              <a:rPr lang="en-US" sz="900">
                <a:solidFill>
                  <a:srgbClr val="2222B2"/>
                </a:solidFill>
              </a:rPr>
              <a:t>must escalate to the Data Governance Committee (DGC)</a:t>
            </a:r>
            <a:r>
              <a:rPr lang="en-US" sz="900">
                <a:solidFill>
                  <a:srgbClr val="4A2E1A"/>
                </a:solidFill>
              </a:rPr>
              <a:t> for review prior to approval. </a:t>
            </a:r>
            <a:r>
              <a:rPr lang="en-US" sz="900">
                <a:solidFill>
                  <a:srgbClr val="2222B2"/>
                </a:solidFill>
              </a:rPr>
              <a:t>All approval actions must be recorded in the system with user identification and timestamp</a:t>
            </a:r>
            <a:r>
              <a:rPr lang="en-US" sz="900">
                <a:solidFill>
                  <a:srgbClr val="4A2E1A"/>
                </a:solidFill>
              </a:rPr>
              <a:t> and must be retained as audit evidence.</a:t>
            </a:r>
          </a:p>
        </p:txBody>
      </p:sp>
      <p:cxnSp>
        <p:nvCxnSpPr>
          <p:cNvPr id="14" name="Straight Connector 13">
            <a:extLst>
              <a:ext uri="{FF2B5EF4-FFF2-40B4-BE49-F238E27FC236}">
                <a16:creationId xmlns:a16="http://schemas.microsoft.com/office/drawing/2014/main" id="{9206F34B-504F-1DE0-6FF0-BF4EAB2DDE1B}"/>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3A4CF4C-D788-D23D-37ED-7C65164E7D59}"/>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B604DF-BFD8-5C42-609F-BABAEDC4E16F}"/>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FED2E82-B82C-9C00-B7DC-E56D260E3692}"/>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C1493066-76F7-79F1-9C50-DE1C20111B85}"/>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E9281F7-D9C5-63C5-6081-6BC150CCF376}"/>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System workflow and DGC escalation removed; status tracking fields (draft/reviewed/approved) replace them</a:t>
            </a:r>
          </a:p>
        </p:txBody>
      </p:sp>
      <p:cxnSp>
        <p:nvCxnSpPr>
          <p:cNvPr id="20" name="Straight Connector 19">
            <a:extLst>
              <a:ext uri="{FF2B5EF4-FFF2-40B4-BE49-F238E27FC236}">
                <a16:creationId xmlns:a16="http://schemas.microsoft.com/office/drawing/2014/main" id="{8D1D300D-CDEF-1B2F-5CB6-95B13519D5E7}"/>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33CFD05-CCB8-2ABA-3B85-32ADD703FF81}"/>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Each metadata record must carry a review status. Required fields: </a:t>
            </a:r>
            <a:r>
              <a:rPr lang="en-US" sz="950">
                <a:solidFill>
                  <a:srgbClr val="3296EB"/>
                </a:solidFill>
              </a:rPr>
              <a:t>metadata_status (draft / reviewed / approved)</a:t>
            </a:r>
            <a:r>
              <a:rPr lang="en-US" sz="950">
                <a:solidFill>
                  <a:srgbClr val="4A2E1A"/>
                </a:solidFill>
              </a:rPr>
              <a:t> | </a:t>
            </a:r>
            <a:r>
              <a:rPr lang="en-US" sz="950">
                <a:solidFill>
                  <a:srgbClr val="3296EB"/>
                </a:solidFill>
              </a:rPr>
              <a:t>last_reviewed_date</a:t>
            </a:r>
            <a:r>
              <a:rPr lang="en-US" sz="950">
                <a:solidFill>
                  <a:srgbClr val="4A2E1A"/>
                </a:solidFill>
              </a:rPr>
              <a:t> | </a:t>
            </a:r>
            <a:r>
              <a:rPr lang="en-US" sz="950">
                <a:solidFill>
                  <a:srgbClr val="3296EB"/>
                </a:solidFill>
              </a:rPr>
              <a:t>reviewer_name</a:t>
            </a:r>
            <a:r>
              <a:rPr lang="en-US" sz="950">
                <a:solidFill>
                  <a:srgbClr val="4A2E1A"/>
                </a:solidFill>
              </a:rPr>
              <a:t> | </a:t>
            </a:r>
            <a:r>
              <a:rPr lang="en-US" sz="950">
                <a:solidFill>
                  <a:srgbClr val="3296EB"/>
                </a:solidFill>
              </a:rPr>
              <a:t>owner_contact</a:t>
            </a:r>
            <a:r>
              <a:rPr lang="en-US" sz="950">
                <a:solidFill>
                  <a:srgbClr val="4A2E1A"/>
                </a:solidFill>
              </a:rPr>
              <a:t>. Metadata must reach approved status before the data asset is made available for use. The </a:t>
            </a:r>
            <a:r>
              <a:rPr lang="en-US" sz="950">
                <a:solidFill>
                  <a:srgbClr val="3296EB"/>
                </a:solidFill>
              </a:rPr>
              <a:t>Data Owner is responsible for approving metadata</a:t>
            </a:r>
            <a:r>
              <a:rPr lang="en-US" sz="950">
                <a:solidFill>
                  <a:srgbClr val="4A2E1A"/>
                </a:solidFill>
              </a:rPr>
              <a:t>; the Data Steward is responsible for preparing and maintaining it.</a:t>
            </a:r>
          </a:p>
        </p:txBody>
      </p:sp>
      <p:cxnSp>
        <p:nvCxnSpPr>
          <p:cNvPr id="22" name="Straight Connector 21">
            <a:extLst>
              <a:ext uri="{FF2B5EF4-FFF2-40B4-BE49-F238E27FC236}">
                <a16:creationId xmlns:a16="http://schemas.microsoft.com/office/drawing/2014/main" id="{3424A26F-6FB9-03D7-B176-A1FF89D4EB93}"/>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44B85B2-D9A0-AA36-816F-4CF611B11D59}"/>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5851BD8-DCB0-FC32-B3B5-0949E73F7C7A}"/>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0C22CE4D-E4D4-7E0D-D473-516AF4A0299B}"/>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D334D8C-E64B-F1E5-C707-7E8BDF5657C3}"/>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System workflow routing and SOD enforcement removed: the catalog platform to enforce these controls is not yet built. DGC escalation removed. System-logged audit trail replaced with manual status tracking fields, which provide equivalent accountability with no platform dependency. Approval responsibility remains clearly with the Data Owner.</a:t>
            </a:r>
          </a:p>
        </p:txBody>
      </p:sp>
    </p:spTree>
    <p:extLst>
      <p:ext uri="{BB962C8B-B14F-4D97-AF65-F5344CB8AC3E}">
        <p14:creationId xmlns:p14="http://schemas.microsoft.com/office/powerpoint/2010/main" val="743273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5578B2-A068-0908-5FBE-1E1B15F7967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F85B146-29C1-3BFD-D57A-A8DE42BAF029}"/>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4D139A-4ED1-1786-2CEF-1D068AB1036D}"/>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2181B95-1D5B-4F45-FDAB-C3660C9E399D}"/>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DBB50D0-B36A-37BD-FD65-C132A9843B8B}"/>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4.5</a:t>
            </a:r>
          </a:p>
        </p:txBody>
      </p:sp>
      <p:sp>
        <p:nvSpPr>
          <p:cNvPr id="7" name="TextBox 6">
            <a:extLst>
              <a:ext uri="{FF2B5EF4-FFF2-40B4-BE49-F238E27FC236}">
                <a16:creationId xmlns:a16="http://schemas.microsoft.com/office/drawing/2014/main" id="{296A30DD-E670-2E23-5E47-759702DC6933}"/>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4.5  Publication and Use of Approved Metadata</a:t>
            </a:r>
          </a:p>
        </p:txBody>
      </p:sp>
      <p:sp>
        <p:nvSpPr>
          <p:cNvPr id="8" name="TextBox 7">
            <a:extLst>
              <a:ext uri="{FF2B5EF4-FFF2-40B4-BE49-F238E27FC236}">
                <a16:creationId xmlns:a16="http://schemas.microsoft.com/office/drawing/2014/main" id="{69D912B0-F2BC-2ABA-C818-20F7D94C062C}"/>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4.5 / 18</a:t>
            </a:r>
          </a:p>
        </p:txBody>
      </p:sp>
      <p:cxnSp>
        <p:nvCxnSpPr>
          <p:cNvPr id="9" name="Straight Connector 8">
            <a:extLst>
              <a:ext uri="{FF2B5EF4-FFF2-40B4-BE49-F238E27FC236}">
                <a16:creationId xmlns:a16="http://schemas.microsoft.com/office/drawing/2014/main" id="{09CE4947-3995-2245-25DB-F224378BC398}"/>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FEAD666-7A03-E027-8941-06D77B6843C8}"/>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43919C8-FF53-43C4-C3D0-D8D7B55C1D33}"/>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786D7BFA-221E-48BF-A7B2-B8AF32D54847}"/>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EAFD69B-F14C-EB30-D8C2-EC79DAB20798}"/>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4A2E1A"/>
                </a:solidFill>
              </a:rPr>
              <a:t>This process is used to ensure that only approved metadata is used for business operations, reporting, and analytics. Only datasets with approved metadata status are permitted to be used in reporting, analytics, or AI applications. </a:t>
            </a:r>
            <a:r>
              <a:rPr lang="en-US" sz="900">
                <a:solidFill>
                  <a:srgbClr val="2222B2"/>
                </a:solidFill>
              </a:rPr>
              <a:t>The Data Custodian ensures that only approved datasets are made available in the production environment</a:t>
            </a:r>
            <a:r>
              <a:rPr lang="en-US" sz="900">
                <a:solidFill>
                  <a:srgbClr val="4A2E1A"/>
                </a:solidFill>
              </a:rPr>
              <a:t>. </a:t>
            </a:r>
            <a:r>
              <a:rPr lang="en-US" sz="900">
                <a:solidFill>
                  <a:srgbClr val="2222B2"/>
                </a:solidFill>
              </a:rPr>
              <a:t>Access to datasets must be controlled through role-based access control (RBAC)</a:t>
            </a:r>
            <a:r>
              <a:rPr lang="en-US" sz="900">
                <a:solidFill>
                  <a:srgbClr val="4A2E1A"/>
                </a:solidFill>
              </a:rPr>
              <a:t>, in accordance with approved access rights. Approved metadata shall be made accessible to users through designated data catalog or reporting tools. </a:t>
            </a:r>
            <a:r>
              <a:rPr lang="en-US" sz="900">
                <a:solidFill>
                  <a:srgbClr val="2222B2"/>
                </a:solidFill>
              </a:rPr>
              <a:t>Any exception must be formally justified</a:t>
            </a:r>
            <a:r>
              <a:rPr lang="en-US" sz="900">
                <a:solidFill>
                  <a:srgbClr val="4A2E1A"/>
                </a:solidFill>
              </a:rPr>
              <a:t>, approved by the Data Owner, and documented for audit purposes.</a:t>
            </a:r>
          </a:p>
        </p:txBody>
      </p:sp>
      <p:cxnSp>
        <p:nvCxnSpPr>
          <p:cNvPr id="14" name="Straight Connector 13">
            <a:extLst>
              <a:ext uri="{FF2B5EF4-FFF2-40B4-BE49-F238E27FC236}">
                <a16:creationId xmlns:a16="http://schemas.microsoft.com/office/drawing/2014/main" id="{FAE4A860-E2A3-AE2C-F078-D6572C7F071F}"/>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9AD8923-3447-8149-E9B6-620B2333EB96}"/>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6E3DE8-F05D-1D6D-2C1E-3C8FEAC377FB}"/>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2B3F75F-1EDC-3118-B772-95E881935CD0}"/>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B6963013-E5BF-3614-3468-0B9C7D757A2F}"/>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E06B2A-FB22-2354-BA84-99EB97D12A37}"/>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RBAC and catalog gate replaced by usage control flags (safe_for_use / usage_status) per data asset</a:t>
            </a:r>
          </a:p>
        </p:txBody>
      </p:sp>
      <p:cxnSp>
        <p:nvCxnSpPr>
          <p:cNvPr id="20" name="Straight Connector 19">
            <a:extLst>
              <a:ext uri="{FF2B5EF4-FFF2-40B4-BE49-F238E27FC236}">
                <a16:creationId xmlns:a16="http://schemas.microsoft.com/office/drawing/2014/main" id="{A062F22A-AC23-3F05-B66F-F5649C1067C5}"/>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7F32B39-47DF-3D87-4D4E-3EB5276C0753}"/>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Before a data asset is made available for use, its metadata must include the following usage control fields: </a:t>
            </a:r>
            <a:r>
              <a:rPr lang="en-US" sz="950">
                <a:solidFill>
                  <a:srgbClr val="3296EB"/>
                </a:solidFill>
              </a:rPr>
              <a:t>usage_status (active / restricted / pending)</a:t>
            </a:r>
            <a:r>
              <a:rPr lang="en-US" sz="950">
                <a:solidFill>
                  <a:srgbClr val="4A2E1A"/>
                </a:solidFill>
              </a:rPr>
              <a:t> | </a:t>
            </a:r>
            <a:r>
              <a:rPr lang="en-US" sz="950">
                <a:solidFill>
                  <a:srgbClr val="3296EB"/>
                </a:solidFill>
              </a:rPr>
              <a:t>safe_for_use: yes / no</a:t>
            </a:r>
            <a:r>
              <a:rPr lang="en-US" sz="950">
                <a:solidFill>
                  <a:srgbClr val="4A2E1A"/>
                </a:solidFill>
              </a:rPr>
              <a:t> | </a:t>
            </a:r>
            <a:r>
              <a:rPr lang="en-US" sz="950">
                <a:solidFill>
                  <a:srgbClr val="3296EB"/>
                </a:solidFill>
              </a:rPr>
              <a:t>reason_if_restricted</a:t>
            </a:r>
            <a:r>
              <a:rPr lang="en-US" sz="950">
                <a:solidFill>
                  <a:srgbClr val="4A2E1A"/>
                </a:solidFill>
              </a:rPr>
              <a:t> | </a:t>
            </a:r>
            <a:r>
              <a:rPr lang="en-US" sz="950">
                <a:solidFill>
                  <a:srgbClr val="3296EB"/>
                </a:solidFill>
              </a:rPr>
              <a:t>restricted_columns</a:t>
            </a:r>
            <a:r>
              <a:rPr lang="en-US" sz="950">
                <a:solidFill>
                  <a:srgbClr val="4A2E1A"/>
                </a:solidFill>
              </a:rPr>
              <a:t>. Only data assets with </a:t>
            </a:r>
            <a:r>
              <a:rPr lang="en-US" sz="950">
                <a:solidFill>
                  <a:srgbClr val="3296EB"/>
                </a:solidFill>
              </a:rPr>
              <a:t>usage_status: active and safe_for_use: yes</a:t>
            </a:r>
            <a:r>
              <a:rPr lang="en-US" sz="950">
                <a:solidFill>
                  <a:srgbClr val="4A2E1A"/>
                </a:solidFill>
              </a:rPr>
              <a:t> may be used in production reporting, analytics, or AI applications.</a:t>
            </a:r>
          </a:p>
        </p:txBody>
      </p:sp>
      <p:cxnSp>
        <p:nvCxnSpPr>
          <p:cNvPr id="22" name="Straight Connector 21">
            <a:extLst>
              <a:ext uri="{FF2B5EF4-FFF2-40B4-BE49-F238E27FC236}">
                <a16:creationId xmlns:a16="http://schemas.microsoft.com/office/drawing/2014/main" id="{CBFBA6A8-2D4C-E9B6-1533-CFE80F568AF0}"/>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3ECCA42-75C6-D981-09FE-08D1EC1B81D1}"/>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F07B494-0577-4008-D24E-ECFAD2D7D3F4}"/>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CF4822D1-B317-D1BE-409A-0C2AF9060915}"/>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7EFCDF4-297B-EBE0-3E3A-87332B74FA2F}"/>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RBAC enforcement and catalog production-gate are not yet available. Usage control flags achieve the same governance intent using existing tooling: they give consuming applications a machine-readable signal to answer, refuse, or escalate. Exception documentation removed; flags cover this directly.</a:t>
            </a:r>
          </a:p>
        </p:txBody>
      </p:sp>
    </p:spTree>
    <p:extLst>
      <p:ext uri="{BB962C8B-B14F-4D97-AF65-F5344CB8AC3E}">
        <p14:creationId xmlns:p14="http://schemas.microsoft.com/office/powerpoint/2010/main" val="663444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777458-F7D2-BF19-E1E6-66B826B7BFF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FD865E-F7B0-ED95-29FE-E51C0C62D3C5}"/>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23FE1CC-6AB3-8DDF-A96F-D8D8D649214D}"/>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DAA7008-4C96-E6FA-932E-9242DD1955EE}"/>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C07EAF0-1505-4596-4CE9-B62B87CA233E}"/>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4.6</a:t>
            </a:r>
          </a:p>
        </p:txBody>
      </p:sp>
      <p:sp>
        <p:nvSpPr>
          <p:cNvPr id="7" name="TextBox 6">
            <a:extLst>
              <a:ext uri="{FF2B5EF4-FFF2-40B4-BE49-F238E27FC236}">
                <a16:creationId xmlns:a16="http://schemas.microsoft.com/office/drawing/2014/main" id="{26CEAACB-8C6B-8655-5C6D-3D32878C9071}"/>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4.6  Metadata Maintenance and Change Management</a:t>
            </a:r>
          </a:p>
        </p:txBody>
      </p:sp>
      <p:sp>
        <p:nvSpPr>
          <p:cNvPr id="8" name="TextBox 7">
            <a:extLst>
              <a:ext uri="{FF2B5EF4-FFF2-40B4-BE49-F238E27FC236}">
                <a16:creationId xmlns:a16="http://schemas.microsoft.com/office/drawing/2014/main" id="{03281570-F9CE-ABFC-4AB6-984300BAAFB0}"/>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4.6 / 18</a:t>
            </a:r>
          </a:p>
        </p:txBody>
      </p:sp>
      <p:cxnSp>
        <p:nvCxnSpPr>
          <p:cNvPr id="9" name="Straight Connector 8">
            <a:extLst>
              <a:ext uri="{FF2B5EF4-FFF2-40B4-BE49-F238E27FC236}">
                <a16:creationId xmlns:a16="http://schemas.microsoft.com/office/drawing/2014/main" id="{73BFC6F6-953D-3CF9-2E6A-97FA50CCE0A6}"/>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27A1BB6-0800-C4DD-EF7A-B85C25009171}"/>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2C1B5D-E12A-326E-C034-8363BD958036}"/>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2BA9EDEC-0C07-A5C0-40CC-E5DDA3B04F0C}"/>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7A0BF60-31D4-7F97-0ECF-EC29C24B1DBE}"/>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4A2E1A"/>
                </a:solidFill>
              </a:rPr>
              <a:t>This process is used to ensure that metadata remains accurate and up to date. The Data Steward must update metadata when there are changes to: Business definitions | Data sources or systems | Data structures or transformations | Regulatory or policy requirements. </a:t>
            </a:r>
            <a:r>
              <a:rPr lang="en-US" sz="900">
                <a:solidFill>
                  <a:srgbClr val="2222B2"/>
                </a:solidFill>
              </a:rPr>
              <a:t>All changes must be performed through the system workflow</a:t>
            </a:r>
            <a:r>
              <a:rPr lang="en-US" sz="900">
                <a:solidFill>
                  <a:srgbClr val="4A2E1A"/>
                </a:solidFill>
              </a:rPr>
              <a:t> and must be approved by the Data Owner. </a:t>
            </a:r>
            <a:r>
              <a:rPr lang="en-US" sz="900">
                <a:solidFill>
                  <a:srgbClr val="2222B2"/>
                </a:solidFill>
              </a:rPr>
              <a:t>Edit access is restricted based on user roles to ensure segregation of duties.</a:t>
            </a:r>
            <a:r>
              <a:rPr lang="en-US" sz="900">
                <a:solidFill>
                  <a:srgbClr val="4A2E1A"/>
                </a:solidFill>
              </a:rPr>
              <a:t> </a:t>
            </a:r>
            <a:r>
              <a:rPr lang="en-US" sz="900">
                <a:solidFill>
                  <a:srgbClr val="2222B2"/>
                </a:solidFill>
              </a:rPr>
              <a:t>The system maintains version control for all changes</a:t>
            </a:r>
            <a:r>
              <a:rPr lang="en-US" sz="900">
                <a:solidFill>
                  <a:srgbClr val="4A2E1A"/>
                </a:solidFill>
              </a:rPr>
              <a:t>, including: Change description | Reason for change | Approval record. The Data Owner must periodically review and confirm the accuracy of metadata.</a:t>
            </a:r>
          </a:p>
        </p:txBody>
      </p:sp>
      <p:cxnSp>
        <p:nvCxnSpPr>
          <p:cNvPr id="14" name="Straight Connector 13">
            <a:extLst>
              <a:ext uri="{FF2B5EF4-FFF2-40B4-BE49-F238E27FC236}">
                <a16:creationId xmlns:a16="http://schemas.microsoft.com/office/drawing/2014/main" id="{9A3E0D82-1D58-339E-4C83-0CD689B4502F}"/>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3814DB9-4D99-2842-8ECB-E721B13FDD82}"/>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DE2E7D9-87E3-50C5-3231-429A38DCA537}"/>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F56BF5B-2557-20C1-DBBF-7A8CD7C6995F}"/>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E58B9C84-B22F-70B7-3B4B-02FFBEB5AE0B}"/>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65542E4-0D55-EAEC-8C03-700A01B9A77D}"/>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System version control replaced by 4 lightweight change record fields; Data Owner review retained</a:t>
            </a:r>
          </a:p>
        </p:txBody>
      </p:sp>
      <p:cxnSp>
        <p:nvCxnSpPr>
          <p:cNvPr id="20" name="Straight Connector 19">
            <a:extLst>
              <a:ext uri="{FF2B5EF4-FFF2-40B4-BE49-F238E27FC236}">
                <a16:creationId xmlns:a16="http://schemas.microsoft.com/office/drawing/2014/main" id="{F36A2685-4BD8-AB82-3310-4A6505C5BACC}"/>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D7AE94-B486-2E1C-73CB-334375ED4333}"/>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must update metadata when there are changes to business definitions, data sources, data structures, or regulatory requirements. Each update must record: </a:t>
            </a:r>
            <a:r>
              <a:rPr lang="en-US" sz="950">
                <a:solidFill>
                  <a:srgbClr val="3296EB"/>
                </a:solidFill>
              </a:rPr>
              <a:t>last_updated</a:t>
            </a:r>
            <a:r>
              <a:rPr lang="en-US" sz="950">
                <a:solidFill>
                  <a:srgbClr val="4A2E1A"/>
                </a:solidFill>
              </a:rPr>
              <a:t> | </a:t>
            </a:r>
            <a:r>
              <a:rPr lang="en-US" sz="950">
                <a:solidFill>
                  <a:srgbClr val="3296EB"/>
                </a:solidFill>
              </a:rPr>
              <a:t>source_verified_from</a:t>
            </a:r>
            <a:r>
              <a:rPr lang="en-US" sz="950">
                <a:solidFill>
                  <a:srgbClr val="4A2E1A"/>
                </a:solidFill>
              </a:rPr>
              <a:t> | </a:t>
            </a:r>
            <a:r>
              <a:rPr lang="en-US" sz="950">
                <a:solidFill>
                  <a:srgbClr val="3296EB"/>
                </a:solidFill>
              </a:rPr>
              <a:t>change_summary</a:t>
            </a:r>
            <a:r>
              <a:rPr lang="en-US" sz="950">
                <a:solidFill>
                  <a:srgbClr val="4A2E1A"/>
                </a:solidFill>
              </a:rPr>
              <a:t> | </a:t>
            </a:r>
            <a:r>
              <a:rPr lang="en-US" sz="950">
                <a:solidFill>
                  <a:srgbClr val="3296EB"/>
                </a:solidFill>
              </a:rPr>
              <a:t>validated_against_live_schema (yes / no)</a:t>
            </a:r>
            <a:r>
              <a:rPr lang="en-US" sz="950">
                <a:solidFill>
                  <a:srgbClr val="4A2E1A"/>
                </a:solidFill>
              </a:rPr>
              <a:t>. Changes affecting business definitions or data classification </a:t>
            </a:r>
            <a:r>
              <a:rPr lang="en-US" sz="950">
                <a:solidFill>
                  <a:srgbClr val="3296EB"/>
                </a:solidFill>
              </a:rPr>
              <a:t>must be reviewed and confirmed by the Data Owner</a:t>
            </a:r>
            <a:r>
              <a:rPr lang="en-US" sz="950">
                <a:solidFill>
                  <a:srgbClr val="4A2E1A"/>
                </a:solidFill>
              </a:rPr>
              <a:t>.</a:t>
            </a:r>
          </a:p>
        </p:txBody>
      </p:sp>
      <p:cxnSp>
        <p:nvCxnSpPr>
          <p:cNvPr id="22" name="Straight Connector 21">
            <a:extLst>
              <a:ext uri="{FF2B5EF4-FFF2-40B4-BE49-F238E27FC236}">
                <a16:creationId xmlns:a16="http://schemas.microsoft.com/office/drawing/2014/main" id="{A1561DBF-BC4B-4D92-A1CB-FD6940C6120E}"/>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EA168FE-4575-9860-E51E-3BFCDB767C1D}"/>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E551F89-A584-A97F-E521-5DEC58872AAD}"/>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B532FD2F-1C9D-3A42-C7C8-65BDD3896ACB}"/>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B7502A-7BBC-6643-3A7F-5E7E4873A477}"/>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System workflow enforcement and role-based edit access require platform build not yet complete. Immutable system version control replaced by lightweight change record fields providing adequate traceability. Data Owner review requirement fully retained.</a:t>
            </a:r>
          </a:p>
        </p:txBody>
      </p:sp>
    </p:spTree>
    <p:extLst>
      <p:ext uri="{BB962C8B-B14F-4D97-AF65-F5344CB8AC3E}">
        <p14:creationId xmlns:p14="http://schemas.microsoft.com/office/powerpoint/2010/main" val="3023606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1B7494-B750-0F3F-0558-4E7398D012A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785AC31-7ECA-6B53-DC92-0E1BCE4E1A39}"/>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88C29C6-38A7-3CFE-6CFE-1BC0873E2AA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DC5BC9D-153F-73C4-FA7C-EC7CDD48BD55}"/>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9191A2-4C75-B3B9-3423-61385F7F9A6B}"/>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4.7</a:t>
            </a:r>
          </a:p>
        </p:txBody>
      </p:sp>
      <p:sp>
        <p:nvSpPr>
          <p:cNvPr id="7" name="TextBox 6">
            <a:extLst>
              <a:ext uri="{FF2B5EF4-FFF2-40B4-BE49-F238E27FC236}">
                <a16:creationId xmlns:a16="http://schemas.microsoft.com/office/drawing/2014/main" id="{AF5B423B-7BCB-8C40-EFCB-20DA0CDFE216}"/>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4.7  Metadata Quality and Caveats</a:t>
            </a:r>
          </a:p>
        </p:txBody>
      </p:sp>
      <p:sp>
        <p:nvSpPr>
          <p:cNvPr id="8" name="TextBox 7">
            <a:extLst>
              <a:ext uri="{FF2B5EF4-FFF2-40B4-BE49-F238E27FC236}">
                <a16:creationId xmlns:a16="http://schemas.microsoft.com/office/drawing/2014/main" id="{B94A3B65-72A1-A809-A987-EFC21E35F1BE}"/>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4.7 / 18</a:t>
            </a:r>
          </a:p>
        </p:txBody>
      </p:sp>
      <p:cxnSp>
        <p:nvCxnSpPr>
          <p:cNvPr id="9" name="Straight Connector 8">
            <a:extLst>
              <a:ext uri="{FF2B5EF4-FFF2-40B4-BE49-F238E27FC236}">
                <a16:creationId xmlns:a16="http://schemas.microsoft.com/office/drawing/2014/main" id="{CD619EE8-7F66-5764-8FC8-2CB17F59892B}"/>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480A8C5-2245-5F4D-7564-02056181B9FE}"/>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08C8730-5501-7036-7289-777493BDFC16}"/>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3915755-BE30-5839-D0A6-3F681BCDA856}"/>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DA20048-8C19-8D5B-EB20-C1E3955007EC}"/>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00">
                <a:solidFill>
                  <a:srgbClr val="4A2E1A"/>
                </a:solidFill>
              </a:rPr>
              <a:t>This process is used to ensure that metadata quality is maintained over time. The Data Steward performs periodic reviews of metadata completeness, accuracy, and timeliness </a:t>
            </a:r>
            <a:r>
              <a:rPr lang="en-US" sz="900">
                <a:solidFill>
                  <a:srgbClr val="2222B2"/>
                </a:solidFill>
              </a:rPr>
              <a:t>using system-generated reports or dashboards</a:t>
            </a:r>
            <a:r>
              <a:rPr lang="en-US" sz="900">
                <a:solidFill>
                  <a:srgbClr val="4A2E1A"/>
                </a:solidFill>
              </a:rPr>
              <a:t>. Any identified issues must be </a:t>
            </a:r>
            <a:r>
              <a:rPr lang="en-US" sz="900">
                <a:solidFill>
                  <a:srgbClr val="2222B2"/>
                </a:solidFill>
              </a:rPr>
              <a:t>recorded in the designated tracking system</a:t>
            </a:r>
            <a:r>
              <a:rPr lang="en-US" sz="900">
                <a:solidFill>
                  <a:srgbClr val="4A2E1A"/>
                </a:solidFill>
              </a:rPr>
              <a:t> and assigned to responsible parties. Issues must be resolved within defined timelines in accordance with service levels. Where issues are not resolved within the required timeframe, they must be </a:t>
            </a:r>
            <a:r>
              <a:rPr lang="en-US" sz="900">
                <a:solidFill>
                  <a:srgbClr val="2222B2"/>
                </a:solidFill>
              </a:rPr>
              <a:t>escalated to the Data Owner or the Data Governance Committee</a:t>
            </a:r>
            <a:r>
              <a:rPr lang="en-US" sz="900">
                <a:solidFill>
                  <a:srgbClr val="4A2E1A"/>
                </a:solidFill>
              </a:rPr>
              <a:t>.</a:t>
            </a:r>
          </a:p>
        </p:txBody>
      </p:sp>
      <p:cxnSp>
        <p:nvCxnSpPr>
          <p:cNvPr id="14" name="Straight Connector 13">
            <a:extLst>
              <a:ext uri="{FF2B5EF4-FFF2-40B4-BE49-F238E27FC236}">
                <a16:creationId xmlns:a16="http://schemas.microsoft.com/office/drawing/2014/main" id="{237BE4F8-42E2-1935-8AA8-6A2F30463B98}"/>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B784394-3753-4D67-F406-E492EA4F1A24}"/>
              </a:ext>
            </a:extLst>
          </p:cNvPr>
          <p:cNvSpPr/>
          <p:nvPr/>
        </p:nvSpPr>
        <p:spPr>
          <a:xfrm>
            <a:off x="0" y="2146300"/>
            <a:ext cx="12192000" cy="320040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BD5E7FE-8F80-189A-D3CC-AD89D778EBFC}"/>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AFE8D0-A162-8443-2C96-A8A15652B2E1}"/>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A055C169-9DB9-1B7D-3A4B-6A5888FFBF70}"/>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D39C530-A64E-9BDC-9621-B3E4ED4A9B9E}"/>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SLA/dashboard escalation replaced by a caveats section embedded in the metadata per asset</a:t>
            </a:r>
          </a:p>
        </p:txBody>
      </p:sp>
      <p:cxnSp>
        <p:nvCxnSpPr>
          <p:cNvPr id="20" name="Straight Connector 19">
            <a:extLst>
              <a:ext uri="{FF2B5EF4-FFF2-40B4-BE49-F238E27FC236}">
                <a16:creationId xmlns:a16="http://schemas.microsoft.com/office/drawing/2014/main" id="{49819F8A-1483-8666-6C46-CCE42D1F22E6}"/>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0847AD7-58C4-96D6-2B0F-5331E6DD5428}"/>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950">
                <a:solidFill>
                  <a:srgbClr val="4A2E1A"/>
                </a:solidFill>
              </a:rPr>
              <a:t>For each registered data asset, the Data Steward documents a caveats section covering: </a:t>
            </a:r>
            <a:r>
              <a:rPr lang="en-US" sz="950">
                <a:solidFill>
                  <a:srgbClr val="3296EB"/>
                </a:solidFill>
              </a:rPr>
              <a:t>Known data quality issues</a:t>
            </a:r>
            <a:r>
              <a:rPr lang="en-US" sz="950">
                <a:solidFill>
                  <a:srgbClr val="4A2E1A"/>
                </a:solidFill>
              </a:rPr>
              <a:t> | </a:t>
            </a:r>
            <a:r>
              <a:rPr lang="en-US" sz="950">
                <a:solidFill>
                  <a:srgbClr val="3296EB"/>
                </a:solidFill>
              </a:rPr>
              <a:t>Stale or unreliable fields</a:t>
            </a:r>
            <a:r>
              <a:rPr lang="en-US" sz="950">
                <a:solidFill>
                  <a:srgbClr val="4A2E1A"/>
                </a:solidFill>
              </a:rPr>
              <a:t> | </a:t>
            </a:r>
            <a:r>
              <a:rPr lang="en-US" sz="950">
                <a:solidFill>
                  <a:srgbClr val="3296EB"/>
                </a:solidFill>
              </a:rPr>
              <a:t>Columns not trusted or currently under review</a:t>
            </a:r>
            <a:r>
              <a:rPr lang="en-US" sz="950">
                <a:solidFill>
                  <a:srgbClr val="4A2E1A"/>
                </a:solidFill>
              </a:rPr>
              <a:t> | </a:t>
            </a:r>
            <a:r>
              <a:rPr lang="en-US" sz="950">
                <a:solidFill>
                  <a:srgbClr val="3296EB"/>
                </a:solidFill>
              </a:rPr>
              <a:t>Open questions pending owner confirmation</a:t>
            </a:r>
            <a:r>
              <a:rPr lang="en-US" sz="950">
                <a:solidFill>
                  <a:srgbClr val="4A2E1A"/>
                </a:solidFill>
              </a:rPr>
              <a:t>. Caveats must be reviewed and updated whenever the Data Steward becomes aware of new issues or when a periodic review is conducted.</a:t>
            </a:r>
          </a:p>
        </p:txBody>
      </p:sp>
      <p:cxnSp>
        <p:nvCxnSpPr>
          <p:cNvPr id="22" name="Straight Connector 21">
            <a:extLst>
              <a:ext uri="{FF2B5EF4-FFF2-40B4-BE49-F238E27FC236}">
                <a16:creationId xmlns:a16="http://schemas.microsoft.com/office/drawing/2014/main" id="{D00C94E2-62D8-9D01-6DE9-A18CD5340121}"/>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BCDDD22-7ECF-D4DB-10A2-590B039ADC17}"/>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A7202CE-EE4B-BC86-577C-B3869B19A240}"/>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F8EAD066-F755-D283-4410-3E42EB2DC938}"/>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453B2AB-24CA-9E64-76C6-78D8EFC45427}"/>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950">
                <a:solidFill>
                  <a:srgbClr val="4A2E1A"/>
                </a:solidFill>
              </a:rPr>
              <a:t>System dashboards and formal issue tracking with SLA enforcement are not yet available. A caveats section embedded in the metadata achieves the same consumer-protection purpose: data users see known risks at the point of use. DGC escalation removed. Fully maintainable without additional tooling.</a:t>
            </a:r>
          </a:p>
        </p:txBody>
      </p:sp>
    </p:spTree>
    <p:extLst>
      <p:ext uri="{BB962C8B-B14F-4D97-AF65-F5344CB8AC3E}">
        <p14:creationId xmlns:p14="http://schemas.microsoft.com/office/powerpoint/2010/main" val="1678450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B8AADB-F673-E2E6-B2D6-5D4420988E2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4514525-33F0-1532-5F12-90EE88D03B1D}"/>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2F48226-3B3B-2F76-46CA-4827E086A3A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A737523-5401-50FA-2026-24815E5D8138}"/>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6A43485-FDBF-5A9D-A17B-187648ACD5C8}"/>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4.8</a:t>
            </a:r>
          </a:p>
        </p:txBody>
      </p:sp>
      <p:sp>
        <p:nvSpPr>
          <p:cNvPr id="7" name="TextBox 6">
            <a:extLst>
              <a:ext uri="{FF2B5EF4-FFF2-40B4-BE49-F238E27FC236}">
                <a16:creationId xmlns:a16="http://schemas.microsoft.com/office/drawing/2014/main" id="{DD8E33A3-27A3-EA07-4835-F84F96682962}"/>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4.8  Data Asset Status and Lifecycle</a:t>
            </a:r>
          </a:p>
        </p:txBody>
      </p:sp>
      <p:sp>
        <p:nvSpPr>
          <p:cNvPr id="8" name="TextBox 7">
            <a:extLst>
              <a:ext uri="{FF2B5EF4-FFF2-40B4-BE49-F238E27FC236}">
                <a16:creationId xmlns:a16="http://schemas.microsoft.com/office/drawing/2014/main" id="{A65EAF98-A60C-F3A4-C983-07E3F8894A8C}"/>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4.8 / 18</a:t>
            </a:r>
          </a:p>
        </p:txBody>
      </p:sp>
      <p:cxnSp>
        <p:nvCxnSpPr>
          <p:cNvPr id="9" name="Straight Connector 8">
            <a:extLst>
              <a:ext uri="{FF2B5EF4-FFF2-40B4-BE49-F238E27FC236}">
                <a16:creationId xmlns:a16="http://schemas.microsoft.com/office/drawing/2014/main" id="{64B5F5D6-72AA-66E4-793E-470BB6649572}"/>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37A63DA-93C1-2A0F-E787-49413227DF59}"/>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386C7CF-E446-FE06-C7DE-5BF616D338AD}"/>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48A8081E-B948-35C2-34BA-11910814A458}"/>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BCF62AF-27EA-8ADC-B936-521194B0462A}"/>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This process is used to manage metadata associated with data assets that are no longer in active use. The Data Steward identifies data assets that are obsolete or no longer required. Such assets must be formally marked as deprecated and removed from active use in the system. </a:t>
            </a:r>
            <a:r>
              <a:rPr lang="en-US" sz="950">
                <a:solidFill>
                  <a:srgbClr val="2222B2"/>
                </a:solidFill>
              </a:rPr>
              <a:t>Metadata associated with retired data assets must be archived in read-only format.</a:t>
            </a:r>
            <a:r>
              <a:rPr lang="en-US" sz="950">
                <a:solidFill>
                  <a:srgbClr val="4A2E1A"/>
                </a:solidFill>
              </a:rPr>
              <a:t> </a:t>
            </a:r>
            <a:r>
              <a:rPr lang="en-US" sz="950">
                <a:solidFill>
                  <a:srgbClr val="2222B2"/>
                </a:solidFill>
              </a:rPr>
              <a:t>Retained metadata must comply with the corporate data retention policy</a:t>
            </a:r>
            <a:r>
              <a:rPr lang="en-US" sz="950">
                <a:solidFill>
                  <a:srgbClr val="4A2E1A"/>
                </a:solidFill>
              </a:rPr>
              <a:t> and remain available for audit and reference purposes.</a:t>
            </a:r>
          </a:p>
        </p:txBody>
      </p:sp>
      <p:cxnSp>
        <p:nvCxnSpPr>
          <p:cNvPr id="14" name="Straight Connector 13">
            <a:extLst>
              <a:ext uri="{FF2B5EF4-FFF2-40B4-BE49-F238E27FC236}">
                <a16:creationId xmlns:a16="http://schemas.microsoft.com/office/drawing/2014/main" id="{1AC6FE17-EE7C-1844-A4ED-E1DF7C92BB47}"/>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ADD73D2-ABD8-F1B7-3FBA-0948E2D9C2E2}"/>
              </a:ext>
            </a:extLst>
          </p:cNvPr>
          <p:cNvSpPr/>
          <p:nvPr/>
        </p:nvSpPr>
        <p:spPr>
          <a:xfrm>
            <a:off x="0" y="2146300"/>
            <a:ext cx="12192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43F9FF5-41D5-0AE5-7F72-4A071E12BF09}"/>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F19A161-5E7C-700C-30A5-935D01431825}"/>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16BECAAF-51F3-260D-07D7-EB3CD7B5AD22}"/>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7174443-E1AA-334E-7A6F-AA8D6EBAFB8E}"/>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Archive workflow removed; status fields (active / deprecated) prevent misuse of deprecated data</a:t>
            </a:r>
          </a:p>
        </p:txBody>
      </p:sp>
      <p:cxnSp>
        <p:nvCxnSpPr>
          <p:cNvPr id="20" name="Straight Connector 19">
            <a:extLst>
              <a:ext uri="{FF2B5EF4-FFF2-40B4-BE49-F238E27FC236}">
                <a16:creationId xmlns:a16="http://schemas.microsoft.com/office/drawing/2014/main" id="{4725569F-575C-75A5-6206-49EF1487442F}"/>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5037D8E-BE40-4D3C-674E-5C20FA2BEC3F}"/>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Each registered data asset must carry a lifecycle status field. Required fields: </a:t>
            </a:r>
            <a:r>
              <a:rPr lang="en-US" sz="1000">
                <a:solidFill>
                  <a:srgbClr val="3296EB"/>
                </a:solidFill>
              </a:rPr>
              <a:t>status (active / deprecated)</a:t>
            </a:r>
            <a:r>
              <a:rPr lang="en-US" sz="1000">
                <a:solidFill>
                  <a:srgbClr val="4A2E1A"/>
                </a:solidFill>
              </a:rPr>
              <a:t> | </a:t>
            </a:r>
            <a:r>
              <a:rPr lang="en-US" sz="1000">
                <a:solidFill>
                  <a:srgbClr val="3296EB"/>
                </a:solidFill>
              </a:rPr>
              <a:t>replacement_asset (if deprecated)</a:t>
            </a:r>
            <a:r>
              <a:rPr lang="en-US" sz="1000">
                <a:solidFill>
                  <a:srgbClr val="4A2E1A"/>
                </a:solidFill>
              </a:rPr>
              <a:t> | </a:t>
            </a:r>
            <a:r>
              <a:rPr lang="en-US" sz="1000">
                <a:solidFill>
                  <a:srgbClr val="3296EB"/>
                </a:solidFill>
              </a:rPr>
              <a:t>do_not_use_reason</a:t>
            </a:r>
            <a:r>
              <a:rPr lang="en-US" sz="1000">
                <a:solidFill>
                  <a:srgbClr val="4A2E1A"/>
                </a:solidFill>
              </a:rPr>
              <a:t>. Deprecated data assets must be removed from active use and </a:t>
            </a:r>
            <a:r>
              <a:rPr lang="en-US" sz="1000">
                <a:solidFill>
                  <a:srgbClr val="3296EB"/>
                </a:solidFill>
              </a:rPr>
              <a:t>must not be referenced in new reporting or analytics unless formally re-approved</a:t>
            </a:r>
            <a:r>
              <a:rPr lang="en-US" sz="1000">
                <a:solidFill>
                  <a:srgbClr val="4A2E1A"/>
                </a:solidFill>
              </a:rPr>
              <a:t>.</a:t>
            </a:r>
          </a:p>
        </p:txBody>
      </p:sp>
      <p:cxnSp>
        <p:nvCxnSpPr>
          <p:cNvPr id="22" name="Straight Connector 21">
            <a:extLst>
              <a:ext uri="{FF2B5EF4-FFF2-40B4-BE49-F238E27FC236}">
                <a16:creationId xmlns:a16="http://schemas.microsoft.com/office/drawing/2014/main" id="{9A22BFDA-5496-5EE0-B83D-856F66C708FF}"/>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D4E6E6D-69D7-AB3B-6112-5299A9F88A86}"/>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B5528C5-FFC6-D6E8-053E-18787ADFA1EE}"/>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F0172E4D-05BF-829B-97F8-74E5909D8609}"/>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E88C27B-80C2-CA7B-8569-EB96398C8871}"/>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Full retirement workflow and read-only archive require catalog platform capabilities not yet in place. Simple status fields are sufficient to prevent misuse of deprecated data. Corporate data retention policy compliance will be addressed when the archival platform is built. Core protection -- preventing use of deprecated assets -- is fully preserved.</a:t>
            </a:r>
          </a:p>
        </p:txBody>
      </p:sp>
    </p:spTree>
    <p:extLst>
      <p:ext uri="{BB962C8B-B14F-4D97-AF65-F5344CB8AC3E}">
        <p14:creationId xmlns:p14="http://schemas.microsoft.com/office/powerpoint/2010/main" val="245495803"/>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9588F-7632-61DC-56B4-DC80BCB5731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8C9BC71-DCF8-5421-DFDA-0BEF5CED3105}"/>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A5C7724-7A85-B104-A147-EE42CABAEB76}"/>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AFCFEE-031B-D6F4-3A1E-8D6F6F56769D}"/>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28B2AD-9AC5-90C8-05DF-D3CA03DF9A86}"/>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5.0</a:t>
            </a:r>
          </a:p>
        </p:txBody>
      </p:sp>
      <p:sp>
        <p:nvSpPr>
          <p:cNvPr id="7" name="TextBox 6">
            <a:extLst>
              <a:ext uri="{FF2B5EF4-FFF2-40B4-BE49-F238E27FC236}">
                <a16:creationId xmlns:a16="http://schemas.microsoft.com/office/drawing/2014/main" id="{E27CED0B-727D-DDB7-A457-1E2AEE5AD85F}"/>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5.0  Compliance and Audit</a:t>
            </a:r>
          </a:p>
        </p:txBody>
      </p:sp>
      <p:sp>
        <p:nvSpPr>
          <p:cNvPr id="8" name="TextBox 7">
            <a:extLst>
              <a:ext uri="{FF2B5EF4-FFF2-40B4-BE49-F238E27FC236}">
                <a16:creationId xmlns:a16="http://schemas.microsoft.com/office/drawing/2014/main" id="{E743AD23-A6CB-E0FF-89DE-D52B406B4E48}"/>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5.0 / 18</a:t>
            </a:r>
          </a:p>
        </p:txBody>
      </p:sp>
      <p:cxnSp>
        <p:nvCxnSpPr>
          <p:cNvPr id="9" name="Straight Connector 8">
            <a:extLst>
              <a:ext uri="{FF2B5EF4-FFF2-40B4-BE49-F238E27FC236}">
                <a16:creationId xmlns:a16="http://schemas.microsoft.com/office/drawing/2014/main" id="{12A6602A-D3AA-1D82-96C6-E3FB27C35E32}"/>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17B3558-ED5D-CBAB-38C6-F8577643ABD1}"/>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03204B-38B9-690D-DCBE-94189FC353EF}"/>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C2BB3AEB-B87D-76DC-3E78-87332933B30B}"/>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E72B3D-6A62-49A9-3DC8-882334A3E033}"/>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950">
                <a:solidFill>
                  <a:srgbClr val="4A2E1A"/>
                </a:solidFill>
              </a:rPr>
              <a:t>All metadata management activities must be auditable. The organization must retain sufficient evidence to demonstrate compliance, including records of metadata creation, modification, validation, approval, classification, and retirement. Audit evidence must include </a:t>
            </a:r>
            <a:r>
              <a:rPr lang="en-US" sz="950">
                <a:solidFill>
                  <a:srgbClr val="2222B2"/>
                </a:solidFill>
              </a:rPr>
              <a:t>system logs, approval records, version history, and documentation of classification decisions</a:t>
            </a:r>
            <a:r>
              <a:rPr lang="en-US" sz="950">
                <a:solidFill>
                  <a:srgbClr val="4A2E1A"/>
                </a:solidFill>
              </a:rPr>
              <a:t>. </a:t>
            </a:r>
            <a:r>
              <a:rPr lang="en-US" sz="950">
                <a:solidFill>
                  <a:srgbClr val="2222B2"/>
                </a:solidFill>
              </a:rPr>
              <a:t>These records must be securely retained and must not be deleted</a:t>
            </a:r>
            <a:r>
              <a:rPr lang="en-US" sz="950">
                <a:solidFill>
                  <a:srgbClr val="4A2E1A"/>
                </a:solidFill>
              </a:rPr>
              <a:t>, but may be archived in accordance with retention requirements.</a:t>
            </a:r>
          </a:p>
        </p:txBody>
      </p:sp>
      <p:cxnSp>
        <p:nvCxnSpPr>
          <p:cNvPr id="14" name="Straight Connector 13">
            <a:extLst>
              <a:ext uri="{FF2B5EF4-FFF2-40B4-BE49-F238E27FC236}">
                <a16:creationId xmlns:a16="http://schemas.microsoft.com/office/drawing/2014/main" id="{B5F596B4-21D4-2C42-62DC-CE3D168A01BB}"/>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D6E18C6-14CB-17F0-A32D-51A02D18ECCF}"/>
              </a:ext>
            </a:extLst>
          </p:cNvPr>
          <p:cNvSpPr/>
          <p:nvPr/>
        </p:nvSpPr>
        <p:spPr>
          <a:xfrm>
            <a:off x="0" y="2146300"/>
            <a:ext cx="12192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52D452-46A0-A1C8-8E95-5B2F6E0AA422}"/>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855F95F-50DA-2CAF-ED3C-1A0CD7D0E446}"/>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42E57346-E472-F2FF-099E-FC29E998B8CA}"/>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3C65A15-EBF5-38CB-A9C8-4DC17277F313}"/>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System logs replaced by 4 traceability fields per asset; audit intent fully preserved</a:t>
            </a:r>
          </a:p>
        </p:txBody>
      </p:sp>
      <p:cxnSp>
        <p:nvCxnSpPr>
          <p:cNvPr id="20" name="Straight Connector 19">
            <a:extLst>
              <a:ext uri="{FF2B5EF4-FFF2-40B4-BE49-F238E27FC236}">
                <a16:creationId xmlns:a16="http://schemas.microsoft.com/office/drawing/2014/main" id="{B12ECFAE-057C-2E37-A5A0-A543A93FDCB0}"/>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5F6A99D-1422-B8BB-3FCD-5F69E170C12A}"/>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1000">
                <a:solidFill>
                  <a:srgbClr val="4A2E1A"/>
                </a:solidFill>
              </a:rPr>
              <a:t>All metadata management activities must be traceable. The following evidence must be maintained for each registered data asset: </a:t>
            </a:r>
            <a:r>
              <a:rPr lang="en-US" sz="1000">
                <a:solidFill>
                  <a:srgbClr val="3296EB"/>
                </a:solidFill>
              </a:rPr>
              <a:t>last_updated and source_verified_from</a:t>
            </a:r>
            <a:r>
              <a:rPr lang="en-US" sz="1000">
                <a:solidFill>
                  <a:srgbClr val="4A2E1A"/>
                </a:solidFill>
              </a:rPr>
              <a:t> | </a:t>
            </a:r>
            <a:r>
              <a:rPr lang="en-US" sz="1000">
                <a:solidFill>
                  <a:srgbClr val="3296EB"/>
                </a:solidFill>
              </a:rPr>
              <a:t>change_summary for each significant update</a:t>
            </a:r>
            <a:r>
              <a:rPr lang="en-US" sz="1000">
                <a:solidFill>
                  <a:srgbClr val="4A2E1A"/>
                </a:solidFill>
              </a:rPr>
              <a:t> | </a:t>
            </a:r>
            <a:r>
              <a:rPr lang="en-US" sz="1000">
                <a:solidFill>
                  <a:srgbClr val="3296EB"/>
                </a:solidFill>
              </a:rPr>
              <a:t>validated_against_live_schema (yes / no)</a:t>
            </a:r>
            <a:r>
              <a:rPr lang="en-US" sz="1000">
                <a:solidFill>
                  <a:srgbClr val="4A2E1A"/>
                </a:solidFill>
              </a:rPr>
              <a:t> | </a:t>
            </a:r>
            <a:r>
              <a:rPr lang="en-US" sz="1000">
                <a:solidFill>
                  <a:srgbClr val="3296EB"/>
                </a:solidFill>
              </a:rPr>
              <a:t>reviewer_name and last_reviewed_date</a:t>
            </a:r>
            <a:r>
              <a:rPr lang="en-US" sz="1000">
                <a:solidFill>
                  <a:srgbClr val="4A2E1A"/>
                </a:solidFill>
              </a:rPr>
              <a:t>. These records must be retained and made available for audit or governance review upon request.</a:t>
            </a:r>
          </a:p>
        </p:txBody>
      </p:sp>
      <p:cxnSp>
        <p:nvCxnSpPr>
          <p:cNvPr id="22" name="Straight Connector 21">
            <a:extLst>
              <a:ext uri="{FF2B5EF4-FFF2-40B4-BE49-F238E27FC236}">
                <a16:creationId xmlns:a16="http://schemas.microsoft.com/office/drawing/2014/main" id="{B48F4C2C-631F-AA61-3E3A-0261E2D2F3A4}"/>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E23D5D5-6A9C-7CAF-35A1-F9A3C3ABFA8E}"/>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C299A90-BAAF-9F26-A618-9F66A59AB66C}"/>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56E07911-D1B4-8701-5CE9-A5B80F5672B7}"/>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F5C523D-27E7-B6EA-034F-DC85671D1D29}"/>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1000">
                <a:solidFill>
                  <a:srgbClr val="4A2E1A"/>
                </a:solidFill>
              </a:rPr>
              <a:t>'Auditable' retained as core requirement. 'System logs' and 'must not be deleted' clauses require platform infrastructure not yet in place. Simplified traceability fields provide adequate evidence for governance review at this stage. The compliance intent -- demonstrating what changed, when, and who reviewed it -- is fully preserved.</a:t>
            </a:r>
          </a:p>
        </p:txBody>
      </p:sp>
    </p:spTree>
    <p:extLst>
      <p:ext uri="{BB962C8B-B14F-4D97-AF65-F5344CB8AC3E}">
        <p14:creationId xmlns:p14="http://schemas.microsoft.com/office/powerpoint/2010/main" val="954589733"/>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D27205-9A9E-51CF-6022-A0BCE0EDEDF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6A4C628-AC63-11F6-6E02-1EA537EAD68C}"/>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6F5227-7959-A2F5-45BB-FD8A0565375E}"/>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3AA62A-077B-35AB-7C59-40EB712194C6}"/>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C48843-AA47-7F10-925F-2000066F765F}"/>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6.0</a:t>
            </a:r>
          </a:p>
        </p:txBody>
      </p:sp>
      <p:sp>
        <p:nvSpPr>
          <p:cNvPr id="7" name="TextBox 6">
            <a:extLst>
              <a:ext uri="{FF2B5EF4-FFF2-40B4-BE49-F238E27FC236}">
                <a16:creationId xmlns:a16="http://schemas.microsoft.com/office/drawing/2014/main" id="{B7C0BB7F-24BC-720B-5535-0F71A53C2FB0}"/>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6.0  Process Risk and Control</a:t>
            </a:r>
          </a:p>
        </p:txBody>
      </p:sp>
      <p:sp>
        <p:nvSpPr>
          <p:cNvPr id="8" name="TextBox 7">
            <a:extLst>
              <a:ext uri="{FF2B5EF4-FFF2-40B4-BE49-F238E27FC236}">
                <a16:creationId xmlns:a16="http://schemas.microsoft.com/office/drawing/2014/main" id="{ED5C6A10-F815-9406-956C-193F71C446FA}"/>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6.0 / 18</a:t>
            </a:r>
          </a:p>
        </p:txBody>
      </p:sp>
      <p:cxnSp>
        <p:nvCxnSpPr>
          <p:cNvPr id="9" name="Straight Connector 8">
            <a:extLst>
              <a:ext uri="{FF2B5EF4-FFF2-40B4-BE49-F238E27FC236}">
                <a16:creationId xmlns:a16="http://schemas.microsoft.com/office/drawing/2014/main" id="{960954CA-96BA-C25D-A42B-83FCA771F484}"/>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8E4F57D-255E-DB22-CFE8-CF02E93C78F6}"/>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34FD66-D181-CD77-EC00-7B62B5073738}"/>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0BC2CEFF-E42C-4E22-907F-1A6A0F568326}"/>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6842CBF-8BAC-B75B-A29A-808406661B69}"/>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750">
                <a:solidFill>
                  <a:srgbClr val="4A2E1A"/>
                </a:solidFill>
              </a:rPr>
              <a:t>Original: 9-process enterprise PRC table covering full metadata lifecycle:
1. Onboarding: risks -- missing ownership/classification/PDPA; controls -- mandatory registration, </a:t>
            </a:r>
            <a:r>
              <a:rPr lang="en-US" sz="750">
                <a:solidFill>
                  <a:srgbClr val="2222B2"/>
                </a:solidFill>
              </a:rPr>
              <a:t>system-enforced fields</a:t>
            </a:r>
            <a:r>
              <a:rPr lang="en-US" sz="750">
                <a:solidFill>
                  <a:srgbClr val="4A2E1A"/>
                </a:solidFill>
              </a:rPr>
              <a:t>, DPO escalation
2. Enrichment: risks -- inconsistent definitions; controls -- approved data dictionary, lineage capture
3. Validation: risks -- wrong classification; controls -- </a:t>
            </a:r>
            <a:r>
              <a:rPr lang="en-US" sz="750">
                <a:solidFill>
                  <a:srgbClr val="2222B2"/>
                </a:solidFill>
              </a:rPr>
              <a:t>system checklist</a:t>
            </a:r>
            <a:r>
              <a:rPr lang="en-US" sz="750">
                <a:solidFill>
                  <a:srgbClr val="4A2E1A"/>
                </a:solidFill>
              </a:rPr>
              <a:t>, escalation
4. Approval: risks -- no audit trail; controls -- </a:t>
            </a:r>
            <a:r>
              <a:rPr lang="en-US" sz="750">
                <a:solidFill>
                  <a:srgbClr val="2222B2"/>
                </a:solidFill>
              </a:rPr>
              <a:t>system workflow SOD, DGC escalation, system-logged approvals</a:t>
            </a:r>
            <a:r>
              <a:rPr lang="en-US" sz="750">
                <a:solidFill>
                  <a:srgbClr val="4A2E1A"/>
                </a:solidFill>
              </a:rPr>
              <a:t>
5. Publication: risks -- unapproved metadata in production; controls -- </a:t>
            </a:r>
            <a:r>
              <a:rPr lang="en-US" sz="750">
                <a:solidFill>
                  <a:srgbClr val="2222B2"/>
                </a:solidFill>
              </a:rPr>
              <a:t>RBAC, catalog access</a:t>
            </a:r>
            <a:r>
              <a:rPr lang="en-US" sz="750">
                <a:solidFill>
                  <a:srgbClr val="4A2E1A"/>
                </a:solidFill>
              </a:rPr>
              <a:t>
6. Change Mgmt: risks -- unauthorized changes; controls -- system workflow, SOD, version control
7. Quality: risks -- quality deteriorates; controls -- </a:t>
            </a:r>
            <a:r>
              <a:rPr lang="en-US" sz="750">
                <a:solidFill>
                  <a:srgbClr val="2222B2"/>
                </a:solidFill>
              </a:rPr>
              <a:t>system dashboards, SLA, DGC escalation</a:t>
            </a:r>
            <a:r>
              <a:rPr lang="en-US" sz="750">
                <a:solidFill>
                  <a:srgbClr val="4A2E1A"/>
                </a:solidFill>
              </a:rPr>
              <a:t>
8. Retirement: risks -- obsolete metadata in use; controls -- </a:t>
            </a:r>
            <a:r>
              <a:rPr lang="en-US" sz="750">
                <a:solidFill>
                  <a:srgbClr val="2222B2"/>
                </a:solidFill>
              </a:rPr>
              <a:t>deprecation workflow, archive</a:t>
            </a:r>
            <a:r>
              <a:rPr lang="en-US" sz="750">
                <a:solidFill>
                  <a:srgbClr val="4A2E1A"/>
                </a:solidFill>
              </a:rPr>
              <a:t>
9. Compliance: risks -- cannot demonstrate compliance; controls -- </a:t>
            </a:r>
            <a:r>
              <a:rPr lang="en-US" sz="750">
                <a:solidFill>
                  <a:srgbClr val="2222B2"/>
                </a:solidFill>
              </a:rPr>
              <a:t>system logs, immutable records</a:t>
            </a:r>
          </a:p>
        </p:txBody>
      </p:sp>
      <p:cxnSp>
        <p:nvCxnSpPr>
          <p:cNvPr id="14" name="Straight Connector 13">
            <a:extLst>
              <a:ext uri="{FF2B5EF4-FFF2-40B4-BE49-F238E27FC236}">
                <a16:creationId xmlns:a16="http://schemas.microsoft.com/office/drawing/2014/main" id="{DFC92C33-AB13-285E-FE1E-5C0FF7AD926E}"/>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2AE5BEA-FAF9-56BD-A66B-05F961FF1676}"/>
              </a:ext>
            </a:extLst>
          </p:cNvPr>
          <p:cNvSpPr/>
          <p:nvPr/>
        </p:nvSpPr>
        <p:spPr>
          <a:xfrm>
            <a:off x="0" y="2146300"/>
            <a:ext cx="12192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DFAD76D-CA5F-A5D1-FE93-1F825E37E218}"/>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6A44069-C31E-0E0E-C992-D674B958F8E1}"/>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F711E2C5-6504-84BC-C090-C08EF089E3B6}"/>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7FABC6B-6A3D-12EC-E2B1-D414D5408D08}"/>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9-process enterprise PRC replaced by 5 actionable query-level risks (no platform dependency)</a:t>
            </a:r>
          </a:p>
        </p:txBody>
      </p:sp>
      <p:cxnSp>
        <p:nvCxnSpPr>
          <p:cNvPr id="20" name="Straight Connector 19">
            <a:extLst>
              <a:ext uri="{FF2B5EF4-FFF2-40B4-BE49-F238E27FC236}">
                <a16:creationId xmlns:a16="http://schemas.microsoft.com/office/drawing/2014/main" id="{9E060EB6-CFA5-9F58-C9FB-6BC05D4B124C}"/>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1C730A2-79E9-1A5B-EC19-0635FBD505B3}"/>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800">
                <a:solidFill>
                  <a:srgbClr val="4A2E1A"/>
                </a:solidFill>
              </a:rPr>
              <a:t>Revised: 5 practical query-level risks with targeted controls:
1. </a:t>
            </a:r>
            <a:r>
              <a:rPr lang="en-US" sz="800">
                <a:solidFill>
                  <a:srgbClr val="3296EB"/>
                </a:solidFill>
              </a:rPr>
              <a:t>Wrong Metric Risk</a:t>
            </a:r>
            <a:r>
              <a:rPr lang="en-US" sz="800">
                <a:solidFill>
                  <a:srgbClr val="4A2E1A"/>
                </a:solidFill>
              </a:rPr>
              <a:t> -- wrong formula used in queries; control: document </a:t>
            </a:r>
            <a:r>
              <a:rPr lang="en-US" sz="800">
                <a:solidFill>
                  <a:srgbClr val="3296EB"/>
                </a:solidFill>
              </a:rPr>
              <a:t>canonical metric definitions</a:t>
            </a:r>
            <a:r>
              <a:rPr lang="en-US" sz="800">
                <a:solidFill>
                  <a:srgbClr val="4A2E1A"/>
                </a:solidFill>
              </a:rPr>
              <a:t> and mandatory filter predicates
2. </a:t>
            </a:r>
            <a:r>
              <a:rPr lang="en-US" sz="800">
                <a:solidFill>
                  <a:srgbClr val="3296EB"/>
                </a:solidFill>
              </a:rPr>
              <a:t>Sensitive Data Risk</a:t>
            </a:r>
            <a:r>
              <a:rPr lang="en-US" sz="800">
                <a:solidFill>
                  <a:srgbClr val="4A2E1A"/>
                </a:solidFill>
              </a:rPr>
              <a:t> -- restricted columns exposed; control: mark </a:t>
            </a:r>
            <a:r>
              <a:rPr lang="en-US" sz="800">
                <a:solidFill>
                  <a:srgbClr val="3296EB"/>
                </a:solidFill>
              </a:rPr>
              <a:t>pdpa_flag, restricted_columns</a:t>
            </a:r>
            <a:r>
              <a:rPr lang="en-US" sz="800">
                <a:solidFill>
                  <a:srgbClr val="4A2E1A"/>
                </a:solidFill>
              </a:rPr>
              <a:t>, allowed_usage; applications must refuse when flagged
3. </a:t>
            </a:r>
            <a:r>
              <a:rPr lang="en-US" sz="800">
                <a:solidFill>
                  <a:srgbClr val="3296EB"/>
                </a:solidFill>
              </a:rPr>
              <a:t>Stale Data Risk</a:t>
            </a:r>
            <a:r>
              <a:rPr lang="en-US" sz="800">
                <a:solidFill>
                  <a:srgbClr val="4A2E1A"/>
                </a:solidFill>
              </a:rPr>
              <a:t> -- outdated data served without warning; control: document </a:t>
            </a:r>
            <a:r>
              <a:rPr lang="en-US" sz="800">
                <a:solidFill>
                  <a:srgbClr val="3296EB"/>
                </a:solidFill>
              </a:rPr>
              <a:t>refresh_frequency, last_successful_refresh</a:t>
            </a:r>
            <a:r>
              <a:rPr lang="en-US" sz="800">
                <a:solidFill>
                  <a:srgbClr val="4A2E1A"/>
                </a:solidFill>
              </a:rPr>
              <a:t>, known_latency
4. </a:t>
            </a:r>
            <a:r>
              <a:rPr lang="en-US" sz="800">
                <a:solidFill>
                  <a:srgbClr val="3296EB"/>
                </a:solidFill>
              </a:rPr>
              <a:t>Join Duplication Risk</a:t>
            </a:r>
            <a:r>
              <a:rPr lang="en-US" sz="800">
                <a:solidFill>
                  <a:srgbClr val="4A2E1A"/>
                </a:solidFill>
              </a:rPr>
              <a:t> -- wrong joins cause row multiplication; control: document </a:t>
            </a:r>
            <a:r>
              <a:rPr lang="en-US" sz="800">
                <a:solidFill>
                  <a:srgbClr val="3296EB"/>
                </a:solidFill>
              </a:rPr>
              <a:t>join keys and cardinality</a:t>
            </a:r>
            <a:r>
              <a:rPr lang="en-US" sz="800">
                <a:solidFill>
                  <a:srgbClr val="4A2E1A"/>
                </a:solidFill>
              </a:rPr>
              <a:t> (1:1, 1:N) per asset pair
5. </a:t>
            </a:r>
            <a:r>
              <a:rPr lang="en-US" sz="800">
                <a:solidFill>
                  <a:srgbClr val="3296EB"/>
                </a:solidFill>
              </a:rPr>
              <a:t>Incorrect Filter Risk</a:t>
            </a:r>
            <a:r>
              <a:rPr lang="en-US" sz="800">
                <a:solidFill>
                  <a:srgbClr val="4A2E1A"/>
                </a:solidFill>
              </a:rPr>
              <a:t> -- wrong subsets returned; control: document </a:t>
            </a:r>
            <a:r>
              <a:rPr lang="en-US" sz="800">
                <a:solidFill>
                  <a:srgbClr val="3296EB"/>
                </a:solidFill>
              </a:rPr>
              <a:t>canonical filter predicates</a:t>
            </a:r>
            <a:r>
              <a:rPr lang="en-US" sz="800">
                <a:solidFill>
                  <a:srgbClr val="4A2E1A"/>
                </a:solidFill>
              </a:rPr>
              <a:t> and mandatory WHERE conditions</a:t>
            </a:r>
          </a:p>
        </p:txBody>
      </p:sp>
      <p:cxnSp>
        <p:nvCxnSpPr>
          <p:cNvPr id="22" name="Straight Connector 21">
            <a:extLst>
              <a:ext uri="{FF2B5EF4-FFF2-40B4-BE49-F238E27FC236}">
                <a16:creationId xmlns:a16="http://schemas.microsoft.com/office/drawing/2014/main" id="{88BEA59E-D41A-EC48-4CAD-FDFF8933175D}"/>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F8617EE-21D0-8F4F-D533-E4E4E986DE73}"/>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1547E29-265F-60DC-0A81-39EAD5856C2B}"/>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601A4E3F-1138-4A47-AD6A-270F976D7E7B}"/>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4DD0943-BBCF-972F-6E1A-7C3212186AEF}"/>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800">
                <a:solidFill>
                  <a:srgbClr val="4A2E1A"/>
                </a:solidFill>
              </a:rPr>
              <a:t>The 9-process PRC referenced system infrastructure (workflow, RBAC, SOD, dashboards) not yet built, making many controls unenforceable today. The 5 revised risks are data-consumer risks the working team can act on immediately with no additional tooling. They protect against the most common causes of wrong query results and sensitive data exposure.</a:t>
            </a:r>
          </a:p>
        </p:txBody>
      </p:sp>
    </p:spTree>
    <p:extLst>
      <p:ext uri="{BB962C8B-B14F-4D97-AF65-F5344CB8AC3E}">
        <p14:creationId xmlns:p14="http://schemas.microsoft.com/office/powerpoint/2010/main" val="863973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A47971-A820-2010-8B22-F5BB880CF06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D45FD37-517F-5929-EB35-EFDDD2110511}"/>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54EDF7-57E7-08A7-7038-F7528674C9B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C00A719-C3BB-4BBB-2AD7-C3CD7B6688AF}"/>
              </a:ext>
            </a:extLst>
          </p:cNvPr>
          <p:cNvSpPr/>
          <p:nvPr/>
        </p:nvSpPr>
        <p:spPr>
          <a:xfrm>
            <a:off x="114300" y="114300"/>
            <a:ext cx="6858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FD502C-5310-300F-F3FF-1C5A65E570A5}"/>
              </a:ext>
            </a:extLst>
          </p:cNvPr>
          <p:cNvSpPr txBox="1"/>
          <p:nvPr/>
        </p:nvSpPr>
        <p:spPr>
          <a:xfrm>
            <a:off x="114300" y="114300"/>
            <a:ext cx="685800" cy="369332"/>
          </a:xfrm>
          <a:prstGeom prst="rect">
            <a:avLst/>
          </a:prstGeom>
          <a:noFill/>
        </p:spPr>
        <p:txBody>
          <a:bodyPr vert="horz" wrap="square" lIns="38100" tIns="12700" rIns="38100" bIns="12700" rtlCol="0">
            <a:noAutofit/>
          </a:bodyPr>
          <a:lstStyle/>
          <a:p>
            <a:pPr algn="ctr"/>
            <a:r>
              <a:rPr lang="en-US" sz="1000" b="1">
                <a:solidFill>
                  <a:srgbClr val="FFFFFF"/>
                </a:solidFill>
              </a:rPr>
              <a:t>App.A</a:t>
            </a:r>
          </a:p>
        </p:txBody>
      </p:sp>
      <p:sp>
        <p:nvSpPr>
          <p:cNvPr id="7" name="TextBox 6">
            <a:extLst>
              <a:ext uri="{FF2B5EF4-FFF2-40B4-BE49-F238E27FC236}">
                <a16:creationId xmlns:a16="http://schemas.microsoft.com/office/drawing/2014/main" id="{23AB9043-0115-8B12-BF47-FD3BC73A9FF2}"/>
              </a:ext>
            </a:extLst>
          </p:cNvPr>
          <p:cNvSpPr txBox="1"/>
          <p:nvPr/>
        </p:nvSpPr>
        <p:spPr>
          <a:xfrm>
            <a:off x="914400" y="139700"/>
            <a:ext cx="8509000" cy="381000"/>
          </a:xfrm>
          <a:prstGeom prst="rect">
            <a:avLst/>
          </a:prstGeom>
          <a:noFill/>
        </p:spPr>
        <p:txBody>
          <a:bodyPr vert="horz" wrap="square" lIns="38100" tIns="12700" rIns="38100" bIns="12700" rtlCol="0">
            <a:noAutofit/>
          </a:bodyPr>
          <a:lstStyle/>
          <a:p>
            <a:r>
              <a:rPr lang="en-US" sz="1300" b="1">
                <a:solidFill>
                  <a:srgbClr val="FFFFFF"/>
                </a:solidFill>
              </a:rPr>
              <a:t>Appendix A  --  RACI Matrix -&gt; Column Reference</a:t>
            </a:r>
          </a:p>
        </p:txBody>
      </p:sp>
      <p:sp>
        <p:nvSpPr>
          <p:cNvPr id="8" name="TextBox 7">
            <a:extLst>
              <a:ext uri="{FF2B5EF4-FFF2-40B4-BE49-F238E27FC236}">
                <a16:creationId xmlns:a16="http://schemas.microsoft.com/office/drawing/2014/main" id="{C8E6EE58-B15F-A38D-6FE2-853A353C06CC}"/>
              </a:ext>
            </a:extLst>
          </p:cNvPr>
          <p:cNvSpPr txBox="1"/>
          <p:nvPr/>
        </p:nvSpPr>
        <p:spPr>
          <a:xfrm>
            <a:off x="10414000" y="1778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App.A / 18</a:t>
            </a:r>
          </a:p>
        </p:txBody>
      </p:sp>
      <p:cxnSp>
        <p:nvCxnSpPr>
          <p:cNvPr id="9" name="Straight Connector 8">
            <a:extLst>
              <a:ext uri="{FF2B5EF4-FFF2-40B4-BE49-F238E27FC236}">
                <a16:creationId xmlns:a16="http://schemas.microsoft.com/office/drawing/2014/main" id="{7B85B7CB-5718-C575-C940-188720C20F15}"/>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0493496-BAC3-7F87-AAB9-FBFE73B3C093}"/>
              </a:ext>
            </a:extLst>
          </p:cNvPr>
          <p:cNvSpPr/>
          <p:nvPr/>
        </p:nvSpPr>
        <p:spPr>
          <a:xfrm>
            <a:off x="0" y="673100"/>
            <a:ext cx="12192000" cy="14605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9A4FD24-EAA5-2772-7930-C818F3FEE2E4}"/>
              </a:ext>
            </a:extLst>
          </p:cNvPr>
          <p:cNvSpPr txBox="1"/>
          <p:nvPr/>
        </p:nvSpPr>
        <p:spPr>
          <a:xfrm>
            <a:off x="114300" y="736600"/>
            <a:ext cx="914400" cy="369332"/>
          </a:xfrm>
          <a:prstGeom prst="rect">
            <a:avLst/>
          </a:prstGeom>
          <a:noFill/>
        </p:spPr>
        <p:txBody>
          <a:bodyPr vert="horz" wrap="square" lIns="38100" tIns="12700" rIns="38100" bIns="12700"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EBD10CB4-D8C2-CE28-9DF6-12AB586B7270}"/>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3D3DFD0-C1C5-2642-2B8B-EFC33D4A85C9}"/>
              </a:ext>
            </a:extLst>
          </p:cNvPr>
          <p:cNvSpPr txBox="1"/>
          <p:nvPr/>
        </p:nvSpPr>
        <p:spPr>
          <a:xfrm>
            <a:off x="114300" y="1016000"/>
            <a:ext cx="11963400" cy="369332"/>
          </a:xfrm>
          <a:prstGeom prst="rect">
            <a:avLst/>
          </a:prstGeom>
          <a:noFill/>
        </p:spPr>
        <p:txBody>
          <a:bodyPr vert="horz" wrap="square" lIns="38100" tIns="12700" rIns="38100" bIns="12700" rtlCol="0">
            <a:noAutofit/>
          </a:bodyPr>
          <a:lstStyle/>
          <a:p>
            <a:r>
              <a:rPr lang="en-US" sz="750">
                <a:solidFill>
                  <a:srgbClr val="4A2E1A"/>
                </a:solidFill>
              </a:rPr>
              <a:t>Original Appendix A: Detailed RACI Matrix (R=Responsible A=Accountable C=Consulted I=Informed)
Activity               | Data Steward | Data Owner | Custodian/IT/XPO | </a:t>
            </a:r>
            <a:r>
              <a:rPr lang="en-US" sz="750">
                <a:solidFill>
                  <a:srgbClr val="2222B2"/>
                </a:solidFill>
              </a:rPr>
              <a:t>DGC</a:t>
            </a:r>
            <a:r>
              <a:rPr lang="en-US" sz="750">
                <a:solidFill>
                  <a:srgbClr val="4A2E1A"/>
                </a:solidFill>
              </a:rPr>
              <a:t>
</a:t>
            </a:r>
            <a:r>
              <a:rPr lang="en-US" sz="750">
                <a:solidFill>
                  <a:srgbClr val="2222B2"/>
                </a:solidFill>
              </a:rPr>
              <a:t>Define standards       |     R        |     C      |        C         |  A</a:t>
            </a:r>
            <a:r>
              <a:rPr lang="en-US" sz="750">
                <a:solidFill>
                  <a:srgbClr val="4A2E1A"/>
                </a:solidFill>
              </a:rPr>
              <a:t>
Identify new assets    |     R        |     A      |        C         |  I
Create business meta   |     R        |     A      |        C         |  I
Capture technical meta |     C        |     I      |       R/A        |  I
Validate completeness  |     R        |     C      |        C         |  I
Approve classification |     C        |     A      |        I         |  I
</a:t>
            </a:r>
            <a:r>
              <a:rPr lang="en-US" sz="750">
                <a:solidFill>
                  <a:srgbClr val="2222B2"/>
                </a:solidFill>
              </a:rPr>
              <a:t>Escalate high-risk     |     R        |     C      |        C         |  A</a:t>
            </a:r>
            <a:r>
              <a:rPr lang="en-US" sz="750">
                <a:solidFill>
                  <a:srgbClr val="4A2E1A"/>
                </a:solidFill>
              </a:rPr>
              <a:t>
Publish metadata       |     R        |     A      |        R         |  I
Maintain and update    |     R        |     A      |        R         |  I
Monitor quality        |     R        |     C      |        C         |  I
Retire / archive       |     R        |     A      |        R         |  I</a:t>
            </a:r>
          </a:p>
        </p:txBody>
      </p:sp>
      <p:cxnSp>
        <p:nvCxnSpPr>
          <p:cNvPr id="14" name="Straight Connector 13">
            <a:extLst>
              <a:ext uri="{FF2B5EF4-FFF2-40B4-BE49-F238E27FC236}">
                <a16:creationId xmlns:a16="http://schemas.microsoft.com/office/drawing/2014/main" id="{37AFC548-7561-039B-B3AB-9FF212F220D8}"/>
              </a:ext>
            </a:extLst>
          </p:cNvPr>
          <p:cNvCxnSpPr/>
          <p:nvPr/>
        </p:nvCxnSpPr>
        <p:spPr>
          <a:xfrm>
            <a:off x="0" y="2133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3DF0471-EC4B-1AF0-6C59-4BD14F06F2D5}"/>
              </a:ext>
            </a:extLst>
          </p:cNvPr>
          <p:cNvSpPr/>
          <p:nvPr/>
        </p:nvSpPr>
        <p:spPr>
          <a:xfrm>
            <a:off x="0" y="2146300"/>
            <a:ext cx="12192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EF492A-965B-6EAC-20A8-E74401E477F5}"/>
              </a:ext>
            </a:extLst>
          </p:cNvPr>
          <p:cNvSpPr/>
          <p:nvPr/>
        </p:nvSpPr>
        <p:spPr>
          <a:xfrm>
            <a:off x="0" y="2146300"/>
            <a:ext cx="63500" cy="320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1B610BA-5F58-F115-A7AE-7161787CB599}"/>
              </a:ext>
            </a:extLst>
          </p:cNvPr>
          <p:cNvSpPr txBox="1"/>
          <p:nvPr/>
        </p:nvSpPr>
        <p:spPr>
          <a:xfrm>
            <a:off x="114300" y="2209800"/>
            <a:ext cx="914400" cy="369332"/>
          </a:xfrm>
          <a:prstGeom prst="rect">
            <a:avLst/>
          </a:prstGeom>
          <a:noFill/>
        </p:spPr>
        <p:txBody>
          <a:bodyPr vert="horz" wrap="square" lIns="38100" tIns="12700" rIns="38100" bIns="12700" rtlCol="0">
            <a:noAutofit/>
          </a:bodyPr>
          <a:lstStyle/>
          <a:p>
            <a:r>
              <a:rPr lang="en-US" sz="700" b="1">
                <a:solidFill>
                  <a:srgbClr val="4A2E1A"/>
                </a:solidFill>
              </a:rPr>
              <a:t>CHANGE</a:t>
            </a:r>
          </a:p>
        </p:txBody>
      </p:sp>
      <p:cxnSp>
        <p:nvCxnSpPr>
          <p:cNvPr id="18" name="Straight Connector 17">
            <a:extLst>
              <a:ext uri="{FF2B5EF4-FFF2-40B4-BE49-F238E27FC236}">
                <a16:creationId xmlns:a16="http://schemas.microsoft.com/office/drawing/2014/main" id="{748B6400-27A6-7817-4E42-81FF34565C83}"/>
              </a:ext>
            </a:extLst>
          </p:cNvPr>
          <p:cNvCxnSpPr/>
          <p:nvPr/>
        </p:nvCxnSpPr>
        <p:spPr>
          <a:xfrm>
            <a:off x="114300" y="2438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E7B7617-4456-02AC-855E-6AEE88A0A4D6}"/>
              </a:ext>
            </a:extLst>
          </p:cNvPr>
          <p:cNvSpPr txBox="1"/>
          <p:nvPr/>
        </p:nvSpPr>
        <p:spPr>
          <a:xfrm>
            <a:off x="114300" y="2489200"/>
            <a:ext cx="11963400" cy="369332"/>
          </a:xfrm>
          <a:prstGeom prst="rect">
            <a:avLst/>
          </a:prstGeom>
          <a:noFill/>
        </p:spPr>
        <p:txBody>
          <a:bodyPr vert="horz" wrap="square" lIns="38100" tIns="12700" rIns="38100" bIns="12700" rtlCol="0">
            <a:noAutofit/>
          </a:bodyPr>
          <a:lstStyle/>
          <a:p>
            <a:r>
              <a:rPr lang="en-US" sz="1100" b="1">
                <a:solidFill>
                  <a:srgbClr val="2563A8"/>
                </a:solidFill>
              </a:rPr>
              <a:t>RACI matrix replaced by Datahub template column reference (B-1: core A-H, B-2: AI project)</a:t>
            </a:r>
          </a:p>
        </p:txBody>
      </p:sp>
      <p:cxnSp>
        <p:nvCxnSpPr>
          <p:cNvPr id="20" name="Straight Connector 19">
            <a:extLst>
              <a:ext uri="{FF2B5EF4-FFF2-40B4-BE49-F238E27FC236}">
                <a16:creationId xmlns:a16="http://schemas.microsoft.com/office/drawing/2014/main" id="{CC3AF123-CF88-AA02-67B0-CB935F91064F}"/>
              </a:ext>
            </a:extLst>
          </p:cNvPr>
          <p:cNvCxnSpPr/>
          <p:nvPr/>
        </p:nvCxnSpPr>
        <p:spPr>
          <a:xfrm>
            <a:off x="114300" y="2794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193470F-4F31-48B1-0A8E-7E52CB6CED86}"/>
              </a:ext>
            </a:extLst>
          </p:cNvPr>
          <p:cNvSpPr txBox="1"/>
          <p:nvPr/>
        </p:nvSpPr>
        <p:spPr>
          <a:xfrm>
            <a:off x="114300" y="2844800"/>
            <a:ext cx="11963400" cy="369332"/>
          </a:xfrm>
          <a:prstGeom prst="rect">
            <a:avLst/>
          </a:prstGeom>
          <a:noFill/>
        </p:spPr>
        <p:txBody>
          <a:bodyPr vert="horz" wrap="square" lIns="38100" tIns="12700" rIns="38100" bIns="12700" rtlCol="0">
            <a:noAutofit/>
          </a:bodyPr>
          <a:lstStyle/>
          <a:p>
            <a:r>
              <a:rPr lang="en-US" sz="800">
                <a:solidFill>
                  <a:srgbClr val="4A2E1A"/>
                </a:solidFill>
              </a:rPr>
              <a:t>Revised Appendix A: Datahub Metadata Template Column Reference
SECTION B-1 -- </a:t>
            </a:r>
            <a:r>
              <a:rPr lang="en-US" sz="800">
                <a:solidFill>
                  <a:srgbClr val="3296EB"/>
                </a:solidFill>
              </a:rPr>
              <a:t>Core Mandatory (ALL Data Assets, Columns A-H)</a:t>
            </a:r>
            <a:r>
              <a:rPr lang="en-US" sz="800">
                <a:solidFill>
                  <a:srgbClr val="4A2E1A"/>
                </a:solidFill>
              </a:rPr>
              <a:t>:
</a:t>
            </a:r>
            <a:r>
              <a:rPr lang="en-US" sz="800">
                <a:solidFill>
                  <a:srgbClr val="3296EB"/>
                </a:solidFill>
              </a:rPr>
              <a:t>Domain (A)</a:t>
            </a:r>
            <a:r>
              <a:rPr lang="en-US" sz="800">
                <a:solidFill>
                  <a:srgbClr val="4A2E1A"/>
                </a:solidFill>
              </a:rPr>
              <a:t> | System/Application Name (B) | Schema Name (C) | Table Name (D) | Column Name (E) | Business Name (F) | Business Description EN (G) | </a:t>
            </a:r>
            <a:r>
              <a:rPr lang="en-US" sz="800">
                <a:solidFill>
                  <a:srgbClr val="3296EB"/>
                </a:solidFill>
              </a:rPr>
              <a:t>Business Description TH (H)</a:t>
            </a:r>
            <a:r>
              <a:rPr lang="en-US" sz="800">
                <a:solidFill>
                  <a:srgbClr val="4A2E1A"/>
                </a:solidFill>
              </a:rPr>
              <a:t>
SECTION B-2 -- </a:t>
            </a:r>
            <a:r>
              <a:rPr lang="en-US" sz="800">
                <a:solidFill>
                  <a:srgbClr val="3296EB"/>
                </a:solidFill>
              </a:rPr>
              <a:t>Additional Mandatory for AI and Chat-to-Data Applications</a:t>
            </a:r>
            <a:r>
              <a:rPr lang="en-US" sz="800">
                <a:solidFill>
                  <a:srgbClr val="4A2E1A"/>
                </a:solidFill>
              </a:rPr>
              <a:t>:
Data Type (J) | Primary Key (M) | Example Value (Q) | PII Classification (R) | Data Classification (S) | Sensitive Data Category (T) | Business Owner (U) | Source System (W) | Data Steward (X) | Update Frequency (Y) | Lineage Upstream (AJ) | </a:t>
            </a:r>
            <a:r>
              <a:rPr lang="en-US" sz="800">
                <a:solidFill>
                  <a:srgbClr val="3296EB"/>
                </a:solidFill>
              </a:rPr>
              <a:t>User Synonyms</a:t>
            </a:r>
            <a:r>
              <a:rPr lang="en-US" sz="800">
                <a:solidFill>
                  <a:srgbClr val="4A2E1A"/>
                </a:solidFill>
              </a:rPr>
              <a:t> | Row Grain Description | Recommended Date Filter Column | Owning Job/DAG | Metric Definition | Canonical Filter Rule | Join Key Type | </a:t>
            </a:r>
            <a:r>
              <a:rPr lang="en-US" sz="800">
                <a:solidFill>
                  <a:srgbClr val="3296EB"/>
                </a:solidFill>
              </a:rPr>
              <a:t>Safe for Chat (Y/N)</a:t>
            </a:r>
            <a:r>
              <a:rPr lang="en-US" sz="800">
                <a:solidFill>
                  <a:srgbClr val="4A2E1A"/>
                </a:solidFill>
              </a:rPr>
              <a:t> | </a:t>
            </a:r>
            <a:r>
              <a:rPr lang="en-US" sz="800">
                <a:solidFill>
                  <a:srgbClr val="3296EB"/>
                </a:solidFill>
              </a:rPr>
              <a:t>Known Caveats</a:t>
            </a:r>
          </a:p>
        </p:txBody>
      </p:sp>
      <p:cxnSp>
        <p:nvCxnSpPr>
          <p:cNvPr id="22" name="Straight Connector 21">
            <a:extLst>
              <a:ext uri="{FF2B5EF4-FFF2-40B4-BE49-F238E27FC236}">
                <a16:creationId xmlns:a16="http://schemas.microsoft.com/office/drawing/2014/main" id="{9B11FDF1-83AA-471E-19A7-0DF239A75F88}"/>
              </a:ext>
            </a:extLst>
          </p:cNvPr>
          <p:cNvCxnSpPr/>
          <p:nvPr/>
        </p:nvCxnSpPr>
        <p:spPr>
          <a:xfrm>
            <a:off x="0" y="5346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EED79F9-DEF0-572C-3159-236E49896C12}"/>
              </a:ext>
            </a:extLst>
          </p:cNvPr>
          <p:cNvSpPr/>
          <p:nvPr/>
        </p:nvSpPr>
        <p:spPr>
          <a:xfrm>
            <a:off x="0" y="5359400"/>
            <a:ext cx="12192000" cy="14986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45A1241-B4D5-1396-C83B-969C58916C93}"/>
              </a:ext>
            </a:extLst>
          </p:cNvPr>
          <p:cNvSpPr txBox="1"/>
          <p:nvPr/>
        </p:nvSpPr>
        <p:spPr>
          <a:xfrm>
            <a:off x="114300" y="5422900"/>
            <a:ext cx="9144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A1039A91-F5C6-1EF2-CBCF-D19A0EA5395C}"/>
              </a:ext>
            </a:extLst>
          </p:cNvPr>
          <p:cNvCxnSpPr/>
          <p:nvPr/>
        </p:nvCxnSpPr>
        <p:spPr>
          <a:xfrm>
            <a:off x="114300" y="5651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BB7FD63-8B87-CEF1-FA38-0197D8198871}"/>
              </a:ext>
            </a:extLst>
          </p:cNvPr>
          <p:cNvSpPr txBox="1"/>
          <p:nvPr/>
        </p:nvSpPr>
        <p:spPr>
          <a:xfrm>
            <a:off x="114300" y="5702300"/>
            <a:ext cx="11963400" cy="369332"/>
          </a:xfrm>
          <a:prstGeom prst="rect">
            <a:avLst/>
          </a:prstGeom>
          <a:noFill/>
        </p:spPr>
        <p:txBody>
          <a:bodyPr vert="horz" wrap="square" lIns="38100" tIns="12700" rIns="38100" bIns="12700" rtlCol="0">
            <a:noAutofit/>
          </a:bodyPr>
          <a:lstStyle/>
          <a:p>
            <a:r>
              <a:rPr lang="en-US" sz="800">
                <a:solidFill>
                  <a:srgbClr val="4A2E1A"/>
                </a:solidFill>
              </a:rPr>
              <a:t>Full RACI matrix assumes all 11 governance activities are active and DGC is operationally engaged -- not yet the case. Replaced with the Datahub Metadata Template column reference, giving the working team a concrete field-level checklist. Section B-1 (columns A-H) applies to all assets. Section B-2 applies additionally to AI/Chat-to-Data tables, including 9 new AI-specific columns added to the template.</a:t>
            </a:r>
          </a:p>
        </p:txBody>
      </p:sp>
    </p:spTree>
    <p:extLst>
      <p:ext uri="{BB962C8B-B14F-4D97-AF65-F5344CB8AC3E}">
        <p14:creationId xmlns:p14="http://schemas.microsoft.com/office/powerpoint/2010/main" val="891337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06AD8F-157D-4FD0-B8E8-32E0267480D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B3679D-F30F-1507-8901-F4C4783880E5}"/>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3EBFBD-FC89-3E98-0385-22E3147DBA24}"/>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9355A91-B0AC-5F19-EDDD-54B52B97B803}"/>
              </a:ext>
            </a:extLst>
          </p:cNvPr>
          <p:cNvSpPr txBox="1"/>
          <p:nvPr/>
        </p:nvSpPr>
        <p:spPr>
          <a:xfrm>
            <a:off x="114300" y="177800"/>
            <a:ext cx="11430000" cy="369332"/>
          </a:xfrm>
          <a:prstGeom prst="rect">
            <a:avLst/>
          </a:prstGeom>
          <a:noFill/>
        </p:spPr>
        <p:txBody>
          <a:bodyPr vert="horz" wrap="square" lIns="38100" tIns="12700" rIns="38100" bIns="12700" rtlCol="0">
            <a:noAutofit/>
          </a:bodyPr>
          <a:lstStyle/>
          <a:p>
            <a:r>
              <a:rPr lang="en-US" sz="1400" b="1">
                <a:solidFill>
                  <a:srgbClr val="FFFFFF"/>
                </a:solidFill>
              </a:rPr>
              <a:t>Datahub Metadata Template -- Column Reference</a:t>
            </a:r>
          </a:p>
        </p:txBody>
      </p:sp>
      <p:cxnSp>
        <p:nvCxnSpPr>
          <p:cNvPr id="6" name="Straight Connector 5">
            <a:extLst>
              <a:ext uri="{FF2B5EF4-FFF2-40B4-BE49-F238E27FC236}">
                <a16:creationId xmlns:a16="http://schemas.microsoft.com/office/drawing/2014/main" id="{A3F0ED87-E7EE-3E85-247F-BC3D017F0CE6}"/>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3A65E2C-5EC8-51AD-58F8-7261C7B9DF50}"/>
              </a:ext>
            </a:extLst>
          </p:cNvPr>
          <p:cNvSpPr txBox="1"/>
          <p:nvPr/>
        </p:nvSpPr>
        <p:spPr>
          <a:xfrm>
            <a:off x="114300" y="711200"/>
            <a:ext cx="11938000" cy="369332"/>
          </a:xfrm>
          <a:prstGeom prst="rect">
            <a:avLst/>
          </a:prstGeom>
          <a:noFill/>
        </p:spPr>
        <p:txBody>
          <a:bodyPr vert="horz" wrap="square" lIns="38100" tIns="12700" rIns="38100" bIns="12700" rtlCol="0">
            <a:noAutofit/>
          </a:bodyPr>
          <a:lstStyle/>
          <a:p>
            <a:r>
              <a:rPr lang="en-US" sz="900">
                <a:solidFill>
                  <a:srgbClr val="8D7A6B"/>
                </a:solidFill>
              </a:rPr>
              <a:t>Datahub_metadata_template.xlsx  --  52 columns, colour-coded by mandatory level</a:t>
            </a:r>
          </a:p>
        </p:txBody>
      </p:sp>
      <p:cxnSp>
        <p:nvCxnSpPr>
          <p:cNvPr id="8" name="Straight Connector 7">
            <a:extLst>
              <a:ext uri="{FF2B5EF4-FFF2-40B4-BE49-F238E27FC236}">
                <a16:creationId xmlns:a16="http://schemas.microsoft.com/office/drawing/2014/main" id="{16932A51-3082-ADE0-CE0F-26E75B59DFE4}"/>
              </a:ext>
            </a:extLst>
          </p:cNvPr>
          <p:cNvCxnSpPr/>
          <p:nvPr/>
        </p:nvCxnSpPr>
        <p:spPr>
          <a:xfrm>
            <a:off x="114300" y="939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67C6456-FA03-1E34-3A51-760444F0D967}"/>
              </a:ext>
            </a:extLst>
          </p:cNvPr>
          <p:cNvSpPr/>
          <p:nvPr/>
        </p:nvSpPr>
        <p:spPr>
          <a:xfrm>
            <a:off x="114300" y="990600"/>
            <a:ext cx="5842000" cy="2540000"/>
          </a:xfrm>
          <a:prstGeom prst="rect">
            <a:avLst/>
          </a:prstGeom>
          <a:solidFill>
            <a:srgbClr val="EEF7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9546DF-1C71-95C6-901B-737378241A62}"/>
              </a:ext>
            </a:extLst>
          </p:cNvPr>
          <p:cNvSpPr/>
          <p:nvPr/>
        </p:nvSpPr>
        <p:spPr>
          <a:xfrm>
            <a:off x="114300" y="990600"/>
            <a:ext cx="5842000" cy="3302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644016-5C87-3203-BF8E-04B8A72CE4FF}"/>
              </a:ext>
            </a:extLst>
          </p:cNvPr>
          <p:cNvSpPr txBox="1"/>
          <p:nvPr/>
        </p:nvSpPr>
        <p:spPr>
          <a:xfrm>
            <a:off x="203200" y="1041400"/>
            <a:ext cx="5638800" cy="369332"/>
          </a:xfrm>
          <a:prstGeom prst="rect">
            <a:avLst/>
          </a:prstGeom>
          <a:noFill/>
        </p:spPr>
        <p:txBody>
          <a:bodyPr vert="horz" wrap="square" lIns="38100" tIns="12700" rIns="38100" bIns="12700" rtlCol="0">
            <a:noAutofit/>
          </a:bodyPr>
          <a:lstStyle/>
          <a:p>
            <a:r>
              <a:rPr lang="en-US" sz="1000" b="1">
                <a:solidFill>
                  <a:srgbClr val="FFFFFF"/>
                </a:solidFill>
              </a:rPr>
              <a:t>GREEN  --  Core Mandatory (Columns A-H)</a:t>
            </a:r>
          </a:p>
        </p:txBody>
      </p:sp>
      <p:sp>
        <p:nvSpPr>
          <p:cNvPr id="12" name="TextBox 11">
            <a:extLst>
              <a:ext uri="{FF2B5EF4-FFF2-40B4-BE49-F238E27FC236}">
                <a16:creationId xmlns:a16="http://schemas.microsoft.com/office/drawing/2014/main" id="{6D3E2F61-FCCF-C90D-5F5A-1B1565A6FD9D}"/>
              </a:ext>
            </a:extLst>
          </p:cNvPr>
          <p:cNvSpPr txBox="1"/>
          <p:nvPr/>
        </p:nvSpPr>
        <p:spPr>
          <a:xfrm>
            <a:off x="203200" y="1371600"/>
            <a:ext cx="5588000" cy="369332"/>
          </a:xfrm>
          <a:prstGeom prst="rect">
            <a:avLst/>
          </a:prstGeom>
          <a:noFill/>
        </p:spPr>
        <p:txBody>
          <a:bodyPr vert="horz" wrap="square" lIns="38100" tIns="12700" rIns="38100" bIns="12700" rtlCol="0">
            <a:noAutofit/>
          </a:bodyPr>
          <a:lstStyle/>
          <a:p>
            <a:r>
              <a:rPr lang="en-US" sz="950">
                <a:solidFill>
                  <a:srgbClr val="4A2E1A"/>
                </a:solidFill>
              </a:rPr>
              <a:t>A  Domain</a:t>
            </a:r>
          </a:p>
        </p:txBody>
      </p:sp>
      <p:sp>
        <p:nvSpPr>
          <p:cNvPr id="13" name="TextBox 12">
            <a:extLst>
              <a:ext uri="{FF2B5EF4-FFF2-40B4-BE49-F238E27FC236}">
                <a16:creationId xmlns:a16="http://schemas.microsoft.com/office/drawing/2014/main" id="{F6109F9C-EA84-6B59-097B-DB5DE73DB619}"/>
              </a:ext>
            </a:extLst>
          </p:cNvPr>
          <p:cNvSpPr txBox="1"/>
          <p:nvPr/>
        </p:nvSpPr>
        <p:spPr>
          <a:xfrm>
            <a:off x="203200" y="1625600"/>
            <a:ext cx="5588000" cy="369332"/>
          </a:xfrm>
          <a:prstGeom prst="rect">
            <a:avLst/>
          </a:prstGeom>
          <a:noFill/>
        </p:spPr>
        <p:txBody>
          <a:bodyPr vert="horz" wrap="square" lIns="38100" tIns="12700" rIns="38100" bIns="12700" rtlCol="0">
            <a:noAutofit/>
          </a:bodyPr>
          <a:lstStyle/>
          <a:p>
            <a:r>
              <a:rPr lang="en-US" sz="950">
                <a:solidFill>
                  <a:srgbClr val="4A2E1A"/>
                </a:solidFill>
              </a:rPr>
              <a:t>B  System/Application Name</a:t>
            </a:r>
          </a:p>
        </p:txBody>
      </p:sp>
      <p:sp>
        <p:nvSpPr>
          <p:cNvPr id="14" name="TextBox 13">
            <a:extLst>
              <a:ext uri="{FF2B5EF4-FFF2-40B4-BE49-F238E27FC236}">
                <a16:creationId xmlns:a16="http://schemas.microsoft.com/office/drawing/2014/main" id="{E428C4A4-3184-58F1-60FF-02A6365FF783}"/>
              </a:ext>
            </a:extLst>
          </p:cNvPr>
          <p:cNvSpPr txBox="1"/>
          <p:nvPr/>
        </p:nvSpPr>
        <p:spPr>
          <a:xfrm>
            <a:off x="203200" y="1879600"/>
            <a:ext cx="5588000" cy="369332"/>
          </a:xfrm>
          <a:prstGeom prst="rect">
            <a:avLst/>
          </a:prstGeom>
          <a:noFill/>
        </p:spPr>
        <p:txBody>
          <a:bodyPr vert="horz" wrap="square" lIns="38100" tIns="12700" rIns="38100" bIns="12700" rtlCol="0">
            <a:noAutofit/>
          </a:bodyPr>
          <a:lstStyle/>
          <a:p>
            <a:r>
              <a:rPr lang="en-US" sz="950">
                <a:solidFill>
                  <a:srgbClr val="4A2E1A"/>
                </a:solidFill>
              </a:rPr>
              <a:t>C  Schema Name</a:t>
            </a:r>
          </a:p>
        </p:txBody>
      </p:sp>
      <p:sp>
        <p:nvSpPr>
          <p:cNvPr id="15" name="TextBox 14">
            <a:extLst>
              <a:ext uri="{FF2B5EF4-FFF2-40B4-BE49-F238E27FC236}">
                <a16:creationId xmlns:a16="http://schemas.microsoft.com/office/drawing/2014/main" id="{9D3F7A6F-69A9-9B5A-D87B-C6B4AB39555C}"/>
              </a:ext>
            </a:extLst>
          </p:cNvPr>
          <p:cNvSpPr txBox="1"/>
          <p:nvPr/>
        </p:nvSpPr>
        <p:spPr>
          <a:xfrm>
            <a:off x="203200" y="2133600"/>
            <a:ext cx="5588000" cy="369332"/>
          </a:xfrm>
          <a:prstGeom prst="rect">
            <a:avLst/>
          </a:prstGeom>
          <a:noFill/>
        </p:spPr>
        <p:txBody>
          <a:bodyPr vert="horz" wrap="square" lIns="38100" tIns="12700" rIns="38100" bIns="12700" rtlCol="0">
            <a:noAutofit/>
          </a:bodyPr>
          <a:lstStyle/>
          <a:p>
            <a:r>
              <a:rPr lang="en-US" sz="950">
                <a:solidFill>
                  <a:srgbClr val="4A2E1A"/>
                </a:solidFill>
              </a:rPr>
              <a:t>D  Table Name</a:t>
            </a:r>
          </a:p>
        </p:txBody>
      </p:sp>
      <p:sp>
        <p:nvSpPr>
          <p:cNvPr id="16" name="TextBox 15">
            <a:extLst>
              <a:ext uri="{FF2B5EF4-FFF2-40B4-BE49-F238E27FC236}">
                <a16:creationId xmlns:a16="http://schemas.microsoft.com/office/drawing/2014/main" id="{FF3CA2BE-B602-AAE2-2F77-675184679988}"/>
              </a:ext>
            </a:extLst>
          </p:cNvPr>
          <p:cNvSpPr txBox="1"/>
          <p:nvPr/>
        </p:nvSpPr>
        <p:spPr>
          <a:xfrm>
            <a:off x="203200" y="2387600"/>
            <a:ext cx="5588000" cy="369332"/>
          </a:xfrm>
          <a:prstGeom prst="rect">
            <a:avLst/>
          </a:prstGeom>
          <a:noFill/>
        </p:spPr>
        <p:txBody>
          <a:bodyPr vert="horz" wrap="square" lIns="38100" tIns="12700" rIns="38100" bIns="12700" rtlCol="0">
            <a:noAutofit/>
          </a:bodyPr>
          <a:lstStyle/>
          <a:p>
            <a:r>
              <a:rPr lang="en-US" sz="950">
                <a:solidFill>
                  <a:srgbClr val="4A2E1A"/>
                </a:solidFill>
              </a:rPr>
              <a:t>E  Column Name</a:t>
            </a:r>
          </a:p>
        </p:txBody>
      </p:sp>
      <p:sp>
        <p:nvSpPr>
          <p:cNvPr id="17" name="TextBox 16">
            <a:extLst>
              <a:ext uri="{FF2B5EF4-FFF2-40B4-BE49-F238E27FC236}">
                <a16:creationId xmlns:a16="http://schemas.microsoft.com/office/drawing/2014/main" id="{992E1719-D2C5-236F-9E51-F70C95D32E76}"/>
              </a:ext>
            </a:extLst>
          </p:cNvPr>
          <p:cNvSpPr txBox="1"/>
          <p:nvPr/>
        </p:nvSpPr>
        <p:spPr>
          <a:xfrm>
            <a:off x="203200" y="2641600"/>
            <a:ext cx="5588000" cy="369332"/>
          </a:xfrm>
          <a:prstGeom prst="rect">
            <a:avLst/>
          </a:prstGeom>
          <a:noFill/>
        </p:spPr>
        <p:txBody>
          <a:bodyPr vert="horz" wrap="square" lIns="38100" tIns="12700" rIns="38100" bIns="12700" rtlCol="0">
            <a:noAutofit/>
          </a:bodyPr>
          <a:lstStyle/>
          <a:p>
            <a:r>
              <a:rPr lang="en-US" sz="950">
                <a:solidFill>
                  <a:srgbClr val="4A2E1A"/>
                </a:solidFill>
              </a:rPr>
              <a:t>F  Business Name</a:t>
            </a:r>
          </a:p>
        </p:txBody>
      </p:sp>
      <p:sp>
        <p:nvSpPr>
          <p:cNvPr id="18" name="TextBox 17">
            <a:extLst>
              <a:ext uri="{FF2B5EF4-FFF2-40B4-BE49-F238E27FC236}">
                <a16:creationId xmlns:a16="http://schemas.microsoft.com/office/drawing/2014/main" id="{83829FE7-D936-3798-4BDC-7F370E90FEA2}"/>
              </a:ext>
            </a:extLst>
          </p:cNvPr>
          <p:cNvSpPr txBox="1"/>
          <p:nvPr/>
        </p:nvSpPr>
        <p:spPr>
          <a:xfrm>
            <a:off x="203200" y="2895600"/>
            <a:ext cx="5588000" cy="369332"/>
          </a:xfrm>
          <a:prstGeom prst="rect">
            <a:avLst/>
          </a:prstGeom>
          <a:noFill/>
        </p:spPr>
        <p:txBody>
          <a:bodyPr vert="horz" wrap="square" lIns="38100" tIns="12700" rIns="38100" bIns="12700" rtlCol="0">
            <a:noAutofit/>
          </a:bodyPr>
          <a:lstStyle/>
          <a:p>
            <a:r>
              <a:rPr lang="en-US" sz="950">
                <a:solidFill>
                  <a:srgbClr val="4A2E1A"/>
                </a:solidFill>
              </a:rPr>
              <a:t>G  Business Description EN</a:t>
            </a:r>
          </a:p>
        </p:txBody>
      </p:sp>
      <p:sp>
        <p:nvSpPr>
          <p:cNvPr id="19" name="TextBox 18">
            <a:extLst>
              <a:ext uri="{FF2B5EF4-FFF2-40B4-BE49-F238E27FC236}">
                <a16:creationId xmlns:a16="http://schemas.microsoft.com/office/drawing/2014/main" id="{C5ED7672-1277-54EE-714D-157F5E2632F3}"/>
              </a:ext>
            </a:extLst>
          </p:cNvPr>
          <p:cNvSpPr txBox="1"/>
          <p:nvPr/>
        </p:nvSpPr>
        <p:spPr>
          <a:xfrm>
            <a:off x="203200" y="3149600"/>
            <a:ext cx="5588000" cy="369332"/>
          </a:xfrm>
          <a:prstGeom prst="rect">
            <a:avLst/>
          </a:prstGeom>
          <a:noFill/>
        </p:spPr>
        <p:txBody>
          <a:bodyPr vert="horz" wrap="square" lIns="38100" tIns="12700" rIns="38100" bIns="12700" rtlCol="0">
            <a:noAutofit/>
          </a:bodyPr>
          <a:lstStyle/>
          <a:p>
            <a:r>
              <a:rPr lang="en-US" sz="950">
                <a:solidFill>
                  <a:srgbClr val="4A2E1A"/>
                </a:solidFill>
              </a:rPr>
              <a:t>H  Business Description TH</a:t>
            </a:r>
          </a:p>
        </p:txBody>
      </p:sp>
      <p:sp>
        <p:nvSpPr>
          <p:cNvPr id="20" name="TextBox 19">
            <a:extLst>
              <a:ext uri="{FF2B5EF4-FFF2-40B4-BE49-F238E27FC236}">
                <a16:creationId xmlns:a16="http://schemas.microsoft.com/office/drawing/2014/main" id="{5F8E427B-46AF-2BA9-ACC1-619435FC8916}"/>
              </a:ext>
            </a:extLst>
          </p:cNvPr>
          <p:cNvSpPr txBox="1"/>
          <p:nvPr/>
        </p:nvSpPr>
        <p:spPr>
          <a:xfrm>
            <a:off x="203200" y="3429000"/>
            <a:ext cx="5588000" cy="369332"/>
          </a:xfrm>
          <a:prstGeom prst="rect">
            <a:avLst/>
          </a:prstGeom>
          <a:noFill/>
        </p:spPr>
        <p:txBody>
          <a:bodyPr vert="horz" wrap="square" lIns="38100" tIns="12700" rIns="38100" bIns="12700" rtlCol="0">
            <a:noAutofit/>
          </a:bodyPr>
          <a:lstStyle/>
          <a:p>
            <a:r>
              <a:rPr lang="en-US" sz="900" b="1">
                <a:solidFill>
                  <a:srgbClr val="A86325"/>
                </a:solidFill>
              </a:rPr>
              <a:t>Required for ALL data assets before registration is complete.</a:t>
            </a:r>
          </a:p>
        </p:txBody>
      </p:sp>
      <p:sp>
        <p:nvSpPr>
          <p:cNvPr id="21" name="Rectangle 20">
            <a:extLst>
              <a:ext uri="{FF2B5EF4-FFF2-40B4-BE49-F238E27FC236}">
                <a16:creationId xmlns:a16="http://schemas.microsoft.com/office/drawing/2014/main" id="{B6726722-0A55-DF4C-2328-F129C355A73F}"/>
              </a:ext>
            </a:extLst>
          </p:cNvPr>
          <p:cNvSpPr/>
          <p:nvPr/>
        </p:nvSpPr>
        <p:spPr>
          <a:xfrm>
            <a:off x="6210300" y="990600"/>
            <a:ext cx="5867400" cy="2540000"/>
          </a:xfrm>
          <a:prstGeom prst="rect">
            <a:avLst/>
          </a:prstGeom>
          <a:solidFill>
            <a:srgbClr val="F8F0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679A9D4-69EF-E4B1-784A-65FEE708928E}"/>
              </a:ext>
            </a:extLst>
          </p:cNvPr>
          <p:cNvSpPr/>
          <p:nvPr/>
        </p:nvSpPr>
        <p:spPr>
          <a:xfrm>
            <a:off x="6210300" y="990600"/>
            <a:ext cx="5867400" cy="3302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0544965-79CE-92D4-5F29-5B2AC47950F8}"/>
              </a:ext>
            </a:extLst>
          </p:cNvPr>
          <p:cNvSpPr txBox="1"/>
          <p:nvPr/>
        </p:nvSpPr>
        <p:spPr>
          <a:xfrm>
            <a:off x="6299200" y="1041400"/>
            <a:ext cx="5638800" cy="369332"/>
          </a:xfrm>
          <a:prstGeom prst="rect">
            <a:avLst/>
          </a:prstGeom>
          <a:noFill/>
        </p:spPr>
        <p:txBody>
          <a:bodyPr vert="horz" wrap="square" lIns="38100" tIns="12700" rIns="38100" bIns="12700" rtlCol="0">
            <a:noAutofit/>
          </a:bodyPr>
          <a:lstStyle/>
          <a:p>
            <a:r>
              <a:rPr lang="en-US" sz="1000" b="1">
                <a:solidFill>
                  <a:srgbClr val="FFFFFF"/>
                </a:solidFill>
              </a:rPr>
              <a:t>BLUE  --  AI Project Mandatory</a:t>
            </a:r>
          </a:p>
        </p:txBody>
      </p:sp>
      <p:sp>
        <p:nvSpPr>
          <p:cNvPr id="24" name="TextBox 23">
            <a:extLst>
              <a:ext uri="{FF2B5EF4-FFF2-40B4-BE49-F238E27FC236}">
                <a16:creationId xmlns:a16="http://schemas.microsoft.com/office/drawing/2014/main" id="{DFCD744E-B81B-18FD-8849-1AD07C1C3A78}"/>
              </a:ext>
            </a:extLst>
          </p:cNvPr>
          <p:cNvSpPr txBox="1"/>
          <p:nvPr/>
        </p:nvSpPr>
        <p:spPr>
          <a:xfrm>
            <a:off x="6299200" y="1371600"/>
            <a:ext cx="5638800" cy="369332"/>
          </a:xfrm>
          <a:prstGeom prst="rect">
            <a:avLst/>
          </a:prstGeom>
          <a:noFill/>
        </p:spPr>
        <p:txBody>
          <a:bodyPr vert="horz" wrap="square" lIns="38100" tIns="12700" rIns="38100" bIns="12700" rtlCol="0">
            <a:noAutofit/>
          </a:bodyPr>
          <a:lstStyle/>
          <a:p>
            <a:r>
              <a:rPr lang="en-US" sz="950">
                <a:solidFill>
                  <a:srgbClr val="4A2E1A"/>
                </a:solidFill>
              </a:rPr>
              <a:t>J Data Type  |  M Primary Key  |  Q Example Value</a:t>
            </a:r>
          </a:p>
        </p:txBody>
      </p:sp>
      <p:sp>
        <p:nvSpPr>
          <p:cNvPr id="25" name="TextBox 24">
            <a:extLst>
              <a:ext uri="{FF2B5EF4-FFF2-40B4-BE49-F238E27FC236}">
                <a16:creationId xmlns:a16="http://schemas.microsoft.com/office/drawing/2014/main" id="{CE7E579F-95BF-68C6-441E-14D05AC90920}"/>
              </a:ext>
            </a:extLst>
          </p:cNvPr>
          <p:cNvSpPr txBox="1"/>
          <p:nvPr/>
        </p:nvSpPr>
        <p:spPr>
          <a:xfrm>
            <a:off x="6299200" y="1625600"/>
            <a:ext cx="5638800" cy="369332"/>
          </a:xfrm>
          <a:prstGeom prst="rect">
            <a:avLst/>
          </a:prstGeom>
          <a:noFill/>
        </p:spPr>
        <p:txBody>
          <a:bodyPr vert="horz" wrap="square" lIns="38100" tIns="12700" rIns="38100" bIns="12700" rtlCol="0">
            <a:noAutofit/>
          </a:bodyPr>
          <a:lstStyle/>
          <a:p>
            <a:r>
              <a:rPr lang="en-US" sz="950">
                <a:solidFill>
                  <a:srgbClr val="4A2E1A"/>
                </a:solidFill>
              </a:rPr>
              <a:t>R PII Class  |  S Data Class  |  T Sensitive Category</a:t>
            </a:r>
          </a:p>
        </p:txBody>
      </p:sp>
      <p:sp>
        <p:nvSpPr>
          <p:cNvPr id="26" name="TextBox 25">
            <a:extLst>
              <a:ext uri="{FF2B5EF4-FFF2-40B4-BE49-F238E27FC236}">
                <a16:creationId xmlns:a16="http://schemas.microsoft.com/office/drawing/2014/main" id="{C994C751-F46E-ED9F-9BBC-C97AE789E4FA}"/>
              </a:ext>
            </a:extLst>
          </p:cNvPr>
          <p:cNvSpPr txBox="1"/>
          <p:nvPr/>
        </p:nvSpPr>
        <p:spPr>
          <a:xfrm>
            <a:off x="6299200" y="1879600"/>
            <a:ext cx="5638800" cy="369332"/>
          </a:xfrm>
          <a:prstGeom prst="rect">
            <a:avLst/>
          </a:prstGeom>
          <a:noFill/>
        </p:spPr>
        <p:txBody>
          <a:bodyPr vert="horz" wrap="square" lIns="38100" tIns="12700" rIns="38100" bIns="12700" rtlCol="0">
            <a:noAutofit/>
          </a:bodyPr>
          <a:lstStyle/>
          <a:p>
            <a:r>
              <a:rPr lang="en-US" sz="950">
                <a:solidFill>
                  <a:srgbClr val="4A2E1A"/>
                </a:solidFill>
              </a:rPr>
              <a:t>U Business Owner  |  W Source System</a:t>
            </a:r>
          </a:p>
        </p:txBody>
      </p:sp>
      <p:sp>
        <p:nvSpPr>
          <p:cNvPr id="27" name="TextBox 26">
            <a:extLst>
              <a:ext uri="{FF2B5EF4-FFF2-40B4-BE49-F238E27FC236}">
                <a16:creationId xmlns:a16="http://schemas.microsoft.com/office/drawing/2014/main" id="{EDCB5B03-5302-715F-12CE-8E66E6878409}"/>
              </a:ext>
            </a:extLst>
          </p:cNvPr>
          <p:cNvSpPr txBox="1"/>
          <p:nvPr/>
        </p:nvSpPr>
        <p:spPr>
          <a:xfrm>
            <a:off x="6299200" y="2133600"/>
            <a:ext cx="5638800" cy="369332"/>
          </a:xfrm>
          <a:prstGeom prst="rect">
            <a:avLst/>
          </a:prstGeom>
          <a:noFill/>
        </p:spPr>
        <p:txBody>
          <a:bodyPr vert="horz" wrap="square" lIns="38100" tIns="12700" rIns="38100" bIns="12700" rtlCol="0">
            <a:noAutofit/>
          </a:bodyPr>
          <a:lstStyle/>
          <a:p>
            <a:r>
              <a:rPr lang="en-US" sz="950">
                <a:solidFill>
                  <a:srgbClr val="4A2E1A"/>
                </a:solidFill>
              </a:rPr>
              <a:t>X Data Steward  |  Y Update Frequency  |  AJ Lineage</a:t>
            </a:r>
          </a:p>
        </p:txBody>
      </p:sp>
      <p:sp>
        <p:nvSpPr>
          <p:cNvPr id="28" name="TextBox 27">
            <a:extLst>
              <a:ext uri="{FF2B5EF4-FFF2-40B4-BE49-F238E27FC236}">
                <a16:creationId xmlns:a16="http://schemas.microsoft.com/office/drawing/2014/main" id="{2D85B8EF-7A5C-A2DE-FB25-54A447586040}"/>
              </a:ext>
            </a:extLst>
          </p:cNvPr>
          <p:cNvSpPr txBox="1"/>
          <p:nvPr/>
        </p:nvSpPr>
        <p:spPr>
          <a:xfrm>
            <a:off x="6299200" y="2387600"/>
            <a:ext cx="5638800" cy="369332"/>
          </a:xfrm>
          <a:prstGeom prst="rect">
            <a:avLst/>
          </a:prstGeom>
          <a:noFill/>
        </p:spPr>
        <p:txBody>
          <a:bodyPr vert="horz" wrap="square" lIns="38100" tIns="12700" rIns="38100" bIns="12700" rtlCol="0">
            <a:noAutofit/>
          </a:bodyPr>
          <a:lstStyle/>
          <a:p>
            <a:r>
              <a:rPr lang="fr-FR" sz="950">
                <a:solidFill>
                  <a:srgbClr val="4A2E1A"/>
                </a:solidFill>
              </a:rPr>
              <a:t>AR User Synonyms  |  AS Row Grain Description</a:t>
            </a:r>
            <a:endParaRPr lang="en-US" sz="950">
              <a:solidFill>
                <a:srgbClr val="4A2E1A"/>
              </a:solidFill>
            </a:endParaRPr>
          </a:p>
        </p:txBody>
      </p:sp>
      <p:sp>
        <p:nvSpPr>
          <p:cNvPr id="29" name="TextBox 28">
            <a:extLst>
              <a:ext uri="{FF2B5EF4-FFF2-40B4-BE49-F238E27FC236}">
                <a16:creationId xmlns:a16="http://schemas.microsoft.com/office/drawing/2014/main" id="{04DF69A2-3E88-7EA6-88B7-92498FD0C1CC}"/>
              </a:ext>
            </a:extLst>
          </p:cNvPr>
          <p:cNvSpPr txBox="1"/>
          <p:nvPr/>
        </p:nvSpPr>
        <p:spPr>
          <a:xfrm>
            <a:off x="6299200" y="2641600"/>
            <a:ext cx="5638800" cy="369332"/>
          </a:xfrm>
          <a:prstGeom prst="rect">
            <a:avLst/>
          </a:prstGeom>
          <a:noFill/>
        </p:spPr>
        <p:txBody>
          <a:bodyPr vert="horz" wrap="square" lIns="38100" tIns="12700" rIns="38100" bIns="12700" rtlCol="0">
            <a:noAutofit/>
          </a:bodyPr>
          <a:lstStyle/>
          <a:p>
            <a:r>
              <a:rPr lang="da-DK" sz="950">
                <a:solidFill>
                  <a:srgbClr val="4A2E1A"/>
                </a:solidFill>
              </a:rPr>
              <a:t>AT Date Filter  |  AU Owning Job/DAG</a:t>
            </a:r>
            <a:endParaRPr lang="en-US" sz="950">
              <a:solidFill>
                <a:srgbClr val="4A2E1A"/>
              </a:solidFill>
            </a:endParaRPr>
          </a:p>
        </p:txBody>
      </p:sp>
      <p:sp>
        <p:nvSpPr>
          <p:cNvPr id="30" name="TextBox 29">
            <a:extLst>
              <a:ext uri="{FF2B5EF4-FFF2-40B4-BE49-F238E27FC236}">
                <a16:creationId xmlns:a16="http://schemas.microsoft.com/office/drawing/2014/main" id="{46066071-A418-8B01-3473-D14E512F64CA}"/>
              </a:ext>
            </a:extLst>
          </p:cNvPr>
          <p:cNvSpPr txBox="1"/>
          <p:nvPr/>
        </p:nvSpPr>
        <p:spPr>
          <a:xfrm>
            <a:off x="6299200" y="2895600"/>
            <a:ext cx="5638800" cy="369332"/>
          </a:xfrm>
          <a:prstGeom prst="rect">
            <a:avLst/>
          </a:prstGeom>
          <a:noFill/>
        </p:spPr>
        <p:txBody>
          <a:bodyPr vert="horz" wrap="square" lIns="38100" tIns="12700" rIns="38100" bIns="12700" rtlCol="0">
            <a:noAutofit/>
          </a:bodyPr>
          <a:lstStyle/>
          <a:p>
            <a:r>
              <a:rPr lang="en-US" sz="950">
                <a:solidFill>
                  <a:srgbClr val="4A2E1A"/>
                </a:solidFill>
              </a:rPr>
              <a:t>AV Metric Definition  |  AW Canonical Filter</a:t>
            </a:r>
          </a:p>
        </p:txBody>
      </p:sp>
      <p:sp>
        <p:nvSpPr>
          <p:cNvPr id="31" name="TextBox 30">
            <a:extLst>
              <a:ext uri="{FF2B5EF4-FFF2-40B4-BE49-F238E27FC236}">
                <a16:creationId xmlns:a16="http://schemas.microsoft.com/office/drawing/2014/main" id="{D23445C0-9460-50F4-A858-4A322ED4B853}"/>
              </a:ext>
            </a:extLst>
          </p:cNvPr>
          <p:cNvSpPr txBox="1"/>
          <p:nvPr/>
        </p:nvSpPr>
        <p:spPr>
          <a:xfrm>
            <a:off x="6299200" y="3149600"/>
            <a:ext cx="5638800" cy="369332"/>
          </a:xfrm>
          <a:prstGeom prst="rect">
            <a:avLst/>
          </a:prstGeom>
          <a:noFill/>
        </p:spPr>
        <p:txBody>
          <a:bodyPr vert="horz" wrap="square" lIns="38100" tIns="12700" rIns="38100" bIns="12700" rtlCol="0">
            <a:noAutofit/>
          </a:bodyPr>
          <a:lstStyle/>
          <a:p>
            <a:r>
              <a:rPr lang="en-US" sz="950">
                <a:solidFill>
                  <a:srgbClr val="4A2E1A"/>
                </a:solidFill>
              </a:rPr>
              <a:t>AX Join Key Type  |  AY Safe for Chat  |  AZ Caveats</a:t>
            </a:r>
          </a:p>
        </p:txBody>
      </p:sp>
      <p:sp>
        <p:nvSpPr>
          <p:cNvPr id="32" name="TextBox 31">
            <a:extLst>
              <a:ext uri="{FF2B5EF4-FFF2-40B4-BE49-F238E27FC236}">
                <a16:creationId xmlns:a16="http://schemas.microsoft.com/office/drawing/2014/main" id="{7BFAED27-976A-58F6-BA40-326282A8B18A}"/>
              </a:ext>
            </a:extLst>
          </p:cNvPr>
          <p:cNvSpPr txBox="1"/>
          <p:nvPr/>
        </p:nvSpPr>
        <p:spPr>
          <a:xfrm>
            <a:off x="6299200" y="3429000"/>
            <a:ext cx="5638800" cy="369332"/>
          </a:xfrm>
          <a:prstGeom prst="rect">
            <a:avLst/>
          </a:prstGeom>
          <a:noFill/>
        </p:spPr>
        <p:txBody>
          <a:bodyPr vert="horz" wrap="square" lIns="38100" tIns="12700" rIns="38100" bIns="12700" rtlCol="0">
            <a:noAutofit/>
          </a:bodyPr>
          <a:lstStyle/>
          <a:p>
            <a:r>
              <a:rPr lang="en-US" sz="900" b="1">
                <a:solidFill>
                  <a:srgbClr val="A86325"/>
                </a:solidFill>
              </a:rPr>
              <a:t>Required for Chat-to-Data tables, in addition to A-H above.</a:t>
            </a:r>
          </a:p>
        </p:txBody>
      </p:sp>
      <p:sp>
        <p:nvSpPr>
          <p:cNvPr id="33" name="Rectangle 32">
            <a:extLst>
              <a:ext uri="{FF2B5EF4-FFF2-40B4-BE49-F238E27FC236}">
                <a16:creationId xmlns:a16="http://schemas.microsoft.com/office/drawing/2014/main" id="{05436273-A05B-8DDB-2FD0-1AD4530AC461}"/>
              </a:ext>
            </a:extLst>
          </p:cNvPr>
          <p:cNvSpPr/>
          <p:nvPr/>
        </p:nvSpPr>
        <p:spPr>
          <a:xfrm>
            <a:off x="114300" y="3657600"/>
            <a:ext cx="11938000" cy="5080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DC6423E-38BE-6AEE-0DE8-C85FA2A3905F}"/>
              </a:ext>
            </a:extLst>
          </p:cNvPr>
          <p:cNvSpPr txBox="1"/>
          <p:nvPr/>
        </p:nvSpPr>
        <p:spPr>
          <a:xfrm>
            <a:off x="203200" y="3759200"/>
            <a:ext cx="1524000" cy="369332"/>
          </a:xfrm>
          <a:prstGeom prst="rect">
            <a:avLst/>
          </a:prstGeom>
          <a:noFill/>
        </p:spPr>
        <p:txBody>
          <a:bodyPr vert="horz" wrap="square" lIns="38100" tIns="12700" rIns="38100" bIns="12700" rtlCol="0">
            <a:noAutofit/>
          </a:bodyPr>
          <a:lstStyle/>
          <a:p>
            <a:r>
              <a:rPr lang="en-US" sz="900" b="1">
                <a:solidFill>
                  <a:srgbClr val="8D7A6B"/>
                </a:solidFill>
              </a:rPr>
              <a:t>Also in the template:</a:t>
            </a:r>
          </a:p>
        </p:txBody>
      </p:sp>
      <p:sp>
        <p:nvSpPr>
          <p:cNvPr id="35" name="TextBox 34">
            <a:extLst>
              <a:ext uri="{FF2B5EF4-FFF2-40B4-BE49-F238E27FC236}">
                <a16:creationId xmlns:a16="http://schemas.microsoft.com/office/drawing/2014/main" id="{F2065037-494F-BEC7-305C-5D5EE8C68086}"/>
              </a:ext>
            </a:extLst>
          </p:cNvPr>
          <p:cNvSpPr txBox="1"/>
          <p:nvPr/>
        </p:nvSpPr>
        <p:spPr>
          <a:xfrm>
            <a:off x="1778000" y="3759200"/>
            <a:ext cx="3683000" cy="369332"/>
          </a:xfrm>
          <a:prstGeom prst="rect">
            <a:avLst/>
          </a:prstGeom>
          <a:noFill/>
        </p:spPr>
        <p:txBody>
          <a:bodyPr vert="horz" wrap="square" lIns="38100" tIns="12700" rIns="38100" bIns="12700" rtlCol="0">
            <a:noAutofit/>
          </a:bodyPr>
          <a:lstStyle/>
          <a:p>
            <a:r>
              <a:rPr lang="en-US" sz="950" dirty="0">
                <a:solidFill>
                  <a:srgbClr val="4A2E1A"/>
                </a:solidFill>
              </a:rPr>
              <a:t>Blue = Optional (fill if available)</a:t>
            </a:r>
          </a:p>
        </p:txBody>
      </p:sp>
      <p:sp>
        <p:nvSpPr>
          <p:cNvPr id="36" name="Rectangle 35">
            <a:extLst>
              <a:ext uri="{FF2B5EF4-FFF2-40B4-BE49-F238E27FC236}">
                <a16:creationId xmlns:a16="http://schemas.microsoft.com/office/drawing/2014/main" id="{775F7EFE-62A1-A5FF-BCA5-9A3661EDEBF5}"/>
              </a:ext>
            </a:extLst>
          </p:cNvPr>
          <p:cNvSpPr/>
          <p:nvPr/>
        </p:nvSpPr>
        <p:spPr>
          <a:xfrm>
            <a:off x="1612900" y="3793334"/>
            <a:ext cx="152400" cy="152400"/>
          </a:xfrm>
          <a:prstGeom prst="rect">
            <a:avLst/>
          </a:prstGeom>
          <a:solidFill>
            <a:srgbClr val="9CE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194FA9A-4744-152A-0430-C5FE7C04DF62}"/>
              </a:ext>
            </a:extLst>
          </p:cNvPr>
          <p:cNvSpPr txBox="1"/>
          <p:nvPr/>
        </p:nvSpPr>
        <p:spPr>
          <a:xfrm>
            <a:off x="5715000" y="3759200"/>
            <a:ext cx="6223000" cy="369332"/>
          </a:xfrm>
          <a:prstGeom prst="rect">
            <a:avLst/>
          </a:prstGeom>
          <a:noFill/>
        </p:spPr>
        <p:txBody>
          <a:bodyPr vert="horz" wrap="square" lIns="38100" tIns="12700" rIns="38100" bIns="12700" rtlCol="0">
            <a:noAutofit/>
          </a:bodyPr>
          <a:lstStyle/>
          <a:p>
            <a:r>
              <a:rPr lang="en-US" sz="950">
                <a:solidFill>
                  <a:srgbClr val="4A2E1A"/>
                </a:solidFill>
              </a:rPr>
              <a:t>GREY = Not required for current scope (admin / compliance tracking)</a:t>
            </a:r>
          </a:p>
        </p:txBody>
      </p:sp>
      <p:sp>
        <p:nvSpPr>
          <p:cNvPr id="38" name="Rectangle 37">
            <a:extLst>
              <a:ext uri="{FF2B5EF4-FFF2-40B4-BE49-F238E27FC236}">
                <a16:creationId xmlns:a16="http://schemas.microsoft.com/office/drawing/2014/main" id="{8C198DF3-C540-C072-5BE2-6E364567E774}"/>
              </a:ext>
            </a:extLst>
          </p:cNvPr>
          <p:cNvSpPr/>
          <p:nvPr/>
        </p:nvSpPr>
        <p:spPr>
          <a:xfrm>
            <a:off x="5511800" y="3773306"/>
            <a:ext cx="152400" cy="152400"/>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D031FF-AD14-8372-80D3-7ECE0B0CBF6C}"/>
              </a:ext>
            </a:extLst>
          </p:cNvPr>
          <p:cNvSpPr/>
          <p:nvPr/>
        </p:nvSpPr>
        <p:spPr>
          <a:xfrm>
            <a:off x="114300" y="4254500"/>
            <a:ext cx="11938000" cy="9398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12AE1E4-582C-4A4B-DC19-B0E24D8485CA}"/>
              </a:ext>
            </a:extLst>
          </p:cNvPr>
          <p:cNvSpPr txBox="1"/>
          <p:nvPr/>
        </p:nvSpPr>
        <p:spPr>
          <a:xfrm>
            <a:off x="203200" y="4318000"/>
            <a:ext cx="5080000" cy="369332"/>
          </a:xfrm>
          <a:prstGeom prst="rect">
            <a:avLst/>
          </a:prstGeom>
          <a:noFill/>
        </p:spPr>
        <p:txBody>
          <a:bodyPr vert="horz" wrap="square" lIns="38100" tIns="12700" rIns="38100" bIns="12700" rtlCol="0">
            <a:noAutofit/>
          </a:bodyPr>
          <a:lstStyle/>
          <a:p>
            <a:r>
              <a:rPr lang="en-US" sz="1000" b="1">
                <a:solidFill>
                  <a:srgbClr val="A86325"/>
                </a:solidFill>
              </a:rPr>
              <a:t>How to use this in practice:</a:t>
            </a:r>
          </a:p>
        </p:txBody>
      </p:sp>
      <p:sp>
        <p:nvSpPr>
          <p:cNvPr id="41" name="TextBox 40">
            <a:extLst>
              <a:ext uri="{FF2B5EF4-FFF2-40B4-BE49-F238E27FC236}">
                <a16:creationId xmlns:a16="http://schemas.microsoft.com/office/drawing/2014/main" id="{A3C26F13-67B1-F872-E266-F88E91D6D2CB}"/>
              </a:ext>
            </a:extLst>
          </p:cNvPr>
          <p:cNvSpPr txBox="1"/>
          <p:nvPr/>
        </p:nvSpPr>
        <p:spPr>
          <a:xfrm>
            <a:off x="203200" y="4546600"/>
            <a:ext cx="11684000" cy="369332"/>
          </a:xfrm>
          <a:prstGeom prst="rect">
            <a:avLst/>
          </a:prstGeom>
          <a:noFill/>
        </p:spPr>
        <p:txBody>
          <a:bodyPr vert="horz" wrap="square" lIns="38100" tIns="12700" rIns="38100" bIns="12700" rtlCol="0">
            <a:noAutofit/>
          </a:bodyPr>
          <a:lstStyle/>
          <a:p>
            <a:r>
              <a:rPr lang="en-US" sz="950">
                <a:solidFill>
                  <a:srgbClr val="4A2E1A"/>
                </a:solidFill>
              </a:rPr>
              <a:t>1. For all new data assets: complete columns A through H in Datahub_metadata_template.xlsx before registration.</a:t>
            </a:r>
          </a:p>
        </p:txBody>
      </p:sp>
      <p:sp>
        <p:nvSpPr>
          <p:cNvPr id="42" name="TextBox 41">
            <a:extLst>
              <a:ext uri="{FF2B5EF4-FFF2-40B4-BE49-F238E27FC236}">
                <a16:creationId xmlns:a16="http://schemas.microsoft.com/office/drawing/2014/main" id="{5E3DD3F4-CD90-8DC0-ED72-DB24EB40629E}"/>
              </a:ext>
            </a:extLst>
          </p:cNvPr>
          <p:cNvSpPr txBox="1"/>
          <p:nvPr/>
        </p:nvSpPr>
        <p:spPr>
          <a:xfrm>
            <a:off x="203200" y="4775200"/>
            <a:ext cx="11684000" cy="369332"/>
          </a:xfrm>
          <a:prstGeom prst="rect">
            <a:avLst/>
          </a:prstGeom>
          <a:noFill/>
        </p:spPr>
        <p:txBody>
          <a:bodyPr vert="horz" wrap="square" lIns="38100" tIns="12700" rIns="38100" bIns="12700" rtlCol="0">
            <a:noAutofit/>
          </a:bodyPr>
          <a:lstStyle/>
          <a:p>
            <a:r>
              <a:rPr lang="en-US" sz="950">
                <a:solidFill>
                  <a:srgbClr val="4A2E1A"/>
                </a:solidFill>
              </a:rPr>
              <a:t>2. For Chat-to-Data / AI tables: complete ALL columns in Section B-2 in addition to A-H.</a:t>
            </a:r>
          </a:p>
        </p:txBody>
      </p:sp>
      <p:sp>
        <p:nvSpPr>
          <p:cNvPr id="43" name="TextBox 42">
            <a:extLst>
              <a:ext uri="{FF2B5EF4-FFF2-40B4-BE49-F238E27FC236}">
                <a16:creationId xmlns:a16="http://schemas.microsoft.com/office/drawing/2014/main" id="{971707F5-FF42-1EFF-CDA4-54C443985B8C}"/>
              </a:ext>
            </a:extLst>
          </p:cNvPr>
          <p:cNvSpPr txBox="1"/>
          <p:nvPr/>
        </p:nvSpPr>
        <p:spPr>
          <a:xfrm>
            <a:off x="203200" y="5003800"/>
            <a:ext cx="11684000" cy="369332"/>
          </a:xfrm>
          <a:prstGeom prst="rect">
            <a:avLst/>
          </a:prstGeom>
          <a:noFill/>
        </p:spPr>
        <p:txBody>
          <a:bodyPr vert="horz" wrap="square" lIns="38100" tIns="12700" rIns="38100" bIns="12700" rtlCol="0">
            <a:noAutofit/>
          </a:bodyPr>
          <a:lstStyle/>
          <a:p>
            <a:r>
              <a:rPr lang="en-US" sz="950">
                <a:solidFill>
                  <a:srgbClr val="4A2E1A"/>
                </a:solidFill>
              </a:rPr>
              <a:t>3. Optional and grey columns can be filled progressively as governance matures.</a:t>
            </a:r>
          </a:p>
        </p:txBody>
      </p:sp>
      <p:sp>
        <p:nvSpPr>
          <p:cNvPr id="44" name="Rectangle 43">
            <a:extLst>
              <a:ext uri="{FF2B5EF4-FFF2-40B4-BE49-F238E27FC236}">
                <a16:creationId xmlns:a16="http://schemas.microsoft.com/office/drawing/2014/main" id="{EAB56FFF-D2DA-D057-6153-D34EB7CFB760}"/>
              </a:ext>
            </a:extLst>
          </p:cNvPr>
          <p:cNvSpPr/>
          <p:nvPr/>
        </p:nvSpPr>
        <p:spPr>
          <a:xfrm>
            <a:off x="114300" y="5308600"/>
            <a:ext cx="11938000" cy="3810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3947FA6-55C7-A5DC-0DF7-B0FA350252FC}"/>
              </a:ext>
            </a:extLst>
          </p:cNvPr>
          <p:cNvSpPr txBox="1"/>
          <p:nvPr/>
        </p:nvSpPr>
        <p:spPr>
          <a:xfrm>
            <a:off x="203200" y="5397500"/>
            <a:ext cx="11684000" cy="369332"/>
          </a:xfrm>
          <a:prstGeom prst="rect">
            <a:avLst/>
          </a:prstGeom>
          <a:noFill/>
        </p:spPr>
        <p:txBody>
          <a:bodyPr vert="horz" wrap="square" lIns="38100" tIns="12700" rIns="38100" bIns="12700" rtlCol="0">
            <a:noAutofit/>
          </a:bodyPr>
          <a:lstStyle/>
          <a:p>
            <a:r>
              <a:rPr lang="en-US" sz="900">
                <a:solidFill>
                  <a:srgbClr val="8D7A6B"/>
                </a:solidFill>
              </a:rPr>
              <a:t>Reference file:  Datahub_metadata_template.xlsx  |  Sheet: Mandatory_Guide  |  Headers colour-coded by category</a:t>
            </a:r>
          </a:p>
        </p:txBody>
      </p:sp>
    </p:spTree>
    <p:extLst>
      <p:ext uri="{BB962C8B-B14F-4D97-AF65-F5344CB8AC3E}">
        <p14:creationId xmlns:p14="http://schemas.microsoft.com/office/powerpoint/2010/main" val="1806902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9C0DAE-D0BA-5A16-9067-325823235D4D}"/>
              </a:ext>
            </a:extLst>
          </p:cNvPr>
          <p:cNvSpPr/>
          <p:nvPr/>
        </p:nvSpPr>
        <p:spPr>
          <a:xfrm>
            <a:off x="0" y="0"/>
            <a:ext cx="12192000" cy="68580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2BCE433-801D-EEF5-97BD-2264A9081D0C}"/>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8819C2-B926-E323-2067-1C30DE958D2C}"/>
              </a:ext>
            </a:extLst>
          </p:cNvPr>
          <p:cNvSpPr/>
          <p:nvPr/>
        </p:nvSpPr>
        <p:spPr>
          <a:xfrm>
            <a:off x="508000" y="38100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45F95C2-F0EB-99B3-B80F-3B217B9EB10B}"/>
              </a:ext>
            </a:extLst>
          </p:cNvPr>
          <p:cNvSpPr txBox="1"/>
          <p:nvPr/>
        </p:nvSpPr>
        <p:spPr>
          <a:xfrm>
            <a:off x="508000" y="1079500"/>
            <a:ext cx="11176000" cy="369332"/>
          </a:xfrm>
          <a:prstGeom prst="rect">
            <a:avLst/>
          </a:prstGeom>
          <a:noFill/>
        </p:spPr>
        <p:txBody>
          <a:bodyPr vert="horz" wrap="square" lIns="38100" tIns="12700" rIns="38100" bIns="12700" rtlCol="0">
            <a:noAutofit/>
          </a:bodyPr>
          <a:lstStyle/>
          <a:p>
            <a:r>
              <a:rPr lang="en-US" sz="2200" b="1">
                <a:solidFill>
                  <a:srgbClr val="FFFFFF"/>
                </a:solidFill>
              </a:rPr>
              <a:t>Summary</a:t>
            </a:r>
          </a:p>
        </p:txBody>
      </p:sp>
      <p:sp>
        <p:nvSpPr>
          <p:cNvPr id="6" name="TextBox 5">
            <a:extLst>
              <a:ext uri="{FF2B5EF4-FFF2-40B4-BE49-F238E27FC236}">
                <a16:creationId xmlns:a16="http://schemas.microsoft.com/office/drawing/2014/main" id="{661FC352-AFE6-05EA-36A2-9E1361ABA76D}"/>
              </a:ext>
            </a:extLst>
          </p:cNvPr>
          <p:cNvSpPr txBox="1"/>
          <p:nvPr/>
        </p:nvSpPr>
        <p:spPr>
          <a:xfrm>
            <a:off x="508000" y="1651000"/>
            <a:ext cx="11176000" cy="369332"/>
          </a:xfrm>
          <a:prstGeom prst="rect">
            <a:avLst/>
          </a:prstGeom>
          <a:noFill/>
        </p:spPr>
        <p:txBody>
          <a:bodyPr vert="horz" wrap="square" lIns="38100" tIns="12700" rIns="38100" bIns="12700" rtlCol="0">
            <a:noAutofit/>
          </a:bodyPr>
          <a:lstStyle/>
          <a:p>
            <a:r>
              <a:rPr lang="en-US" sz="1300">
                <a:solidFill>
                  <a:srgbClr val="EAE3DD"/>
                </a:solidFill>
              </a:rPr>
              <a:t>18 sections reviewed  |  Governance intent preserved  |  Controls proportionate and actionable</a:t>
            </a:r>
          </a:p>
        </p:txBody>
      </p:sp>
      <p:sp>
        <p:nvSpPr>
          <p:cNvPr id="7" name="Rectangle 6">
            <a:extLst>
              <a:ext uri="{FF2B5EF4-FFF2-40B4-BE49-F238E27FC236}">
                <a16:creationId xmlns:a16="http://schemas.microsoft.com/office/drawing/2014/main" id="{2A25E784-6F5E-2400-720D-3D861BC06B51}"/>
              </a:ext>
            </a:extLst>
          </p:cNvPr>
          <p:cNvSpPr/>
          <p:nvPr/>
        </p:nvSpPr>
        <p:spPr>
          <a:xfrm>
            <a:off x="508000" y="2108200"/>
            <a:ext cx="101600" cy="1016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1CBE1E-EA65-060E-26BD-D6EC7D0EFCF5}"/>
              </a:ext>
            </a:extLst>
          </p:cNvPr>
          <p:cNvSpPr txBox="1"/>
          <p:nvPr/>
        </p:nvSpPr>
        <p:spPr>
          <a:xfrm>
            <a:off x="736600" y="2082800"/>
            <a:ext cx="10414000" cy="369332"/>
          </a:xfrm>
          <a:prstGeom prst="rect">
            <a:avLst/>
          </a:prstGeom>
          <a:noFill/>
        </p:spPr>
        <p:txBody>
          <a:bodyPr vert="horz" wrap="square" lIns="38100" tIns="12700" rIns="38100" bIns="12700" rtlCol="0">
            <a:noAutofit/>
          </a:bodyPr>
          <a:lstStyle/>
          <a:p>
            <a:r>
              <a:rPr lang="en-US" sz="1100">
                <a:solidFill>
                  <a:srgbClr val="FFFFFF"/>
                </a:solidFill>
              </a:rPr>
              <a:t>Datahub Metadata Template columns A-H are the mandatory baseline for all registered data assets.</a:t>
            </a:r>
          </a:p>
        </p:txBody>
      </p:sp>
      <p:sp>
        <p:nvSpPr>
          <p:cNvPr id="9" name="Rectangle 8">
            <a:extLst>
              <a:ext uri="{FF2B5EF4-FFF2-40B4-BE49-F238E27FC236}">
                <a16:creationId xmlns:a16="http://schemas.microsoft.com/office/drawing/2014/main" id="{8338E13A-4A09-229A-AD12-4E1F9319F255}"/>
              </a:ext>
            </a:extLst>
          </p:cNvPr>
          <p:cNvSpPr/>
          <p:nvPr/>
        </p:nvSpPr>
        <p:spPr>
          <a:xfrm>
            <a:off x="508000" y="2438400"/>
            <a:ext cx="101600" cy="1016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8EC0099-EB24-3155-4BD8-FFCD7609B9F6}"/>
              </a:ext>
            </a:extLst>
          </p:cNvPr>
          <p:cNvSpPr txBox="1"/>
          <p:nvPr/>
        </p:nvSpPr>
        <p:spPr>
          <a:xfrm>
            <a:off x="736600" y="2413000"/>
            <a:ext cx="10414000" cy="369332"/>
          </a:xfrm>
          <a:prstGeom prst="rect">
            <a:avLst/>
          </a:prstGeom>
          <a:noFill/>
        </p:spPr>
        <p:txBody>
          <a:bodyPr vert="horz" wrap="square" lIns="38100" tIns="12700" rIns="38100" bIns="12700" rtlCol="0">
            <a:noAutofit/>
          </a:bodyPr>
          <a:lstStyle/>
          <a:p>
            <a:r>
              <a:rPr lang="en-US" sz="1100">
                <a:solidFill>
                  <a:srgbClr val="FFFFFF"/>
                </a:solidFill>
              </a:rPr>
              <a:t>AI and Chat-to-Data tables require 20 additional columns (B-2) -- now referenced explicitly in the SOP.</a:t>
            </a:r>
          </a:p>
        </p:txBody>
      </p:sp>
      <p:sp>
        <p:nvSpPr>
          <p:cNvPr id="11" name="Rectangle 10">
            <a:extLst>
              <a:ext uri="{FF2B5EF4-FFF2-40B4-BE49-F238E27FC236}">
                <a16:creationId xmlns:a16="http://schemas.microsoft.com/office/drawing/2014/main" id="{14D2B71F-B358-0FF3-702C-DEE4251DFFE4}"/>
              </a:ext>
            </a:extLst>
          </p:cNvPr>
          <p:cNvSpPr/>
          <p:nvPr/>
        </p:nvSpPr>
        <p:spPr>
          <a:xfrm>
            <a:off x="508000" y="2768600"/>
            <a:ext cx="101600" cy="1016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D5C870-41C4-3AF5-FACE-6C9080EBF75C}"/>
              </a:ext>
            </a:extLst>
          </p:cNvPr>
          <p:cNvSpPr txBox="1"/>
          <p:nvPr/>
        </p:nvSpPr>
        <p:spPr>
          <a:xfrm>
            <a:off x="736600" y="2743200"/>
            <a:ext cx="10414000" cy="369332"/>
          </a:xfrm>
          <a:prstGeom prst="rect">
            <a:avLst/>
          </a:prstGeom>
          <a:noFill/>
        </p:spPr>
        <p:txBody>
          <a:bodyPr vert="horz" wrap="square" lIns="38100" tIns="12700" rIns="38100" bIns="12700" rtlCol="0">
            <a:noAutofit/>
          </a:bodyPr>
          <a:lstStyle/>
          <a:p>
            <a:r>
              <a:rPr lang="en-US" sz="1100">
                <a:solidFill>
                  <a:srgbClr val="FFFFFF"/>
                </a:solidFill>
              </a:rPr>
              <a:t>All controls referencing non-existent infrastructure removed; equivalent practical controls retained.</a:t>
            </a:r>
          </a:p>
        </p:txBody>
      </p:sp>
      <p:sp>
        <p:nvSpPr>
          <p:cNvPr id="13" name="Rectangle 12">
            <a:extLst>
              <a:ext uri="{FF2B5EF4-FFF2-40B4-BE49-F238E27FC236}">
                <a16:creationId xmlns:a16="http://schemas.microsoft.com/office/drawing/2014/main" id="{4CC96B44-DAF3-CCDE-0F75-B3026D3BE999}"/>
              </a:ext>
            </a:extLst>
          </p:cNvPr>
          <p:cNvSpPr/>
          <p:nvPr/>
        </p:nvSpPr>
        <p:spPr>
          <a:xfrm>
            <a:off x="508000" y="3098800"/>
            <a:ext cx="101600" cy="1016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C564B5-1102-FC01-D6FA-C2D3348BF41E}"/>
              </a:ext>
            </a:extLst>
          </p:cNvPr>
          <p:cNvSpPr txBox="1"/>
          <p:nvPr/>
        </p:nvSpPr>
        <p:spPr>
          <a:xfrm>
            <a:off x="736600" y="3073400"/>
            <a:ext cx="10414000" cy="369332"/>
          </a:xfrm>
          <a:prstGeom prst="rect">
            <a:avLst/>
          </a:prstGeom>
          <a:noFill/>
        </p:spPr>
        <p:txBody>
          <a:bodyPr vert="horz" wrap="square" lIns="38100" tIns="12700" rIns="38100" bIns="12700" rtlCol="0">
            <a:noAutofit/>
          </a:bodyPr>
          <a:lstStyle/>
          <a:p>
            <a:r>
              <a:rPr lang="en-US" sz="1100">
                <a:solidFill>
                  <a:srgbClr val="FFFFFF"/>
                </a:solidFill>
              </a:rPr>
              <a:t>SOP is now executable: the working team can follow it today without additional platform build.</a:t>
            </a:r>
          </a:p>
        </p:txBody>
      </p:sp>
      <p:sp>
        <p:nvSpPr>
          <p:cNvPr id="15" name="TextBox 14">
            <a:extLst>
              <a:ext uri="{FF2B5EF4-FFF2-40B4-BE49-F238E27FC236}">
                <a16:creationId xmlns:a16="http://schemas.microsoft.com/office/drawing/2014/main" id="{268ACF50-ACEA-852B-E705-03F7B42E73E3}"/>
              </a:ext>
            </a:extLst>
          </p:cNvPr>
          <p:cNvSpPr txBox="1"/>
          <p:nvPr/>
        </p:nvSpPr>
        <p:spPr>
          <a:xfrm>
            <a:off x="508000" y="4038600"/>
            <a:ext cx="5080000" cy="369332"/>
          </a:xfrm>
          <a:prstGeom prst="rect">
            <a:avLst/>
          </a:prstGeom>
          <a:noFill/>
        </p:spPr>
        <p:txBody>
          <a:bodyPr vert="horz" wrap="square" lIns="38100" tIns="12700" rIns="38100" bIns="12700" rtlCol="0">
            <a:noAutofit/>
          </a:bodyPr>
          <a:lstStyle/>
          <a:p>
            <a:r>
              <a:rPr lang="en-US" sz="1000" b="1">
                <a:solidFill>
                  <a:srgbClr val="8D7A6B"/>
                </a:solidFill>
              </a:rPr>
              <a:t>Reference documents:</a:t>
            </a:r>
          </a:p>
        </p:txBody>
      </p:sp>
      <p:sp>
        <p:nvSpPr>
          <p:cNvPr id="16" name="TextBox 15">
            <a:extLst>
              <a:ext uri="{FF2B5EF4-FFF2-40B4-BE49-F238E27FC236}">
                <a16:creationId xmlns:a16="http://schemas.microsoft.com/office/drawing/2014/main" id="{54A96E71-B445-452A-401E-9242248A38F9}"/>
              </a:ext>
            </a:extLst>
          </p:cNvPr>
          <p:cNvSpPr txBox="1"/>
          <p:nvPr/>
        </p:nvSpPr>
        <p:spPr>
          <a:xfrm>
            <a:off x="508000" y="4318000"/>
            <a:ext cx="11176000" cy="369332"/>
          </a:xfrm>
          <a:prstGeom prst="rect">
            <a:avLst/>
          </a:prstGeom>
          <a:noFill/>
        </p:spPr>
        <p:txBody>
          <a:bodyPr vert="horz" wrap="square" lIns="38100" tIns="12700" rIns="38100" bIns="12700" rtlCol="0">
            <a:noAutofit/>
          </a:bodyPr>
          <a:lstStyle/>
          <a:p>
            <a:r>
              <a:rPr lang="en-US" sz="1000">
                <a:solidFill>
                  <a:srgbClr val="EAE3DD"/>
                </a:solidFill>
              </a:rPr>
              <a:t>SOP_Change_Summary.xlsx                     --  printable change table (18 rows)</a:t>
            </a:r>
          </a:p>
        </p:txBody>
      </p:sp>
      <p:sp>
        <p:nvSpPr>
          <p:cNvPr id="17" name="TextBox 16">
            <a:extLst>
              <a:ext uri="{FF2B5EF4-FFF2-40B4-BE49-F238E27FC236}">
                <a16:creationId xmlns:a16="http://schemas.microsoft.com/office/drawing/2014/main" id="{ECCD1FBC-C143-E296-2328-E51268B64B73}"/>
              </a:ext>
            </a:extLst>
          </p:cNvPr>
          <p:cNvSpPr txBox="1"/>
          <p:nvPr/>
        </p:nvSpPr>
        <p:spPr>
          <a:xfrm>
            <a:off x="508000" y="4572000"/>
            <a:ext cx="11176000" cy="369332"/>
          </a:xfrm>
          <a:prstGeom prst="rect">
            <a:avLst/>
          </a:prstGeom>
          <a:noFill/>
        </p:spPr>
        <p:txBody>
          <a:bodyPr vert="horz" wrap="square" lIns="38100" tIns="12700" rIns="38100" bIns="12700" rtlCol="0">
            <a:noAutofit/>
          </a:bodyPr>
          <a:lstStyle/>
          <a:p>
            <a:r>
              <a:rPr lang="en-US" sz="1000">
                <a:solidFill>
                  <a:srgbClr val="EAE3DD"/>
                </a:solidFill>
              </a:rPr>
              <a:t>Metadata_SOP_Revised_Phase1.docx            --  updated SOP with column reference appendix</a:t>
            </a:r>
          </a:p>
        </p:txBody>
      </p:sp>
      <p:sp>
        <p:nvSpPr>
          <p:cNvPr id="18" name="TextBox 17">
            <a:extLst>
              <a:ext uri="{FF2B5EF4-FFF2-40B4-BE49-F238E27FC236}">
                <a16:creationId xmlns:a16="http://schemas.microsoft.com/office/drawing/2014/main" id="{70AF25C7-6A20-6C20-F249-7D0463C20617}"/>
              </a:ext>
            </a:extLst>
          </p:cNvPr>
          <p:cNvSpPr txBox="1"/>
          <p:nvPr/>
        </p:nvSpPr>
        <p:spPr>
          <a:xfrm>
            <a:off x="508000" y="4826000"/>
            <a:ext cx="11176000" cy="369332"/>
          </a:xfrm>
          <a:prstGeom prst="rect">
            <a:avLst/>
          </a:prstGeom>
          <a:noFill/>
        </p:spPr>
        <p:txBody>
          <a:bodyPr vert="horz" wrap="square" lIns="38100" tIns="12700" rIns="38100" bIns="12700" rtlCol="0">
            <a:noAutofit/>
          </a:bodyPr>
          <a:lstStyle/>
          <a:p>
            <a:r>
              <a:rPr lang="en-US" sz="1000">
                <a:solidFill>
                  <a:srgbClr val="EAE3DD"/>
                </a:solidFill>
              </a:rPr>
              <a:t>Datahub_metadata_template.xlsx              --  colour-coded template with Mandatory_Guide sheet</a:t>
            </a:r>
          </a:p>
        </p:txBody>
      </p:sp>
      <p:sp>
        <p:nvSpPr>
          <p:cNvPr id="19" name="TextBox 18">
            <a:extLst>
              <a:ext uri="{FF2B5EF4-FFF2-40B4-BE49-F238E27FC236}">
                <a16:creationId xmlns:a16="http://schemas.microsoft.com/office/drawing/2014/main" id="{859737FE-0AD1-0A3F-7CD6-0436F9911CE1}"/>
              </a:ext>
            </a:extLst>
          </p:cNvPr>
          <p:cNvSpPr txBox="1"/>
          <p:nvPr/>
        </p:nvSpPr>
        <p:spPr>
          <a:xfrm>
            <a:off x="508000" y="5080000"/>
            <a:ext cx="11176000" cy="369332"/>
          </a:xfrm>
          <a:prstGeom prst="rect">
            <a:avLst/>
          </a:prstGeom>
          <a:noFill/>
        </p:spPr>
        <p:txBody>
          <a:bodyPr vert="horz" wrap="square" lIns="38100" tIns="12700" rIns="38100" bIns="12700" rtlCol="0">
            <a:noAutofit/>
          </a:bodyPr>
          <a:lstStyle/>
          <a:p>
            <a:r>
              <a:rPr lang="en-US" sz="1000">
                <a:solidFill>
                  <a:srgbClr val="EAE3DD"/>
                </a:solidFill>
              </a:rPr>
              <a:t>Metadata_SOP_Scope_Review.pptx              --  governance team context deck</a:t>
            </a:r>
          </a:p>
        </p:txBody>
      </p:sp>
      <p:sp>
        <p:nvSpPr>
          <p:cNvPr id="20" name="TextBox 19">
            <a:extLst>
              <a:ext uri="{FF2B5EF4-FFF2-40B4-BE49-F238E27FC236}">
                <a16:creationId xmlns:a16="http://schemas.microsoft.com/office/drawing/2014/main" id="{D5517431-D7BA-34FC-9A58-E79B205A146F}"/>
              </a:ext>
            </a:extLst>
          </p:cNvPr>
          <p:cNvSpPr txBox="1"/>
          <p:nvPr/>
        </p:nvSpPr>
        <p:spPr>
          <a:xfrm>
            <a:off x="508000" y="5969000"/>
            <a:ext cx="11176000" cy="369332"/>
          </a:xfrm>
          <a:prstGeom prst="rect">
            <a:avLst/>
          </a:prstGeom>
          <a:noFill/>
        </p:spPr>
        <p:txBody>
          <a:bodyPr vert="horz" wrap="square" lIns="38100" tIns="12700" rIns="38100" bIns="12700" rtlCol="0">
            <a:noAutofit/>
          </a:bodyPr>
          <a:lstStyle/>
          <a:p>
            <a:pPr algn="r"/>
            <a:r>
              <a:rPr lang="en-US" sz="1000">
                <a:solidFill>
                  <a:srgbClr val="8D7A6B"/>
                </a:solidFill>
              </a:rPr>
              <a:t>SPW-BDSI-SP-002  |  May 2026</a:t>
            </a:r>
          </a:p>
        </p:txBody>
      </p:sp>
    </p:spTree>
    <p:extLst>
      <p:ext uri="{BB962C8B-B14F-4D97-AF65-F5344CB8AC3E}">
        <p14:creationId xmlns:p14="http://schemas.microsoft.com/office/powerpoint/2010/main" val="1224444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TotalTime>
  <Words>5782</Words>
  <Application>Microsoft Office PowerPoint</Application>
  <PresentationFormat>Widescreen</PresentationFormat>
  <Paragraphs>318</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Sowan Yuthyuenyong</dc:creator>
  <cp:lastModifiedBy>Sowan Yuthyuenyong</cp:lastModifiedBy>
  <cp:revision>3</cp:revision>
  <dcterms:created xsi:type="dcterms:W3CDTF">2026-05-14T04:09:55Z</dcterms:created>
  <dcterms:modified xsi:type="dcterms:W3CDTF">2026-05-14T04:30:07Z</dcterms:modified>
</cp:coreProperties>
</file>