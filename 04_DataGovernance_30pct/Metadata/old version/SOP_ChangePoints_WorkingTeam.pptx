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6FED-E7F8-8A88-42D7-CC9D62B48A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CA2CC9-9421-0440-038A-A0D92AC2B8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AA7FFD-00DE-82F7-21BC-A31AEA53D9FD}"/>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850E4D35-0389-1834-B2D9-463F69FFD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8BD9-75EE-AA3A-DBF1-1BED464DAAC3}"/>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94813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9001-F2F5-87FB-D8B4-5BA2AA66AF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58AF63-F77A-E923-715B-B0AC794A77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446CC7-17E2-5ED9-6ABA-1516219604D5}"/>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5AB8D65E-9B2E-389B-5D22-3F536D2572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CAC763-36ED-597A-00BB-360BA1ABAFD3}"/>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408256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E21D2-9573-27BC-BFC4-AA3A0E972C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769CEE-8B08-2527-0BF1-0DC41A2760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A85CED-5CF3-77C8-E7C7-CEF0A8026D6D}"/>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F4F6CC02-DBDE-AFA1-1A39-863498A37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6A29F-16C5-C8BD-92EB-E529E7DAAE42}"/>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277993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D7F8-189A-E8C9-E188-F8EEA59022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4D1E47-9356-93DA-46AC-1B71F9BEA6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856420-BDF3-F29F-036E-40C16BBFC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376C11-D25B-D917-22B1-D1FE1ABEA2F2}"/>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6" name="Footer Placeholder 5">
            <a:extLst>
              <a:ext uri="{FF2B5EF4-FFF2-40B4-BE49-F238E27FC236}">
                <a16:creationId xmlns:a16="http://schemas.microsoft.com/office/drawing/2014/main" id="{C0C06436-70EF-CAC3-8DF6-C2F3E11E18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2F1016-84BD-881F-7729-98811684883A}"/>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2079473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B4ECC-7E77-83B0-E8E3-C36A34A16C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4A3444-9742-686D-83FE-5BD53D588B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7073B-2F08-0417-8CB6-00293739AC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43915-A9ED-D523-4673-C041214C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1C4BD-A93C-1EFB-F7C8-D0E1DE3EEA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C1DE70-B988-1C98-906B-FD6EF1C24432}"/>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8" name="Footer Placeholder 7">
            <a:extLst>
              <a:ext uri="{FF2B5EF4-FFF2-40B4-BE49-F238E27FC236}">
                <a16:creationId xmlns:a16="http://schemas.microsoft.com/office/drawing/2014/main" id="{ABB611FF-BD18-2092-436D-F7FDE1C7AB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755C9E-B8C3-58E1-2D6E-66AD16C487A1}"/>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68137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406E-9939-E974-F9A9-782481DC28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D5EABE-83A5-62CE-61F0-F3393448A213}"/>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4" name="Footer Placeholder 3">
            <a:extLst>
              <a:ext uri="{FF2B5EF4-FFF2-40B4-BE49-F238E27FC236}">
                <a16:creationId xmlns:a16="http://schemas.microsoft.com/office/drawing/2014/main" id="{69CD8D4F-B16A-C659-DEE7-62A175F0EB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1197E8-7B1B-7254-493E-B1A3DDEF7664}"/>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218645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9750C6-CE44-B58A-4C4F-2081B850422F}"/>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3" name="Footer Placeholder 2">
            <a:extLst>
              <a:ext uri="{FF2B5EF4-FFF2-40B4-BE49-F238E27FC236}">
                <a16:creationId xmlns:a16="http://schemas.microsoft.com/office/drawing/2014/main" id="{275A5B43-DE17-1DC5-87F7-7E3D9321F8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AB5BAC-A221-5831-BB01-9425EA6BBE01}"/>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446862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213AD-E5A5-C9F5-6580-418C7AED8D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421EDF-4801-CA75-179D-F3719BCD39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2F815F-05D5-0649-1C92-3B244A59F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627F92-5328-9AF3-7EAE-58243E80EF74}"/>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6" name="Footer Placeholder 5">
            <a:extLst>
              <a:ext uri="{FF2B5EF4-FFF2-40B4-BE49-F238E27FC236}">
                <a16:creationId xmlns:a16="http://schemas.microsoft.com/office/drawing/2014/main" id="{A327201D-1C75-EC33-B525-340CD7B481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2F4BF5-DBE5-FB10-E04F-2D31BA636EFE}"/>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873186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BBBCE-1225-21DE-A072-B417A67A8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396B28-DA9B-436A-58B2-32D74EA431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B0A8E1-71C5-E331-FCF2-8EA582C894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D4C960-536C-554E-5BEF-2F0995ED82A5}"/>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6" name="Footer Placeholder 5">
            <a:extLst>
              <a:ext uri="{FF2B5EF4-FFF2-40B4-BE49-F238E27FC236}">
                <a16:creationId xmlns:a16="http://schemas.microsoft.com/office/drawing/2014/main" id="{37ED4A5C-99B6-1273-D630-146AAED1C3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0DCED8-12CC-507F-9A42-B211368D771D}"/>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2312938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1FAC-9BB2-B754-C3F2-A8CE93912C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AB7E9F-1766-7ADD-0AC4-CF26CD60E0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1734E-EB4F-D64C-4469-AA18AE08C724}"/>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E2186674-245B-3BD9-D4D5-1319E43E8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CA200-3E7E-026D-EE6C-36BA8500F31D}"/>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4221407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07B3DE-07FD-2526-B4E8-8B10424105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B0E167-AD9C-A866-3572-40BB892B6A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7B815-3BB1-59C0-B80D-DCE6B6AFE1CC}"/>
              </a:ext>
            </a:extLst>
          </p:cNvPr>
          <p:cNvSpPr>
            <a:spLocks noGrp="1"/>
          </p:cNvSpPr>
          <p:nvPr>
            <p:ph type="dt" sz="half" idx="10"/>
          </p:nvPr>
        </p:nvSpPr>
        <p:spPr/>
        <p:txBody>
          <a:body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CAAB12C0-DD89-62EA-52EB-5B04A05DFE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9BD910-104A-371F-5E47-0E60D4124EB1}"/>
              </a:ext>
            </a:extLst>
          </p:cNvPr>
          <p:cNvSpPr>
            <a:spLocks noGrp="1"/>
          </p:cNvSpPr>
          <p:nvPr>
            <p:ph type="sldNum" sz="quarter" idx="12"/>
          </p:nvPr>
        </p:nvSpPr>
        <p:spPr/>
        <p:txBody>
          <a:bodyPr/>
          <a:lstStyle/>
          <a:p>
            <a:fld id="{F879FA2D-716F-4DF4-A59B-089E1BCB92CD}" type="slidenum">
              <a:rPr lang="en-US" smtClean="0"/>
              <a:t>‹#›</a:t>
            </a:fld>
            <a:endParaRPr lang="en-US"/>
          </a:p>
        </p:txBody>
      </p:sp>
    </p:spTree>
    <p:extLst>
      <p:ext uri="{BB962C8B-B14F-4D97-AF65-F5344CB8AC3E}">
        <p14:creationId xmlns:p14="http://schemas.microsoft.com/office/powerpoint/2010/main" val="3358036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59AE8-E1A0-3D68-1160-F196D77707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2C8DF6-C6F9-277D-0541-433EF6F088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2C14E1-44D8-A573-C57F-15541032AA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899D0-FA20-427A-90AB-DC6408CBD808}" type="datetimeFigureOut">
              <a:rPr lang="en-US" smtClean="0"/>
              <a:t>13/05/2026</a:t>
            </a:fld>
            <a:endParaRPr lang="en-US"/>
          </a:p>
        </p:txBody>
      </p:sp>
      <p:sp>
        <p:nvSpPr>
          <p:cNvPr id="5" name="Footer Placeholder 4">
            <a:extLst>
              <a:ext uri="{FF2B5EF4-FFF2-40B4-BE49-F238E27FC236}">
                <a16:creationId xmlns:a16="http://schemas.microsoft.com/office/drawing/2014/main" id="{23F8D281-7DF5-1CF2-EEE6-80B8F2E754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FC959B-A3D3-9D59-0459-677B8AA812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79FA2D-716F-4DF4-A59B-089E1BCB92CD}" type="slidenum">
              <a:rPr lang="en-US" smtClean="0"/>
              <a:t>‹#›</a:t>
            </a:fld>
            <a:endParaRPr lang="en-US"/>
          </a:p>
        </p:txBody>
      </p:sp>
    </p:spTree>
    <p:extLst>
      <p:ext uri="{BB962C8B-B14F-4D97-AF65-F5344CB8AC3E}">
        <p14:creationId xmlns:p14="http://schemas.microsoft.com/office/powerpoint/2010/main" val="75134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B9BA62-9CAA-6B95-C9ED-236F2BAA0CC7}"/>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4A55F5-0346-AD30-830E-1225A7375455}"/>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B8E4D4C-6767-9571-9813-81F96C2B005E}"/>
              </a:ext>
            </a:extLst>
          </p:cNvPr>
          <p:cNvCxnSpPr/>
          <p:nvPr/>
        </p:nvCxnSpPr>
        <p:spPr>
          <a:xfrm>
            <a:off x="508000" y="41910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04E6C10-1AA7-AC74-0C16-AFE464F2DB24}"/>
              </a:ext>
            </a:extLst>
          </p:cNvPr>
          <p:cNvSpPr txBox="1"/>
          <p:nvPr/>
        </p:nvSpPr>
        <p:spPr>
          <a:xfrm>
            <a:off x="508000" y="952500"/>
            <a:ext cx="11176000" cy="369332"/>
          </a:xfrm>
          <a:prstGeom prst="rect">
            <a:avLst/>
          </a:prstGeom>
          <a:noFill/>
        </p:spPr>
        <p:txBody>
          <a:bodyPr vert="horz" wrap="square" rtlCol="0">
            <a:noAutofit/>
          </a:bodyPr>
          <a:lstStyle/>
          <a:p>
            <a:r>
              <a:rPr lang="en-US" sz="1100">
                <a:solidFill>
                  <a:srgbClr val="8D7A6B"/>
                </a:solidFill>
              </a:rPr>
              <a:t>SPW-BDSI-SP-002  |  Metadata Management SOP</a:t>
            </a:r>
          </a:p>
        </p:txBody>
      </p:sp>
      <p:sp>
        <p:nvSpPr>
          <p:cNvPr id="6" name="TextBox 5">
            <a:extLst>
              <a:ext uri="{FF2B5EF4-FFF2-40B4-BE49-F238E27FC236}">
                <a16:creationId xmlns:a16="http://schemas.microsoft.com/office/drawing/2014/main" id="{B1B59305-5AC5-1B70-0EE6-36D744A8C9A7}"/>
              </a:ext>
            </a:extLst>
          </p:cNvPr>
          <p:cNvSpPr txBox="1"/>
          <p:nvPr/>
        </p:nvSpPr>
        <p:spPr>
          <a:xfrm>
            <a:off x="508000" y="1371600"/>
            <a:ext cx="11176000" cy="369332"/>
          </a:xfrm>
          <a:prstGeom prst="rect">
            <a:avLst/>
          </a:prstGeom>
          <a:noFill/>
        </p:spPr>
        <p:txBody>
          <a:bodyPr vert="horz" wrap="square" rtlCol="0">
            <a:noAutofit/>
          </a:bodyPr>
          <a:lstStyle/>
          <a:p>
            <a:r>
              <a:rPr lang="en-US" sz="3600" b="1">
                <a:solidFill>
                  <a:srgbClr val="4A2E1A"/>
                </a:solidFill>
              </a:rPr>
              <a:t>SOP Change Points</a:t>
            </a:r>
          </a:p>
        </p:txBody>
      </p:sp>
      <p:sp>
        <p:nvSpPr>
          <p:cNvPr id="7" name="TextBox 6">
            <a:extLst>
              <a:ext uri="{FF2B5EF4-FFF2-40B4-BE49-F238E27FC236}">
                <a16:creationId xmlns:a16="http://schemas.microsoft.com/office/drawing/2014/main" id="{2946D09E-CF03-C4C4-E1F8-CABE02D84E38}"/>
              </a:ext>
            </a:extLst>
          </p:cNvPr>
          <p:cNvSpPr txBox="1"/>
          <p:nvPr/>
        </p:nvSpPr>
        <p:spPr>
          <a:xfrm>
            <a:off x="508000" y="2260600"/>
            <a:ext cx="11176000" cy="369332"/>
          </a:xfrm>
          <a:prstGeom prst="rect">
            <a:avLst/>
          </a:prstGeom>
          <a:noFill/>
        </p:spPr>
        <p:txBody>
          <a:bodyPr vert="horz" wrap="square" rtlCol="0">
            <a:noAutofit/>
          </a:bodyPr>
          <a:lstStyle/>
          <a:p>
            <a:r>
              <a:rPr lang="en-US" sz="1600">
                <a:solidFill>
                  <a:srgbClr val="A86325"/>
                </a:solidFill>
              </a:rPr>
              <a:t>Working Team Briefing -- All 18 Changed Sections</a:t>
            </a:r>
          </a:p>
        </p:txBody>
      </p:sp>
      <p:sp>
        <p:nvSpPr>
          <p:cNvPr id="8" name="TextBox 7">
            <a:extLst>
              <a:ext uri="{FF2B5EF4-FFF2-40B4-BE49-F238E27FC236}">
                <a16:creationId xmlns:a16="http://schemas.microsoft.com/office/drawing/2014/main" id="{F1ACC054-0740-99E3-9CE2-996B5DCAC5C4}"/>
              </a:ext>
            </a:extLst>
          </p:cNvPr>
          <p:cNvSpPr txBox="1"/>
          <p:nvPr/>
        </p:nvSpPr>
        <p:spPr>
          <a:xfrm>
            <a:off x="508000" y="4394200"/>
            <a:ext cx="11176000" cy="369332"/>
          </a:xfrm>
          <a:prstGeom prst="rect">
            <a:avLst/>
          </a:prstGeom>
          <a:noFill/>
        </p:spPr>
        <p:txBody>
          <a:bodyPr vert="horz" wrap="square" rtlCol="0">
            <a:noAutofit/>
          </a:bodyPr>
          <a:lstStyle/>
          <a:p>
            <a:r>
              <a:rPr lang="en-US" sz="1200">
                <a:solidFill>
                  <a:srgbClr val="8D7A6B"/>
                </a:solidFill>
              </a:rPr>
              <a:t>Full original and revised text. Key phrases highlighted in red / green.</a:t>
            </a:r>
          </a:p>
        </p:txBody>
      </p:sp>
      <p:sp>
        <p:nvSpPr>
          <p:cNvPr id="9" name="TextBox 8">
            <a:extLst>
              <a:ext uri="{FF2B5EF4-FFF2-40B4-BE49-F238E27FC236}">
                <a16:creationId xmlns:a16="http://schemas.microsoft.com/office/drawing/2014/main" id="{F2FC9F0E-2D29-7986-E90C-C4F135C537F6}"/>
              </a:ext>
            </a:extLst>
          </p:cNvPr>
          <p:cNvSpPr txBox="1"/>
          <p:nvPr/>
        </p:nvSpPr>
        <p:spPr>
          <a:xfrm>
            <a:off x="508000" y="4800600"/>
            <a:ext cx="11176000" cy="369332"/>
          </a:xfrm>
          <a:prstGeom prst="rect">
            <a:avLst/>
          </a:prstGeom>
          <a:noFill/>
        </p:spPr>
        <p:txBody>
          <a:bodyPr vert="horz" wrap="square" rtlCol="0">
            <a:noAutofit/>
          </a:bodyPr>
          <a:lstStyle/>
          <a:p>
            <a:r>
              <a:rPr lang="en-US" sz="1100">
                <a:solidFill>
                  <a:srgbClr val="8D7A6B"/>
                </a:solidFill>
              </a:rPr>
              <a:t>BDSI - IT - XPO  |  May 2026</a:t>
            </a:r>
          </a:p>
        </p:txBody>
      </p:sp>
    </p:spTree>
    <p:extLst>
      <p:ext uri="{BB962C8B-B14F-4D97-AF65-F5344CB8AC3E}">
        <p14:creationId xmlns:p14="http://schemas.microsoft.com/office/powerpoint/2010/main" val="149930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43C888-C49C-B0A1-F33E-680A82A4C7D5}"/>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9DEE17-3142-C4C3-EA8B-4DD63EFE69EA}"/>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D845A38-ED4E-4371-8DA7-9B2DCCDB9921}"/>
              </a:ext>
            </a:extLst>
          </p:cNvPr>
          <p:cNvSpPr txBox="1"/>
          <p:nvPr/>
        </p:nvSpPr>
        <p:spPr>
          <a:xfrm>
            <a:off x="508000" y="304800"/>
            <a:ext cx="11176000" cy="369332"/>
          </a:xfrm>
          <a:prstGeom prst="rect">
            <a:avLst/>
          </a:prstGeom>
          <a:noFill/>
        </p:spPr>
        <p:txBody>
          <a:bodyPr vert="horz" wrap="square" rtlCol="0">
            <a:noAutofit/>
          </a:bodyPr>
          <a:lstStyle/>
          <a:p>
            <a:r>
              <a:rPr lang="en-US" sz="1700" b="1">
                <a:solidFill>
                  <a:srgbClr val="4A2E1A"/>
                </a:solidFill>
              </a:rPr>
              <a:t>How to Read This Deck</a:t>
            </a:r>
          </a:p>
        </p:txBody>
      </p:sp>
      <p:cxnSp>
        <p:nvCxnSpPr>
          <p:cNvPr id="5" name="Straight Connector 4">
            <a:extLst>
              <a:ext uri="{FF2B5EF4-FFF2-40B4-BE49-F238E27FC236}">
                <a16:creationId xmlns:a16="http://schemas.microsoft.com/office/drawing/2014/main" id="{8EAF3206-AE94-8066-3F30-7B336318EF03}"/>
              </a:ext>
            </a:extLst>
          </p:cNvPr>
          <p:cNvCxnSpPr/>
          <p:nvPr/>
        </p:nvCxnSpPr>
        <p:spPr>
          <a:xfrm>
            <a:off x="508000" y="7620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85ABFD9-C7B5-601F-357E-3798EA1D38F4}"/>
              </a:ext>
            </a:extLst>
          </p:cNvPr>
          <p:cNvSpPr/>
          <p:nvPr/>
        </p:nvSpPr>
        <p:spPr>
          <a:xfrm>
            <a:off x="508000" y="889000"/>
            <a:ext cx="11176000" cy="9906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837DCE2-65BF-5405-E0BB-430B5BE909AF}"/>
              </a:ext>
            </a:extLst>
          </p:cNvPr>
          <p:cNvSpPr txBox="1"/>
          <p:nvPr/>
        </p:nvSpPr>
        <p:spPr>
          <a:xfrm>
            <a:off x="660400" y="990600"/>
            <a:ext cx="1270000" cy="369332"/>
          </a:xfrm>
          <a:prstGeom prst="rect">
            <a:avLst/>
          </a:prstGeom>
          <a:noFill/>
        </p:spPr>
        <p:txBody>
          <a:bodyPr vert="horz" wrap="square" rtlCol="0">
            <a:noAutofit/>
          </a:bodyPr>
          <a:lstStyle/>
          <a:p>
            <a:r>
              <a:rPr lang="en-US" sz="900" b="1">
                <a:solidFill>
                  <a:srgbClr val="4A2E1A"/>
                </a:solidFill>
              </a:rPr>
              <a:t>ORIGINAL</a:t>
            </a:r>
          </a:p>
        </p:txBody>
      </p:sp>
      <p:cxnSp>
        <p:nvCxnSpPr>
          <p:cNvPr id="8" name="Straight Connector 7">
            <a:extLst>
              <a:ext uri="{FF2B5EF4-FFF2-40B4-BE49-F238E27FC236}">
                <a16:creationId xmlns:a16="http://schemas.microsoft.com/office/drawing/2014/main" id="{5362EE6C-3138-FDBB-B460-46203210738B}"/>
              </a:ext>
            </a:extLst>
          </p:cNvPr>
          <p:cNvCxnSpPr/>
          <p:nvPr/>
        </p:nvCxnSpPr>
        <p:spPr>
          <a:xfrm>
            <a:off x="660400" y="1270000"/>
            <a:ext cx="108712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8B84A77-963A-ADE1-E103-2B60D3188E87}"/>
              </a:ext>
            </a:extLst>
          </p:cNvPr>
          <p:cNvSpPr txBox="1"/>
          <p:nvPr/>
        </p:nvSpPr>
        <p:spPr>
          <a:xfrm>
            <a:off x="660400" y="1346200"/>
            <a:ext cx="10871200" cy="369332"/>
          </a:xfrm>
          <a:prstGeom prst="rect">
            <a:avLst/>
          </a:prstGeom>
          <a:noFill/>
        </p:spPr>
        <p:txBody>
          <a:bodyPr vert="horz" wrap="square" rtlCol="0">
            <a:noAutofit/>
          </a:bodyPr>
          <a:lstStyle/>
          <a:p>
            <a:r>
              <a:rPr lang="en-US" sz="1200">
                <a:solidFill>
                  <a:srgbClr val="4A2E1A"/>
                </a:solidFill>
              </a:rPr>
              <a:t>Full text from original SOP.docx. Phrases being removed or changed are highlighted in RED.</a:t>
            </a:r>
          </a:p>
        </p:txBody>
      </p:sp>
      <p:sp>
        <p:nvSpPr>
          <p:cNvPr id="10" name="Rectangle 9">
            <a:extLst>
              <a:ext uri="{FF2B5EF4-FFF2-40B4-BE49-F238E27FC236}">
                <a16:creationId xmlns:a16="http://schemas.microsoft.com/office/drawing/2014/main" id="{9FBEDB37-0DB6-B9BB-2876-E7BC747932A6}"/>
              </a:ext>
            </a:extLst>
          </p:cNvPr>
          <p:cNvSpPr/>
          <p:nvPr/>
        </p:nvSpPr>
        <p:spPr>
          <a:xfrm>
            <a:off x="508000" y="1955800"/>
            <a:ext cx="11176000" cy="9906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9810771-118C-DBEC-27E3-370766681732}"/>
              </a:ext>
            </a:extLst>
          </p:cNvPr>
          <p:cNvSpPr txBox="1"/>
          <p:nvPr/>
        </p:nvSpPr>
        <p:spPr>
          <a:xfrm>
            <a:off x="660400" y="2057400"/>
            <a:ext cx="1270000" cy="369332"/>
          </a:xfrm>
          <a:prstGeom prst="rect">
            <a:avLst/>
          </a:prstGeom>
          <a:noFill/>
        </p:spPr>
        <p:txBody>
          <a:bodyPr vert="horz" wrap="square" rtlCol="0">
            <a:noAutofit/>
          </a:bodyPr>
          <a:lstStyle/>
          <a:p>
            <a:r>
              <a:rPr lang="en-US" sz="900" b="1">
                <a:solidFill>
                  <a:srgbClr val="4A2E1A"/>
                </a:solidFill>
              </a:rPr>
              <a:t>CHANGE</a:t>
            </a:r>
          </a:p>
        </p:txBody>
      </p:sp>
      <p:cxnSp>
        <p:nvCxnSpPr>
          <p:cNvPr id="12" name="Straight Connector 11">
            <a:extLst>
              <a:ext uri="{FF2B5EF4-FFF2-40B4-BE49-F238E27FC236}">
                <a16:creationId xmlns:a16="http://schemas.microsoft.com/office/drawing/2014/main" id="{6DA6242C-5BC8-3891-EB05-05D5B1C6042A}"/>
              </a:ext>
            </a:extLst>
          </p:cNvPr>
          <p:cNvCxnSpPr/>
          <p:nvPr/>
        </p:nvCxnSpPr>
        <p:spPr>
          <a:xfrm>
            <a:off x="660400" y="2336800"/>
            <a:ext cx="108712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BE62B8F-5979-9D27-C608-339B327408E3}"/>
              </a:ext>
            </a:extLst>
          </p:cNvPr>
          <p:cNvSpPr txBox="1"/>
          <p:nvPr/>
        </p:nvSpPr>
        <p:spPr>
          <a:xfrm>
            <a:off x="660400" y="2413000"/>
            <a:ext cx="10871200" cy="369332"/>
          </a:xfrm>
          <a:prstGeom prst="rect">
            <a:avLst/>
          </a:prstGeom>
          <a:noFill/>
        </p:spPr>
        <p:txBody>
          <a:bodyPr vert="horz" wrap="square" rtlCol="0">
            <a:noAutofit/>
          </a:bodyPr>
          <a:lstStyle/>
          <a:p>
            <a:r>
              <a:rPr lang="en-US" sz="1200">
                <a:solidFill>
                  <a:srgbClr val="4A2E1A"/>
                </a:solidFill>
              </a:rPr>
              <a:t>Full text from revised SOP. New or replacement key phrases are highlighted in GREEN.</a:t>
            </a:r>
          </a:p>
        </p:txBody>
      </p:sp>
      <p:sp>
        <p:nvSpPr>
          <p:cNvPr id="14" name="Rectangle 13">
            <a:extLst>
              <a:ext uri="{FF2B5EF4-FFF2-40B4-BE49-F238E27FC236}">
                <a16:creationId xmlns:a16="http://schemas.microsoft.com/office/drawing/2014/main" id="{90AC386A-A073-8AD3-10FF-187A786C85BC}"/>
              </a:ext>
            </a:extLst>
          </p:cNvPr>
          <p:cNvSpPr/>
          <p:nvPr/>
        </p:nvSpPr>
        <p:spPr>
          <a:xfrm>
            <a:off x="508000" y="3022600"/>
            <a:ext cx="11176000" cy="9906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90652B6-D4E4-AC97-C652-6037EB2C856F}"/>
              </a:ext>
            </a:extLst>
          </p:cNvPr>
          <p:cNvSpPr txBox="1"/>
          <p:nvPr/>
        </p:nvSpPr>
        <p:spPr>
          <a:xfrm>
            <a:off x="660400" y="3124200"/>
            <a:ext cx="1270000" cy="369332"/>
          </a:xfrm>
          <a:prstGeom prst="rect">
            <a:avLst/>
          </a:prstGeom>
          <a:noFill/>
        </p:spPr>
        <p:txBody>
          <a:bodyPr vert="horz" wrap="square" rtlCol="0">
            <a:noAutofit/>
          </a:bodyPr>
          <a:lstStyle/>
          <a:p>
            <a:r>
              <a:rPr lang="en-US" sz="900" b="1">
                <a:solidFill>
                  <a:srgbClr val="4A2E1A"/>
                </a:solidFill>
              </a:rPr>
              <a:t>REASON</a:t>
            </a:r>
          </a:p>
        </p:txBody>
      </p:sp>
      <p:cxnSp>
        <p:nvCxnSpPr>
          <p:cNvPr id="16" name="Straight Connector 15">
            <a:extLst>
              <a:ext uri="{FF2B5EF4-FFF2-40B4-BE49-F238E27FC236}">
                <a16:creationId xmlns:a16="http://schemas.microsoft.com/office/drawing/2014/main" id="{E65ABA04-15BD-12A1-183D-824E04A6AAAF}"/>
              </a:ext>
            </a:extLst>
          </p:cNvPr>
          <p:cNvCxnSpPr/>
          <p:nvPr/>
        </p:nvCxnSpPr>
        <p:spPr>
          <a:xfrm>
            <a:off x="660400" y="3403600"/>
            <a:ext cx="108712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0DFB6E-F740-D56A-1B84-8E28D13B7E41}"/>
              </a:ext>
            </a:extLst>
          </p:cNvPr>
          <p:cNvSpPr txBox="1"/>
          <p:nvPr/>
        </p:nvSpPr>
        <p:spPr>
          <a:xfrm>
            <a:off x="660400" y="3479800"/>
            <a:ext cx="10871200" cy="369332"/>
          </a:xfrm>
          <a:prstGeom prst="rect">
            <a:avLst/>
          </a:prstGeom>
          <a:noFill/>
        </p:spPr>
        <p:txBody>
          <a:bodyPr vert="horz" wrap="square" rtlCol="0">
            <a:noAutofit/>
          </a:bodyPr>
          <a:lstStyle/>
          <a:p>
            <a:r>
              <a:rPr lang="en-US" sz="1200">
                <a:solidFill>
                  <a:srgbClr val="4A2E1A"/>
                </a:solidFill>
              </a:rPr>
              <a:t>Explanation of why the change was made for this section.</a:t>
            </a:r>
          </a:p>
        </p:txBody>
      </p:sp>
      <p:sp>
        <p:nvSpPr>
          <p:cNvPr id="18" name="TextBox 17">
            <a:extLst>
              <a:ext uri="{FF2B5EF4-FFF2-40B4-BE49-F238E27FC236}">
                <a16:creationId xmlns:a16="http://schemas.microsoft.com/office/drawing/2014/main" id="{2EC07D0A-E082-206E-C4CE-C8894B3A9E13}"/>
              </a:ext>
            </a:extLst>
          </p:cNvPr>
          <p:cNvSpPr txBox="1"/>
          <p:nvPr/>
        </p:nvSpPr>
        <p:spPr>
          <a:xfrm>
            <a:off x="508000" y="4267200"/>
            <a:ext cx="11176000" cy="369332"/>
          </a:xfrm>
          <a:prstGeom prst="rect">
            <a:avLst/>
          </a:prstGeom>
          <a:noFill/>
        </p:spPr>
        <p:txBody>
          <a:bodyPr vert="horz" wrap="square" rtlCol="0">
            <a:noAutofit/>
          </a:bodyPr>
          <a:lstStyle/>
          <a:p>
            <a:r>
              <a:rPr lang="en-US" sz="1100">
                <a:solidFill>
                  <a:srgbClr val="8D7A6B"/>
                </a:solidFill>
              </a:rPr>
              <a:t>Each of the 18 changed sections follows this 3-row structure. One-page summary is on the next slide.</a:t>
            </a:r>
          </a:p>
        </p:txBody>
      </p:sp>
    </p:spTree>
    <p:extLst>
      <p:ext uri="{BB962C8B-B14F-4D97-AF65-F5344CB8AC3E}">
        <p14:creationId xmlns:p14="http://schemas.microsoft.com/office/powerpoint/2010/main" val="43415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73321C-AF29-F1E2-CE20-2A18B993767F}"/>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1BC3C75-780F-40D0-FEDD-42D371BF320C}"/>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15A19A6-0D45-DB3C-9C69-AA630C4ECB42}"/>
              </a:ext>
            </a:extLst>
          </p:cNvPr>
          <p:cNvSpPr txBox="1"/>
          <p:nvPr/>
        </p:nvSpPr>
        <p:spPr>
          <a:xfrm>
            <a:off x="508000" y="127000"/>
            <a:ext cx="11176000" cy="369332"/>
          </a:xfrm>
          <a:prstGeom prst="rect">
            <a:avLst/>
          </a:prstGeom>
          <a:noFill/>
        </p:spPr>
        <p:txBody>
          <a:bodyPr vert="horz" wrap="square" rtlCol="0">
            <a:noAutofit/>
          </a:bodyPr>
          <a:lstStyle/>
          <a:p>
            <a:r>
              <a:rPr lang="en-US" sz="1400" b="1">
                <a:solidFill>
                  <a:srgbClr val="4A2E1A"/>
                </a:solidFill>
              </a:rPr>
              <a:t>All 18 Changed Sections -- Summary</a:t>
            </a:r>
          </a:p>
        </p:txBody>
      </p:sp>
      <p:cxnSp>
        <p:nvCxnSpPr>
          <p:cNvPr id="5" name="Straight Connector 4">
            <a:extLst>
              <a:ext uri="{FF2B5EF4-FFF2-40B4-BE49-F238E27FC236}">
                <a16:creationId xmlns:a16="http://schemas.microsoft.com/office/drawing/2014/main" id="{ED910EAF-78DF-0E26-CC2A-A2FF00942CF0}"/>
              </a:ext>
            </a:extLst>
          </p:cNvPr>
          <p:cNvCxnSpPr/>
          <p:nvPr/>
        </p:nvCxnSpPr>
        <p:spPr>
          <a:xfrm>
            <a:off x="508000" y="4826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198DFFA-A540-E58C-5F80-A09EDA47866D}"/>
              </a:ext>
            </a:extLst>
          </p:cNvPr>
          <p:cNvSpPr/>
          <p:nvPr/>
        </p:nvSpPr>
        <p:spPr>
          <a:xfrm>
            <a:off x="279400" y="558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671C39-5313-F6B6-CD7C-7337A81C782E}"/>
              </a:ext>
            </a:extLst>
          </p:cNvPr>
          <p:cNvSpPr txBox="1"/>
          <p:nvPr/>
        </p:nvSpPr>
        <p:spPr>
          <a:xfrm>
            <a:off x="330200" y="647700"/>
            <a:ext cx="482600" cy="369332"/>
          </a:xfrm>
          <a:prstGeom prst="rect">
            <a:avLst/>
          </a:prstGeom>
          <a:noFill/>
        </p:spPr>
        <p:txBody>
          <a:bodyPr vert="horz" wrap="square" rtlCol="0">
            <a:noAutofit/>
          </a:bodyPr>
          <a:lstStyle/>
          <a:p>
            <a:pPr algn="ctr"/>
            <a:r>
              <a:rPr lang="en-US" sz="900" b="1">
                <a:solidFill>
                  <a:srgbClr val="A86325"/>
                </a:solidFill>
              </a:rPr>
              <a:t>1.1</a:t>
            </a:r>
          </a:p>
        </p:txBody>
      </p:sp>
      <p:sp>
        <p:nvSpPr>
          <p:cNvPr id="8" name="TextBox 7">
            <a:extLst>
              <a:ext uri="{FF2B5EF4-FFF2-40B4-BE49-F238E27FC236}">
                <a16:creationId xmlns:a16="http://schemas.microsoft.com/office/drawing/2014/main" id="{E2D7D667-C83C-44D8-2F91-E974728D4CB3}"/>
              </a:ext>
            </a:extLst>
          </p:cNvPr>
          <p:cNvSpPr txBox="1"/>
          <p:nvPr/>
        </p:nvSpPr>
        <p:spPr>
          <a:xfrm>
            <a:off x="863600" y="609600"/>
            <a:ext cx="1778000" cy="369332"/>
          </a:xfrm>
          <a:prstGeom prst="rect">
            <a:avLst/>
          </a:prstGeom>
          <a:noFill/>
        </p:spPr>
        <p:txBody>
          <a:bodyPr vert="horz" wrap="square" rtlCol="0">
            <a:noAutofit/>
          </a:bodyPr>
          <a:lstStyle/>
          <a:p>
            <a:r>
              <a:rPr lang="en-US" sz="900" b="1">
                <a:solidFill>
                  <a:srgbClr val="4A2E1A"/>
                </a:solidFill>
              </a:rPr>
              <a:t>Objective</a:t>
            </a:r>
          </a:p>
        </p:txBody>
      </p:sp>
      <p:sp>
        <p:nvSpPr>
          <p:cNvPr id="9" name="TextBox 8">
            <a:extLst>
              <a:ext uri="{FF2B5EF4-FFF2-40B4-BE49-F238E27FC236}">
                <a16:creationId xmlns:a16="http://schemas.microsoft.com/office/drawing/2014/main" id="{C647C975-61F7-E28B-7DD2-08453100DF12}"/>
              </a:ext>
            </a:extLst>
          </p:cNvPr>
          <p:cNvSpPr txBox="1"/>
          <p:nvPr/>
        </p:nvSpPr>
        <p:spPr>
          <a:xfrm>
            <a:off x="863600" y="825500"/>
            <a:ext cx="5181600" cy="369332"/>
          </a:xfrm>
          <a:prstGeom prst="rect">
            <a:avLst/>
          </a:prstGeom>
          <a:noFill/>
        </p:spPr>
        <p:txBody>
          <a:bodyPr vert="horz" wrap="square" rtlCol="0">
            <a:noAutofit/>
          </a:bodyPr>
          <a:lstStyle/>
          <a:p>
            <a:r>
              <a:rPr lang="en-US" sz="800">
                <a:solidFill>
                  <a:srgbClr val="8D7A6B"/>
                </a:solidFill>
              </a:rPr>
              <a:t>'controlled, auditable, risk-aligned' removed; scope narrowed from 'all enterprise assets' to 'assets used in analytics/AI'</a:t>
            </a:r>
          </a:p>
        </p:txBody>
      </p:sp>
      <p:sp>
        <p:nvSpPr>
          <p:cNvPr id="10" name="Rectangle 9">
            <a:extLst>
              <a:ext uri="{FF2B5EF4-FFF2-40B4-BE49-F238E27FC236}">
                <a16:creationId xmlns:a16="http://schemas.microsoft.com/office/drawing/2014/main" id="{F5A9A46F-B251-5B82-2C6B-CC01F4EA0A4A}"/>
              </a:ext>
            </a:extLst>
          </p:cNvPr>
          <p:cNvSpPr/>
          <p:nvPr/>
        </p:nvSpPr>
        <p:spPr>
          <a:xfrm>
            <a:off x="279400" y="1257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5B04E81-22AC-B13F-5A80-6891E8D79292}"/>
              </a:ext>
            </a:extLst>
          </p:cNvPr>
          <p:cNvSpPr txBox="1"/>
          <p:nvPr/>
        </p:nvSpPr>
        <p:spPr>
          <a:xfrm>
            <a:off x="330200" y="1346200"/>
            <a:ext cx="482600" cy="369332"/>
          </a:xfrm>
          <a:prstGeom prst="rect">
            <a:avLst/>
          </a:prstGeom>
          <a:noFill/>
        </p:spPr>
        <p:txBody>
          <a:bodyPr vert="horz" wrap="square" rtlCol="0">
            <a:noAutofit/>
          </a:bodyPr>
          <a:lstStyle/>
          <a:p>
            <a:pPr algn="ctr"/>
            <a:r>
              <a:rPr lang="en-US" sz="900" b="1">
                <a:solidFill>
                  <a:srgbClr val="A86325"/>
                </a:solidFill>
              </a:rPr>
              <a:t>1.2</a:t>
            </a:r>
          </a:p>
        </p:txBody>
      </p:sp>
      <p:sp>
        <p:nvSpPr>
          <p:cNvPr id="12" name="TextBox 11">
            <a:extLst>
              <a:ext uri="{FF2B5EF4-FFF2-40B4-BE49-F238E27FC236}">
                <a16:creationId xmlns:a16="http://schemas.microsoft.com/office/drawing/2014/main" id="{E42B28B3-0852-3432-B33E-BA4E6C96987E}"/>
              </a:ext>
            </a:extLst>
          </p:cNvPr>
          <p:cNvSpPr txBox="1"/>
          <p:nvPr/>
        </p:nvSpPr>
        <p:spPr>
          <a:xfrm>
            <a:off x="863600" y="1308100"/>
            <a:ext cx="1778000" cy="369332"/>
          </a:xfrm>
          <a:prstGeom prst="rect">
            <a:avLst/>
          </a:prstGeom>
          <a:noFill/>
        </p:spPr>
        <p:txBody>
          <a:bodyPr vert="horz" wrap="square" rtlCol="0">
            <a:noAutofit/>
          </a:bodyPr>
          <a:lstStyle/>
          <a:p>
            <a:r>
              <a:rPr lang="en-US" sz="900" b="1">
                <a:solidFill>
                  <a:srgbClr val="4A2E1A"/>
                </a:solidFill>
              </a:rPr>
              <a:t>Scope</a:t>
            </a:r>
          </a:p>
        </p:txBody>
      </p:sp>
      <p:sp>
        <p:nvSpPr>
          <p:cNvPr id="13" name="TextBox 12">
            <a:extLst>
              <a:ext uri="{FF2B5EF4-FFF2-40B4-BE49-F238E27FC236}">
                <a16:creationId xmlns:a16="http://schemas.microsoft.com/office/drawing/2014/main" id="{4BDCF097-7AC9-D6CE-4FC3-6B91D3EC2E5A}"/>
              </a:ext>
            </a:extLst>
          </p:cNvPr>
          <p:cNvSpPr txBox="1"/>
          <p:nvPr/>
        </p:nvSpPr>
        <p:spPr>
          <a:xfrm>
            <a:off x="863600" y="1524000"/>
            <a:ext cx="5181600" cy="369332"/>
          </a:xfrm>
          <a:prstGeom prst="rect">
            <a:avLst/>
          </a:prstGeom>
          <a:noFill/>
        </p:spPr>
        <p:txBody>
          <a:bodyPr vert="horz" wrap="square" rtlCol="0">
            <a:noAutofit/>
          </a:bodyPr>
          <a:lstStyle/>
          <a:p>
            <a:r>
              <a:rPr lang="en-US" sz="800">
                <a:solidFill>
                  <a:srgbClr val="8D7A6B"/>
                </a:solidFill>
              </a:rPr>
              <a:t>ALL assets on all platforms -&gt; registered assets in Data Asset Register, phased by priority</a:t>
            </a:r>
          </a:p>
        </p:txBody>
      </p:sp>
      <p:sp>
        <p:nvSpPr>
          <p:cNvPr id="14" name="Rectangle 13">
            <a:extLst>
              <a:ext uri="{FF2B5EF4-FFF2-40B4-BE49-F238E27FC236}">
                <a16:creationId xmlns:a16="http://schemas.microsoft.com/office/drawing/2014/main" id="{CC8630E8-1918-2295-F32C-F0B458E1ECF4}"/>
              </a:ext>
            </a:extLst>
          </p:cNvPr>
          <p:cNvSpPr/>
          <p:nvPr/>
        </p:nvSpPr>
        <p:spPr>
          <a:xfrm>
            <a:off x="279400" y="1955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923CE9-C559-2FDA-749E-311B57AB9CDA}"/>
              </a:ext>
            </a:extLst>
          </p:cNvPr>
          <p:cNvSpPr txBox="1"/>
          <p:nvPr/>
        </p:nvSpPr>
        <p:spPr>
          <a:xfrm>
            <a:off x="330200" y="2044700"/>
            <a:ext cx="482600" cy="369332"/>
          </a:xfrm>
          <a:prstGeom prst="rect">
            <a:avLst/>
          </a:prstGeom>
          <a:noFill/>
        </p:spPr>
        <p:txBody>
          <a:bodyPr vert="horz" wrap="square" rtlCol="0">
            <a:noAutofit/>
          </a:bodyPr>
          <a:lstStyle/>
          <a:p>
            <a:pPr algn="ctr"/>
            <a:r>
              <a:rPr lang="en-US" sz="900" b="1">
                <a:solidFill>
                  <a:srgbClr val="A86325"/>
                </a:solidFill>
              </a:rPr>
              <a:t>1.3</a:t>
            </a:r>
          </a:p>
        </p:txBody>
      </p:sp>
      <p:sp>
        <p:nvSpPr>
          <p:cNvPr id="16" name="TextBox 15">
            <a:extLst>
              <a:ext uri="{FF2B5EF4-FFF2-40B4-BE49-F238E27FC236}">
                <a16:creationId xmlns:a16="http://schemas.microsoft.com/office/drawing/2014/main" id="{428E084D-BB09-C101-4D9F-336095543EBF}"/>
              </a:ext>
            </a:extLst>
          </p:cNvPr>
          <p:cNvSpPr txBox="1"/>
          <p:nvPr/>
        </p:nvSpPr>
        <p:spPr>
          <a:xfrm>
            <a:off x="863600" y="2006600"/>
            <a:ext cx="1778000" cy="369332"/>
          </a:xfrm>
          <a:prstGeom prst="rect">
            <a:avLst/>
          </a:prstGeom>
          <a:noFill/>
        </p:spPr>
        <p:txBody>
          <a:bodyPr vert="horz" wrap="square" rtlCol="0">
            <a:noAutofit/>
          </a:bodyPr>
          <a:lstStyle/>
          <a:p>
            <a:r>
              <a:rPr lang="en-US" sz="900" b="1">
                <a:solidFill>
                  <a:srgbClr val="4A2E1A"/>
                </a:solidFill>
              </a:rPr>
              <a:t>Internal Control</a:t>
            </a:r>
          </a:p>
        </p:txBody>
      </p:sp>
      <p:sp>
        <p:nvSpPr>
          <p:cNvPr id="17" name="TextBox 16">
            <a:extLst>
              <a:ext uri="{FF2B5EF4-FFF2-40B4-BE49-F238E27FC236}">
                <a16:creationId xmlns:a16="http://schemas.microsoft.com/office/drawing/2014/main" id="{34BB14C1-AABD-46B7-6735-418459B1F0A3}"/>
              </a:ext>
            </a:extLst>
          </p:cNvPr>
          <p:cNvSpPr txBox="1"/>
          <p:nvPr/>
        </p:nvSpPr>
        <p:spPr>
          <a:xfrm>
            <a:off x="863600" y="2222500"/>
            <a:ext cx="5181600" cy="369332"/>
          </a:xfrm>
          <a:prstGeom prst="rect">
            <a:avLst/>
          </a:prstGeom>
          <a:noFill/>
        </p:spPr>
        <p:txBody>
          <a:bodyPr vert="horz" wrap="square" rtlCol="0">
            <a:noAutofit/>
          </a:bodyPr>
          <a:lstStyle/>
          <a:p>
            <a:r>
              <a:rPr lang="en-US" sz="800">
                <a:solidFill>
                  <a:srgbClr val="8D7A6B"/>
                </a:solidFill>
              </a:rPr>
              <a:t>DGC multi-domain escalation removed; simplified to DPO-only; subsections merged</a:t>
            </a:r>
          </a:p>
        </p:txBody>
      </p:sp>
      <p:sp>
        <p:nvSpPr>
          <p:cNvPr id="18" name="Rectangle 17">
            <a:extLst>
              <a:ext uri="{FF2B5EF4-FFF2-40B4-BE49-F238E27FC236}">
                <a16:creationId xmlns:a16="http://schemas.microsoft.com/office/drawing/2014/main" id="{47EF992F-3AE1-84AD-2D66-91E998818E67}"/>
              </a:ext>
            </a:extLst>
          </p:cNvPr>
          <p:cNvSpPr/>
          <p:nvPr/>
        </p:nvSpPr>
        <p:spPr>
          <a:xfrm>
            <a:off x="279400" y="2654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B2F2A7C-9245-9065-3652-97FD4CA32F47}"/>
              </a:ext>
            </a:extLst>
          </p:cNvPr>
          <p:cNvSpPr txBox="1"/>
          <p:nvPr/>
        </p:nvSpPr>
        <p:spPr>
          <a:xfrm>
            <a:off x="330200" y="2743200"/>
            <a:ext cx="482600" cy="369332"/>
          </a:xfrm>
          <a:prstGeom prst="rect">
            <a:avLst/>
          </a:prstGeom>
          <a:noFill/>
        </p:spPr>
        <p:txBody>
          <a:bodyPr vert="horz" wrap="square" rtlCol="0">
            <a:noAutofit/>
          </a:bodyPr>
          <a:lstStyle/>
          <a:p>
            <a:pPr algn="ctr"/>
            <a:r>
              <a:rPr lang="en-US" sz="900" b="1">
                <a:solidFill>
                  <a:srgbClr val="A86325"/>
                </a:solidFill>
              </a:rPr>
              <a:t>2.1</a:t>
            </a:r>
          </a:p>
        </p:txBody>
      </p:sp>
      <p:sp>
        <p:nvSpPr>
          <p:cNvPr id="20" name="TextBox 19">
            <a:extLst>
              <a:ext uri="{FF2B5EF4-FFF2-40B4-BE49-F238E27FC236}">
                <a16:creationId xmlns:a16="http://schemas.microsoft.com/office/drawing/2014/main" id="{546BFADB-E5D6-25C9-255D-38B10DAB9522}"/>
              </a:ext>
            </a:extLst>
          </p:cNvPr>
          <p:cNvSpPr txBox="1"/>
          <p:nvPr/>
        </p:nvSpPr>
        <p:spPr>
          <a:xfrm>
            <a:off x="863600" y="2705100"/>
            <a:ext cx="1778000" cy="369332"/>
          </a:xfrm>
          <a:prstGeom prst="rect">
            <a:avLst/>
          </a:prstGeom>
          <a:noFill/>
        </p:spPr>
        <p:txBody>
          <a:bodyPr vert="horz" wrap="square" rtlCol="0">
            <a:noAutofit/>
          </a:bodyPr>
          <a:lstStyle/>
          <a:p>
            <a:r>
              <a:rPr lang="en-US" sz="900" b="1">
                <a:solidFill>
                  <a:srgbClr val="4A2E1A"/>
                </a:solidFill>
              </a:rPr>
              <a:t>Revision History</a:t>
            </a:r>
          </a:p>
        </p:txBody>
      </p:sp>
      <p:sp>
        <p:nvSpPr>
          <p:cNvPr id="21" name="TextBox 20">
            <a:extLst>
              <a:ext uri="{FF2B5EF4-FFF2-40B4-BE49-F238E27FC236}">
                <a16:creationId xmlns:a16="http://schemas.microsoft.com/office/drawing/2014/main" id="{29886FB7-AE09-60EE-6085-02B91F3F0740}"/>
              </a:ext>
            </a:extLst>
          </p:cNvPr>
          <p:cNvSpPr txBox="1"/>
          <p:nvPr/>
        </p:nvSpPr>
        <p:spPr>
          <a:xfrm>
            <a:off x="863600" y="2921000"/>
            <a:ext cx="5181600" cy="369332"/>
          </a:xfrm>
          <a:prstGeom prst="rect">
            <a:avLst/>
          </a:prstGeom>
          <a:noFill/>
        </p:spPr>
        <p:txBody>
          <a:bodyPr vert="horz" wrap="square" rtlCol="0">
            <a:noAutofit/>
          </a:bodyPr>
          <a:lstStyle/>
          <a:p>
            <a:r>
              <a:rPr lang="en-US" sz="800">
                <a:solidFill>
                  <a:srgbClr val="8D7A6B"/>
                </a:solidFill>
              </a:rPr>
              <a:t>Rev 1 added: practical implementation revision; scope managed via Data Asset Register</a:t>
            </a:r>
          </a:p>
        </p:txBody>
      </p:sp>
      <p:sp>
        <p:nvSpPr>
          <p:cNvPr id="22" name="Rectangle 21">
            <a:extLst>
              <a:ext uri="{FF2B5EF4-FFF2-40B4-BE49-F238E27FC236}">
                <a16:creationId xmlns:a16="http://schemas.microsoft.com/office/drawing/2014/main" id="{6C6A5E64-EE74-0526-D40F-F4C6A3E71FEC}"/>
              </a:ext>
            </a:extLst>
          </p:cNvPr>
          <p:cNvSpPr/>
          <p:nvPr/>
        </p:nvSpPr>
        <p:spPr>
          <a:xfrm>
            <a:off x="279400" y="3352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A9B3952-BFE0-AA7B-840B-F220C8D4A10E}"/>
              </a:ext>
            </a:extLst>
          </p:cNvPr>
          <p:cNvSpPr txBox="1"/>
          <p:nvPr/>
        </p:nvSpPr>
        <p:spPr>
          <a:xfrm>
            <a:off x="330200" y="3441700"/>
            <a:ext cx="482600" cy="369332"/>
          </a:xfrm>
          <a:prstGeom prst="rect">
            <a:avLst/>
          </a:prstGeom>
          <a:noFill/>
        </p:spPr>
        <p:txBody>
          <a:bodyPr vert="horz" wrap="square" rtlCol="0">
            <a:noAutofit/>
          </a:bodyPr>
          <a:lstStyle/>
          <a:p>
            <a:pPr algn="ctr"/>
            <a:r>
              <a:rPr lang="en-US" sz="900" b="1">
                <a:solidFill>
                  <a:srgbClr val="A86325"/>
                </a:solidFill>
              </a:rPr>
              <a:t>3.1</a:t>
            </a:r>
          </a:p>
        </p:txBody>
      </p:sp>
      <p:sp>
        <p:nvSpPr>
          <p:cNvPr id="24" name="TextBox 23">
            <a:extLst>
              <a:ext uri="{FF2B5EF4-FFF2-40B4-BE49-F238E27FC236}">
                <a16:creationId xmlns:a16="http://schemas.microsoft.com/office/drawing/2014/main" id="{5758BF69-F764-5FD0-14F3-FB5963664A7C}"/>
              </a:ext>
            </a:extLst>
          </p:cNvPr>
          <p:cNvSpPr txBox="1"/>
          <p:nvPr/>
        </p:nvSpPr>
        <p:spPr>
          <a:xfrm>
            <a:off x="863600" y="3403600"/>
            <a:ext cx="1778000" cy="369332"/>
          </a:xfrm>
          <a:prstGeom prst="rect">
            <a:avLst/>
          </a:prstGeom>
          <a:noFill/>
        </p:spPr>
        <p:txBody>
          <a:bodyPr vert="horz" wrap="square" rtlCol="0">
            <a:noAutofit/>
          </a:bodyPr>
          <a:lstStyle/>
          <a:p>
            <a:r>
              <a:rPr lang="en-US" sz="900" b="1">
                <a:solidFill>
                  <a:srgbClr val="4A2E1A"/>
                </a:solidFill>
              </a:rPr>
              <a:t>Data Owner</a:t>
            </a:r>
          </a:p>
        </p:txBody>
      </p:sp>
      <p:sp>
        <p:nvSpPr>
          <p:cNvPr id="25" name="TextBox 24">
            <a:extLst>
              <a:ext uri="{FF2B5EF4-FFF2-40B4-BE49-F238E27FC236}">
                <a16:creationId xmlns:a16="http://schemas.microsoft.com/office/drawing/2014/main" id="{ACCE6B7A-5427-D6B7-C8E3-778EE8032C71}"/>
              </a:ext>
            </a:extLst>
          </p:cNvPr>
          <p:cNvSpPr txBox="1"/>
          <p:nvPr/>
        </p:nvSpPr>
        <p:spPr>
          <a:xfrm>
            <a:off x="863600" y="3619500"/>
            <a:ext cx="5181600" cy="369332"/>
          </a:xfrm>
          <a:prstGeom prst="rect">
            <a:avLst/>
          </a:prstGeom>
          <a:noFill/>
        </p:spPr>
        <p:txBody>
          <a:bodyPr vert="horz" wrap="square" rtlCol="0">
            <a:noAutofit/>
          </a:bodyPr>
          <a:lstStyle/>
          <a:p>
            <a:r>
              <a:rPr lang="en-US" sz="800">
                <a:solidFill>
                  <a:srgbClr val="8D7A6B"/>
                </a:solidFill>
              </a:rPr>
              <a:t>'is responsible for approving' -&gt; 'approves'; minor wording trim</a:t>
            </a:r>
          </a:p>
        </p:txBody>
      </p:sp>
      <p:sp>
        <p:nvSpPr>
          <p:cNvPr id="26" name="Rectangle 25">
            <a:extLst>
              <a:ext uri="{FF2B5EF4-FFF2-40B4-BE49-F238E27FC236}">
                <a16:creationId xmlns:a16="http://schemas.microsoft.com/office/drawing/2014/main" id="{F3CACCE1-F7DB-3B90-C1E8-12220B0D3553}"/>
              </a:ext>
            </a:extLst>
          </p:cNvPr>
          <p:cNvSpPr/>
          <p:nvPr/>
        </p:nvSpPr>
        <p:spPr>
          <a:xfrm>
            <a:off x="279400" y="4051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AED97A2-C713-D9E6-1012-70C126A0C1C3}"/>
              </a:ext>
            </a:extLst>
          </p:cNvPr>
          <p:cNvSpPr txBox="1"/>
          <p:nvPr/>
        </p:nvSpPr>
        <p:spPr>
          <a:xfrm>
            <a:off x="330200" y="4140200"/>
            <a:ext cx="482600" cy="369332"/>
          </a:xfrm>
          <a:prstGeom prst="rect">
            <a:avLst/>
          </a:prstGeom>
          <a:noFill/>
        </p:spPr>
        <p:txBody>
          <a:bodyPr vert="horz" wrap="square" rtlCol="0">
            <a:noAutofit/>
          </a:bodyPr>
          <a:lstStyle/>
          <a:p>
            <a:pPr algn="ctr"/>
            <a:r>
              <a:rPr lang="en-US" sz="900" b="1">
                <a:solidFill>
                  <a:srgbClr val="A86325"/>
                </a:solidFill>
              </a:rPr>
              <a:t>3.3</a:t>
            </a:r>
          </a:p>
        </p:txBody>
      </p:sp>
      <p:sp>
        <p:nvSpPr>
          <p:cNvPr id="28" name="TextBox 27">
            <a:extLst>
              <a:ext uri="{FF2B5EF4-FFF2-40B4-BE49-F238E27FC236}">
                <a16:creationId xmlns:a16="http://schemas.microsoft.com/office/drawing/2014/main" id="{62DC080F-9FEF-7E8E-85DC-E987670EBE54}"/>
              </a:ext>
            </a:extLst>
          </p:cNvPr>
          <p:cNvSpPr txBox="1"/>
          <p:nvPr/>
        </p:nvSpPr>
        <p:spPr>
          <a:xfrm>
            <a:off x="863600" y="4102100"/>
            <a:ext cx="1778000" cy="369332"/>
          </a:xfrm>
          <a:prstGeom prst="rect">
            <a:avLst/>
          </a:prstGeom>
          <a:noFill/>
        </p:spPr>
        <p:txBody>
          <a:bodyPr vert="horz" wrap="square" rtlCol="0">
            <a:noAutofit/>
          </a:bodyPr>
          <a:lstStyle/>
          <a:p>
            <a:r>
              <a:rPr lang="en-US" sz="900" b="1">
                <a:solidFill>
                  <a:srgbClr val="4A2E1A"/>
                </a:solidFill>
              </a:rPr>
              <a:t>Data Custodian</a:t>
            </a:r>
          </a:p>
        </p:txBody>
      </p:sp>
      <p:sp>
        <p:nvSpPr>
          <p:cNvPr id="29" name="TextBox 28">
            <a:extLst>
              <a:ext uri="{FF2B5EF4-FFF2-40B4-BE49-F238E27FC236}">
                <a16:creationId xmlns:a16="http://schemas.microsoft.com/office/drawing/2014/main" id="{4C4FDFDA-7B9A-1D38-7153-D30813342B3B}"/>
              </a:ext>
            </a:extLst>
          </p:cNvPr>
          <p:cNvSpPr txBox="1"/>
          <p:nvPr/>
        </p:nvSpPr>
        <p:spPr>
          <a:xfrm>
            <a:off x="863600" y="4318000"/>
            <a:ext cx="5181600" cy="369332"/>
          </a:xfrm>
          <a:prstGeom prst="rect">
            <a:avLst/>
          </a:prstGeom>
          <a:noFill/>
        </p:spPr>
        <p:txBody>
          <a:bodyPr vert="horz" wrap="square" rtlCol="0">
            <a:noAutofit/>
          </a:bodyPr>
          <a:lstStyle/>
          <a:p>
            <a:r>
              <a:rPr lang="en-US" sz="800">
                <a:solidFill>
                  <a:srgbClr val="8D7A6B"/>
                </a:solidFill>
              </a:rPr>
              <a:t>Role-label prefix removed; responsibilities unchanged</a:t>
            </a:r>
          </a:p>
        </p:txBody>
      </p:sp>
      <p:sp>
        <p:nvSpPr>
          <p:cNvPr id="30" name="Rectangle 29">
            <a:extLst>
              <a:ext uri="{FF2B5EF4-FFF2-40B4-BE49-F238E27FC236}">
                <a16:creationId xmlns:a16="http://schemas.microsoft.com/office/drawing/2014/main" id="{0B41332A-EE7F-B7C3-41F9-EAFDE39C7A66}"/>
              </a:ext>
            </a:extLst>
          </p:cNvPr>
          <p:cNvSpPr/>
          <p:nvPr/>
        </p:nvSpPr>
        <p:spPr>
          <a:xfrm>
            <a:off x="279400" y="4749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4A656CD-974F-B758-B6B8-1860F4226487}"/>
              </a:ext>
            </a:extLst>
          </p:cNvPr>
          <p:cNvSpPr txBox="1"/>
          <p:nvPr/>
        </p:nvSpPr>
        <p:spPr>
          <a:xfrm>
            <a:off x="330200" y="4838700"/>
            <a:ext cx="482600" cy="369332"/>
          </a:xfrm>
          <a:prstGeom prst="rect">
            <a:avLst/>
          </a:prstGeom>
          <a:noFill/>
        </p:spPr>
        <p:txBody>
          <a:bodyPr vert="horz" wrap="square" rtlCol="0">
            <a:noAutofit/>
          </a:bodyPr>
          <a:lstStyle/>
          <a:p>
            <a:pPr algn="ctr"/>
            <a:r>
              <a:rPr lang="en-US" sz="900" b="1">
                <a:solidFill>
                  <a:srgbClr val="A86325"/>
                </a:solidFill>
              </a:rPr>
              <a:t>3.4</a:t>
            </a:r>
          </a:p>
        </p:txBody>
      </p:sp>
      <p:sp>
        <p:nvSpPr>
          <p:cNvPr id="32" name="TextBox 31">
            <a:extLst>
              <a:ext uri="{FF2B5EF4-FFF2-40B4-BE49-F238E27FC236}">
                <a16:creationId xmlns:a16="http://schemas.microsoft.com/office/drawing/2014/main" id="{E5782F07-03E8-0104-DA8B-3A90C2B097F7}"/>
              </a:ext>
            </a:extLst>
          </p:cNvPr>
          <p:cNvSpPr txBox="1"/>
          <p:nvPr/>
        </p:nvSpPr>
        <p:spPr>
          <a:xfrm>
            <a:off x="863600" y="4800600"/>
            <a:ext cx="1778000" cy="369332"/>
          </a:xfrm>
          <a:prstGeom prst="rect">
            <a:avLst/>
          </a:prstGeom>
          <a:noFill/>
        </p:spPr>
        <p:txBody>
          <a:bodyPr vert="horz" wrap="square" rtlCol="0">
            <a:noAutofit/>
          </a:bodyPr>
          <a:lstStyle/>
          <a:p>
            <a:r>
              <a:rPr lang="en-US" sz="900" b="1">
                <a:solidFill>
                  <a:srgbClr val="4A2E1A"/>
                </a:solidFill>
              </a:rPr>
              <a:t>DGC (section)</a:t>
            </a:r>
          </a:p>
        </p:txBody>
      </p:sp>
      <p:sp>
        <p:nvSpPr>
          <p:cNvPr id="33" name="TextBox 32">
            <a:extLst>
              <a:ext uri="{FF2B5EF4-FFF2-40B4-BE49-F238E27FC236}">
                <a16:creationId xmlns:a16="http://schemas.microsoft.com/office/drawing/2014/main" id="{27DF5105-E949-CD9E-5990-8A08F4A69566}"/>
              </a:ext>
            </a:extLst>
          </p:cNvPr>
          <p:cNvSpPr txBox="1"/>
          <p:nvPr/>
        </p:nvSpPr>
        <p:spPr>
          <a:xfrm>
            <a:off x="863600" y="5016500"/>
            <a:ext cx="5181600" cy="369332"/>
          </a:xfrm>
          <a:prstGeom prst="rect">
            <a:avLst/>
          </a:prstGeom>
          <a:noFill/>
        </p:spPr>
        <p:txBody>
          <a:bodyPr vert="horz" wrap="square" rtlCol="0">
            <a:noAutofit/>
          </a:bodyPr>
          <a:lstStyle/>
          <a:p>
            <a:r>
              <a:rPr lang="en-US" sz="800">
                <a:solidFill>
                  <a:srgbClr val="8D7A6B"/>
                </a:solidFill>
              </a:rPr>
              <a:t>Entire section replaced: DGC removed -&gt; Ownership Register (4 contacts per asset)</a:t>
            </a:r>
          </a:p>
        </p:txBody>
      </p:sp>
      <p:sp>
        <p:nvSpPr>
          <p:cNvPr id="34" name="Rectangle 33">
            <a:extLst>
              <a:ext uri="{FF2B5EF4-FFF2-40B4-BE49-F238E27FC236}">
                <a16:creationId xmlns:a16="http://schemas.microsoft.com/office/drawing/2014/main" id="{6752DF50-EAD4-242D-9E14-CCAE57E94DAD}"/>
              </a:ext>
            </a:extLst>
          </p:cNvPr>
          <p:cNvSpPr/>
          <p:nvPr/>
        </p:nvSpPr>
        <p:spPr>
          <a:xfrm>
            <a:off x="279400" y="5448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D1E8F9D-5A98-7617-17B8-76BE1EA32325}"/>
              </a:ext>
            </a:extLst>
          </p:cNvPr>
          <p:cNvSpPr txBox="1"/>
          <p:nvPr/>
        </p:nvSpPr>
        <p:spPr>
          <a:xfrm>
            <a:off x="330200" y="5537200"/>
            <a:ext cx="482600" cy="369332"/>
          </a:xfrm>
          <a:prstGeom prst="rect">
            <a:avLst/>
          </a:prstGeom>
          <a:noFill/>
        </p:spPr>
        <p:txBody>
          <a:bodyPr vert="horz" wrap="square" rtlCol="0">
            <a:noAutofit/>
          </a:bodyPr>
          <a:lstStyle/>
          <a:p>
            <a:pPr algn="ctr"/>
            <a:r>
              <a:rPr lang="en-US" sz="900" b="1">
                <a:solidFill>
                  <a:srgbClr val="A86325"/>
                </a:solidFill>
              </a:rPr>
              <a:t>4.1</a:t>
            </a:r>
          </a:p>
        </p:txBody>
      </p:sp>
      <p:sp>
        <p:nvSpPr>
          <p:cNvPr id="36" name="TextBox 35">
            <a:extLst>
              <a:ext uri="{FF2B5EF4-FFF2-40B4-BE49-F238E27FC236}">
                <a16:creationId xmlns:a16="http://schemas.microsoft.com/office/drawing/2014/main" id="{9C46AD24-4340-B653-2F00-ADC6BF47AAB9}"/>
              </a:ext>
            </a:extLst>
          </p:cNvPr>
          <p:cNvSpPr txBox="1"/>
          <p:nvPr/>
        </p:nvSpPr>
        <p:spPr>
          <a:xfrm>
            <a:off x="863600" y="5499100"/>
            <a:ext cx="1778000" cy="369332"/>
          </a:xfrm>
          <a:prstGeom prst="rect">
            <a:avLst/>
          </a:prstGeom>
          <a:noFill/>
        </p:spPr>
        <p:txBody>
          <a:bodyPr vert="horz" wrap="square" rtlCol="0">
            <a:noAutofit/>
          </a:bodyPr>
          <a:lstStyle/>
          <a:p>
            <a:r>
              <a:rPr lang="en-US" sz="900" b="1">
                <a:solidFill>
                  <a:srgbClr val="4A2E1A"/>
                </a:solidFill>
              </a:rPr>
              <a:t>Onboarding</a:t>
            </a:r>
          </a:p>
        </p:txBody>
      </p:sp>
      <p:sp>
        <p:nvSpPr>
          <p:cNvPr id="37" name="TextBox 36">
            <a:extLst>
              <a:ext uri="{FF2B5EF4-FFF2-40B4-BE49-F238E27FC236}">
                <a16:creationId xmlns:a16="http://schemas.microsoft.com/office/drawing/2014/main" id="{A7A0D39E-4972-4A9A-1734-B8E9AC7D6DC4}"/>
              </a:ext>
            </a:extLst>
          </p:cNvPr>
          <p:cNvSpPr txBox="1"/>
          <p:nvPr/>
        </p:nvSpPr>
        <p:spPr>
          <a:xfrm>
            <a:off x="863600" y="5715000"/>
            <a:ext cx="5181600" cy="369332"/>
          </a:xfrm>
          <a:prstGeom prst="rect">
            <a:avLst/>
          </a:prstGeom>
          <a:noFill/>
        </p:spPr>
        <p:txBody>
          <a:bodyPr vert="horz" wrap="square" rtlCol="0">
            <a:noAutofit/>
          </a:bodyPr>
          <a:lstStyle/>
          <a:p>
            <a:r>
              <a:rPr lang="en-US" sz="800">
                <a:solidFill>
                  <a:srgbClr val="8D7A6B"/>
                </a:solidFill>
              </a:rPr>
              <a:t>Process preamble removed; system-enforcement clause removed; DPO chain simplified</a:t>
            </a:r>
          </a:p>
        </p:txBody>
      </p:sp>
      <p:sp>
        <p:nvSpPr>
          <p:cNvPr id="38" name="Rectangle 37">
            <a:extLst>
              <a:ext uri="{FF2B5EF4-FFF2-40B4-BE49-F238E27FC236}">
                <a16:creationId xmlns:a16="http://schemas.microsoft.com/office/drawing/2014/main" id="{C4B8E557-C80B-3F93-1904-CCC5A1C7B5E5}"/>
              </a:ext>
            </a:extLst>
          </p:cNvPr>
          <p:cNvSpPr/>
          <p:nvPr/>
        </p:nvSpPr>
        <p:spPr>
          <a:xfrm>
            <a:off x="279400" y="6146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C0EBB5A-C07D-1CCE-913F-FCA2311152ED}"/>
              </a:ext>
            </a:extLst>
          </p:cNvPr>
          <p:cNvSpPr txBox="1"/>
          <p:nvPr/>
        </p:nvSpPr>
        <p:spPr>
          <a:xfrm>
            <a:off x="330200" y="6235700"/>
            <a:ext cx="482600" cy="369332"/>
          </a:xfrm>
          <a:prstGeom prst="rect">
            <a:avLst/>
          </a:prstGeom>
          <a:noFill/>
        </p:spPr>
        <p:txBody>
          <a:bodyPr vert="horz" wrap="square" rtlCol="0">
            <a:noAutofit/>
          </a:bodyPr>
          <a:lstStyle/>
          <a:p>
            <a:pPr algn="ctr"/>
            <a:r>
              <a:rPr lang="en-US" sz="900" b="1">
                <a:solidFill>
                  <a:srgbClr val="A86325"/>
                </a:solidFill>
              </a:rPr>
              <a:t>4.2</a:t>
            </a:r>
          </a:p>
        </p:txBody>
      </p:sp>
      <p:sp>
        <p:nvSpPr>
          <p:cNvPr id="40" name="TextBox 39">
            <a:extLst>
              <a:ext uri="{FF2B5EF4-FFF2-40B4-BE49-F238E27FC236}">
                <a16:creationId xmlns:a16="http://schemas.microsoft.com/office/drawing/2014/main" id="{9C3A316C-672E-62B9-2D61-97A1A992DE76}"/>
              </a:ext>
            </a:extLst>
          </p:cNvPr>
          <p:cNvSpPr txBox="1"/>
          <p:nvPr/>
        </p:nvSpPr>
        <p:spPr>
          <a:xfrm>
            <a:off x="863600" y="6197600"/>
            <a:ext cx="1778000" cy="369332"/>
          </a:xfrm>
          <a:prstGeom prst="rect">
            <a:avLst/>
          </a:prstGeom>
          <a:noFill/>
        </p:spPr>
        <p:txBody>
          <a:bodyPr vert="horz" wrap="square" rtlCol="0">
            <a:noAutofit/>
          </a:bodyPr>
          <a:lstStyle/>
          <a:p>
            <a:r>
              <a:rPr lang="en-US" sz="900" b="1">
                <a:solidFill>
                  <a:srgbClr val="4A2E1A"/>
                </a:solidFill>
              </a:rPr>
              <a:t>Enrichment</a:t>
            </a:r>
          </a:p>
        </p:txBody>
      </p:sp>
      <p:sp>
        <p:nvSpPr>
          <p:cNvPr id="41" name="TextBox 40">
            <a:extLst>
              <a:ext uri="{FF2B5EF4-FFF2-40B4-BE49-F238E27FC236}">
                <a16:creationId xmlns:a16="http://schemas.microsoft.com/office/drawing/2014/main" id="{5B3CB8E3-C8A7-B352-51FC-133A7C0ADB4D}"/>
              </a:ext>
            </a:extLst>
          </p:cNvPr>
          <p:cNvSpPr txBox="1"/>
          <p:nvPr/>
        </p:nvSpPr>
        <p:spPr>
          <a:xfrm>
            <a:off x="863600" y="6413500"/>
            <a:ext cx="5181600" cy="369332"/>
          </a:xfrm>
          <a:prstGeom prst="rect">
            <a:avLst/>
          </a:prstGeom>
          <a:noFill/>
        </p:spPr>
        <p:txBody>
          <a:bodyPr vert="horz" wrap="square" rtlCol="0">
            <a:noAutofit/>
          </a:bodyPr>
          <a:lstStyle/>
          <a:p>
            <a:r>
              <a:rPr lang="en-US" sz="800">
                <a:solidFill>
                  <a:srgbClr val="8D7A6B"/>
                </a:solidFill>
              </a:rPr>
              <a:t>Required fields changed: data source/purpose/constraints -&gt; purpose/columns/grain/metrics/joins/caveats</a:t>
            </a:r>
          </a:p>
        </p:txBody>
      </p:sp>
      <p:sp>
        <p:nvSpPr>
          <p:cNvPr id="42" name="Rectangle 41">
            <a:extLst>
              <a:ext uri="{FF2B5EF4-FFF2-40B4-BE49-F238E27FC236}">
                <a16:creationId xmlns:a16="http://schemas.microsoft.com/office/drawing/2014/main" id="{CDBC1DEC-516D-CBF2-AD68-A7A1929CA28F}"/>
              </a:ext>
            </a:extLst>
          </p:cNvPr>
          <p:cNvSpPr/>
          <p:nvPr/>
        </p:nvSpPr>
        <p:spPr>
          <a:xfrm>
            <a:off x="6248400" y="558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6C85F20-E21D-CCF0-1AD7-57851BA92DD3}"/>
              </a:ext>
            </a:extLst>
          </p:cNvPr>
          <p:cNvSpPr txBox="1"/>
          <p:nvPr/>
        </p:nvSpPr>
        <p:spPr>
          <a:xfrm>
            <a:off x="6299200" y="647700"/>
            <a:ext cx="482600" cy="369332"/>
          </a:xfrm>
          <a:prstGeom prst="rect">
            <a:avLst/>
          </a:prstGeom>
          <a:noFill/>
        </p:spPr>
        <p:txBody>
          <a:bodyPr vert="horz" wrap="square" rtlCol="0">
            <a:noAutofit/>
          </a:bodyPr>
          <a:lstStyle/>
          <a:p>
            <a:pPr algn="ctr"/>
            <a:r>
              <a:rPr lang="en-US" sz="900" b="1">
                <a:solidFill>
                  <a:srgbClr val="A86325"/>
                </a:solidFill>
              </a:rPr>
              <a:t>4.3</a:t>
            </a:r>
          </a:p>
        </p:txBody>
      </p:sp>
      <p:sp>
        <p:nvSpPr>
          <p:cNvPr id="44" name="TextBox 43">
            <a:extLst>
              <a:ext uri="{FF2B5EF4-FFF2-40B4-BE49-F238E27FC236}">
                <a16:creationId xmlns:a16="http://schemas.microsoft.com/office/drawing/2014/main" id="{4050FAD4-AB8C-9624-AA19-666137C8845B}"/>
              </a:ext>
            </a:extLst>
          </p:cNvPr>
          <p:cNvSpPr txBox="1"/>
          <p:nvPr/>
        </p:nvSpPr>
        <p:spPr>
          <a:xfrm>
            <a:off x="6832600" y="609600"/>
            <a:ext cx="1778000" cy="369332"/>
          </a:xfrm>
          <a:prstGeom prst="rect">
            <a:avLst/>
          </a:prstGeom>
          <a:noFill/>
        </p:spPr>
        <p:txBody>
          <a:bodyPr vert="horz" wrap="square" rtlCol="0">
            <a:noAutofit/>
          </a:bodyPr>
          <a:lstStyle/>
          <a:p>
            <a:r>
              <a:rPr lang="en-US" sz="900" b="1">
                <a:solidFill>
                  <a:srgbClr val="4A2E1A"/>
                </a:solidFill>
              </a:rPr>
              <a:t>Validation</a:t>
            </a:r>
          </a:p>
        </p:txBody>
      </p:sp>
      <p:sp>
        <p:nvSpPr>
          <p:cNvPr id="45" name="TextBox 44">
            <a:extLst>
              <a:ext uri="{FF2B5EF4-FFF2-40B4-BE49-F238E27FC236}">
                <a16:creationId xmlns:a16="http://schemas.microsoft.com/office/drawing/2014/main" id="{09367794-F535-7219-AC88-A6988199F967}"/>
              </a:ext>
            </a:extLst>
          </p:cNvPr>
          <p:cNvSpPr txBox="1"/>
          <p:nvPr/>
        </p:nvSpPr>
        <p:spPr>
          <a:xfrm>
            <a:off x="6832600" y="825500"/>
            <a:ext cx="5181600" cy="369332"/>
          </a:xfrm>
          <a:prstGeom prst="rect">
            <a:avLst/>
          </a:prstGeom>
          <a:noFill/>
        </p:spPr>
        <p:txBody>
          <a:bodyPr vert="horz" wrap="square" rtlCol="0">
            <a:noAutofit/>
          </a:bodyPr>
          <a:lstStyle/>
          <a:p>
            <a:r>
              <a:rPr lang="en-US" sz="800">
                <a:solidFill>
                  <a:srgbClr val="8D7A6B"/>
                </a:solidFill>
              </a:rPr>
              <a:t>Process preamble removed; system checklist detail removed; 'cannot submit' clause removed</a:t>
            </a:r>
          </a:p>
        </p:txBody>
      </p:sp>
      <p:sp>
        <p:nvSpPr>
          <p:cNvPr id="46" name="Rectangle 45">
            <a:extLst>
              <a:ext uri="{FF2B5EF4-FFF2-40B4-BE49-F238E27FC236}">
                <a16:creationId xmlns:a16="http://schemas.microsoft.com/office/drawing/2014/main" id="{84B93536-7104-F377-7843-B813333C1040}"/>
              </a:ext>
            </a:extLst>
          </p:cNvPr>
          <p:cNvSpPr/>
          <p:nvPr/>
        </p:nvSpPr>
        <p:spPr>
          <a:xfrm>
            <a:off x="6248400" y="1257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D67DFAB-78CB-05B4-B308-7B9189ED50DC}"/>
              </a:ext>
            </a:extLst>
          </p:cNvPr>
          <p:cNvSpPr txBox="1"/>
          <p:nvPr/>
        </p:nvSpPr>
        <p:spPr>
          <a:xfrm>
            <a:off x="6299200" y="1346200"/>
            <a:ext cx="482600" cy="369332"/>
          </a:xfrm>
          <a:prstGeom prst="rect">
            <a:avLst/>
          </a:prstGeom>
          <a:noFill/>
        </p:spPr>
        <p:txBody>
          <a:bodyPr vert="horz" wrap="square" rtlCol="0">
            <a:noAutofit/>
          </a:bodyPr>
          <a:lstStyle/>
          <a:p>
            <a:pPr algn="ctr"/>
            <a:r>
              <a:rPr lang="en-US" sz="900" b="1">
                <a:solidFill>
                  <a:srgbClr val="A86325"/>
                </a:solidFill>
              </a:rPr>
              <a:t>4.4</a:t>
            </a:r>
          </a:p>
        </p:txBody>
      </p:sp>
      <p:sp>
        <p:nvSpPr>
          <p:cNvPr id="48" name="TextBox 47">
            <a:extLst>
              <a:ext uri="{FF2B5EF4-FFF2-40B4-BE49-F238E27FC236}">
                <a16:creationId xmlns:a16="http://schemas.microsoft.com/office/drawing/2014/main" id="{91B1C68E-ED09-7568-98D8-9A48EEF65DD1}"/>
              </a:ext>
            </a:extLst>
          </p:cNvPr>
          <p:cNvSpPr txBox="1"/>
          <p:nvPr/>
        </p:nvSpPr>
        <p:spPr>
          <a:xfrm>
            <a:off x="6832600" y="1308100"/>
            <a:ext cx="1778000" cy="369332"/>
          </a:xfrm>
          <a:prstGeom prst="rect">
            <a:avLst/>
          </a:prstGeom>
          <a:noFill/>
        </p:spPr>
        <p:txBody>
          <a:bodyPr vert="horz" wrap="square" rtlCol="0">
            <a:noAutofit/>
          </a:bodyPr>
          <a:lstStyle/>
          <a:p>
            <a:r>
              <a:rPr lang="en-US" sz="900" b="1">
                <a:solidFill>
                  <a:srgbClr val="4A2E1A"/>
                </a:solidFill>
              </a:rPr>
              <a:t>Approval</a:t>
            </a:r>
          </a:p>
        </p:txBody>
      </p:sp>
      <p:sp>
        <p:nvSpPr>
          <p:cNvPr id="49" name="TextBox 48">
            <a:extLst>
              <a:ext uri="{FF2B5EF4-FFF2-40B4-BE49-F238E27FC236}">
                <a16:creationId xmlns:a16="http://schemas.microsoft.com/office/drawing/2014/main" id="{E2DCAB3C-A5A3-AFB9-DD6A-B897747983F2}"/>
              </a:ext>
            </a:extLst>
          </p:cNvPr>
          <p:cNvSpPr txBox="1"/>
          <p:nvPr/>
        </p:nvSpPr>
        <p:spPr>
          <a:xfrm>
            <a:off x="6832600" y="1524000"/>
            <a:ext cx="5181600" cy="369332"/>
          </a:xfrm>
          <a:prstGeom prst="rect">
            <a:avLst/>
          </a:prstGeom>
          <a:noFill/>
        </p:spPr>
        <p:txBody>
          <a:bodyPr vert="horz" wrap="square" rtlCol="0">
            <a:noAutofit/>
          </a:bodyPr>
          <a:lstStyle/>
          <a:p>
            <a:r>
              <a:rPr lang="en-US" sz="800">
                <a:solidFill>
                  <a:srgbClr val="8D7A6B"/>
                </a:solidFill>
              </a:rPr>
              <a:t>System workflow + SOD + DGC escalation + audit log -&gt; status tracking fields only</a:t>
            </a:r>
          </a:p>
        </p:txBody>
      </p:sp>
      <p:sp>
        <p:nvSpPr>
          <p:cNvPr id="50" name="Rectangle 49">
            <a:extLst>
              <a:ext uri="{FF2B5EF4-FFF2-40B4-BE49-F238E27FC236}">
                <a16:creationId xmlns:a16="http://schemas.microsoft.com/office/drawing/2014/main" id="{D379D71B-7970-07F5-A8E6-169EA57E314B}"/>
              </a:ext>
            </a:extLst>
          </p:cNvPr>
          <p:cNvSpPr/>
          <p:nvPr/>
        </p:nvSpPr>
        <p:spPr>
          <a:xfrm>
            <a:off x="6248400" y="1955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C92E36AB-00F5-94CA-3CC0-E5E6F17BA904}"/>
              </a:ext>
            </a:extLst>
          </p:cNvPr>
          <p:cNvSpPr txBox="1"/>
          <p:nvPr/>
        </p:nvSpPr>
        <p:spPr>
          <a:xfrm>
            <a:off x="6299200" y="2044700"/>
            <a:ext cx="482600" cy="369332"/>
          </a:xfrm>
          <a:prstGeom prst="rect">
            <a:avLst/>
          </a:prstGeom>
          <a:noFill/>
        </p:spPr>
        <p:txBody>
          <a:bodyPr vert="horz" wrap="square" rtlCol="0">
            <a:noAutofit/>
          </a:bodyPr>
          <a:lstStyle/>
          <a:p>
            <a:pPr algn="ctr"/>
            <a:r>
              <a:rPr lang="en-US" sz="900" b="1">
                <a:solidFill>
                  <a:srgbClr val="A86325"/>
                </a:solidFill>
              </a:rPr>
              <a:t>4.5</a:t>
            </a:r>
          </a:p>
        </p:txBody>
      </p:sp>
      <p:sp>
        <p:nvSpPr>
          <p:cNvPr id="52" name="TextBox 51">
            <a:extLst>
              <a:ext uri="{FF2B5EF4-FFF2-40B4-BE49-F238E27FC236}">
                <a16:creationId xmlns:a16="http://schemas.microsoft.com/office/drawing/2014/main" id="{2D6A777C-ED5D-B852-D150-9991E13C8556}"/>
              </a:ext>
            </a:extLst>
          </p:cNvPr>
          <p:cNvSpPr txBox="1"/>
          <p:nvPr/>
        </p:nvSpPr>
        <p:spPr>
          <a:xfrm>
            <a:off x="6832600" y="2006600"/>
            <a:ext cx="1778000" cy="369332"/>
          </a:xfrm>
          <a:prstGeom prst="rect">
            <a:avLst/>
          </a:prstGeom>
          <a:noFill/>
        </p:spPr>
        <p:txBody>
          <a:bodyPr vert="horz" wrap="square" rtlCol="0">
            <a:noAutofit/>
          </a:bodyPr>
          <a:lstStyle/>
          <a:p>
            <a:r>
              <a:rPr lang="en-US" sz="900" b="1">
                <a:solidFill>
                  <a:srgbClr val="4A2E1A"/>
                </a:solidFill>
              </a:rPr>
              <a:t>Publication</a:t>
            </a:r>
          </a:p>
        </p:txBody>
      </p:sp>
      <p:sp>
        <p:nvSpPr>
          <p:cNvPr id="53" name="TextBox 52">
            <a:extLst>
              <a:ext uri="{FF2B5EF4-FFF2-40B4-BE49-F238E27FC236}">
                <a16:creationId xmlns:a16="http://schemas.microsoft.com/office/drawing/2014/main" id="{821DEFC4-7792-59DC-5E48-6BC8A4AA8D12}"/>
              </a:ext>
            </a:extLst>
          </p:cNvPr>
          <p:cNvSpPr txBox="1"/>
          <p:nvPr/>
        </p:nvSpPr>
        <p:spPr>
          <a:xfrm>
            <a:off x="6832600" y="2222500"/>
            <a:ext cx="5181600" cy="369332"/>
          </a:xfrm>
          <a:prstGeom prst="rect">
            <a:avLst/>
          </a:prstGeom>
          <a:noFill/>
        </p:spPr>
        <p:txBody>
          <a:bodyPr vert="horz" wrap="square" rtlCol="0">
            <a:noAutofit/>
          </a:bodyPr>
          <a:lstStyle/>
          <a:p>
            <a:r>
              <a:rPr lang="fr-FR" sz="800">
                <a:solidFill>
                  <a:srgbClr val="8D7A6B"/>
                </a:solidFill>
              </a:rPr>
              <a:t>System RBAC + catalog enforcement -&gt; usage control flags per asset</a:t>
            </a:r>
            <a:endParaRPr lang="en-US" sz="800">
              <a:solidFill>
                <a:srgbClr val="8D7A6B"/>
              </a:solidFill>
            </a:endParaRPr>
          </a:p>
        </p:txBody>
      </p:sp>
      <p:sp>
        <p:nvSpPr>
          <p:cNvPr id="54" name="Rectangle 53">
            <a:extLst>
              <a:ext uri="{FF2B5EF4-FFF2-40B4-BE49-F238E27FC236}">
                <a16:creationId xmlns:a16="http://schemas.microsoft.com/office/drawing/2014/main" id="{AEFBD18D-024D-D964-07A3-D0E923CDA7E6}"/>
              </a:ext>
            </a:extLst>
          </p:cNvPr>
          <p:cNvSpPr/>
          <p:nvPr/>
        </p:nvSpPr>
        <p:spPr>
          <a:xfrm>
            <a:off x="6248400" y="2654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C58778D-0AD7-7D9C-D9EC-AC98F260FAFE}"/>
              </a:ext>
            </a:extLst>
          </p:cNvPr>
          <p:cNvSpPr txBox="1"/>
          <p:nvPr/>
        </p:nvSpPr>
        <p:spPr>
          <a:xfrm>
            <a:off x="6299200" y="2743200"/>
            <a:ext cx="482600" cy="369332"/>
          </a:xfrm>
          <a:prstGeom prst="rect">
            <a:avLst/>
          </a:prstGeom>
          <a:noFill/>
        </p:spPr>
        <p:txBody>
          <a:bodyPr vert="horz" wrap="square" rtlCol="0">
            <a:noAutofit/>
          </a:bodyPr>
          <a:lstStyle/>
          <a:p>
            <a:pPr algn="ctr"/>
            <a:r>
              <a:rPr lang="en-US" sz="900" b="1">
                <a:solidFill>
                  <a:srgbClr val="A86325"/>
                </a:solidFill>
              </a:rPr>
              <a:t>4.6</a:t>
            </a:r>
          </a:p>
        </p:txBody>
      </p:sp>
      <p:sp>
        <p:nvSpPr>
          <p:cNvPr id="56" name="TextBox 55">
            <a:extLst>
              <a:ext uri="{FF2B5EF4-FFF2-40B4-BE49-F238E27FC236}">
                <a16:creationId xmlns:a16="http://schemas.microsoft.com/office/drawing/2014/main" id="{5EDB675B-F73B-AABE-6F4B-886228053D52}"/>
              </a:ext>
            </a:extLst>
          </p:cNvPr>
          <p:cNvSpPr txBox="1"/>
          <p:nvPr/>
        </p:nvSpPr>
        <p:spPr>
          <a:xfrm>
            <a:off x="6832600" y="2705100"/>
            <a:ext cx="1778000" cy="369332"/>
          </a:xfrm>
          <a:prstGeom prst="rect">
            <a:avLst/>
          </a:prstGeom>
          <a:noFill/>
        </p:spPr>
        <p:txBody>
          <a:bodyPr vert="horz" wrap="square" rtlCol="0">
            <a:noAutofit/>
          </a:bodyPr>
          <a:lstStyle/>
          <a:p>
            <a:r>
              <a:rPr lang="en-US" sz="900" b="1">
                <a:solidFill>
                  <a:srgbClr val="4A2E1A"/>
                </a:solidFill>
              </a:rPr>
              <a:t>Change Mgmt</a:t>
            </a:r>
          </a:p>
        </p:txBody>
      </p:sp>
      <p:sp>
        <p:nvSpPr>
          <p:cNvPr id="57" name="TextBox 56">
            <a:extLst>
              <a:ext uri="{FF2B5EF4-FFF2-40B4-BE49-F238E27FC236}">
                <a16:creationId xmlns:a16="http://schemas.microsoft.com/office/drawing/2014/main" id="{89EA178C-E468-53F5-0627-76AE50F26C9C}"/>
              </a:ext>
            </a:extLst>
          </p:cNvPr>
          <p:cNvSpPr txBox="1"/>
          <p:nvPr/>
        </p:nvSpPr>
        <p:spPr>
          <a:xfrm>
            <a:off x="6832600" y="2921000"/>
            <a:ext cx="5181600" cy="369332"/>
          </a:xfrm>
          <a:prstGeom prst="rect">
            <a:avLst/>
          </a:prstGeom>
          <a:noFill/>
        </p:spPr>
        <p:txBody>
          <a:bodyPr vert="horz" wrap="square" rtlCol="0">
            <a:noAutofit/>
          </a:bodyPr>
          <a:lstStyle/>
          <a:p>
            <a:r>
              <a:rPr lang="en-US" sz="800">
                <a:solidFill>
                  <a:srgbClr val="8D7A6B"/>
                </a:solidFill>
              </a:rPr>
              <a:t>System workflow + version control + immutable logs -&gt; lightweight change record fields</a:t>
            </a:r>
          </a:p>
        </p:txBody>
      </p:sp>
      <p:sp>
        <p:nvSpPr>
          <p:cNvPr id="58" name="Rectangle 57">
            <a:extLst>
              <a:ext uri="{FF2B5EF4-FFF2-40B4-BE49-F238E27FC236}">
                <a16:creationId xmlns:a16="http://schemas.microsoft.com/office/drawing/2014/main" id="{B35F1154-4822-404A-A4D5-1807895A3879}"/>
              </a:ext>
            </a:extLst>
          </p:cNvPr>
          <p:cNvSpPr/>
          <p:nvPr/>
        </p:nvSpPr>
        <p:spPr>
          <a:xfrm>
            <a:off x="6248400" y="3352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A2165AB3-DB9B-88AC-3819-E252D94A8A38}"/>
              </a:ext>
            </a:extLst>
          </p:cNvPr>
          <p:cNvSpPr txBox="1"/>
          <p:nvPr/>
        </p:nvSpPr>
        <p:spPr>
          <a:xfrm>
            <a:off x="6299200" y="3441700"/>
            <a:ext cx="482600" cy="369332"/>
          </a:xfrm>
          <a:prstGeom prst="rect">
            <a:avLst/>
          </a:prstGeom>
          <a:noFill/>
        </p:spPr>
        <p:txBody>
          <a:bodyPr vert="horz" wrap="square" rtlCol="0">
            <a:noAutofit/>
          </a:bodyPr>
          <a:lstStyle/>
          <a:p>
            <a:pPr algn="ctr"/>
            <a:r>
              <a:rPr lang="en-US" sz="900" b="1">
                <a:solidFill>
                  <a:srgbClr val="A86325"/>
                </a:solidFill>
              </a:rPr>
              <a:t>4.7</a:t>
            </a:r>
          </a:p>
        </p:txBody>
      </p:sp>
      <p:sp>
        <p:nvSpPr>
          <p:cNvPr id="60" name="TextBox 59">
            <a:extLst>
              <a:ext uri="{FF2B5EF4-FFF2-40B4-BE49-F238E27FC236}">
                <a16:creationId xmlns:a16="http://schemas.microsoft.com/office/drawing/2014/main" id="{3AE6A91B-B16D-5C1D-C1C0-83E91FE0478A}"/>
              </a:ext>
            </a:extLst>
          </p:cNvPr>
          <p:cNvSpPr txBox="1"/>
          <p:nvPr/>
        </p:nvSpPr>
        <p:spPr>
          <a:xfrm>
            <a:off x="6832600" y="3403600"/>
            <a:ext cx="1778000" cy="369332"/>
          </a:xfrm>
          <a:prstGeom prst="rect">
            <a:avLst/>
          </a:prstGeom>
          <a:noFill/>
        </p:spPr>
        <p:txBody>
          <a:bodyPr vert="horz" wrap="square" rtlCol="0">
            <a:noAutofit/>
          </a:bodyPr>
          <a:lstStyle/>
          <a:p>
            <a:r>
              <a:rPr lang="en-US" sz="900" b="1">
                <a:solidFill>
                  <a:srgbClr val="4A2E1A"/>
                </a:solidFill>
              </a:rPr>
              <a:t>Quality Monitor</a:t>
            </a:r>
          </a:p>
        </p:txBody>
      </p:sp>
      <p:sp>
        <p:nvSpPr>
          <p:cNvPr id="61" name="TextBox 60">
            <a:extLst>
              <a:ext uri="{FF2B5EF4-FFF2-40B4-BE49-F238E27FC236}">
                <a16:creationId xmlns:a16="http://schemas.microsoft.com/office/drawing/2014/main" id="{26D4F77B-9F04-28E7-3976-0DDCCA2F8374}"/>
              </a:ext>
            </a:extLst>
          </p:cNvPr>
          <p:cNvSpPr txBox="1"/>
          <p:nvPr/>
        </p:nvSpPr>
        <p:spPr>
          <a:xfrm>
            <a:off x="6832600" y="3619500"/>
            <a:ext cx="5181600" cy="369332"/>
          </a:xfrm>
          <a:prstGeom prst="rect">
            <a:avLst/>
          </a:prstGeom>
          <a:noFill/>
        </p:spPr>
        <p:txBody>
          <a:bodyPr vert="horz" wrap="square" rtlCol="0">
            <a:noAutofit/>
          </a:bodyPr>
          <a:lstStyle/>
          <a:p>
            <a:r>
              <a:rPr lang="en-US" sz="800">
                <a:solidFill>
                  <a:srgbClr val="8D7A6B"/>
                </a:solidFill>
              </a:rPr>
              <a:t>System dashboards + SLA + DGC escalation -&gt; caveats section per asset</a:t>
            </a:r>
          </a:p>
        </p:txBody>
      </p:sp>
      <p:sp>
        <p:nvSpPr>
          <p:cNvPr id="62" name="Rectangle 61">
            <a:extLst>
              <a:ext uri="{FF2B5EF4-FFF2-40B4-BE49-F238E27FC236}">
                <a16:creationId xmlns:a16="http://schemas.microsoft.com/office/drawing/2014/main" id="{8F43C339-A2F5-F9AD-F638-4C8BCA88D7CD}"/>
              </a:ext>
            </a:extLst>
          </p:cNvPr>
          <p:cNvSpPr/>
          <p:nvPr/>
        </p:nvSpPr>
        <p:spPr>
          <a:xfrm>
            <a:off x="6248400" y="4051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540CC25B-0E63-E21D-5B2D-C755E12D160A}"/>
              </a:ext>
            </a:extLst>
          </p:cNvPr>
          <p:cNvSpPr txBox="1"/>
          <p:nvPr/>
        </p:nvSpPr>
        <p:spPr>
          <a:xfrm>
            <a:off x="6299200" y="4140200"/>
            <a:ext cx="482600" cy="369332"/>
          </a:xfrm>
          <a:prstGeom prst="rect">
            <a:avLst/>
          </a:prstGeom>
          <a:noFill/>
        </p:spPr>
        <p:txBody>
          <a:bodyPr vert="horz" wrap="square" rtlCol="0">
            <a:noAutofit/>
          </a:bodyPr>
          <a:lstStyle/>
          <a:p>
            <a:pPr algn="ctr"/>
            <a:r>
              <a:rPr lang="en-US" sz="900" b="1">
                <a:solidFill>
                  <a:srgbClr val="A86325"/>
                </a:solidFill>
              </a:rPr>
              <a:t>4.8</a:t>
            </a:r>
          </a:p>
        </p:txBody>
      </p:sp>
      <p:sp>
        <p:nvSpPr>
          <p:cNvPr id="64" name="TextBox 63">
            <a:extLst>
              <a:ext uri="{FF2B5EF4-FFF2-40B4-BE49-F238E27FC236}">
                <a16:creationId xmlns:a16="http://schemas.microsoft.com/office/drawing/2014/main" id="{1E275FF6-D630-2C16-76BC-0BB4145F7C30}"/>
              </a:ext>
            </a:extLst>
          </p:cNvPr>
          <p:cNvSpPr txBox="1"/>
          <p:nvPr/>
        </p:nvSpPr>
        <p:spPr>
          <a:xfrm>
            <a:off x="6832600" y="4102100"/>
            <a:ext cx="1778000" cy="369332"/>
          </a:xfrm>
          <a:prstGeom prst="rect">
            <a:avLst/>
          </a:prstGeom>
          <a:noFill/>
        </p:spPr>
        <p:txBody>
          <a:bodyPr vert="horz" wrap="square" rtlCol="0">
            <a:noAutofit/>
          </a:bodyPr>
          <a:lstStyle/>
          <a:p>
            <a:r>
              <a:rPr lang="en-US" sz="900" b="1">
                <a:solidFill>
                  <a:srgbClr val="4A2E1A"/>
                </a:solidFill>
              </a:rPr>
              <a:t>Retirement</a:t>
            </a:r>
          </a:p>
        </p:txBody>
      </p:sp>
      <p:sp>
        <p:nvSpPr>
          <p:cNvPr id="65" name="TextBox 64">
            <a:extLst>
              <a:ext uri="{FF2B5EF4-FFF2-40B4-BE49-F238E27FC236}">
                <a16:creationId xmlns:a16="http://schemas.microsoft.com/office/drawing/2014/main" id="{6DFEBF0D-87EE-09F0-C2D6-A7FD3AC78FD9}"/>
              </a:ext>
            </a:extLst>
          </p:cNvPr>
          <p:cNvSpPr txBox="1"/>
          <p:nvPr/>
        </p:nvSpPr>
        <p:spPr>
          <a:xfrm>
            <a:off x="6832600" y="4318000"/>
            <a:ext cx="5181600" cy="369332"/>
          </a:xfrm>
          <a:prstGeom prst="rect">
            <a:avLst/>
          </a:prstGeom>
          <a:noFill/>
        </p:spPr>
        <p:txBody>
          <a:bodyPr vert="horz" wrap="square" rtlCol="0">
            <a:noAutofit/>
          </a:bodyPr>
          <a:lstStyle/>
          <a:p>
            <a:r>
              <a:rPr lang="en-US" sz="800">
                <a:solidFill>
                  <a:srgbClr val="8D7A6B"/>
                </a:solidFill>
              </a:rPr>
              <a:t>Formal workflow + read-only archive + retention policy -&gt; active/deprecated status fields</a:t>
            </a:r>
          </a:p>
        </p:txBody>
      </p:sp>
      <p:sp>
        <p:nvSpPr>
          <p:cNvPr id="66" name="Rectangle 65">
            <a:extLst>
              <a:ext uri="{FF2B5EF4-FFF2-40B4-BE49-F238E27FC236}">
                <a16:creationId xmlns:a16="http://schemas.microsoft.com/office/drawing/2014/main" id="{9E1F86C6-4D6F-E7E1-2D23-C6315FBE6FEE}"/>
              </a:ext>
            </a:extLst>
          </p:cNvPr>
          <p:cNvSpPr/>
          <p:nvPr/>
        </p:nvSpPr>
        <p:spPr>
          <a:xfrm>
            <a:off x="6248400" y="4749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B70E40BF-FFB0-459C-AFCD-627F7776FAF9}"/>
              </a:ext>
            </a:extLst>
          </p:cNvPr>
          <p:cNvSpPr txBox="1"/>
          <p:nvPr/>
        </p:nvSpPr>
        <p:spPr>
          <a:xfrm>
            <a:off x="6299200" y="4838700"/>
            <a:ext cx="482600" cy="369332"/>
          </a:xfrm>
          <a:prstGeom prst="rect">
            <a:avLst/>
          </a:prstGeom>
          <a:noFill/>
        </p:spPr>
        <p:txBody>
          <a:bodyPr vert="horz" wrap="square" rtlCol="0">
            <a:noAutofit/>
          </a:bodyPr>
          <a:lstStyle/>
          <a:p>
            <a:pPr algn="ctr"/>
            <a:r>
              <a:rPr lang="en-US" sz="900" b="1">
                <a:solidFill>
                  <a:srgbClr val="A86325"/>
                </a:solidFill>
              </a:rPr>
              <a:t>5.0</a:t>
            </a:r>
          </a:p>
        </p:txBody>
      </p:sp>
      <p:sp>
        <p:nvSpPr>
          <p:cNvPr id="68" name="TextBox 67">
            <a:extLst>
              <a:ext uri="{FF2B5EF4-FFF2-40B4-BE49-F238E27FC236}">
                <a16:creationId xmlns:a16="http://schemas.microsoft.com/office/drawing/2014/main" id="{D2954400-60B7-6583-CEE8-7B9E461C914E}"/>
              </a:ext>
            </a:extLst>
          </p:cNvPr>
          <p:cNvSpPr txBox="1"/>
          <p:nvPr/>
        </p:nvSpPr>
        <p:spPr>
          <a:xfrm>
            <a:off x="6832600" y="4800600"/>
            <a:ext cx="1778000" cy="369332"/>
          </a:xfrm>
          <a:prstGeom prst="rect">
            <a:avLst/>
          </a:prstGeom>
          <a:noFill/>
        </p:spPr>
        <p:txBody>
          <a:bodyPr vert="horz" wrap="square" rtlCol="0">
            <a:noAutofit/>
          </a:bodyPr>
          <a:lstStyle/>
          <a:p>
            <a:r>
              <a:rPr lang="en-US" sz="900" b="1">
                <a:solidFill>
                  <a:srgbClr val="4A2E1A"/>
                </a:solidFill>
              </a:rPr>
              <a:t>Compliance and Audit</a:t>
            </a:r>
          </a:p>
        </p:txBody>
      </p:sp>
      <p:sp>
        <p:nvSpPr>
          <p:cNvPr id="69" name="TextBox 68">
            <a:extLst>
              <a:ext uri="{FF2B5EF4-FFF2-40B4-BE49-F238E27FC236}">
                <a16:creationId xmlns:a16="http://schemas.microsoft.com/office/drawing/2014/main" id="{F4B8DE9F-BC85-0825-A5F8-9C184897AD4F}"/>
              </a:ext>
            </a:extLst>
          </p:cNvPr>
          <p:cNvSpPr txBox="1"/>
          <p:nvPr/>
        </p:nvSpPr>
        <p:spPr>
          <a:xfrm>
            <a:off x="6832600" y="5016500"/>
            <a:ext cx="5181600" cy="369332"/>
          </a:xfrm>
          <a:prstGeom prst="rect">
            <a:avLst/>
          </a:prstGeom>
          <a:noFill/>
        </p:spPr>
        <p:txBody>
          <a:bodyPr vert="horz" wrap="square" rtlCol="0">
            <a:noAutofit/>
          </a:bodyPr>
          <a:lstStyle/>
          <a:p>
            <a:r>
              <a:rPr lang="en-US" sz="800">
                <a:solidFill>
                  <a:srgbClr val="8D7A6B"/>
                </a:solidFill>
              </a:rPr>
              <a:t>Full audit evidence (system logs, immutable records) -&gt; simplified traceability fields</a:t>
            </a:r>
          </a:p>
        </p:txBody>
      </p:sp>
      <p:sp>
        <p:nvSpPr>
          <p:cNvPr id="70" name="Rectangle 69">
            <a:extLst>
              <a:ext uri="{FF2B5EF4-FFF2-40B4-BE49-F238E27FC236}">
                <a16:creationId xmlns:a16="http://schemas.microsoft.com/office/drawing/2014/main" id="{61A99ECB-95B8-52A8-9DA2-39471E9BB23F}"/>
              </a:ext>
            </a:extLst>
          </p:cNvPr>
          <p:cNvSpPr/>
          <p:nvPr/>
        </p:nvSpPr>
        <p:spPr>
          <a:xfrm>
            <a:off x="6248400" y="54483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753C0173-59CB-FB37-4E30-1282A2E9A1C3}"/>
              </a:ext>
            </a:extLst>
          </p:cNvPr>
          <p:cNvSpPr txBox="1"/>
          <p:nvPr/>
        </p:nvSpPr>
        <p:spPr>
          <a:xfrm>
            <a:off x="6299200" y="5537200"/>
            <a:ext cx="482600" cy="369332"/>
          </a:xfrm>
          <a:prstGeom prst="rect">
            <a:avLst/>
          </a:prstGeom>
          <a:noFill/>
        </p:spPr>
        <p:txBody>
          <a:bodyPr vert="horz" wrap="square" rtlCol="0">
            <a:noAutofit/>
          </a:bodyPr>
          <a:lstStyle/>
          <a:p>
            <a:pPr algn="ctr"/>
            <a:r>
              <a:rPr lang="en-US" sz="900" b="1">
                <a:solidFill>
                  <a:srgbClr val="A86325"/>
                </a:solidFill>
              </a:rPr>
              <a:t>6.0</a:t>
            </a:r>
          </a:p>
        </p:txBody>
      </p:sp>
      <p:sp>
        <p:nvSpPr>
          <p:cNvPr id="72" name="TextBox 71">
            <a:extLst>
              <a:ext uri="{FF2B5EF4-FFF2-40B4-BE49-F238E27FC236}">
                <a16:creationId xmlns:a16="http://schemas.microsoft.com/office/drawing/2014/main" id="{63F936B3-46A7-EA04-B272-91FCC623F296}"/>
              </a:ext>
            </a:extLst>
          </p:cNvPr>
          <p:cNvSpPr txBox="1"/>
          <p:nvPr/>
        </p:nvSpPr>
        <p:spPr>
          <a:xfrm>
            <a:off x="6832600" y="5499100"/>
            <a:ext cx="1778000" cy="369332"/>
          </a:xfrm>
          <a:prstGeom prst="rect">
            <a:avLst/>
          </a:prstGeom>
          <a:noFill/>
        </p:spPr>
        <p:txBody>
          <a:bodyPr vert="horz" wrap="square" rtlCol="0">
            <a:noAutofit/>
          </a:bodyPr>
          <a:lstStyle/>
          <a:p>
            <a:r>
              <a:rPr lang="en-US" sz="900" b="1">
                <a:solidFill>
                  <a:srgbClr val="4A2E1A"/>
                </a:solidFill>
              </a:rPr>
              <a:t>Process Risk and Ctrl</a:t>
            </a:r>
          </a:p>
        </p:txBody>
      </p:sp>
      <p:sp>
        <p:nvSpPr>
          <p:cNvPr id="73" name="TextBox 72">
            <a:extLst>
              <a:ext uri="{FF2B5EF4-FFF2-40B4-BE49-F238E27FC236}">
                <a16:creationId xmlns:a16="http://schemas.microsoft.com/office/drawing/2014/main" id="{14FB33E9-B13A-E576-5660-9F31532037B3}"/>
              </a:ext>
            </a:extLst>
          </p:cNvPr>
          <p:cNvSpPr txBox="1"/>
          <p:nvPr/>
        </p:nvSpPr>
        <p:spPr>
          <a:xfrm>
            <a:off x="6832600" y="5715000"/>
            <a:ext cx="5181600" cy="369332"/>
          </a:xfrm>
          <a:prstGeom prst="rect">
            <a:avLst/>
          </a:prstGeom>
          <a:noFill/>
        </p:spPr>
        <p:txBody>
          <a:bodyPr vert="horz" wrap="square" rtlCol="0">
            <a:noAutofit/>
          </a:bodyPr>
          <a:lstStyle/>
          <a:p>
            <a:r>
              <a:rPr lang="en-US" sz="800">
                <a:solidFill>
                  <a:srgbClr val="8D7A6B"/>
                </a:solidFill>
              </a:rPr>
              <a:t>9-process enterprise PRC table -&gt; 5 practical query-level risks</a:t>
            </a:r>
          </a:p>
        </p:txBody>
      </p:sp>
      <p:sp>
        <p:nvSpPr>
          <p:cNvPr id="74" name="Rectangle 73">
            <a:extLst>
              <a:ext uri="{FF2B5EF4-FFF2-40B4-BE49-F238E27FC236}">
                <a16:creationId xmlns:a16="http://schemas.microsoft.com/office/drawing/2014/main" id="{F18D0FFB-225E-48B8-C29F-3EA2B978A0C1}"/>
              </a:ext>
            </a:extLst>
          </p:cNvPr>
          <p:cNvSpPr/>
          <p:nvPr/>
        </p:nvSpPr>
        <p:spPr>
          <a:xfrm>
            <a:off x="6248400" y="6146800"/>
            <a:ext cx="5842000" cy="660400"/>
          </a:xfrm>
          <a:prstGeom prst="rect">
            <a:avLst/>
          </a:prstGeom>
          <a:solidFill>
            <a:srgbClr val="F6EE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81C59D5C-1806-0A73-0CC8-1DB238BB4F3B}"/>
              </a:ext>
            </a:extLst>
          </p:cNvPr>
          <p:cNvSpPr txBox="1"/>
          <p:nvPr/>
        </p:nvSpPr>
        <p:spPr>
          <a:xfrm>
            <a:off x="6299200" y="6235700"/>
            <a:ext cx="482600" cy="369332"/>
          </a:xfrm>
          <a:prstGeom prst="rect">
            <a:avLst/>
          </a:prstGeom>
          <a:noFill/>
        </p:spPr>
        <p:txBody>
          <a:bodyPr vert="horz" wrap="square" rtlCol="0">
            <a:noAutofit/>
          </a:bodyPr>
          <a:lstStyle/>
          <a:p>
            <a:pPr algn="ctr"/>
            <a:r>
              <a:rPr lang="en-US" sz="900" b="1">
                <a:solidFill>
                  <a:srgbClr val="A86325"/>
                </a:solidFill>
              </a:rPr>
              <a:t>App.A</a:t>
            </a:r>
          </a:p>
        </p:txBody>
      </p:sp>
      <p:sp>
        <p:nvSpPr>
          <p:cNvPr id="76" name="TextBox 75">
            <a:extLst>
              <a:ext uri="{FF2B5EF4-FFF2-40B4-BE49-F238E27FC236}">
                <a16:creationId xmlns:a16="http://schemas.microsoft.com/office/drawing/2014/main" id="{E151D82C-25CD-EC72-0AF8-0B2A07CC808B}"/>
              </a:ext>
            </a:extLst>
          </p:cNvPr>
          <p:cNvSpPr txBox="1"/>
          <p:nvPr/>
        </p:nvSpPr>
        <p:spPr>
          <a:xfrm>
            <a:off x="6832600" y="6197600"/>
            <a:ext cx="1778000" cy="369332"/>
          </a:xfrm>
          <a:prstGeom prst="rect">
            <a:avLst/>
          </a:prstGeom>
          <a:noFill/>
        </p:spPr>
        <p:txBody>
          <a:bodyPr vert="horz" wrap="square" rtlCol="0">
            <a:noAutofit/>
          </a:bodyPr>
          <a:lstStyle/>
          <a:p>
            <a:r>
              <a:rPr lang="en-US" sz="900" b="1">
                <a:solidFill>
                  <a:srgbClr val="4A2E1A"/>
                </a:solidFill>
              </a:rPr>
              <a:t>RACI Matrix</a:t>
            </a:r>
          </a:p>
        </p:txBody>
      </p:sp>
      <p:sp>
        <p:nvSpPr>
          <p:cNvPr id="77" name="TextBox 76">
            <a:extLst>
              <a:ext uri="{FF2B5EF4-FFF2-40B4-BE49-F238E27FC236}">
                <a16:creationId xmlns:a16="http://schemas.microsoft.com/office/drawing/2014/main" id="{82A93CA0-242C-BACD-B35F-A3D7C73BA865}"/>
              </a:ext>
            </a:extLst>
          </p:cNvPr>
          <p:cNvSpPr txBox="1"/>
          <p:nvPr/>
        </p:nvSpPr>
        <p:spPr>
          <a:xfrm>
            <a:off x="6832600" y="6413500"/>
            <a:ext cx="5181600" cy="369332"/>
          </a:xfrm>
          <a:prstGeom prst="rect">
            <a:avLst/>
          </a:prstGeom>
          <a:noFill/>
        </p:spPr>
        <p:txBody>
          <a:bodyPr vert="horz" wrap="square" rtlCol="0">
            <a:noAutofit/>
          </a:bodyPr>
          <a:lstStyle/>
          <a:p>
            <a:r>
              <a:rPr lang="en-US" sz="800">
                <a:solidFill>
                  <a:srgbClr val="8D7A6B"/>
                </a:solidFill>
              </a:rPr>
              <a:t>Full 11-activity RACI (4 roles) -&gt; metadata field register per data asset</a:t>
            </a:r>
          </a:p>
        </p:txBody>
      </p:sp>
    </p:spTree>
    <p:extLst>
      <p:ext uri="{BB962C8B-B14F-4D97-AF65-F5344CB8AC3E}">
        <p14:creationId xmlns:p14="http://schemas.microsoft.com/office/powerpoint/2010/main" val="1427684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BA7FFE-1AA1-172C-2C85-CF037B6DC6D9}"/>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3DD3B14-1D91-BCE5-C5C2-BD025C53B258}"/>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600FE16-89C3-35B7-A767-671976AA63BD}"/>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A7DA89B-893F-ADAB-8B7B-A41B4DCD31ED}"/>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764A71-5BF3-5E97-02CB-3D250A78339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1.1</a:t>
            </a:r>
          </a:p>
        </p:txBody>
      </p:sp>
      <p:sp>
        <p:nvSpPr>
          <p:cNvPr id="7" name="TextBox 6">
            <a:extLst>
              <a:ext uri="{FF2B5EF4-FFF2-40B4-BE49-F238E27FC236}">
                <a16:creationId xmlns:a16="http://schemas.microsoft.com/office/drawing/2014/main" id="{E4EC5915-E746-D0E8-A05C-6A774F6759FE}"/>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1.1  Objective</a:t>
            </a:r>
          </a:p>
        </p:txBody>
      </p:sp>
      <p:sp>
        <p:nvSpPr>
          <p:cNvPr id="8" name="TextBox 7">
            <a:extLst>
              <a:ext uri="{FF2B5EF4-FFF2-40B4-BE49-F238E27FC236}">
                <a16:creationId xmlns:a16="http://schemas.microsoft.com/office/drawing/2014/main" id="{A4AFA5ED-4A8B-87BF-D8E1-9C967101466A}"/>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1.1 / 18</a:t>
            </a:r>
          </a:p>
        </p:txBody>
      </p:sp>
      <p:cxnSp>
        <p:nvCxnSpPr>
          <p:cNvPr id="9" name="Straight Connector 8">
            <a:extLst>
              <a:ext uri="{FF2B5EF4-FFF2-40B4-BE49-F238E27FC236}">
                <a16:creationId xmlns:a16="http://schemas.microsoft.com/office/drawing/2014/main" id="{9D15FF91-272E-5939-810B-DBCDFB76362C}"/>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253B714-B7EB-EE44-AE6C-8BC06DE74DE3}"/>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C46D46B-B911-3CB0-6DE6-1D8563DB2576}"/>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6626A0A1-F9A8-13C2-2D60-7E7D076A8096}"/>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9AFD72C-CD65-4F7B-3CF6-D1C86C76D7E4}"/>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This procedure establishes a </a:t>
            </a:r>
            <a:r>
              <a:rPr lang="en-US" sz="1000">
                <a:solidFill>
                  <a:srgbClr val="CC0000"/>
                </a:solidFill>
              </a:rPr>
              <a:t>controlled, auditable, and risk-aligned</a:t>
            </a:r>
            <a:r>
              <a:rPr lang="en-US" sz="1000">
                <a:solidFill>
                  <a:srgbClr val="4A2E1A"/>
                </a:solidFill>
              </a:rPr>
              <a:t> framework for managing metadata across Siam Piwat under an Embedded Data Governance Model. The purpose of this procedure is to ensure that </a:t>
            </a:r>
            <a:r>
              <a:rPr lang="en-US" sz="1000">
                <a:solidFill>
                  <a:srgbClr val="CC0000"/>
                </a:solidFill>
              </a:rPr>
              <a:t>all enterprise data assets are properly managed so that they are</a:t>
            </a:r>
            <a:r>
              <a:rPr lang="en-US" sz="1000">
                <a:solidFill>
                  <a:srgbClr val="4A2E1A"/>
                </a:solidFill>
              </a:rPr>
              <a:t> discoverable, understandable, trusted, and compliant with applicable laws and </a:t>
            </a:r>
            <a:r>
              <a:rPr lang="en-US" sz="1000">
                <a:solidFill>
                  <a:srgbClr val="CC0000"/>
                </a:solidFill>
              </a:rPr>
              <a:t>internal policies, including the Personal Data Protection Act (PDPA)</a:t>
            </a:r>
            <a:r>
              <a:rPr lang="en-US" sz="1000">
                <a:solidFill>
                  <a:srgbClr val="4A2E1A"/>
                </a:solidFill>
              </a:rPr>
              <a:t>. This procedure supports accurate reporting, reliable analytics, and effective use of data for business operations, </a:t>
            </a:r>
            <a:r>
              <a:rPr lang="en-US" sz="1000">
                <a:solidFill>
                  <a:srgbClr val="CC0000"/>
                </a:solidFill>
              </a:rPr>
              <a:t>artificial intelligence initiatives</a:t>
            </a:r>
            <a:r>
              <a:rPr lang="en-US" sz="1000">
                <a:solidFill>
                  <a:srgbClr val="4A2E1A"/>
                </a:solidFill>
              </a:rPr>
              <a:t>, and decision-making.</a:t>
            </a:r>
          </a:p>
        </p:txBody>
      </p:sp>
      <p:sp>
        <p:nvSpPr>
          <p:cNvPr id="14" name="Rectangle 13">
            <a:extLst>
              <a:ext uri="{FF2B5EF4-FFF2-40B4-BE49-F238E27FC236}">
                <a16:creationId xmlns:a16="http://schemas.microsoft.com/office/drawing/2014/main" id="{1345B61E-082A-5B40-1A53-4C8C4F7EEE98}"/>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3D3A65-DD84-BF3B-946E-88215512B3B0}"/>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A40EDE75-B5E2-1128-574F-9C715BBD388B}"/>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59B9C23-F728-04BF-F57F-F6DBFF6CA342}"/>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This procedure establishes a </a:t>
            </a:r>
            <a:r>
              <a:rPr lang="en-US" sz="1000">
                <a:solidFill>
                  <a:srgbClr val="006400"/>
                </a:solidFill>
              </a:rPr>
              <a:t>governance framework</a:t>
            </a:r>
            <a:r>
              <a:rPr lang="en-US" sz="1000">
                <a:solidFill>
                  <a:srgbClr val="4A2E1A"/>
                </a:solidFill>
              </a:rPr>
              <a:t> for managing metadata across Siam Piwat under an Embedded Data Governance Model. The purpose is to ensure that </a:t>
            </a:r>
            <a:r>
              <a:rPr lang="en-US" sz="1000">
                <a:solidFill>
                  <a:srgbClr val="006400"/>
                </a:solidFill>
              </a:rPr>
              <a:t>data assets used in reporting, analytics, and AI applications</a:t>
            </a:r>
            <a:r>
              <a:rPr lang="en-US" sz="1000">
                <a:solidFill>
                  <a:srgbClr val="4A2E1A"/>
                </a:solidFill>
              </a:rPr>
              <a:t> are discoverable, understandable, trusted, and compliant with </a:t>
            </a:r>
            <a:r>
              <a:rPr lang="en-US" sz="1000">
                <a:solidFill>
                  <a:srgbClr val="006400"/>
                </a:solidFill>
              </a:rPr>
              <a:t>applicable laws including PDPA</a:t>
            </a:r>
            <a:r>
              <a:rPr lang="en-US" sz="1000">
                <a:solidFill>
                  <a:srgbClr val="4A2E1A"/>
                </a:solidFill>
              </a:rPr>
              <a:t>. This procedure supports accurate reporting, reliable analytics, and effective use of data for business operations, </a:t>
            </a:r>
            <a:r>
              <a:rPr lang="en-US" sz="1000">
                <a:solidFill>
                  <a:srgbClr val="006400"/>
                </a:solidFill>
              </a:rPr>
              <a:t>AI initiatives</a:t>
            </a:r>
            <a:r>
              <a:rPr lang="en-US" sz="1000">
                <a:solidFill>
                  <a:srgbClr val="4A2E1A"/>
                </a:solidFill>
              </a:rPr>
              <a:t>, and decision-making.</a:t>
            </a:r>
          </a:p>
        </p:txBody>
      </p:sp>
      <p:sp>
        <p:nvSpPr>
          <p:cNvPr id="18" name="Rectangle 17">
            <a:extLst>
              <a:ext uri="{FF2B5EF4-FFF2-40B4-BE49-F238E27FC236}">
                <a16:creationId xmlns:a16="http://schemas.microsoft.com/office/drawing/2014/main" id="{F5AED44A-DBCC-A38F-9033-133E35A5E60C}"/>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385221D-5D70-E496-0660-2EC62ED8EDC5}"/>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ACF75219-99A2-C549-12E0-87B1351E3721}"/>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DB1D3E2-99F6-0022-9455-1ECCC8D30C3C}"/>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Objective reframed from compliance-audit-heavy to practical governance intent. 'All enterprise data assets' narrowed to assets used in reporting/analytics/AI. PDPA reference simplified without reducing legal compliance intent. 'Artificial intelligence initiatives' shortened to 'AI initiatives'.</a:t>
            </a:r>
          </a:p>
        </p:txBody>
      </p:sp>
    </p:spTree>
    <p:extLst>
      <p:ext uri="{BB962C8B-B14F-4D97-AF65-F5344CB8AC3E}">
        <p14:creationId xmlns:p14="http://schemas.microsoft.com/office/powerpoint/2010/main" val="3137889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371542-184E-5B69-18A7-F5F14FA3EB51}"/>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B54E5B-FBBF-5858-1EDD-689358E0232E}"/>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F604BEE-A656-042E-A4E0-8C3CCA4996CF}"/>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A1A3BDB-9497-134F-C165-E06B369057C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A31853A-92CC-74E8-E0DD-90AFC0E03F8D}"/>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1.2</a:t>
            </a:r>
          </a:p>
        </p:txBody>
      </p:sp>
      <p:sp>
        <p:nvSpPr>
          <p:cNvPr id="7" name="TextBox 6">
            <a:extLst>
              <a:ext uri="{FF2B5EF4-FFF2-40B4-BE49-F238E27FC236}">
                <a16:creationId xmlns:a16="http://schemas.microsoft.com/office/drawing/2014/main" id="{E08A072A-FEF2-0AE0-96D1-7B97C0AF9303}"/>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1.2  Scope</a:t>
            </a:r>
          </a:p>
        </p:txBody>
      </p:sp>
      <p:sp>
        <p:nvSpPr>
          <p:cNvPr id="8" name="TextBox 7">
            <a:extLst>
              <a:ext uri="{FF2B5EF4-FFF2-40B4-BE49-F238E27FC236}">
                <a16:creationId xmlns:a16="http://schemas.microsoft.com/office/drawing/2014/main" id="{0D706856-ED6B-5E3C-6252-CB71DD0AF91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1.2 / 18</a:t>
            </a:r>
          </a:p>
        </p:txBody>
      </p:sp>
      <p:cxnSp>
        <p:nvCxnSpPr>
          <p:cNvPr id="9" name="Straight Connector 8">
            <a:extLst>
              <a:ext uri="{FF2B5EF4-FFF2-40B4-BE49-F238E27FC236}">
                <a16:creationId xmlns:a16="http://schemas.microsoft.com/office/drawing/2014/main" id="{2F4F29C5-14ED-A4DF-0D2D-FE88609B3347}"/>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437F64D-E5B5-491B-24CF-F19837EECB1F}"/>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5A7AED1-AF1E-2A07-669B-1F4532A1DFE8}"/>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3A9C97C-EF3B-FEDE-F08D-61265C9E1728}"/>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EC9434B-8878-3EFD-1D37-A35A2EEC4207}"/>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This procedure applies to </a:t>
            </a:r>
            <a:r>
              <a:rPr lang="en-US" sz="1000">
                <a:solidFill>
                  <a:srgbClr val="CC0000"/>
                </a:solidFill>
              </a:rPr>
              <a:t>all metadata across Siam Piwat Group</a:t>
            </a:r>
            <a:r>
              <a:rPr lang="en-US" sz="1000">
                <a:solidFill>
                  <a:srgbClr val="4A2E1A"/>
                </a:solidFill>
              </a:rPr>
              <a:t>. It covers metadata associated with </a:t>
            </a:r>
            <a:r>
              <a:rPr lang="en-US" sz="1000">
                <a:solidFill>
                  <a:srgbClr val="CC0000"/>
                </a:solidFill>
              </a:rPr>
              <a:t>all data assets, including business, technical, and operational metadata, as well as master data, transactional data, analytical datasets, reports, dashboards, and AI or analytics use cases</a:t>
            </a:r>
            <a:r>
              <a:rPr lang="en-US" sz="1000">
                <a:solidFill>
                  <a:srgbClr val="4A2E1A"/>
                </a:solidFill>
              </a:rPr>
              <a:t>. It also applies to </a:t>
            </a:r>
            <a:r>
              <a:rPr lang="en-US" sz="1000">
                <a:solidFill>
                  <a:srgbClr val="CC0000"/>
                </a:solidFill>
              </a:rPr>
              <a:t>data stored and processed across all platforms, including both on-premise and cloud environments within the Group</a:t>
            </a:r>
            <a:r>
              <a:rPr lang="en-US" sz="1000">
                <a:solidFill>
                  <a:srgbClr val="4A2E1A"/>
                </a:solidFill>
              </a:rPr>
              <a:t>. All metadata created, maintained, or used within Siam Piwat Group must comply with this procedure throughout its lifecycle.</a:t>
            </a:r>
          </a:p>
        </p:txBody>
      </p:sp>
      <p:sp>
        <p:nvSpPr>
          <p:cNvPr id="14" name="Rectangle 13">
            <a:extLst>
              <a:ext uri="{FF2B5EF4-FFF2-40B4-BE49-F238E27FC236}">
                <a16:creationId xmlns:a16="http://schemas.microsoft.com/office/drawing/2014/main" id="{71A893C0-8297-1142-D4B5-70B4E3C76F65}"/>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9C72BF9-3077-F01E-0040-50D7011A3A50}"/>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EFE53A4D-3860-DFBB-19B8-9A795C6EB175}"/>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BE40695-701E-1D28-BAA4-D0F548803B7A}"/>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This procedure applies to all </a:t>
            </a:r>
            <a:r>
              <a:rPr lang="en-US" sz="1000">
                <a:solidFill>
                  <a:srgbClr val="006400"/>
                </a:solidFill>
              </a:rPr>
              <a:t>data assets registered in the Data Asset Register</a:t>
            </a:r>
            <a:r>
              <a:rPr lang="en-US" sz="1000">
                <a:solidFill>
                  <a:srgbClr val="4A2E1A"/>
                </a:solidFill>
              </a:rPr>
              <a:t> as designated in-scope by BDSI. The </a:t>
            </a:r>
            <a:r>
              <a:rPr lang="en-US" sz="1000">
                <a:solidFill>
                  <a:srgbClr val="006400"/>
                </a:solidFill>
              </a:rPr>
              <a:t>active scope of implementation is determined based on business priority</a:t>
            </a:r>
            <a:r>
              <a:rPr lang="en-US" sz="1000">
                <a:solidFill>
                  <a:srgbClr val="4A2E1A"/>
                </a:solidFill>
              </a:rPr>
              <a:t> and available resources, and is </a:t>
            </a:r>
            <a:r>
              <a:rPr lang="en-US" sz="1000">
                <a:solidFill>
                  <a:srgbClr val="006400"/>
                </a:solidFill>
              </a:rPr>
              <a:t>maintained separately in the Data Asset Register</a:t>
            </a:r>
            <a:r>
              <a:rPr lang="en-US" sz="1000">
                <a:solidFill>
                  <a:srgbClr val="4A2E1A"/>
                </a:solidFill>
              </a:rPr>
              <a:t>. </a:t>
            </a:r>
            <a:r>
              <a:rPr lang="en-US" sz="1000">
                <a:solidFill>
                  <a:srgbClr val="006400"/>
                </a:solidFill>
              </a:rPr>
              <a:t>Implementation may be phased</a:t>
            </a:r>
            <a:r>
              <a:rPr lang="en-US" sz="1000">
                <a:solidFill>
                  <a:srgbClr val="4A2E1A"/>
                </a:solidFill>
              </a:rPr>
              <a:t>; data assets not yet registered are expected to be onboarded progressively in order of business priority. All metadata created, maintained, or used within Siam Piwat Group must comply with this procedure throughout its lifecycle.</a:t>
            </a:r>
          </a:p>
        </p:txBody>
      </p:sp>
      <p:sp>
        <p:nvSpPr>
          <p:cNvPr id="18" name="Rectangle 17">
            <a:extLst>
              <a:ext uri="{FF2B5EF4-FFF2-40B4-BE49-F238E27FC236}">
                <a16:creationId xmlns:a16="http://schemas.microsoft.com/office/drawing/2014/main" id="{92D8DF76-1772-E939-D6E8-58134837DBCC}"/>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FBC1A91-4DE4-7479-948D-A95716953958}"/>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C618C2F6-56D7-2864-EB32-BCF9EAAB7287}"/>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EA4B9FA-EEA4-1D8C-3E70-6F0D3EC6FE9F}"/>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Original scope covered every asset, format, and platform across the entire Group -- not achievable in a single delivery. Data Asset Register becomes the authoritative scope list; phased delivery is compliant with the SOP. Last sentence retained unchanged to preserve full-lifecycle compliance requirement.</a:t>
            </a:r>
          </a:p>
        </p:txBody>
      </p:sp>
    </p:spTree>
    <p:extLst>
      <p:ext uri="{BB962C8B-B14F-4D97-AF65-F5344CB8AC3E}">
        <p14:creationId xmlns:p14="http://schemas.microsoft.com/office/powerpoint/2010/main" val="846168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EADD52-17FD-C244-0E46-8DB41DD0A4E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733999E-1C85-57EE-4C1C-77525C4AC60D}"/>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F890F4A-FAD4-8225-9FF8-70D8ED4F351B}"/>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98494-9232-26B7-826E-174671A90EE1}"/>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759DDC-43F2-95B6-3364-8A9EDFE301F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1.3</a:t>
            </a:r>
          </a:p>
        </p:txBody>
      </p:sp>
      <p:sp>
        <p:nvSpPr>
          <p:cNvPr id="7" name="TextBox 6">
            <a:extLst>
              <a:ext uri="{FF2B5EF4-FFF2-40B4-BE49-F238E27FC236}">
                <a16:creationId xmlns:a16="http://schemas.microsoft.com/office/drawing/2014/main" id="{604E458A-C9C1-9B5A-9EDC-0E3269A90A97}"/>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1.3  Internal Control Framework</a:t>
            </a:r>
          </a:p>
        </p:txBody>
      </p:sp>
      <p:sp>
        <p:nvSpPr>
          <p:cNvPr id="8" name="TextBox 7">
            <a:extLst>
              <a:ext uri="{FF2B5EF4-FFF2-40B4-BE49-F238E27FC236}">
                <a16:creationId xmlns:a16="http://schemas.microsoft.com/office/drawing/2014/main" id="{1B5AEB6E-F263-9BF2-390C-AA2D87FF5D01}"/>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1.3 / 18</a:t>
            </a:r>
          </a:p>
        </p:txBody>
      </p:sp>
      <p:cxnSp>
        <p:nvCxnSpPr>
          <p:cNvPr id="9" name="Straight Connector 8">
            <a:extLst>
              <a:ext uri="{FF2B5EF4-FFF2-40B4-BE49-F238E27FC236}">
                <a16:creationId xmlns:a16="http://schemas.microsoft.com/office/drawing/2014/main" id="{EE7C3FE0-5A04-E9D2-C50B-4E3B8725C73C}"/>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16200B0-D1FF-BAB2-2B3A-2A16B5861D38}"/>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4F36D4C-884F-F575-BF2C-3144E8C44D4A}"/>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3E8388F7-05ED-74C9-DCDD-7B445BEDE1F8}"/>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3B00BB9-EE5B-C406-C8C2-A560BB84A540}"/>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1.3.1 Embedded Governance: Metadata governance responsibilities are embedded within business and technology functions. Each business domain is responsible for managing its own data and metadata, with accountability assigned according to data usage and ownership.
</a:t>
            </a:r>
            <a:r>
              <a:rPr lang="en-US" sz="1000">
                <a:solidFill>
                  <a:srgbClr val="CC0000"/>
                </a:solidFill>
              </a:rPr>
              <a:t>1.3.2 Governance Oversight and Escalation:</a:t>
            </a:r>
            <a:r>
              <a:rPr lang="en-US" sz="1000">
                <a:solidFill>
                  <a:srgbClr val="4A2E1A"/>
                </a:solidFill>
              </a:rPr>
              <a:t> </a:t>
            </a:r>
            <a:r>
              <a:rPr lang="en-US" sz="1000">
                <a:solidFill>
                  <a:srgbClr val="CC0000"/>
                </a:solidFill>
              </a:rPr>
              <a:t>Issues that involve multiple business domains or present significant risk must be escalated to the Data Governance Committee (DGC) for resolution.</a:t>
            </a:r>
            <a:r>
              <a:rPr lang="en-US" sz="1000">
                <a:solidFill>
                  <a:srgbClr val="4A2E1A"/>
                </a:solidFill>
              </a:rPr>
              <a:t> Where metadata involves personal data or regulatory considerations, the matter must be escalated through </a:t>
            </a:r>
            <a:r>
              <a:rPr lang="en-US" sz="1000">
                <a:solidFill>
                  <a:srgbClr val="CC0000"/>
                </a:solidFill>
              </a:rPr>
              <a:t>the appropriate data owner, data steward, and data custodian</a:t>
            </a:r>
            <a:r>
              <a:rPr lang="en-US" sz="1000">
                <a:solidFill>
                  <a:srgbClr val="4A2E1A"/>
                </a:solidFill>
              </a:rPr>
              <a:t> to Legal and Regulatory Compliance (Data Protection Officer) and, </a:t>
            </a:r>
            <a:r>
              <a:rPr lang="en-US" sz="1000">
                <a:solidFill>
                  <a:srgbClr val="CC0000"/>
                </a:solidFill>
              </a:rPr>
              <a:t>where required, to the Digital and IT Steering Committee for direction and decision</a:t>
            </a:r>
            <a:r>
              <a:rPr lang="en-US" sz="1000">
                <a:solidFill>
                  <a:srgbClr val="4A2E1A"/>
                </a:solidFill>
              </a:rPr>
              <a:t>.</a:t>
            </a:r>
          </a:p>
        </p:txBody>
      </p:sp>
      <p:sp>
        <p:nvSpPr>
          <p:cNvPr id="14" name="Rectangle 13">
            <a:extLst>
              <a:ext uri="{FF2B5EF4-FFF2-40B4-BE49-F238E27FC236}">
                <a16:creationId xmlns:a16="http://schemas.microsoft.com/office/drawing/2014/main" id="{2043402D-198C-D92C-C0A9-1BBF804BAAC7}"/>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5821CAD-4568-C628-F461-701CD876E6D1}"/>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2D7836B1-6C8A-494D-365B-18A64BB2A696}"/>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928879-B76E-7E43-B495-1456BEDBEE9C}"/>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Metadata governance responsibilities are embedded within business and technology functions. Each business domain is responsible for managing its own data and metadata, with accountability assigned according to data usage and ownership. </a:t>
            </a:r>
            <a:r>
              <a:rPr lang="en-US" sz="1000">
                <a:solidFill>
                  <a:srgbClr val="006400"/>
                </a:solidFill>
              </a:rPr>
              <a:t>Issues involving personal data or regulatory considerations must be escalated to Legal and Regulatory Compliance (Data Protection Officer) as required</a:t>
            </a:r>
            <a:r>
              <a:rPr lang="en-US" sz="1000">
                <a:solidFill>
                  <a:srgbClr val="4A2E1A"/>
                </a:solidFill>
              </a:rPr>
              <a:t>.</a:t>
            </a:r>
          </a:p>
        </p:txBody>
      </p:sp>
      <p:sp>
        <p:nvSpPr>
          <p:cNvPr id="18" name="Rectangle 17">
            <a:extLst>
              <a:ext uri="{FF2B5EF4-FFF2-40B4-BE49-F238E27FC236}">
                <a16:creationId xmlns:a16="http://schemas.microsoft.com/office/drawing/2014/main" id="{3717D30D-A508-6F00-6F8A-4A04780B2911}"/>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93432DB-A7B9-A742-46CB-738D6CBD8804}"/>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0BFF6E5-4914-E819-4754-76FB15E3B464}"/>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5B4B67-6339-5AE1-B4B5-930A1D10D7EC}"/>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DGC multi-domain escalation (1.3.2) removed: formal DGC engagement for every cross-domain issue is a mature-governance requirement not yet operationally practical. DPO escalation retained as a legal obligation under PDPA. Subsection numbering removed; merged into a single clear paragraph.</a:t>
            </a:r>
          </a:p>
        </p:txBody>
      </p:sp>
    </p:spTree>
    <p:extLst>
      <p:ext uri="{BB962C8B-B14F-4D97-AF65-F5344CB8AC3E}">
        <p14:creationId xmlns:p14="http://schemas.microsoft.com/office/powerpoint/2010/main" val="2769807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28723B-4D2C-C5C1-2882-75D60B20181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1B34B3-1CBC-07C9-D2AA-0C5DBDBD3619}"/>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A57FA8E-C6C1-00BA-C6FF-52E9CCFA9255}"/>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379D89-42BA-DD13-67FE-52135723000F}"/>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168147C-79F0-D644-A9F6-BC6BF2C11643}"/>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2.1</a:t>
            </a:r>
          </a:p>
        </p:txBody>
      </p:sp>
      <p:sp>
        <p:nvSpPr>
          <p:cNvPr id="7" name="TextBox 6">
            <a:extLst>
              <a:ext uri="{FF2B5EF4-FFF2-40B4-BE49-F238E27FC236}">
                <a16:creationId xmlns:a16="http://schemas.microsoft.com/office/drawing/2014/main" id="{F29946EA-A2F4-1C0C-C790-34EB801BE2AF}"/>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2 / 2.1  Revision History</a:t>
            </a:r>
          </a:p>
        </p:txBody>
      </p:sp>
      <p:sp>
        <p:nvSpPr>
          <p:cNvPr id="8" name="TextBox 7">
            <a:extLst>
              <a:ext uri="{FF2B5EF4-FFF2-40B4-BE49-F238E27FC236}">
                <a16:creationId xmlns:a16="http://schemas.microsoft.com/office/drawing/2014/main" id="{E333A478-2DD9-15E7-02BC-E1463892D8F2}"/>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2.1 / 18</a:t>
            </a:r>
          </a:p>
        </p:txBody>
      </p:sp>
      <p:cxnSp>
        <p:nvCxnSpPr>
          <p:cNvPr id="9" name="Straight Connector 8">
            <a:extLst>
              <a:ext uri="{FF2B5EF4-FFF2-40B4-BE49-F238E27FC236}">
                <a16:creationId xmlns:a16="http://schemas.microsoft.com/office/drawing/2014/main" id="{0F489834-FF25-FF87-35BD-E10DC9434529}"/>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B3A7F9D-D170-089A-6873-92D936A17E7B}"/>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2BFE862-0EDB-DD22-27DF-F4E0F9BE68A8}"/>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F777C565-7B85-6589-3F78-54B0466B6090}"/>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0D1D01-018C-02DB-A1E9-AFF3BA8BC272}"/>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2.1 Revision Purpose: This document is established to formalize and standardize Metadata Management across Siam Piwat Group.
Revision table:
Rev 0  |  May 2026  |  BDSI, IT, XPO  |  Initial issuance of Metadata Management SOP, including governance framework and procurement controls
(</a:t>
            </a:r>
            <a:r>
              <a:rPr lang="en-US" sz="1000">
                <a:solidFill>
                  <a:srgbClr val="CC0000"/>
                </a:solidFill>
              </a:rPr>
              <a:t>No further revisions recorded in original version</a:t>
            </a:r>
            <a:r>
              <a:rPr lang="en-US" sz="1000">
                <a:solidFill>
                  <a:srgbClr val="4A2E1A"/>
                </a:solidFill>
              </a:rPr>
              <a:t>)</a:t>
            </a:r>
          </a:p>
        </p:txBody>
      </p:sp>
      <p:sp>
        <p:nvSpPr>
          <p:cNvPr id="14" name="Rectangle 13">
            <a:extLst>
              <a:ext uri="{FF2B5EF4-FFF2-40B4-BE49-F238E27FC236}">
                <a16:creationId xmlns:a16="http://schemas.microsoft.com/office/drawing/2014/main" id="{D547C168-8A00-EF0C-43FE-335B00FA8048}"/>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4EDB14-F33E-4BD0-C3E8-ECDA0A898888}"/>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5529067A-06C3-4B49-CAC0-654A25093EC9}"/>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03613AE-F416-E71B-3A79-F29364E136A2}"/>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Revision table (updated):
Rev 0  |  May 2026  |  BDSI, IT, XPO  |  Initial issuance of Metadata Management SOP, including governance framework and procurement controls
</a:t>
            </a:r>
            <a:r>
              <a:rPr lang="en-US" sz="1000">
                <a:solidFill>
                  <a:srgbClr val="006400"/>
                </a:solidFill>
              </a:rPr>
              <a:t>Rev 1  |  May 2026  |  BDSI, IT, XPO</a:t>
            </a:r>
            <a:r>
              <a:rPr lang="en-US" sz="1000">
                <a:solidFill>
                  <a:srgbClr val="4A2E1A"/>
                </a:solidFill>
              </a:rPr>
              <a:t>  |  </a:t>
            </a:r>
            <a:r>
              <a:rPr lang="en-US" sz="1000">
                <a:solidFill>
                  <a:srgbClr val="006400"/>
                </a:solidFill>
              </a:rPr>
              <a:t>Procedures revised following governance review to align with proportionate, practical implementation approach.</a:t>
            </a:r>
            <a:r>
              <a:rPr lang="en-US" sz="1000">
                <a:solidFill>
                  <a:srgbClr val="4A2E1A"/>
                </a:solidFill>
              </a:rPr>
              <a:t> </a:t>
            </a:r>
            <a:r>
              <a:rPr lang="en-US" sz="1000">
                <a:solidFill>
                  <a:srgbClr val="006400"/>
                </a:solidFill>
              </a:rPr>
              <a:t>Active implementation scope is maintained in the Data Asset Register.</a:t>
            </a:r>
          </a:p>
        </p:txBody>
      </p:sp>
      <p:sp>
        <p:nvSpPr>
          <p:cNvPr id="18" name="Rectangle 17">
            <a:extLst>
              <a:ext uri="{FF2B5EF4-FFF2-40B4-BE49-F238E27FC236}">
                <a16:creationId xmlns:a16="http://schemas.microsoft.com/office/drawing/2014/main" id="{BFE40D14-2784-1258-9D95-163D86E2A5B4}"/>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383AFAF-4FD3-7772-DA55-637088B5B976}"/>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AAFAACA3-B186-DE8A-7076-D8A6E436754D}"/>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14BC6C8-C2DE-D614-6DF8-25A2963DEA63}"/>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Rev 1 formally records the governance-team-reviewed changes. Wording is policy-neutral: no project names or table counts mentioned, keeping the SOP reusable. Provides a clear audit trail of when and why procedures were revised.</a:t>
            </a:r>
          </a:p>
        </p:txBody>
      </p:sp>
    </p:spTree>
    <p:extLst>
      <p:ext uri="{BB962C8B-B14F-4D97-AF65-F5344CB8AC3E}">
        <p14:creationId xmlns:p14="http://schemas.microsoft.com/office/powerpoint/2010/main" val="132075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FA3121-A762-934F-4E87-4EFF054391B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564FDE6-39CF-62C9-7496-EC9DFBCB7750}"/>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5F63E20-6D4D-85BB-084D-C73B8ECD19ED}"/>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C4AF12-3EE1-58B7-68DA-925DAFF87FA3}"/>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96D7CFE-71B2-A845-B974-46299F3F72B9}"/>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3.1</a:t>
            </a:r>
          </a:p>
        </p:txBody>
      </p:sp>
      <p:sp>
        <p:nvSpPr>
          <p:cNvPr id="7" name="TextBox 6">
            <a:extLst>
              <a:ext uri="{FF2B5EF4-FFF2-40B4-BE49-F238E27FC236}">
                <a16:creationId xmlns:a16="http://schemas.microsoft.com/office/drawing/2014/main" id="{E44AE65B-93E6-E8B7-B114-5AA21C307651}"/>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3.1  Data Owner</a:t>
            </a:r>
          </a:p>
        </p:txBody>
      </p:sp>
      <p:sp>
        <p:nvSpPr>
          <p:cNvPr id="8" name="TextBox 7">
            <a:extLst>
              <a:ext uri="{FF2B5EF4-FFF2-40B4-BE49-F238E27FC236}">
                <a16:creationId xmlns:a16="http://schemas.microsoft.com/office/drawing/2014/main" id="{DDA27055-5F3D-7E50-EF88-095DC0938190}"/>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3.1 / 18</a:t>
            </a:r>
          </a:p>
        </p:txBody>
      </p:sp>
      <p:cxnSp>
        <p:nvCxnSpPr>
          <p:cNvPr id="9" name="Straight Connector 8">
            <a:extLst>
              <a:ext uri="{FF2B5EF4-FFF2-40B4-BE49-F238E27FC236}">
                <a16:creationId xmlns:a16="http://schemas.microsoft.com/office/drawing/2014/main" id="{9A7A3EAB-ABBB-1F04-92F5-A94ABDAEF49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2AE81C5-3026-A969-465C-53CDE0677CE0}"/>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E9930AF-FC15-E7DE-B41D-2D1C7FC8E19F}"/>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C62BB36D-D312-2A1E-9112-2395CD927035}"/>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B396FDA-1DD7-64CF-C55C-8B7436B52FB1}"/>
              </a:ext>
            </a:extLst>
          </p:cNvPr>
          <p:cNvSpPr txBox="1"/>
          <p:nvPr/>
        </p:nvSpPr>
        <p:spPr>
          <a:xfrm>
            <a:off x="101600" y="889000"/>
            <a:ext cx="11988800" cy="369332"/>
          </a:xfrm>
          <a:prstGeom prst="rect">
            <a:avLst/>
          </a:prstGeom>
          <a:noFill/>
        </p:spPr>
        <p:txBody>
          <a:bodyPr vert="horz" wrap="square" rtlCol="0">
            <a:noAutofit/>
          </a:bodyPr>
          <a:lstStyle/>
          <a:p>
            <a:r>
              <a:rPr lang="en-US" sz="1100">
                <a:solidFill>
                  <a:srgbClr val="4A2E1A"/>
                </a:solidFill>
              </a:rPr>
              <a:t>The Data Owner is accountable for the business meaning, usage, and risk associated with the data. The Data Owner </a:t>
            </a:r>
            <a:r>
              <a:rPr lang="en-US" sz="1100">
                <a:solidFill>
                  <a:srgbClr val="CC0000"/>
                </a:solidFill>
              </a:rPr>
              <a:t>is responsible for approving</a:t>
            </a:r>
            <a:r>
              <a:rPr lang="en-US" sz="1100">
                <a:solidFill>
                  <a:srgbClr val="4A2E1A"/>
                </a:solidFill>
              </a:rPr>
              <a:t> the business definition, data classification, and intended use </a:t>
            </a:r>
            <a:r>
              <a:rPr lang="en-US" sz="1100">
                <a:solidFill>
                  <a:srgbClr val="CC0000"/>
                </a:solidFill>
              </a:rPr>
              <a:t>of the data</a:t>
            </a:r>
            <a:r>
              <a:rPr lang="en-US" sz="1100">
                <a:solidFill>
                  <a:srgbClr val="4A2E1A"/>
                </a:solidFill>
              </a:rPr>
              <a:t>. This accountability remains with the Data Owner and cannot be delegated.</a:t>
            </a:r>
          </a:p>
        </p:txBody>
      </p:sp>
      <p:sp>
        <p:nvSpPr>
          <p:cNvPr id="14" name="Rectangle 13">
            <a:extLst>
              <a:ext uri="{FF2B5EF4-FFF2-40B4-BE49-F238E27FC236}">
                <a16:creationId xmlns:a16="http://schemas.microsoft.com/office/drawing/2014/main" id="{B229BCF7-BBB7-B7B6-D99D-43CD3F1434FB}"/>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C64E4CC-F836-F3BD-5B3E-E47CC0A1DCA9}"/>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76F7FB7D-1562-2F7A-668D-B3CBCF484B66}"/>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A572980-D0E3-410E-B23D-58B15975EF70}"/>
              </a:ext>
            </a:extLst>
          </p:cNvPr>
          <p:cNvSpPr txBox="1"/>
          <p:nvPr/>
        </p:nvSpPr>
        <p:spPr>
          <a:xfrm>
            <a:off x="101600" y="2971800"/>
            <a:ext cx="11988800" cy="369332"/>
          </a:xfrm>
          <a:prstGeom prst="rect">
            <a:avLst/>
          </a:prstGeom>
          <a:noFill/>
        </p:spPr>
        <p:txBody>
          <a:bodyPr vert="horz" wrap="square" rtlCol="0">
            <a:noAutofit/>
          </a:bodyPr>
          <a:lstStyle/>
          <a:p>
            <a:r>
              <a:rPr lang="en-US" sz="1100">
                <a:solidFill>
                  <a:srgbClr val="4A2E1A"/>
                </a:solidFill>
              </a:rPr>
              <a:t>The Data Owner is accountable for the business meaning, usage, and risk associated with the data. The Data Owner </a:t>
            </a:r>
            <a:r>
              <a:rPr lang="en-US" sz="1100">
                <a:solidFill>
                  <a:srgbClr val="006400"/>
                </a:solidFill>
              </a:rPr>
              <a:t>approves the business definition, data classification, and intended use</a:t>
            </a:r>
            <a:r>
              <a:rPr lang="en-US" sz="1100">
                <a:solidFill>
                  <a:srgbClr val="4A2E1A"/>
                </a:solidFill>
              </a:rPr>
              <a:t>. This accountability remains with the Data Owner and cannot be delegated.</a:t>
            </a:r>
          </a:p>
        </p:txBody>
      </p:sp>
      <p:sp>
        <p:nvSpPr>
          <p:cNvPr id="18" name="Rectangle 17">
            <a:extLst>
              <a:ext uri="{FF2B5EF4-FFF2-40B4-BE49-F238E27FC236}">
                <a16:creationId xmlns:a16="http://schemas.microsoft.com/office/drawing/2014/main" id="{4ED0D664-C95F-DDF5-3ACA-A158FE7BF64A}"/>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C6ED46-BB06-B0EE-BEC3-65B781E0E01A}"/>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773C41A4-E7E9-78D8-98B5-2B2F780DB42F}"/>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1095D3B-D752-47AB-6C65-D0BFA816DD9D}"/>
              </a:ext>
            </a:extLst>
          </p:cNvPr>
          <p:cNvSpPr txBox="1"/>
          <p:nvPr/>
        </p:nvSpPr>
        <p:spPr>
          <a:xfrm>
            <a:off x="101600" y="5054600"/>
            <a:ext cx="11988800" cy="369332"/>
          </a:xfrm>
          <a:prstGeom prst="rect">
            <a:avLst/>
          </a:prstGeom>
          <a:noFill/>
        </p:spPr>
        <p:txBody>
          <a:bodyPr vert="horz" wrap="square" rtlCol="0">
            <a:noAutofit/>
          </a:bodyPr>
          <a:lstStyle/>
          <a:p>
            <a:r>
              <a:rPr lang="en-US" sz="1100">
                <a:solidFill>
                  <a:srgbClr val="4A2E1A"/>
                </a:solidFill>
              </a:rPr>
              <a:t>Minor wording simplification: 'is responsible for approving' shortened to 'approves' -- active voice, same meaning. Trailing 'of the data' removed as redundant. No governance intent changed.</a:t>
            </a:r>
          </a:p>
        </p:txBody>
      </p:sp>
    </p:spTree>
    <p:extLst>
      <p:ext uri="{BB962C8B-B14F-4D97-AF65-F5344CB8AC3E}">
        <p14:creationId xmlns:p14="http://schemas.microsoft.com/office/powerpoint/2010/main" val="2722065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A7CC4A-903A-BDDE-8587-C400B70B6D8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1A65B9-8B52-8044-A876-41FD1461B059}"/>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5B330F0-3C2A-A274-02CB-B02D75ECE2F0}"/>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22F5E07-AA97-65DB-BD31-FCEF44A76D3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DEF268-788A-7C59-F71A-9AE8BF9FDAF9}"/>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3.3</a:t>
            </a:r>
          </a:p>
        </p:txBody>
      </p:sp>
      <p:sp>
        <p:nvSpPr>
          <p:cNvPr id="7" name="TextBox 6">
            <a:extLst>
              <a:ext uri="{FF2B5EF4-FFF2-40B4-BE49-F238E27FC236}">
                <a16:creationId xmlns:a16="http://schemas.microsoft.com/office/drawing/2014/main" id="{B99A3633-527B-0706-8686-AEACB174D98C}"/>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3.3  Data Custodian / IT / XPO</a:t>
            </a:r>
          </a:p>
        </p:txBody>
      </p:sp>
      <p:sp>
        <p:nvSpPr>
          <p:cNvPr id="8" name="TextBox 7">
            <a:extLst>
              <a:ext uri="{FF2B5EF4-FFF2-40B4-BE49-F238E27FC236}">
                <a16:creationId xmlns:a16="http://schemas.microsoft.com/office/drawing/2014/main" id="{45BEA0EE-0F57-C864-CDA6-A324A56509C2}"/>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3.3 / 18</a:t>
            </a:r>
          </a:p>
        </p:txBody>
      </p:sp>
      <p:cxnSp>
        <p:nvCxnSpPr>
          <p:cNvPr id="9" name="Straight Connector 8">
            <a:extLst>
              <a:ext uri="{FF2B5EF4-FFF2-40B4-BE49-F238E27FC236}">
                <a16:creationId xmlns:a16="http://schemas.microsoft.com/office/drawing/2014/main" id="{110CFD16-82C1-2134-7BD6-A8D83DCC378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190615F-D561-B313-7FCF-D75A1C0FC798}"/>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186A4F-FBE3-2468-C5F5-30CA642EC5BC}"/>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4948129E-E00C-F49B-6EDD-0AE270587E20}"/>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B7B95D7-0ED6-92E2-6329-7E426021392F}"/>
              </a:ext>
            </a:extLst>
          </p:cNvPr>
          <p:cNvSpPr txBox="1"/>
          <p:nvPr/>
        </p:nvSpPr>
        <p:spPr>
          <a:xfrm>
            <a:off x="101600" y="889000"/>
            <a:ext cx="11988800" cy="369332"/>
          </a:xfrm>
          <a:prstGeom prst="rect">
            <a:avLst/>
          </a:prstGeom>
          <a:noFill/>
        </p:spPr>
        <p:txBody>
          <a:bodyPr vert="horz" wrap="square" rtlCol="0">
            <a:noAutofit/>
          </a:bodyPr>
          <a:lstStyle/>
          <a:p>
            <a:r>
              <a:rPr lang="en-US" sz="1100">
                <a:solidFill>
                  <a:srgbClr val="CC0000"/>
                </a:solidFill>
              </a:rPr>
              <a:t>The Data Custodian, IT, or XPO functions are responsible for</a:t>
            </a:r>
            <a:r>
              <a:rPr lang="en-US" sz="1100">
                <a:solidFill>
                  <a:srgbClr val="4A2E1A"/>
                </a:solidFill>
              </a:rPr>
              <a:t> managing and owning technical metadata and ensuring system-level controls. This includes capturing metadata from systems, maintaining data structures, and ensuring that data lineage and system integration are properly documented.</a:t>
            </a:r>
          </a:p>
        </p:txBody>
      </p:sp>
      <p:sp>
        <p:nvSpPr>
          <p:cNvPr id="14" name="Rectangle 13">
            <a:extLst>
              <a:ext uri="{FF2B5EF4-FFF2-40B4-BE49-F238E27FC236}">
                <a16:creationId xmlns:a16="http://schemas.microsoft.com/office/drawing/2014/main" id="{01650144-EDF7-448D-F9F7-13C62DFAC53E}"/>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7E62F70-2F82-834C-DF6F-B41E74AC500D}"/>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D30834B5-86EF-A453-6F0B-808158FCB967}"/>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80137D6-A24A-6180-FFEA-72EE5E47FCF6}"/>
              </a:ext>
            </a:extLst>
          </p:cNvPr>
          <p:cNvSpPr txBox="1"/>
          <p:nvPr/>
        </p:nvSpPr>
        <p:spPr>
          <a:xfrm>
            <a:off x="101600" y="2971800"/>
            <a:ext cx="11988800" cy="369332"/>
          </a:xfrm>
          <a:prstGeom prst="rect">
            <a:avLst/>
          </a:prstGeom>
          <a:noFill/>
        </p:spPr>
        <p:txBody>
          <a:bodyPr vert="horz" wrap="square" rtlCol="0">
            <a:noAutofit/>
          </a:bodyPr>
          <a:lstStyle/>
          <a:p>
            <a:r>
              <a:rPr lang="en-US" sz="1100">
                <a:solidFill>
                  <a:srgbClr val="006400"/>
                </a:solidFill>
              </a:rPr>
              <a:t>Responsible for managing and owning technical metadata and ensuring system-level controls</a:t>
            </a:r>
            <a:r>
              <a:rPr lang="en-US" sz="1100">
                <a:solidFill>
                  <a:srgbClr val="4A2E1A"/>
                </a:solidFill>
              </a:rPr>
              <a:t>. This includes capturing metadata from systems, maintaining data structures, and ensuring that data lineage and system integration are properly documented.</a:t>
            </a:r>
          </a:p>
        </p:txBody>
      </p:sp>
      <p:sp>
        <p:nvSpPr>
          <p:cNvPr id="18" name="Rectangle 17">
            <a:extLst>
              <a:ext uri="{FF2B5EF4-FFF2-40B4-BE49-F238E27FC236}">
                <a16:creationId xmlns:a16="http://schemas.microsoft.com/office/drawing/2014/main" id="{44A7EBF3-90D7-D9DE-81AA-874F6A33B5FD}"/>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02576A8-0A95-F747-001C-CC2B9309E83D}"/>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06948DCF-B505-1CAF-7FB9-30F8C3C336F4}"/>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6260E51-052F-4105-2AE4-310DB8BFD541}"/>
              </a:ext>
            </a:extLst>
          </p:cNvPr>
          <p:cNvSpPr txBox="1"/>
          <p:nvPr/>
        </p:nvSpPr>
        <p:spPr>
          <a:xfrm>
            <a:off x="101600" y="5054600"/>
            <a:ext cx="11988800" cy="369332"/>
          </a:xfrm>
          <a:prstGeom prst="rect">
            <a:avLst/>
          </a:prstGeom>
          <a:noFill/>
        </p:spPr>
        <p:txBody>
          <a:bodyPr vert="horz" wrap="square" rtlCol="0">
            <a:noAutofit/>
          </a:bodyPr>
          <a:lstStyle/>
          <a:p>
            <a:r>
              <a:rPr lang="en-US" sz="1100">
                <a:solidFill>
                  <a:srgbClr val="4A2E1A"/>
                </a:solidFill>
              </a:rPr>
              <a:t>Opening role-label prefix removed since the section heading already names the role. All responsibilities are fully preserved. Minor style change with no governance impact.</a:t>
            </a:r>
          </a:p>
        </p:txBody>
      </p:sp>
    </p:spTree>
    <p:extLst>
      <p:ext uri="{BB962C8B-B14F-4D97-AF65-F5344CB8AC3E}">
        <p14:creationId xmlns:p14="http://schemas.microsoft.com/office/powerpoint/2010/main" val="109688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C51971-E7F5-A179-F981-36D69AD742F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D10269B-0EDB-7AAA-2A5B-3821CAB481D7}"/>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59832B-960A-4138-53BA-1446AE9D8622}"/>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2DA5B7-5D73-5402-BA57-E8795BC9F37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992587A-9558-4DAD-497F-B5714F935E2F}"/>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3.4</a:t>
            </a:r>
          </a:p>
        </p:txBody>
      </p:sp>
      <p:sp>
        <p:nvSpPr>
          <p:cNvPr id="7" name="TextBox 6">
            <a:extLst>
              <a:ext uri="{FF2B5EF4-FFF2-40B4-BE49-F238E27FC236}">
                <a16:creationId xmlns:a16="http://schemas.microsoft.com/office/drawing/2014/main" id="{F7AC9CD6-D1D3-DBD5-2E37-2C989B48679F}"/>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3.4  DGC -&gt; Ownership Register</a:t>
            </a:r>
          </a:p>
        </p:txBody>
      </p:sp>
      <p:sp>
        <p:nvSpPr>
          <p:cNvPr id="8" name="TextBox 7">
            <a:extLst>
              <a:ext uri="{FF2B5EF4-FFF2-40B4-BE49-F238E27FC236}">
                <a16:creationId xmlns:a16="http://schemas.microsoft.com/office/drawing/2014/main" id="{C29A47F7-9D40-AFC4-FFCB-8C0A8E2BC126}"/>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3.4 / 18</a:t>
            </a:r>
          </a:p>
        </p:txBody>
      </p:sp>
      <p:cxnSp>
        <p:nvCxnSpPr>
          <p:cNvPr id="9" name="Straight Connector 8">
            <a:extLst>
              <a:ext uri="{FF2B5EF4-FFF2-40B4-BE49-F238E27FC236}">
                <a16:creationId xmlns:a16="http://schemas.microsoft.com/office/drawing/2014/main" id="{D1515BD7-A4AB-EC6A-9A06-40B853BF9F11}"/>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C8E36DFC-6F5B-FCC2-E26A-147EDEB9B175}"/>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74B3AD-6197-E414-84BF-D32878F27731}"/>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9B2FB3C-5C95-0F83-ADA5-D74056B4BDE4}"/>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7E88BA4-1D37-918B-A9CE-E4AE99599731}"/>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3.4 Data Governance Committee (DGC)
The </a:t>
            </a:r>
            <a:r>
              <a:rPr lang="en-US" sz="1000">
                <a:solidFill>
                  <a:srgbClr val="CC0000"/>
                </a:solidFill>
              </a:rPr>
              <a:t>Data Governance Committee is the final decision authority for cross-domain issues, high-risk cases, and enterprise-level standards</a:t>
            </a:r>
            <a:r>
              <a:rPr lang="en-US" sz="1000">
                <a:solidFill>
                  <a:srgbClr val="4A2E1A"/>
                </a:solidFill>
              </a:rPr>
              <a:t>.</a:t>
            </a:r>
          </a:p>
        </p:txBody>
      </p:sp>
      <p:sp>
        <p:nvSpPr>
          <p:cNvPr id="14" name="Rectangle 13">
            <a:extLst>
              <a:ext uri="{FF2B5EF4-FFF2-40B4-BE49-F238E27FC236}">
                <a16:creationId xmlns:a16="http://schemas.microsoft.com/office/drawing/2014/main" id="{143F46EF-0512-0D2E-C1F0-179CD8FB33CA}"/>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1B0AF5F-5BEA-00B1-CB1B-E4B4A87839D1}"/>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59A2FF66-B2BD-58C2-86F3-EFC38418A300}"/>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8DDED42-1E0A-DEF5-0EDA-27A19E26759B}"/>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3.4 </a:t>
            </a:r>
            <a:r>
              <a:rPr lang="en-US" sz="1000">
                <a:solidFill>
                  <a:srgbClr val="006400"/>
                </a:solidFill>
              </a:rPr>
              <a:t>Ownership Register</a:t>
            </a:r>
            <a:r>
              <a:rPr lang="en-US" sz="1000">
                <a:solidFill>
                  <a:srgbClr val="4A2E1A"/>
                </a:solidFill>
              </a:rPr>
              <a:t>
For each registered data asset, the following ownership contacts must be recorded and kept current:
- </a:t>
            </a:r>
            <a:r>
              <a:rPr lang="en-US" sz="1000">
                <a:solidFill>
                  <a:srgbClr val="006400"/>
                </a:solidFill>
              </a:rPr>
              <a:t>Business Owner: accountable</a:t>
            </a:r>
            <a:r>
              <a:rPr lang="en-US" sz="1000">
                <a:solidFill>
                  <a:srgbClr val="4A2E1A"/>
                </a:solidFill>
              </a:rPr>
              <a:t> for business meaning and usage
- </a:t>
            </a:r>
            <a:r>
              <a:rPr lang="en-US" sz="1000">
                <a:solidFill>
                  <a:srgbClr val="006400"/>
                </a:solidFill>
              </a:rPr>
              <a:t>Technical Owner: responsible</a:t>
            </a:r>
            <a:r>
              <a:rPr lang="en-US" sz="1000">
                <a:solidFill>
                  <a:srgbClr val="4A2E1A"/>
                </a:solidFill>
              </a:rPr>
              <a:t> for system-level metadata and schema
- </a:t>
            </a:r>
            <a:r>
              <a:rPr lang="en-US" sz="1000">
                <a:solidFill>
                  <a:srgbClr val="006400"/>
                </a:solidFill>
              </a:rPr>
              <a:t>Data Steward / Contact:</a:t>
            </a:r>
            <a:r>
              <a:rPr lang="en-US" sz="1000">
                <a:solidFill>
                  <a:srgbClr val="4A2E1A"/>
                </a:solidFill>
              </a:rPr>
              <a:t> responsible for maintaining and updating metadata
- </a:t>
            </a:r>
            <a:r>
              <a:rPr lang="en-US" sz="1000">
                <a:solidFill>
                  <a:srgbClr val="006400"/>
                </a:solidFill>
              </a:rPr>
              <a:t>Upstream Job Owner:</a:t>
            </a:r>
            <a:r>
              <a:rPr lang="en-US" sz="1000">
                <a:solidFill>
                  <a:srgbClr val="4A2E1A"/>
                </a:solidFill>
              </a:rPr>
              <a:t> responsible for the pipeline or job that populates the data asset</a:t>
            </a:r>
          </a:p>
        </p:txBody>
      </p:sp>
      <p:sp>
        <p:nvSpPr>
          <p:cNvPr id="18" name="Rectangle 17">
            <a:extLst>
              <a:ext uri="{FF2B5EF4-FFF2-40B4-BE49-F238E27FC236}">
                <a16:creationId xmlns:a16="http://schemas.microsoft.com/office/drawing/2014/main" id="{B26FAF32-7203-E8BF-1EA1-A4B68B58F592}"/>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281E96E-0A59-87B9-113E-A25D64246D20}"/>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9655780F-8BA3-B9F4-CC33-A9CC8D48CCC7}"/>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9E4354-701C-CF16-4F4D-CF013B368B86}"/>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DGC as 'final decision authority' represents a mature governance tier not yet fully operational at the required level. Replaced with a practical Ownership Register ensuring every asset has a named, contactable owner -- the essential accountability needed at this stage. DGC oversight can be reintroduced in a later revision as governance matures.</a:t>
            </a:r>
          </a:p>
        </p:txBody>
      </p:sp>
    </p:spTree>
    <p:extLst>
      <p:ext uri="{BB962C8B-B14F-4D97-AF65-F5344CB8AC3E}">
        <p14:creationId xmlns:p14="http://schemas.microsoft.com/office/powerpoint/2010/main" val="1466296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7368B4-E1C2-0AF5-4BCC-D4C16ED0A93D}"/>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7D52EFF-0BCA-B34B-23E7-1EEED781A3C3}"/>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60C323-D71B-10B5-E521-BA2C04E1B85D}"/>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7C8A6AE-0061-3ED5-5DBA-06A33510AF79}"/>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58651A9-153E-4E24-A88F-5CB968A2EB3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4.1</a:t>
            </a:r>
          </a:p>
        </p:txBody>
      </p:sp>
      <p:sp>
        <p:nvSpPr>
          <p:cNvPr id="7" name="TextBox 6">
            <a:extLst>
              <a:ext uri="{FF2B5EF4-FFF2-40B4-BE49-F238E27FC236}">
                <a16:creationId xmlns:a16="http://schemas.microsoft.com/office/drawing/2014/main" id="{5A13C203-9AE6-3B70-0466-48E6E6D2CD8B}"/>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4.1  Metadata Onboarding and Registration</a:t>
            </a:r>
          </a:p>
        </p:txBody>
      </p:sp>
      <p:sp>
        <p:nvSpPr>
          <p:cNvPr id="8" name="TextBox 7">
            <a:extLst>
              <a:ext uri="{FF2B5EF4-FFF2-40B4-BE49-F238E27FC236}">
                <a16:creationId xmlns:a16="http://schemas.microsoft.com/office/drawing/2014/main" id="{05435C2C-7B96-CA0E-0191-A61F451FE0B2}"/>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4.1 / 18</a:t>
            </a:r>
          </a:p>
        </p:txBody>
      </p:sp>
      <p:cxnSp>
        <p:nvCxnSpPr>
          <p:cNvPr id="9" name="Straight Connector 8">
            <a:extLst>
              <a:ext uri="{FF2B5EF4-FFF2-40B4-BE49-F238E27FC236}">
                <a16:creationId xmlns:a16="http://schemas.microsoft.com/office/drawing/2014/main" id="{3AD851CF-C1C3-2340-7BA1-9964EE374D10}"/>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EB64408-2E8A-2006-AC95-5E46826D2B07}"/>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ECC542F-3635-E0D6-7B22-9257B6046FFC}"/>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959D0355-B57A-26EA-9899-E30B9E92255E}"/>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5AA4281-7C01-7EE1-6496-DBEA2F1F0206}"/>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CC0000"/>
                </a:solidFill>
              </a:rPr>
              <a:t>This process is used to ensure that</a:t>
            </a:r>
            <a:r>
              <a:rPr lang="en-US" sz="900">
                <a:solidFill>
                  <a:srgbClr val="4A2E1A"/>
                </a:solidFill>
              </a:rPr>
              <a:t> all data assets are properly identified, assigned ownership, and classified before being used within Siam Piwat Group. The Data Steward identifies new or modified data assets by reviewing business processes, system documentation, and data sources. The Data Steward registers the data asset in the designated metadata system and completes all mandatory metadata fields, including: Data Owner, Data Steward, Business definition and Data classification. </a:t>
            </a:r>
            <a:r>
              <a:rPr lang="en-US" sz="900">
                <a:solidFill>
                  <a:srgbClr val="CC0000"/>
                </a:solidFill>
              </a:rPr>
              <a:t>The system enforces completion of required fields and does not allow the dataset to be activated or used until all mandatory information is provided.</a:t>
            </a:r>
            <a:r>
              <a:rPr lang="en-US" sz="900">
                <a:solidFill>
                  <a:srgbClr val="4A2E1A"/>
                </a:solidFill>
              </a:rPr>
              <a:t> The Data Steward assesses whether the dataset contains personal or sensitive data in accordance with PDPA and internal data classification guidelines. Where the dataset is classified as personal or sensitive data, the Data Steward </a:t>
            </a:r>
            <a:r>
              <a:rPr lang="en-US" sz="900">
                <a:solidFill>
                  <a:srgbClr val="CC0000"/>
                </a:solidFill>
              </a:rPr>
              <a:t>escalates the matter through the appropriate data custodian, data steward, and data owner to Legal and Regulatory Compliance (Data Protection Officer) for review and further direction</a:t>
            </a:r>
            <a:r>
              <a:rPr lang="en-US" sz="900">
                <a:solidFill>
                  <a:srgbClr val="4A2E1A"/>
                </a:solidFill>
              </a:rPr>
              <a:t>.</a:t>
            </a:r>
          </a:p>
        </p:txBody>
      </p:sp>
      <p:sp>
        <p:nvSpPr>
          <p:cNvPr id="14" name="Rectangle 13">
            <a:extLst>
              <a:ext uri="{FF2B5EF4-FFF2-40B4-BE49-F238E27FC236}">
                <a16:creationId xmlns:a16="http://schemas.microsoft.com/office/drawing/2014/main" id="{F338A187-8B01-9CFE-ED7B-8F487B91F234}"/>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258B40C-0293-459F-F009-4489DFE4D359}"/>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6002CE30-CD05-55C3-A75D-A8BCB308EC8A}"/>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FC94BE-E36C-E912-0625-8787C543611A}"/>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The Data Steward registers each in-scope data asset and completes all mandatory fields: asset name, Business Owner, Data Steward, business purpose, data classification, and </a:t>
            </a:r>
            <a:r>
              <a:rPr lang="en-US" sz="900">
                <a:solidFill>
                  <a:srgbClr val="006400"/>
                </a:solidFill>
              </a:rPr>
              <a:t>PDPA flag</a:t>
            </a:r>
            <a:r>
              <a:rPr lang="en-US" sz="900">
                <a:solidFill>
                  <a:srgbClr val="4A2E1A"/>
                </a:solidFill>
              </a:rPr>
              <a:t>. </a:t>
            </a:r>
            <a:r>
              <a:rPr lang="en-US" sz="900">
                <a:solidFill>
                  <a:srgbClr val="006400"/>
                </a:solidFill>
              </a:rPr>
              <a:t>Registration must be completed before the data asset is used in reporting, analytics, or AI applications</a:t>
            </a:r>
            <a:r>
              <a:rPr lang="en-US" sz="900">
                <a:solidFill>
                  <a:srgbClr val="4A2E1A"/>
                </a:solidFill>
              </a:rPr>
              <a:t>.</a:t>
            </a:r>
          </a:p>
        </p:txBody>
      </p:sp>
      <p:sp>
        <p:nvSpPr>
          <p:cNvPr id="18" name="Rectangle 17">
            <a:extLst>
              <a:ext uri="{FF2B5EF4-FFF2-40B4-BE49-F238E27FC236}">
                <a16:creationId xmlns:a16="http://schemas.microsoft.com/office/drawing/2014/main" id="{940EE4FD-5ED7-C35B-938A-96F2D289BA76}"/>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7E8F347-9383-11AC-CF85-B48D6F476E7A}"/>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5AFD2047-97CB-6979-E5B5-E33EFD005E68}"/>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6BA91BC-D9F0-2098-347B-7B6F6F15BEEF}"/>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'This process is used to ensure...' preamble removed -- procedural text should be direct. System-enforcement clause removed: the platform that auto-blocks activation is not yet built. DPO escalation chain simplified: working team needs to know to escalate, not the exact routing chain (handled in section 1.3). PDPA flag added as an explicit mandatory registration field.</a:t>
            </a:r>
          </a:p>
        </p:txBody>
      </p:sp>
    </p:spTree>
    <p:extLst>
      <p:ext uri="{BB962C8B-B14F-4D97-AF65-F5344CB8AC3E}">
        <p14:creationId xmlns:p14="http://schemas.microsoft.com/office/powerpoint/2010/main" val="2356371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DD378F-8D5D-6B65-2F5B-D9DB64519AE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309BAD7-72C9-A0BE-8F7C-7A3DF4AD5EAF}"/>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EAD9FF5-0CC4-710E-6DBA-6BA8CAC220FA}"/>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1C9DB60-FCC4-029F-4229-B8643BACD250}"/>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3F7815-0B26-C2CF-18FF-C7F4C82D7BAE}"/>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4.2</a:t>
            </a:r>
          </a:p>
        </p:txBody>
      </p:sp>
      <p:sp>
        <p:nvSpPr>
          <p:cNvPr id="7" name="TextBox 6">
            <a:extLst>
              <a:ext uri="{FF2B5EF4-FFF2-40B4-BE49-F238E27FC236}">
                <a16:creationId xmlns:a16="http://schemas.microsoft.com/office/drawing/2014/main" id="{61EC3243-4E7B-B6CF-7520-3DC9EEE1FF69}"/>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4.2  Metadata Capture and Enrichment</a:t>
            </a:r>
          </a:p>
        </p:txBody>
      </p:sp>
      <p:sp>
        <p:nvSpPr>
          <p:cNvPr id="8" name="TextBox 7">
            <a:extLst>
              <a:ext uri="{FF2B5EF4-FFF2-40B4-BE49-F238E27FC236}">
                <a16:creationId xmlns:a16="http://schemas.microsoft.com/office/drawing/2014/main" id="{4D1EF4E3-6DCF-F425-B485-4E2656AABE6B}"/>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4.2 / 18</a:t>
            </a:r>
          </a:p>
        </p:txBody>
      </p:sp>
      <p:cxnSp>
        <p:nvCxnSpPr>
          <p:cNvPr id="9" name="Straight Connector 8">
            <a:extLst>
              <a:ext uri="{FF2B5EF4-FFF2-40B4-BE49-F238E27FC236}">
                <a16:creationId xmlns:a16="http://schemas.microsoft.com/office/drawing/2014/main" id="{BA177FCC-CDA9-8961-F651-2D2C466BE2B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C08BD73-D582-C423-8A01-719168BD634B}"/>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EE4CF62-A225-E750-0B38-E4D27D966926}"/>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041562D5-6CAF-760A-EC61-6708F9769EB2}"/>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229532-A900-08ED-AAAD-F588EA72B693}"/>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CC0000"/>
                </a:solidFill>
              </a:rPr>
              <a:t>This process is used to ensure that</a:t>
            </a:r>
            <a:r>
              <a:rPr lang="en-US" sz="900">
                <a:solidFill>
                  <a:srgbClr val="4A2E1A"/>
                </a:solidFill>
              </a:rPr>
              <a:t> metadata is complete, standardized, and sufficiently detailed to support correct usage and interpretation. The Data Steward defines and documents business metadata using </a:t>
            </a:r>
            <a:r>
              <a:rPr lang="en-US" sz="900">
                <a:solidFill>
                  <a:srgbClr val="CC0000"/>
                </a:solidFill>
              </a:rPr>
              <a:t>standardized terminology based on the approved data dictionary and templates</a:t>
            </a:r>
            <a:r>
              <a:rPr lang="en-US" sz="900">
                <a:solidFill>
                  <a:srgbClr val="4A2E1A"/>
                </a:solidFill>
              </a:rPr>
              <a:t>. The Data Custodian (IT / XPO) captures and maintains technical metadata directly from source systems where possible, </a:t>
            </a:r>
            <a:r>
              <a:rPr lang="en-US" sz="900">
                <a:solidFill>
                  <a:srgbClr val="CC0000"/>
                </a:solidFill>
              </a:rPr>
              <a:t>including data structure and system attributes</a:t>
            </a:r>
            <a:r>
              <a:rPr lang="en-US" sz="900">
                <a:solidFill>
                  <a:srgbClr val="4A2E1A"/>
                </a:solidFill>
              </a:rPr>
              <a:t>. The Data Steward ensures that metadata includes sufficient context for usage, including: </a:t>
            </a:r>
            <a:r>
              <a:rPr lang="en-US" sz="900">
                <a:solidFill>
                  <a:srgbClr val="CC0000"/>
                </a:solidFill>
              </a:rPr>
              <a:t>Data source | Business purpose of use | Usage constraints | Data refresh frequency</a:t>
            </a:r>
            <a:r>
              <a:rPr lang="en-US" sz="900">
                <a:solidFill>
                  <a:srgbClr val="4A2E1A"/>
                </a:solidFill>
              </a:rPr>
              <a:t>. Where applicable, </a:t>
            </a:r>
            <a:r>
              <a:rPr lang="en-US" sz="900">
                <a:solidFill>
                  <a:srgbClr val="CC0000"/>
                </a:solidFill>
              </a:rPr>
              <a:t>data lineage must be documented to show the relationship between upstream and downstream data</a:t>
            </a:r>
            <a:r>
              <a:rPr lang="en-US" sz="900">
                <a:solidFill>
                  <a:srgbClr val="4A2E1A"/>
                </a:solidFill>
              </a:rPr>
              <a:t>. Metadata shall be progressively enriched when additional information becomes available or when data usage expands.</a:t>
            </a:r>
          </a:p>
        </p:txBody>
      </p:sp>
      <p:sp>
        <p:nvSpPr>
          <p:cNvPr id="14" name="Rectangle 13">
            <a:extLst>
              <a:ext uri="{FF2B5EF4-FFF2-40B4-BE49-F238E27FC236}">
                <a16:creationId xmlns:a16="http://schemas.microsoft.com/office/drawing/2014/main" id="{7ABB7A6D-E481-1B35-602C-0FA8E39D678E}"/>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B78E89-9E2C-B511-9ACB-B1BAD9F45909}"/>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4A021B1A-0FC3-D6A2-EFE4-380FB78B767D}"/>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E8BB999-7FEE-F22A-4A05-E76ACC425FF4}"/>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The Data Steward documents business metadata using standardized terminology. The Data Custodian captures and maintains technical metadata from source systems. For each registered data asset, metadata must include: </a:t>
            </a:r>
            <a:r>
              <a:rPr lang="en-US" sz="900">
                <a:solidFill>
                  <a:srgbClr val="006400"/>
                </a:solidFill>
              </a:rPr>
              <a:t>Asset purpose and business meaning</a:t>
            </a:r>
            <a:r>
              <a:rPr lang="en-US" sz="900">
                <a:solidFill>
                  <a:srgbClr val="4A2E1A"/>
                </a:solidFill>
              </a:rPr>
              <a:t> | </a:t>
            </a:r>
            <a:r>
              <a:rPr lang="en-US" sz="900">
                <a:solidFill>
                  <a:srgbClr val="006400"/>
                </a:solidFill>
              </a:rPr>
              <a:t>Column or field definitions and common synonyms</a:t>
            </a:r>
            <a:r>
              <a:rPr lang="en-US" sz="900">
                <a:solidFill>
                  <a:srgbClr val="4A2E1A"/>
                </a:solidFill>
              </a:rPr>
              <a:t> | </a:t>
            </a:r>
            <a:r>
              <a:rPr lang="en-US" sz="900">
                <a:solidFill>
                  <a:srgbClr val="006400"/>
                </a:solidFill>
              </a:rPr>
              <a:t>Row grain, primary keys, and date/time columns</a:t>
            </a:r>
            <a:r>
              <a:rPr lang="en-US" sz="900">
                <a:solidFill>
                  <a:srgbClr val="4A2E1A"/>
                </a:solidFill>
              </a:rPr>
              <a:t> | </a:t>
            </a:r>
            <a:r>
              <a:rPr lang="en-US" sz="900">
                <a:solidFill>
                  <a:srgbClr val="006400"/>
                </a:solidFill>
              </a:rPr>
              <a:t>Metric definitions with canonical filter predicates</a:t>
            </a:r>
            <a:r>
              <a:rPr lang="en-US" sz="900">
                <a:solidFill>
                  <a:srgbClr val="4A2E1A"/>
                </a:solidFill>
              </a:rPr>
              <a:t> | </a:t>
            </a:r>
            <a:r>
              <a:rPr lang="en-US" sz="900">
                <a:solidFill>
                  <a:srgbClr val="006400"/>
                </a:solidFill>
              </a:rPr>
              <a:t>Join rules to related data assets</a:t>
            </a:r>
            <a:r>
              <a:rPr lang="en-US" sz="900">
                <a:solidFill>
                  <a:srgbClr val="4A2E1A"/>
                </a:solidFill>
              </a:rPr>
              <a:t> | </a:t>
            </a:r>
            <a:r>
              <a:rPr lang="en-US" sz="900">
                <a:solidFill>
                  <a:srgbClr val="006400"/>
                </a:solidFill>
              </a:rPr>
              <a:t>Known caveats: stale fields, unreliable columns, open questions</a:t>
            </a:r>
            <a:r>
              <a:rPr lang="en-US" sz="900">
                <a:solidFill>
                  <a:srgbClr val="4A2E1A"/>
                </a:solidFill>
              </a:rPr>
              <a:t>. Metadata must be sufficient to support correct usage by data users and analytics applications. Metadata shall be enriched progressively as usage expands.</a:t>
            </a:r>
          </a:p>
        </p:txBody>
      </p:sp>
      <p:sp>
        <p:nvSpPr>
          <p:cNvPr id="18" name="Rectangle 17">
            <a:extLst>
              <a:ext uri="{FF2B5EF4-FFF2-40B4-BE49-F238E27FC236}">
                <a16:creationId xmlns:a16="http://schemas.microsoft.com/office/drawing/2014/main" id="{16D859DB-C988-E3EF-11F8-2B57870A32B5}"/>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43002C2-6771-209C-C2AA-9EE7DB5B15DC}"/>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32BF3878-8428-9EB6-8EEC-C69D953F61FD}"/>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7C7CE23-EA01-3E57-CF09-ABDEE1D259A5}"/>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Required enrichment fields completely revised. Original fields (data source, purpose, constraints, refresh frequency) were generic governance fields. New fields are query-relevant: they help a data user or AI choose the correct table, column, join, and filter. Lineage documentation clause removed as it requires tooling not yet in place. Caveats added as a new mandatory field to surface known data issues proactively.</a:t>
            </a:r>
          </a:p>
        </p:txBody>
      </p:sp>
    </p:spTree>
    <p:extLst>
      <p:ext uri="{BB962C8B-B14F-4D97-AF65-F5344CB8AC3E}">
        <p14:creationId xmlns:p14="http://schemas.microsoft.com/office/powerpoint/2010/main" val="3382293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CF6340-D724-57A0-F40A-506A6DEA92F3}"/>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F159E5C-FFD4-96D4-132E-E2E02D8D4A68}"/>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206D50B-2E76-C700-21ED-73E85B1DD6DC}"/>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82243B5-44E5-D223-D552-ECC6048C2534}"/>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6F1EC4-0D6A-9F0E-57A3-124DAED25D84}"/>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4.3</a:t>
            </a:r>
          </a:p>
        </p:txBody>
      </p:sp>
      <p:sp>
        <p:nvSpPr>
          <p:cNvPr id="7" name="TextBox 6">
            <a:extLst>
              <a:ext uri="{FF2B5EF4-FFF2-40B4-BE49-F238E27FC236}">
                <a16:creationId xmlns:a16="http://schemas.microsoft.com/office/drawing/2014/main" id="{6629D37C-071F-38BA-5C6A-B5AFCED5DA83}"/>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4.3  Metadata Validation</a:t>
            </a:r>
          </a:p>
        </p:txBody>
      </p:sp>
      <p:sp>
        <p:nvSpPr>
          <p:cNvPr id="8" name="TextBox 7">
            <a:extLst>
              <a:ext uri="{FF2B5EF4-FFF2-40B4-BE49-F238E27FC236}">
                <a16:creationId xmlns:a16="http://schemas.microsoft.com/office/drawing/2014/main" id="{8B6CF5BF-7B48-398A-53D5-F3F5BBB08E9A}"/>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4.3 / 18</a:t>
            </a:r>
          </a:p>
        </p:txBody>
      </p:sp>
      <p:cxnSp>
        <p:nvCxnSpPr>
          <p:cNvPr id="9" name="Straight Connector 8">
            <a:extLst>
              <a:ext uri="{FF2B5EF4-FFF2-40B4-BE49-F238E27FC236}">
                <a16:creationId xmlns:a16="http://schemas.microsoft.com/office/drawing/2014/main" id="{FAD862A6-EEDE-CA77-E458-221EEC97C78A}"/>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6AF2089-374E-3CAE-FDD3-26DC046DE14C}"/>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77EF006-B7CD-4258-F5AA-49FD04992829}"/>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FA807D0D-4A06-D001-E08F-3E78102AADB9}"/>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56D84B0-AFA9-0B79-F249-EB61150E9B1B}"/>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CC0000"/>
                </a:solidFill>
              </a:rPr>
              <a:t>This process is used to ensure that</a:t>
            </a:r>
            <a:r>
              <a:rPr lang="en-US" sz="1000">
                <a:solidFill>
                  <a:srgbClr val="4A2E1A"/>
                </a:solidFill>
              </a:rPr>
              <a:t> metadata is complete, accurate, and aligned with business and regulatory requirements prior to approval. The Data Steward performs validation </a:t>
            </a:r>
            <a:r>
              <a:rPr lang="en-US" sz="1000">
                <a:solidFill>
                  <a:srgbClr val="CC0000"/>
                </a:solidFill>
              </a:rPr>
              <a:t>using a structured checklist within the system</a:t>
            </a:r>
            <a:r>
              <a:rPr lang="en-US" sz="1000">
                <a:solidFill>
                  <a:srgbClr val="4A2E1A"/>
                </a:solidFill>
              </a:rPr>
              <a:t> to confirm: Completeness of required metadata fields | Clarity and consistency of business definitions | Correct assignment of Data Owner and Data Steward | Accuracy of data classification. The Data Steward verifies that the data classification complies with applicable laws, including PDPA, and internal policies. Where classification or usage is unclear or presents potential risk, the Data Steward must escalate the matter for clarification prior to proceeding. </a:t>
            </a:r>
            <a:r>
              <a:rPr lang="en-US" sz="1000">
                <a:solidFill>
                  <a:srgbClr val="CC0000"/>
                </a:solidFill>
              </a:rPr>
              <a:t>Metadata cannot be submitted for approval until all validation requirements are completed.</a:t>
            </a:r>
          </a:p>
        </p:txBody>
      </p:sp>
      <p:sp>
        <p:nvSpPr>
          <p:cNvPr id="14" name="Rectangle 13">
            <a:extLst>
              <a:ext uri="{FF2B5EF4-FFF2-40B4-BE49-F238E27FC236}">
                <a16:creationId xmlns:a16="http://schemas.microsoft.com/office/drawing/2014/main" id="{39531F4E-E397-E9EE-3657-7AFF1115384B}"/>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7DFC682-9125-F38E-BAF0-7287FF7EB06C}"/>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E61EE235-2313-5289-9AC5-24805A1FADD1}"/>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FDE1252-A218-0276-A3D1-52C521560350}"/>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The Data Steward </a:t>
            </a:r>
            <a:r>
              <a:rPr lang="en-US" sz="1000">
                <a:solidFill>
                  <a:srgbClr val="006400"/>
                </a:solidFill>
              </a:rPr>
              <a:t>validates metadata for completeness, definition clarity, correct ownership assignment, and data classification</a:t>
            </a:r>
            <a:r>
              <a:rPr lang="en-US" sz="1000">
                <a:solidFill>
                  <a:srgbClr val="4A2E1A"/>
                </a:solidFill>
              </a:rPr>
              <a:t> before submission. Classification must comply with PDPA and internal policy. Where classification or usage is unclear, the Data Steward must </a:t>
            </a:r>
            <a:r>
              <a:rPr lang="en-US" sz="1000">
                <a:solidFill>
                  <a:srgbClr val="006400"/>
                </a:solidFill>
              </a:rPr>
              <a:t>escalate prior to proceeding</a:t>
            </a:r>
            <a:r>
              <a:rPr lang="en-US" sz="1000">
                <a:solidFill>
                  <a:srgbClr val="4A2E1A"/>
                </a:solidFill>
              </a:rPr>
              <a:t>.</a:t>
            </a:r>
          </a:p>
        </p:txBody>
      </p:sp>
      <p:sp>
        <p:nvSpPr>
          <p:cNvPr id="18" name="Rectangle 17">
            <a:extLst>
              <a:ext uri="{FF2B5EF4-FFF2-40B4-BE49-F238E27FC236}">
                <a16:creationId xmlns:a16="http://schemas.microsoft.com/office/drawing/2014/main" id="{B3A843F0-BA6D-9551-F82F-E915DF51226D}"/>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539FFBF-C238-9929-A266-01EF3FD55BD4}"/>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BB8FCD5F-3F65-CCE3-B026-F139CA9C773E}"/>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72B543B-FBB0-DF3A-F558-FC13B1F30642}"/>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Process preamble removed -- direct procedural language. 'Structured checklist within the system' removed: the system validation tool is not yet built; the team validates manually. 'Cannot be submitted' enforcement clause removed for the same reason. Core validation requirements are fully preserved in condensed form.</a:t>
            </a:r>
          </a:p>
        </p:txBody>
      </p:sp>
    </p:spTree>
    <p:extLst>
      <p:ext uri="{BB962C8B-B14F-4D97-AF65-F5344CB8AC3E}">
        <p14:creationId xmlns:p14="http://schemas.microsoft.com/office/powerpoint/2010/main" val="454643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E099DA-EA70-43A2-7F47-B2EE1EAF5716}"/>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85C78E2-503D-7CC9-E05E-B55366133EBC}"/>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8FC3C88-3B7A-383A-5F90-C07671A84F34}"/>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EDF6163-B09A-CBD0-44E4-71E195A92D53}"/>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2C077B6-385E-3D9A-6EC6-90C8522777E9}"/>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4.4</a:t>
            </a:r>
          </a:p>
        </p:txBody>
      </p:sp>
      <p:sp>
        <p:nvSpPr>
          <p:cNvPr id="7" name="TextBox 6">
            <a:extLst>
              <a:ext uri="{FF2B5EF4-FFF2-40B4-BE49-F238E27FC236}">
                <a16:creationId xmlns:a16="http://schemas.microsoft.com/office/drawing/2014/main" id="{1A0CD29D-66A0-0C1D-6EBB-E2164ACA8582}"/>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4.4  Metadata Approval by Data Owner</a:t>
            </a:r>
          </a:p>
        </p:txBody>
      </p:sp>
      <p:sp>
        <p:nvSpPr>
          <p:cNvPr id="8" name="TextBox 7">
            <a:extLst>
              <a:ext uri="{FF2B5EF4-FFF2-40B4-BE49-F238E27FC236}">
                <a16:creationId xmlns:a16="http://schemas.microsoft.com/office/drawing/2014/main" id="{B6D637F8-4045-9C3E-6D77-C2D1C94665FE}"/>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4.4 / 18</a:t>
            </a:r>
          </a:p>
        </p:txBody>
      </p:sp>
      <p:cxnSp>
        <p:nvCxnSpPr>
          <p:cNvPr id="9" name="Straight Connector 8">
            <a:extLst>
              <a:ext uri="{FF2B5EF4-FFF2-40B4-BE49-F238E27FC236}">
                <a16:creationId xmlns:a16="http://schemas.microsoft.com/office/drawing/2014/main" id="{93229413-1D51-293E-C493-20C92F84A33D}"/>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0A11A02-37AC-A332-BF35-B86F9F7F8870}"/>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F87DEF6-1529-5118-C8FD-B43E1B227C57}"/>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5026B286-6C08-872D-C85B-286015A1B988}"/>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7B2FAB5-FACB-5234-AC74-0CB7923F18B4}"/>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establish formal accountability and authorization for metadata usage. The Data Steward submits the validated metadata to the Data Owner </a:t>
            </a:r>
            <a:r>
              <a:rPr lang="en-US" sz="900">
                <a:solidFill>
                  <a:srgbClr val="CC0000"/>
                </a:solidFill>
              </a:rPr>
              <a:t>through the system workflow</a:t>
            </a:r>
            <a:r>
              <a:rPr lang="en-US" sz="900">
                <a:solidFill>
                  <a:srgbClr val="4A2E1A"/>
                </a:solidFill>
              </a:rPr>
              <a:t>. The Data Owner reviews and approves the metadata, including business definition, classification, and intended usage. </a:t>
            </a:r>
            <a:r>
              <a:rPr lang="en-US" sz="900">
                <a:solidFill>
                  <a:srgbClr val="CC0000"/>
                </a:solidFill>
              </a:rPr>
              <a:t>The system enforces segregation of duties such that the Data Steward who prepared the metadata is not permitted to approve it.</a:t>
            </a:r>
            <a:r>
              <a:rPr lang="en-US" sz="900">
                <a:solidFill>
                  <a:srgbClr val="4A2E1A"/>
                </a:solidFill>
              </a:rPr>
              <a:t> Where the data involves cross-functional impact or high-risk classification, the Data Owner </a:t>
            </a:r>
            <a:r>
              <a:rPr lang="en-US" sz="900">
                <a:solidFill>
                  <a:srgbClr val="CC0000"/>
                </a:solidFill>
              </a:rPr>
              <a:t>must escalate the matter to the Data Governance Committee (DGC) for review prior to approval</a:t>
            </a:r>
            <a:r>
              <a:rPr lang="en-US" sz="900">
                <a:solidFill>
                  <a:srgbClr val="4A2E1A"/>
                </a:solidFill>
              </a:rPr>
              <a:t>. Where the data involves personal or sensitive data, escalation must be made through the appropriate data custodian, data steward, and data owner to Legal and Regulatory Compliance (DPO). </a:t>
            </a:r>
            <a:r>
              <a:rPr lang="en-US" sz="900">
                <a:solidFill>
                  <a:srgbClr val="CC0000"/>
                </a:solidFill>
              </a:rPr>
              <a:t>All approval actions must be recorded in the system with user identification and timestamp and must be retained as audit evidence.</a:t>
            </a:r>
          </a:p>
        </p:txBody>
      </p:sp>
      <p:sp>
        <p:nvSpPr>
          <p:cNvPr id="14" name="Rectangle 13">
            <a:extLst>
              <a:ext uri="{FF2B5EF4-FFF2-40B4-BE49-F238E27FC236}">
                <a16:creationId xmlns:a16="http://schemas.microsoft.com/office/drawing/2014/main" id="{8B182760-CA68-DF3E-770C-EDE2EAA27DCC}"/>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08AE9B3-788F-B2EF-15DD-5DED35636CC5}"/>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160A8196-BD77-DA14-5E4C-17347505FB8D}"/>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E506D5C-26C5-1D6F-8555-E1D323F62B26}"/>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Each metadata record must carry a review status. Required fields: </a:t>
            </a:r>
            <a:r>
              <a:rPr lang="en-US" sz="900">
                <a:solidFill>
                  <a:srgbClr val="006400"/>
                </a:solidFill>
              </a:rPr>
              <a:t>metadata_status (draft / reviewed / approved)</a:t>
            </a:r>
            <a:r>
              <a:rPr lang="en-US" sz="900">
                <a:solidFill>
                  <a:srgbClr val="4A2E1A"/>
                </a:solidFill>
              </a:rPr>
              <a:t> | </a:t>
            </a:r>
            <a:r>
              <a:rPr lang="en-US" sz="900">
                <a:solidFill>
                  <a:srgbClr val="006400"/>
                </a:solidFill>
              </a:rPr>
              <a:t>last_reviewed_date</a:t>
            </a:r>
            <a:r>
              <a:rPr lang="en-US" sz="900">
                <a:solidFill>
                  <a:srgbClr val="4A2E1A"/>
                </a:solidFill>
              </a:rPr>
              <a:t> | </a:t>
            </a:r>
            <a:r>
              <a:rPr lang="en-US" sz="900">
                <a:solidFill>
                  <a:srgbClr val="006400"/>
                </a:solidFill>
              </a:rPr>
              <a:t>reviewer_name</a:t>
            </a:r>
            <a:r>
              <a:rPr lang="en-US" sz="900">
                <a:solidFill>
                  <a:srgbClr val="4A2E1A"/>
                </a:solidFill>
              </a:rPr>
              <a:t> | </a:t>
            </a:r>
            <a:r>
              <a:rPr lang="en-US" sz="900">
                <a:solidFill>
                  <a:srgbClr val="006400"/>
                </a:solidFill>
              </a:rPr>
              <a:t>owner_contact</a:t>
            </a:r>
            <a:r>
              <a:rPr lang="en-US" sz="900">
                <a:solidFill>
                  <a:srgbClr val="4A2E1A"/>
                </a:solidFill>
              </a:rPr>
              <a:t>. Metadata must reach approved status before the data asset is made available for use. The </a:t>
            </a:r>
            <a:r>
              <a:rPr lang="en-US" sz="900">
                <a:solidFill>
                  <a:srgbClr val="006400"/>
                </a:solidFill>
              </a:rPr>
              <a:t>Data Owner is responsible for approving metadata</a:t>
            </a:r>
            <a:r>
              <a:rPr lang="en-US" sz="900">
                <a:solidFill>
                  <a:srgbClr val="4A2E1A"/>
                </a:solidFill>
              </a:rPr>
              <a:t>; the Data Steward is responsible for preparing and maintaining it.</a:t>
            </a:r>
          </a:p>
        </p:txBody>
      </p:sp>
      <p:sp>
        <p:nvSpPr>
          <p:cNvPr id="18" name="Rectangle 17">
            <a:extLst>
              <a:ext uri="{FF2B5EF4-FFF2-40B4-BE49-F238E27FC236}">
                <a16:creationId xmlns:a16="http://schemas.microsoft.com/office/drawing/2014/main" id="{6223B7CC-C18C-2A85-6D83-33EF2C80A6BB}"/>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455F6F4-36F2-AB8A-A4D9-D2DC982B2028}"/>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DAA67845-AFF1-75FA-82BA-299E42E2E456}"/>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EC79C01-EB5D-C1C1-AA56-E33CC75261F9}"/>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System workflow routing and SOD enforcement removed: the catalog platform to enforce these controls is not yet built. DGC escalation removed (same rationale as sections 1.3 and 3.4). System-logged audit trail replaced with manual status tracking fields, which provide equivalent accountability with no platform dependency. Approval responsibility remains clearly assigned to the Data Owner.</a:t>
            </a:r>
          </a:p>
        </p:txBody>
      </p:sp>
    </p:spTree>
    <p:extLst>
      <p:ext uri="{BB962C8B-B14F-4D97-AF65-F5344CB8AC3E}">
        <p14:creationId xmlns:p14="http://schemas.microsoft.com/office/powerpoint/2010/main" val="879135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40A9F5-5909-A56A-4BCA-0593D30796D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771D426-BBC2-14D9-BD01-C354BED54E87}"/>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2750C8-9A67-FDF4-5C6E-E14E55C6134B}"/>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55CAB53-6C35-2EDC-E245-0A23C4E3FDCF}"/>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EE66D5C-02C8-6AD2-560D-F33C6C60476B}"/>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4.5</a:t>
            </a:r>
          </a:p>
        </p:txBody>
      </p:sp>
      <p:sp>
        <p:nvSpPr>
          <p:cNvPr id="7" name="TextBox 6">
            <a:extLst>
              <a:ext uri="{FF2B5EF4-FFF2-40B4-BE49-F238E27FC236}">
                <a16:creationId xmlns:a16="http://schemas.microsoft.com/office/drawing/2014/main" id="{AF17A44E-5805-1B99-5F6E-73C11B0CCB41}"/>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4.5  Publication and Use of Approved Metadata</a:t>
            </a:r>
          </a:p>
        </p:txBody>
      </p:sp>
      <p:sp>
        <p:nvSpPr>
          <p:cNvPr id="8" name="TextBox 7">
            <a:extLst>
              <a:ext uri="{FF2B5EF4-FFF2-40B4-BE49-F238E27FC236}">
                <a16:creationId xmlns:a16="http://schemas.microsoft.com/office/drawing/2014/main" id="{3442BAFD-6A89-64B7-6C37-B9210A1CCF2E}"/>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4.5 / 18</a:t>
            </a:r>
          </a:p>
        </p:txBody>
      </p:sp>
      <p:cxnSp>
        <p:nvCxnSpPr>
          <p:cNvPr id="9" name="Straight Connector 8">
            <a:extLst>
              <a:ext uri="{FF2B5EF4-FFF2-40B4-BE49-F238E27FC236}">
                <a16:creationId xmlns:a16="http://schemas.microsoft.com/office/drawing/2014/main" id="{B77A7E6C-A45E-0178-0B07-DBC5B4973B1B}"/>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263BC8F-9317-3AFB-024D-3252C37B96E9}"/>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BFA0788-427E-273D-EB7E-7A9F6E818428}"/>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1C65C273-A36F-0492-462D-DA45B36D169A}"/>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8F6D46-AFF3-B18F-7573-A627C6525580}"/>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ensure that only approved metadata is used for business operations, reporting, and analytics. Only Siam Piwat datasets with approved metadata status are permitted to be used in reporting, analytics, or AI applications. </a:t>
            </a:r>
            <a:r>
              <a:rPr lang="en-US" sz="900">
                <a:solidFill>
                  <a:srgbClr val="CC0000"/>
                </a:solidFill>
              </a:rPr>
              <a:t>The Data Custodian ensures that only approved datasets are made available in the production environment</a:t>
            </a:r>
            <a:r>
              <a:rPr lang="en-US" sz="900">
                <a:solidFill>
                  <a:srgbClr val="4A2E1A"/>
                </a:solidFill>
              </a:rPr>
              <a:t>, unless technical requirements mandate usage. </a:t>
            </a:r>
            <a:r>
              <a:rPr lang="en-US" sz="900">
                <a:solidFill>
                  <a:srgbClr val="CC0000"/>
                </a:solidFill>
              </a:rPr>
              <a:t>Access to datasets must be controlled through role-based access control (RBAC), in accordance with approved access rights</a:t>
            </a:r>
            <a:r>
              <a:rPr lang="en-US" sz="900">
                <a:solidFill>
                  <a:srgbClr val="4A2E1A"/>
                </a:solidFill>
              </a:rPr>
              <a:t>. Approved metadata shall be made accessible to users through designated data catalog or reporting tools. </a:t>
            </a:r>
            <a:r>
              <a:rPr lang="en-US" sz="900">
                <a:solidFill>
                  <a:srgbClr val="CC0000"/>
                </a:solidFill>
              </a:rPr>
              <a:t>Any exception must be formally justified, approved by the Data Owner, and documented for audit purposes</a:t>
            </a:r>
            <a:r>
              <a:rPr lang="en-US" sz="900">
                <a:solidFill>
                  <a:srgbClr val="4A2E1A"/>
                </a:solidFill>
              </a:rPr>
              <a:t>.</a:t>
            </a:r>
          </a:p>
        </p:txBody>
      </p:sp>
      <p:sp>
        <p:nvSpPr>
          <p:cNvPr id="14" name="Rectangle 13">
            <a:extLst>
              <a:ext uri="{FF2B5EF4-FFF2-40B4-BE49-F238E27FC236}">
                <a16:creationId xmlns:a16="http://schemas.microsoft.com/office/drawing/2014/main" id="{5F6B1EA4-0848-FB4C-D181-2FD50A718266}"/>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48585BA-E1DB-975A-B82D-BAC30EF3AB47}"/>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0464C23C-AA94-48CA-0432-9C75C90BD2CC}"/>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7A7E0CA-277F-D109-587F-6BC83CB86442}"/>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Before a data asset is made available for use, its metadata must include the following usage control fields: </a:t>
            </a:r>
            <a:r>
              <a:rPr lang="en-US" sz="900">
                <a:solidFill>
                  <a:srgbClr val="006400"/>
                </a:solidFill>
              </a:rPr>
              <a:t>usage_status (active / restricted / pending)</a:t>
            </a:r>
            <a:r>
              <a:rPr lang="en-US" sz="900">
                <a:solidFill>
                  <a:srgbClr val="4A2E1A"/>
                </a:solidFill>
              </a:rPr>
              <a:t> | </a:t>
            </a:r>
            <a:r>
              <a:rPr lang="en-US" sz="900">
                <a:solidFill>
                  <a:srgbClr val="006400"/>
                </a:solidFill>
              </a:rPr>
              <a:t>safe_for_use: yes / no</a:t>
            </a:r>
            <a:r>
              <a:rPr lang="en-US" sz="900">
                <a:solidFill>
                  <a:srgbClr val="4A2E1A"/>
                </a:solidFill>
              </a:rPr>
              <a:t> | </a:t>
            </a:r>
            <a:r>
              <a:rPr lang="en-US" sz="900">
                <a:solidFill>
                  <a:srgbClr val="006400"/>
                </a:solidFill>
              </a:rPr>
              <a:t>reason_if_restricted</a:t>
            </a:r>
            <a:r>
              <a:rPr lang="en-US" sz="900">
                <a:solidFill>
                  <a:srgbClr val="4A2E1A"/>
                </a:solidFill>
              </a:rPr>
              <a:t> | </a:t>
            </a:r>
            <a:r>
              <a:rPr lang="en-US" sz="900">
                <a:solidFill>
                  <a:srgbClr val="006400"/>
                </a:solidFill>
              </a:rPr>
              <a:t>restricted_columns</a:t>
            </a:r>
            <a:r>
              <a:rPr lang="en-US" sz="900">
                <a:solidFill>
                  <a:srgbClr val="4A2E1A"/>
                </a:solidFill>
              </a:rPr>
              <a:t>. </a:t>
            </a:r>
            <a:r>
              <a:rPr lang="en-US" sz="900">
                <a:solidFill>
                  <a:srgbClr val="006400"/>
                </a:solidFill>
              </a:rPr>
              <a:t>Only data assets with usage_status: active and safe_for_use: yes may be used</a:t>
            </a:r>
            <a:r>
              <a:rPr lang="en-US" sz="900">
                <a:solidFill>
                  <a:srgbClr val="4A2E1A"/>
                </a:solidFill>
              </a:rPr>
              <a:t> in production reporting, analytics, or AI applications.</a:t>
            </a:r>
          </a:p>
        </p:txBody>
      </p:sp>
      <p:sp>
        <p:nvSpPr>
          <p:cNvPr id="18" name="Rectangle 17">
            <a:extLst>
              <a:ext uri="{FF2B5EF4-FFF2-40B4-BE49-F238E27FC236}">
                <a16:creationId xmlns:a16="http://schemas.microsoft.com/office/drawing/2014/main" id="{45C3CB42-0F06-DF6A-E476-5CD8A921CCD3}"/>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375440A-4B65-D29B-C61A-1AEF751AC709}"/>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A6DC112E-9121-6064-2B9A-05ECA310B823}"/>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6802AE5-CE8F-B5F5-2F07-6D748910BDF2}"/>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RBAC enforcement and catalog production-gate are not yet available. Usage control flags achieve the same governance intent -- restricting use to approved assets -- using existing tooling. Flags give consuming applications a machine-readable signal to decide whether to answer, refuse, or ask for confirmation. Exception documentation removed; flags cover this use case directly.</a:t>
            </a:r>
          </a:p>
        </p:txBody>
      </p:sp>
    </p:spTree>
    <p:extLst>
      <p:ext uri="{BB962C8B-B14F-4D97-AF65-F5344CB8AC3E}">
        <p14:creationId xmlns:p14="http://schemas.microsoft.com/office/powerpoint/2010/main" val="265340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E56EA5-EE7C-C7B8-F842-253D16042A44}"/>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EEB3BCD-0AF4-5D8A-7EA6-BF56C36C80B7}"/>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B022E2C-650C-3F35-2E00-87F5AD856CC1}"/>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245180-2C65-DAB9-D553-898147340D7F}"/>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BBCBD83-CC4A-BA2C-9979-FA1FB202F97D}"/>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4.6</a:t>
            </a:r>
          </a:p>
        </p:txBody>
      </p:sp>
      <p:sp>
        <p:nvSpPr>
          <p:cNvPr id="7" name="TextBox 6">
            <a:extLst>
              <a:ext uri="{FF2B5EF4-FFF2-40B4-BE49-F238E27FC236}">
                <a16:creationId xmlns:a16="http://schemas.microsoft.com/office/drawing/2014/main" id="{90443ADE-9094-F59F-7604-EF7094207968}"/>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4.6  Metadata Maintenance and Change Management</a:t>
            </a:r>
          </a:p>
        </p:txBody>
      </p:sp>
      <p:sp>
        <p:nvSpPr>
          <p:cNvPr id="8" name="TextBox 7">
            <a:extLst>
              <a:ext uri="{FF2B5EF4-FFF2-40B4-BE49-F238E27FC236}">
                <a16:creationId xmlns:a16="http://schemas.microsoft.com/office/drawing/2014/main" id="{1440EDEE-D4BB-5F1F-8B72-D7307199769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4.6 / 18</a:t>
            </a:r>
          </a:p>
        </p:txBody>
      </p:sp>
      <p:cxnSp>
        <p:nvCxnSpPr>
          <p:cNvPr id="9" name="Straight Connector 8">
            <a:extLst>
              <a:ext uri="{FF2B5EF4-FFF2-40B4-BE49-F238E27FC236}">
                <a16:creationId xmlns:a16="http://schemas.microsoft.com/office/drawing/2014/main" id="{23B8DD9E-381C-4383-4178-D3EBA74DD467}"/>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558F34B-14EF-E152-7CE8-5C5078050954}"/>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8FF1A29-2DEE-146E-E04A-D5064DFB6649}"/>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A47D0BA-F6DD-BA00-554E-41A95D5E8735}"/>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D1594E6-AE4B-B14C-10BC-6664D98F523A}"/>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ensure that metadata remains accurate and up to date. The Data Steward must update metadata when there are changes to: Business definitions | Data sources or systems | Data structures or transformations | Regulatory or policy requirements. </a:t>
            </a:r>
            <a:r>
              <a:rPr lang="en-US" sz="900">
                <a:solidFill>
                  <a:srgbClr val="CC0000"/>
                </a:solidFill>
              </a:rPr>
              <a:t>All changes must be performed through the system workflow</a:t>
            </a:r>
            <a:r>
              <a:rPr lang="en-US" sz="900">
                <a:solidFill>
                  <a:srgbClr val="4A2E1A"/>
                </a:solidFill>
              </a:rPr>
              <a:t> and must be approved by the Data Owner where applicable. </a:t>
            </a:r>
            <a:r>
              <a:rPr lang="en-US" sz="900">
                <a:solidFill>
                  <a:srgbClr val="CC0000"/>
                </a:solidFill>
              </a:rPr>
              <a:t>Edit access is restricted based on user roles to ensure proper segregation of duties.</a:t>
            </a:r>
            <a:r>
              <a:rPr lang="en-US" sz="900">
                <a:solidFill>
                  <a:srgbClr val="4A2E1A"/>
                </a:solidFill>
              </a:rPr>
              <a:t> </a:t>
            </a:r>
            <a:r>
              <a:rPr lang="en-US" sz="900">
                <a:solidFill>
                  <a:srgbClr val="CC0000"/>
                </a:solidFill>
              </a:rPr>
              <a:t>The system maintains version control for all changes</a:t>
            </a:r>
            <a:r>
              <a:rPr lang="en-US" sz="900">
                <a:solidFill>
                  <a:srgbClr val="4A2E1A"/>
                </a:solidFill>
              </a:rPr>
              <a:t>, including: Change description | Reason for change | Approval record. The Data Owner must periodically review and confirm the accuracy and relevance of metadata.</a:t>
            </a:r>
          </a:p>
        </p:txBody>
      </p:sp>
      <p:sp>
        <p:nvSpPr>
          <p:cNvPr id="14" name="Rectangle 13">
            <a:extLst>
              <a:ext uri="{FF2B5EF4-FFF2-40B4-BE49-F238E27FC236}">
                <a16:creationId xmlns:a16="http://schemas.microsoft.com/office/drawing/2014/main" id="{70FED8E2-5284-DC50-1820-04AFDABFD074}"/>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689277-7DED-19FF-6B85-00158CDCE8A2}"/>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970D14E2-ABD0-76BF-739F-B014976E113D}"/>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A0F6A78-50BB-AC68-CB44-362DC56353B8}"/>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The Data Steward must update metadata when there are changes to business definitions, data sources, data structures, or regulatory requirements. Each update must record: </a:t>
            </a:r>
            <a:r>
              <a:rPr lang="en-US" sz="900">
                <a:solidFill>
                  <a:srgbClr val="006400"/>
                </a:solidFill>
              </a:rPr>
              <a:t>last_updated</a:t>
            </a:r>
            <a:r>
              <a:rPr lang="en-US" sz="900">
                <a:solidFill>
                  <a:srgbClr val="4A2E1A"/>
                </a:solidFill>
              </a:rPr>
              <a:t> | </a:t>
            </a:r>
            <a:r>
              <a:rPr lang="en-US" sz="900">
                <a:solidFill>
                  <a:srgbClr val="006400"/>
                </a:solidFill>
              </a:rPr>
              <a:t>source_verified_from</a:t>
            </a:r>
            <a:r>
              <a:rPr lang="en-US" sz="900">
                <a:solidFill>
                  <a:srgbClr val="4A2E1A"/>
                </a:solidFill>
              </a:rPr>
              <a:t> | </a:t>
            </a:r>
            <a:r>
              <a:rPr lang="en-US" sz="900">
                <a:solidFill>
                  <a:srgbClr val="006400"/>
                </a:solidFill>
              </a:rPr>
              <a:t>change_summary</a:t>
            </a:r>
            <a:r>
              <a:rPr lang="en-US" sz="900">
                <a:solidFill>
                  <a:srgbClr val="4A2E1A"/>
                </a:solidFill>
              </a:rPr>
              <a:t> | </a:t>
            </a:r>
            <a:r>
              <a:rPr lang="en-US" sz="900">
                <a:solidFill>
                  <a:srgbClr val="006400"/>
                </a:solidFill>
              </a:rPr>
              <a:t>validated_against_live_schema (yes / no)</a:t>
            </a:r>
            <a:r>
              <a:rPr lang="en-US" sz="900">
                <a:solidFill>
                  <a:srgbClr val="4A2E1A"/>
                </a:solidFill>
              </a:rPr>
              <a:t>. Changes to metadata that affect business definitions or data classification </a:t>
            </a:r>
            <a:r>
              <a:rPr lang="en-US" sz="900">
                <a:solidFill>
                  <a:srgbClr val="006400"/>
                </a:solidFill>
              </a:rPr>
              <a:t>must be reviewed and confirmed by the Data Owner</a:t>
            </a:r>
            <a:r>
              <a:rPr lang="en-US" sz="900">
                <a:solidFill>
                  <a:srgbClr val="4A2E1A"/>
                </a:solidFill>
              </a:rPr>
              <a:t>.</a:t>
            </a:r>
          </a:p>
        </p:txBody>
      </p:sp>
      <p:sp>
        <p:nvSpPr>
          <p:cNvPr id="18" name="Rectangle 17">
            <a:extLst>
              <a:ext uri="{FF2B5EF4-FFF2-40B4-BE49-F238E27FC236}">
                <a16:creationId xmlns:a16="http://schemas.microsoft.com/office/drawing/2014/main" id="{E812DEEB-6D6A-37E7-5897-71A014569C12}"/>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7740B7B-4EBE-A1F4-29F3-690735743515}"/>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F339014-DB84-568D-094D-A9B3F33BC008}"/>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BF909F0-588B-184C-6A1D-B7FBC99CBFE4}"/>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System workflow enforcement and role-based edit access require platform build not yet complete. Immutable system version control replaced with lightweight change record fields providing adequate traceability. Data Owner review requirement retained. The four fields give enough evidence to trace what changed, when, and whether it was validated against the live schema.</a:t>
            </a:r>
          </a:p>
        </p:txBody>
      </p:sp>
    </p:spTree>
    <p:extLst>
      <p:ext uri="{BB962C8B-B14F-4D97-AF65-F5344CB8AC3E}">
        <p14:creationId xmlns:p14="http://schemas.microsoft.com/office/powerpoint/2010/main" val="374966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A45274-3B9E-7243-075B-147482FDEEA3}"/>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ACF8568-73B8-D592-948A-358DE0F11C1A}"/>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D08C0BE-0DBD-AA99-73B0-FC04AC32A439}"/>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3D68305-3368-2A46-4861-9BAFEB1FE983}"/>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9A842EC-E6E8-487C-C9C9-F078697E6AE5}"/>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4.7</a:t>
            </a:r>
          </a:p>
        </p:txBody>
      </p:sp>
      <p:sp>
        <p:nvSpPr>
          <p:cNvPr id="7" name="TextBox 6">
            <a:extLst>
              <a:ext uri="{FF2B5EF4-FFF2-40B4-BE49-F238E27FC236}">
                <a16:creationId xmlns:a16="http://schemas.microsoft.com/office/drawing/2014/main" id="{8CFDF049-9E66-7E7D-63A3-AF826488C77A}"/>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4.7  Metadata Quality Monitoring and Issue Resolution</a:t>
            </a:r>
          </a:p>
        </p:txBody>
      </p:sp>
      <p:sp>
        <p:nvSpPr>
          <p:cNvPr id="8" name="TextBox 7">
            <a:extLst>
              <a:ext uri="{FF2B5EF4-FFF2-40B4-BE49-F238E27FC236}">
                <a16:creationId xmlns:a16="http://schemas.microsoft.com/office/drawing/2014/main" id="{76C07D48-D631-83E3-072B-4C9B34935747}"/>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4.7 / 18</a:t>
            </a:r>
          </a:p>
        </p:txBody>
      </p:sp>
      <p:cxnSp>
        <p:nvCxnSpPr>
          <p:cNvPr id="9" name="Straight Connector 8">
            <a:extLst>
              <a:ext uri="{FF2B5EF4-FFF2-40B4-BE49-F238E27FC236}">
                <a16:creationId xmlns:a16="http://schemas.microsoft.com/office/drawing/2014/main" id="{80439354-35DD-CAAF-AB06-9AA52F2FF76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50B1496-8A58-A226-D455-B7A451A42F95}"/>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FFC5CAF-F732-0293-3A56-03C7A0484A47}"/>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824A27FE-FAF3-1C21-A3C2-21D5837BF2D5}"/>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070DDE4-1C2A-C790-C49A-DB1C8848C224}"/>
              </a:ext>
            </a:extLst>
          </p:cNvPr>
          <p:cNvSpPr txBox="1"/>
          <p:nvPr/>
        </p:nvSpPr>
        <p:spPr>
          <a:xfrm>
            <a:off x="101600" y="889000"/>
            <a:ext cx="11988800" cy="369332"/>
          </a:xfrm>
          <a:prstGeom prst="rect">
            <a:avLst/>
          </a:prstGeom>
          <a:noFill/>
        </p:spPr>
        <p:txBody>
          <a:bodyPr vert="horz" wrap="square" rtlCol="0">
            <a:noAutofit/>
          </a:bodyPr>
          <a:lstStyle/>
          <a:p>
            <a:r>
              <a:rPr lang="en-US" sz="900">
                <a:solidFill>
                  <a:srgbClr val="4A2E1A"/>
                </a:solidFill>
              </a:rPr>
              <a:t>This process is used to ensure that metadata quality is maintained over time. The Data Steward performs periodic reviews of metadata completeness, accuracy, and timeliness </a:t>
            </a:r>
            <a:r>
              <a:rPr lang="en-US" sz="900">
                <a:solidFill>
                  <a:srgbClr val="CC0000"/>
                </a:solidFill>
              </a:rPr>
              <a:t>using system-generated reports or dashboards</a:t>
            </a:r>
            <a:r>
              <a:rPr lang="en-US" sz="900">
                <a:solidFill>
                  <a:srgbClr val="4A2E1A"/>
                </a:solidFill>
              </a:rPr>
              <a:t>. </a:t>
            </a:r>
            <a:r>
              <a:rPr lang="en-US" sz="900">
                <a:solidFill>
                  <a:srgbClr val="CC0000"/>
                </a:solidFill>
              </a:rPr>
              <a:t>Any identified issues must be recorded in the designated tracking system and assigned to responsible parties.</a:t>
            </a:r>
            <a:r>
              <a:rPr lang="en-US" sz="900">
                <a:solidFill>
                  <a:srgbClr val="4A2E1A"/>
                </a:solidFill>
              </a:rPr>
              <a:t> </a:t>
            </a:r>
            <a:r>
              <a:rPr lang="en-US" sz="900">
                <a:solidFill>
                  <a:srgbClr val="CC0000"/>
                </a:solidFill>
              </a:rPr>
              <a:t>Issues must be resolved within defined timelines in accordance with established service levels.</a:t>
            </a:r>
            <a:r>
              <a:rPr lang="en-US" sz="900">
                <a:solidFill>
                  <a:srgbClr val="4A2E1A"/>
                </a:solidFill>
              </a:rPr>
              <a:t> Where issues are not resolved within the required timeframe, they must be </a:t>
            </a:r>
            <a:r>
              <a:rPr lang="en-US" sz="900">
                <a:solidFill>
                  <a:srgbClr val="CC0000"/>
                </a:solidFill>
              </a:rPr>
              <a:t>escalated to the Data Owner or the Data Governance Committee</a:t>
            </a:r>
            <a:r>
              <a:rPr lang="en-US" sz="900">
                <a:solidFill>
                  <a:srgbClr val="4A2E1A"/>
                </a:solidFill>
              </a:rPr>
              <a:t>.</a:t>
            </a:r>
          </a:p>
        </p:txBody>
      </p:sp>
      <p:sp>
        <p:nvSpPr>
          <p:cNvPr id="14" name="Rectangle 13">
            <a:extLst>
              <a:ext uri="{FF2B5EF4-FFF2-40B4-BE49-F238E27FC236}">
                <a16:creationId xmlns:a16="http://schemas.microsoft.com/office/drawing/2014/main" id="{E83A2571-6436-71F3-6E3F-3B1496FE74C1}"/>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5F82089-9F73-A809-8456-2C7375718E0D}"/>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8DC77608-FF4A-57FD-BEDF-9F2EC5F276DA}"/>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42CD135-A05A-111B-81DA-BE51BF3B8E05}"/>
              </a:ext>
            </a:extLst>
          </p:cNvPr>
          <p:cNvSpPr txBox="1"/>
          <p:nvPr/>
        </p:nvSpPr>
        <p:spPr>
          <a:xfrm>
            <a:off x="101600" y="2971800"/>
            <a:ext cx="11988800" cy="369332"/>
          </a:xfrm>
          <a:prstGeom prst="rect">
            <a:avLst/>
          </a:prstGeom>
          <a:noFill/>
        </p:spPr>
        <p:txBody>
          <a:bodyPr vert="horz" wrap="square" rtlCol="0">
            <a:noAutofit/>
          </a:bodyPr>
          <a:lstStyle/>
          <a:p>
            <a:r>
              <a:rPr lang="en-US" sz="900">
                <a:solidFill>
                  <a:srgbClr val="4A2E1A"/>
                </a:solidFill>
              </a:rPr>
              <a:t>For each registered data asset, the Data Steward documents a caveats section covering: </a:t>
            </a:r>
            <a:r>
              <a:rPr lang="en-US" sz="900">
                <a:solidFill>
                  <a:srgbClr val="006400"/>
                </a:solidFill>
              </a:rPr>
              <a:t>Known data quality issues</a:t>
            </a:r>
            <a:r>
              <a:rPr lang="en-US" sz="900">
                <a:solidFill>
                  <a:srgbClr val="4A2E1A"/>
                </a:solidFill>
              </a:rPr>
              <a:t> | </a:t>
            </a:r>
            <a:r>
              <a:rPr lang="en-US" sz="900">
                <a:solidFill>
                  <a:srgbClr val="006400"/>
                </a:solidFill>
              </a:rPr>
              <a:t>Stale or unreliable fields</a:t>
            </a:r>
            <a:r>
              <a:rPr lang="en-US" sz="900">
                <a:solidFill>
                  <a:srgbClr val="4A2E1A"/>
                </a:solidFill>
              </a:rPr>
              <a:t> | </a:t>
            </a:r>
            <a:r>
              <a:rPr lang="en-US" sz="900">
                <a:solidFill>
                  <a:srgbClr val="006400"/>
                </a:solidFill>
              </a:rPr>
              <a:t>Columns not trusted or currently under review</a:t>
            </a:r>
            <a:r>
              <a:rPr lang="en-US" sz="900">
                <a:solidFill>
                  <a:srgbClr val="4A2E1A"/>
                </a:solidFill>
              </a:rPr>
              <a:t> | </a:t>
            </a:r>
            <a:r>
              <a:rPr lang="en-US" sz="900">
                <a:solidFill>
                  <a:srgbClr val="006400"/>
                </a:solidFill>
              </a:rPr>
              <a:t>Open questions pending owner confirmation</a:t>
            </a:r>
            <a:r>
              <a:rPr lang="en-US" sz="900">
                <a:solidFill>
                  <a:srgbClr val="4A2E1A"/>
                </a:solidFill>
              </a:rPr>
              <a:t>. Caveats must be reviewed and updated whenever the Data Steward becomes aware of new issues or when a periodic review is conducted.</a:t>
            </a:r>
          </a:p>
        </p:txBody>
      </p:sp>
      <p:sp>
        <p:nvSpPr>
          <p:cNvPr id="18" name="Rectangle 17">
            <a:extLst>
              <a:ext uri="{FF2B5EF4-FFF2-40B4-BE49-F238E27FC236}">
                <a16:creationId xmlns:a16="http://schemas.microsoft.com/office/drawing/2014/main" id="{F4758908-D4AB-5D92-4193-DA4667325910}"/>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E386FB9-2D0E-AE9F-C110-3813DAE0F440}"/>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3CF604EF-9C78-CD2E-E36F-DE84EA822FF3}"/>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16F9192-7C3D-4000-A13A-301E30BCCF57}"/>
              </a:ext>
            </a:extLst>
          </p:cNvPr>
          <p:cNvSpPr txBox="1"/>
          <p:nvPr/>
        </p:nvSpPr>
        <p:spPr>
          <a:xfrm>
            <a:off x="101600" y="5054600"/>
            <a:ext cx="11988800" cy="369332"/>
          </a:xfrm>
          <a:prstGeom prst="rect">
            <a:avLst/>
          </a:prstGeom>
          <a:noFill/>
        </p:spPr>
        <p:txBody>
          <a:bodyPr vert="horz" wrap="square" rtlCol="0">
            <a:noAutofit/>
          </a:bodyPr>
          <a:lstStyle/>
          <a:p>
            <a:r>
              <a:rPr lang="en-US" sz="900">
                <a:solidFill>
                  <a:srgbClr val="4A2E1A"/>
                </a:solidFill>
              </a:rPr>
              <a:t>System dashboards and formal issue tracking with SLA enforcement are not yet available. A caveats section embedded in the metadata achieves the same consumer-protection purpose: data users see known risks at the point of use. DGC escalation removed (same rationale as other sections). Fully maintainable without additional tooling.</a:t>
            </a:r>
          </a:p>
        </p:txBody>
      </p:sp>
    </p:spTree>
    <p:extLst>
      <p:ext uri="{BB962C8B-B14F-4D97-AF65-F5344CB8AC3E}">
        <p14:creationId xmlns:p14="http://schemas.microsoft.com/office/powerpoint/2010/main" val="115263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71DF38-7380-973D-690A-D69BD70928D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D7E1E3D-87AF-5979-4F79-CC1B4AD0A941}"/>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268572A-A8F2-E319-F79F-8A4ECB440376}"/>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062AD26-A1E4-877D-F278-24E95044DAD7}"/>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F7BD186-E678-4398-CDCE-F24DF697EAA8}"/>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4.8</a:t>
            </a:r>
          </a:p>
        </p:txBody>
      </p:sp>
      <p:sp>
        <p:nvSpPr>
          <p:cNvPr id="7" name="TextBox 6">
            <a:extLst>
              <a:ext uri="{FF2B5EF4-FFF2-40B4-BE49-F238E27FC236}">
                <a16:creationId xmlns:a16="http://schemas.microsoft.com/office/drawing/2014/main" id="{D44FB960-8EED-CC4B-023B-0CCC9559592E}"/>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4.8  Metadata Retirement and Archiving</a:t>
            </a:r>
          </a:p>
        </p:txBody>
      </p:sp>
      <p:sp>
        <p:nvSpPr>
          <p:cNvPr id="8" name="TextBox 7">
            <a:extLst>
              <a:ext uri="{FF2B5EF4-FFF2-40B4-BE49-F238E27FC236}">
                <a16:creationId xmlns:a16="http://schemas.microsoft.com/office/drawing/2014/main" id="{D7B63F44-2A4E-2FFB-F245-ADF02EFD4E5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4.8 / 18</a:t>
            </a:r>
          </a:p>
        </p:txBody>
      </p:sp>
      <p:cxnSp>
        <p:nvCxnSpPr>
          <p:cNvPr id="9" name="Straight Connector 8">
            <a:extLst>
              <a:ext uri="{FF2B5EF4-FFF2-40B4-BE49-F238E27FC236}">
                <a16:creationId xmlns:a16="http://schemas.microsoft.com/office/drawing/2014/main" id="{F93BDFBC-0B59-0702-BDBD-CE2D15377BB0}"/>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9F9583E-5C87-7ADF-5CC6-E1D145329496}"/>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A551CB-103C-34EA-B7E9-FC763C0A7C8E}"/>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6CE59947-B498-FE28-CF5E-F26D253DFBF3}"/>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8DE52DF-54CF-200E-1EDA-EBBD968E04B7}"/>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This process is used to manage metadata associated with data assets that are no longer in active use. The Data Steward identifies data assets that are obsolete or no longer required. Such data assets must be formally marked as deprecated and removed from active use in the system. </a:t>
            </a:r>
            <a:r>
              <a:rPr lang="en-US" sz="1000">
                <a:solidFill>
                  <a:srgbClr val="CC0000"/>
                </a:solidFill>
              </a:rPr>
              <a:t>Metadata associated with retired data assets must be archived in read-only format.</a:t>
            </a:r>
            <a:r>
              <a:rPr lang="en-US" sz="1000">
                <a:solidFill>
                  <a:srgbClr val="4A2E1A"/>
                </a:solidFill>
              </a:rPr>
              <a:t> </a:t>
            </a:r>
            <a:r>
              <a:rPr lang="en-US" sz="1000">
                <a:solidFill>
                  <a:srgbClr val="CC0000"/>
                </a:solidFill>
              </a:rPr>
              <a:t>Retained metadata must comply with the corporate data retention policy and remain available for audit and reference purposes.</a:t>
            </a:r>
          </a:p>
        </p:txBody>
      </p:sp>
      <p:sp>
        <p:nvSpPr>
          <p:cNvPr id="14" name="Rectangle 13">
            <a:extLst>
              <a:ext uri="{FF2B5EF4-FFF2-40B4-BE49-F238E27FC236}">
                <a16:creationId xmlns:a16="http://schemas.microsoft.com/office/drawing/2014/main" id="{4302D4C9-153A-6152-29B1-E756C92154C1}"/>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998F85E-F6B3-BAD7-45D3-CBD5D071B75F}"/>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895EAFC0-1B4C-52ED-C928-5FB371BDE604}"/>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D3604B-C38C-A59C-C362-5B2F0D811C05}"/>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Each registered data asset must carry a lifecycle status field. Required fields: </a:t>
            </a:r>
            <a:r>
              <a:rPr lang="en-US" sz="1000">
                <a:solidFill>
                  <a:srgbClr val="006400"/>
                </a:solidFill>
              </a:rPr>
              <a:t>status (active / deprecated)</a:t>
            </a:r>
            <a:r>
              <a:rPr lang="en-US" sz="1000">
                <a:solidFill>
                  <a:srgbClr val="4A2E1A"/>
                </a:solidFill>
              </a:rPr>
              <a:t> | </a:t>
            </a:r>
            <a:r>
              <a:rPr lang="en-US" sz="1000">
                <a:solidFill>
                  <a:srgbClr val="006400"/>
                </a:solidFill>
              </a:rPr>
              <a:t>replacement_asset (if deprecated)</a:t>
            </a:r>
            <a:r>
              <a:rPr lang="en-US" sz="1000">
                <a:solidFill>
                  <a:srgbClr val="4A2E1A"/>
                </a:solidFill>
              </a:rPr>
              <a:t> | </a:t>
            </a:r>
            <a:r>
              <a:rPr lang="en-US" sz="1000">
                <a:solidFill>
                  <a:srgbClr val="006400"/>
                </a:solidFill>
              </a:rPr>
              <a:t>do_not_use_reason</a:t>
            </a:r>
            <a:r>
              <a:rPr lang="en-US" sz="1000">
                <a:solidFill>
                  <a:srgbClr val="4A2E1A"/>
                </a:solidFill>
              </a:rPr>
              <a:t>. Deprecated data assets must be removed from active use and </a:t>
            </a:r>
            <a:r>
              <a:rPr lang="en-US" sz="1000">
                <a:solidFill>
                  <a:srgbClr val="006400"/>
                </a:solidFill>
              </a:rPr>
              <a:t>must not be referenced in new reporting or analytics unless formally re-approved</a:t>
            </a:r>
            <a:r>
              <a:rPr lang="en-US" sz="1000">
                <a:solidFill>
                  <a:srgbClr val="4A2E1A"/>
                </a:solidFill>
              </a:rPr>
              <a:t>.</a:t>
            </a:r>
          </a:p>
        </p:txBody>
      </p:sp>
      <p:sp>
        <p:nvSpPr>
          <p:cNvPr id="18" name="Rectangle 17">
            <a:extLst>
              <a:ext uri="{FF2B5EF4-FFF2-40B4-BE49-F238E27FC236}">
                <a16:creationId xmlns:a16="http://schemas.microsoft.com/office/drawing/2014/main" id="{041D2E03-CEAD-52E5-BE95-274715823B02}"/>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0BF5B5E-AC24-97C6-641C-BF975D8327CD}"/>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381B23F6-F3FF-8CAE-F705-D07738065B67}"/>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2FBCBCF-9610-9460-3F7B-70454CEC8A97}"/>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Full retirement workflow and read-only archive policy require catalog platform capabilities not yet in place. For actively maintained assets, simple status fields are sufficient to prevent misuse of deprecated data. Corporate data retention policy compliance will be addressed when the archival platform is built. Core protection -- preventing use of deprecated assets -- is fully preserved.</a:t>
            </a:r>
          </a:p>
        </p:txBody>
      </p:sp>
    </p:spTree>
    <p:extLst>
      <p:ext uri="{BB962C8B-B14F-4D97-AF65-F5344CB8AC3E}">
        <p14:creationId xmlns:p14="http://schemas.microsoft.com/office/powerpoint/2010/main" val="3499065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FF8889-9AEC-FE2C-2C10-DDD12F8AFF40}"/>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2FB7F60-6153-DADC-22D1-C9C8A022B758}"/>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0F5FB8-165A-EA0E-965D-A9FD153C5E07}"/>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D084859-7D61-1CD8-7784-60C947A49D58}"/>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0B65C5E-12F5-C14F-F946-E9A18CEF5B67}"/>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5.0</a:t>
            </a:r>
          </a:p>
        </p:txBody>
      </p:sp>
      <p:sp>
        <p:nvSpPr>
          <p:cNvPr id="7" name="TextBox 6">
            <a:extLst>
              <a:ext uri="{FF2B5EF4-FFF2-40B4-BE49-F238E27FC236}">
                <a16:creationId xmlns:a16="http://schemas.microsoft.com/office/drawing/2014/main" id="{A94E52CF-F1B8-59E4-5A43-7D339B77A22A}"/>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5.0  Compliance and Audit</a:t>
            </a:r>
          </a:p>
        </p:txBody>
      </p:sp>
      <p:sp>
        <p:nvSpPr>
          <p:cNvPr id="8" name="TextBox 7">
            <a:extLst>
              <a:ext uri="{FF2B5EF4-FFF2-40B4-BE49-F238E27FC236}">
                <a16:creationId xmlns:a16="http://schemas.microsoft.com/office/drawing/2014/main" id="{40E64A68-B8AB-BC3F-E524-03B75E71E00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5.0 / 18</a:t>
            </a:r>
          </a:p>
        </p:txBody>
      </p:sp>
      <p:cxnSp>
        <p:nvCxnSpPr>
          <p:cNvPr id="9" name="Straight Connector 8">
            <a:extLst>
              <a:ext uri="{FF2B5EF4-FFF2-40B4-BE49-F238E27FC236}">
                <a16:creationId xmlns:a16="http://schemas.microsoft.com/office/drawing/2014/main" id="{BC4B769C-4CEA-6B3E-31A5-30961DE8B5B4}"/>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91C65C-28DE-5E02-0E35-CC190C51C323}"/>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2F8E9B-2111-B94A-5B57-AA027475C36D}"/>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7468D9DD-EA3F-5209-B1AD-EE1DDD2B7787}"/>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34C094C-FB31-3730-5F85-EA2813092A93}"/>
              </a:ext>
            </a:extLst>
          </p:cNvPr>
          <p:cNvSpPr txBox="1"/>
          <p:nvPr/>
        </p:nvSpPr>
        <p:spPr>
          <a:xfrm>
            <a:off x="101600" y="889000"/>
            <a:ext cx="11988800" cy="369332"/>
          </a:xfrm>
          <a:prstGeom prst="rect">
            <a:avLst/>
          </a:prstGeom>
          <a:noFill/>
        </p:spPr>
        <p:txBody>
          <a:bodyPr vert="horz" wrap="square" rtlCol="0">
            <a:noAutofit/>
          </a:bodyPr>
          <a:lstStyle/>
          <a:p>
            <a:r>
              <a:rPr lang="en-US" sz="1000">
                <a:solidFill>
                  <a:srgbClr val="4A2E1A"/>
                </a:solidFill>
              </a:rPr>
              <a:t>All metadata management activities must be auditable. The organization must retain sufficient evidence to demonstrate compliance, including records of metadata creation, modification, validation, approval, classification, and retirement. Audit evidence must include </a:t>
            </a:r>
            <a:r>
              <a:rPr lang="en-US" sz="1000">
                <a:solidFill>
                  <a:srgbClr val="CC0000"/>
                </a:solidFill>
              </a:rPr>
              <a:t>system logs, approval records, version history, and documentation of classification decisions</a:t>
            </a:r>
            <a:r>
              <a:rPr lang="en-US" sz="1000">
                <a:solidFill>
                  <a:srgbClr val="4A2E1A"/>
                </a:solidFill>
              </a:rPr>
              <a:t>. </a:t>
            </a:r>
            <a:r>
              <a:rPr lang="en-US" sz="1000">
                <a:solidFill>
                  <a:srgbClr val="CC0000"/>
                </a:solidFill>
              </a:rPr>
              <a:t>These records must be securely retained and must not be deleted, but may be archived in accordance with retention requirements.</a:t>
            </a:r>
          </a:p>
        </p:txBody>
      </p:sp>
      <p:sp>
        <p:nvSpPr>
          <p:cNvPr id="14" name="Rectangle 13">
            <a:extLst>
              <a:ext uri="{FF2B5EF4-FFF2-40B4-BE49-F238E27FC236}">
                <a16:creationId xmlns:a16="http://schemas.microsoft.com/office/drawing/2014/main" id="{F723AABE-BADA-0B16-434B-9586C334EB94}"/>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E6C3025-14BB-426A-AE30-DD0798739F1C}"/>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31123B8A-032D-C207-EC5D-81D6C76EE212}"/>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BB2E39-436D-E67C-D401-8E9AF8C857BE}"/>
              </a:ext>
            </a:extLst>
          </p:cNvPr>
          <p:cNvSpPr txBox="1"/>
          <p:nvPr/>
        </p:nvSpPr>
        <p:spPr>
          <a:xfrm>
            <a:off x="101600" y="2971800"/>
            <a:ext cx="11988800" cy="369332"/>
          </a:xfrm>
          <a:prstGeom prst="rect">
            <a:avLst/>
          </a:prstGeom>
          <a:noFill/>
        </p:spPr>
        <p:txBody>
          <a:bodyPr vert="horz" wrap="square" rtlCol="0">
            <a:noAutofit/>
          </a:bodyPr>
          <a:lstStyle/>
          <a:p>
            <a:r>
              <a:rPr lang="en-US" sz="1000">
                <a:solidFill>
                  <a:srgbClr val="4A2E1A"/>
                </a:solidFill>
              </a:rPr>
              <a:t>All metadata management activities must be traceable. The following evidence must be maintained for each registered data asset: </a:t>
            </a:r>
            <a:r>
              <a:rPr lang="en-US" sz="1000">
                <a:solidFill>
                  <a:srgbClr val="006400"/>
                </a:solidFill>
              </a:rPr>
              <a:t>last_updated and source_verified_from</a:t>
            </a:r>
            <a:r>
              <a:rPr lang="en-US" sz="1000">
                <a:solidFill>
                  <a:srgbClr val="4A2E1A"/>
                </a:solidFill>
              </a:rPr>
              <a:t> | </a:t>
            </a:r>
            <a:r>
              <a:rPr lang="en-US" sz="1000">
                <a:solidFill>
                  <a:srgbClr val="006400"/>
                </a:solidFill>
              </a:rPr>
              <a:t>change_summary for each significant update</a:t>
            </a:r>
            <a:r>
              <a:rPr lang="en-US" sz="1000">
                <a:solidFill>
                  <a:srgbClr val="4A2E1A"/>
                </a:solidFill>
              </a:rPr>
              <a:t> | </a:t>
            </a:r>
            <a:r>
              <a:rPr lang="en-US" sz="1000">
                <a:solidFill>
                  <a:srgbClr val="006400"/>
                </a:solidFill>
              </a:rPr>
              <a:t>validated_against_live_schema (yes / no)</a:t>
            </a:r>
            <a:r>
              <a:rPr lang="en-US" sz="1000">
                <a:solidFill>
                  <a:srgbClr val="4A2E1A"/>
                </a:solidFill>
              </a:rPr>
              <a:t> | </a:t>
            </a:r>
            <a:r>
              <a:rPr lang="en-US" sz="1000">
                <a:solidFill>
                  <a:srgbClr val="006400"/>
                </a:solidFill>
              </a:rPr>
              <a:t>reviewer_name and last_reviewed_date</a:t>
            </a:r>
            <a:r>
              <a:rPr lang="en-US" sz="1000">
                <a:solidFill>
                  <a:srgbClr val="4A2E1A"/>
                </a:solidFill>
              </a:rPr>
              <a:t>. These records must be </a:t>
            </a:r>
            <a:r>
              <a:rPr lang="en-US" sz="1000">
                <a:solidFill>
                  <a:srgbClr val="006400"/>
                </a:solidFill>
              </a:rPr>
              <a:t>retained and made available for audit or governance review upon request</a:t>
            </a:r>
            <a:r>
              <a:rPr lang="en-US" sz="1000">
                <a:solidFill>
                  <a:srgbClr val="4A2E1A"/>
                </a:solidFill>
              </a:rPr>
              <a:t>.</a:t>
            </a:r>
          </a:p>
        </p:txBody>
      </p:sp>
      <p:sp>
        <p:nvSpPr>
          <p:cNvPr id="18" name="Rectangle 17">
            <a:extLst>
              <a:ext uri="{FF2B5EF4-FFF2-40B4-BE49-F238E27FC236}">
                <a16:creationId xmlns:a16="http://schemas.microsoft.com/office/drawing/2014/main" id="{F8268CBA-B8A9-0E2A-9270-251A92D3E041}"/>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A1ABB6E-2CAC-C5C0-F9AF-9EA0E5F428F8}"/>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4227D90-0DE2-EDC4-1561-B495480F272B}"/>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6C47202-CC1A-66D4-B563-0371E68BBCD7}"/>
              </a:ext>
            </a:extLst>
          </p:cNvPr>
          <p:cNvSpPr txBox="1"/>
          <p:nvPr/>
        </p:nvSpPr>
        <p:spPr>
          <a:xfrm>
            <a:off x="101600" y="5054600"/>
            <a:ext cx="11988800" cy="369332"/>
          </a:xfrm>
          <a:prstGeom prst="rect">
            <a:avLst/>
          </a:prstGeom>
          <a:noFill/>
        </p:spPr>
        <p:txBody>
          <a:bodyPr vert="horz" wrap="square" rtlCol="0">
            <a:noAutofit/>
          </a:bodyPr>
          <a:lstStyle/>
          <a:p>
            <a:r>
              <a:rPr lang="en-US" sz="1000">
                <a:solidFill>
                  <a:srgbClr val="4A2E1A"/>
                </a:solidFill>
              </a:rPr>
              <a:t>'Auditable' retained as core requirement. 'System logs' and 'must not be deleted' clauses require platform infrastructure not yet in place. Simplified traceability fields provide adequate evidence for governance review at this stage and can be enhanced as the platform matures. The compliance intent -- being able to demonstrate what changed, when, and who reviewed it -- is fully preserved.</a:t>
            </a:r>
          </a:p>
        </p:txBody>
      </p:sp>
    </p:spTree>
    <p:extLst>
      <p:ext uri="{BB962C8B-B14F-4D97-AF65-F5344CB8AC3E}">
        <p14:creationId xmlns:p14="http://schemas.microsoft.com/office/powerpoint/2010/main" val="3987623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863F39-5155-25BA-63EA-E9B3195C5D5E}"/>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6F5C28-E62C-1781-AC7F-5B45FD336EBF}"/>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53B9F3-8C7B-3EA1-6DAC-A093C3C1C8D7}"/>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15CC62C-40D3-36F9-4065-EF60C2BA904E}"/>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4353BF-3241-8846-1F09-A3B5A79226F2}"/>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6.0</a:t>
            </a:r>
          </a:p>
        </p:txBody>
      </p:sp>
      <p:sp>
        <p:nvSpPr>
          <p:cNvPr id="7" name="TextBox 6">
            <a:extLst>
              <a:ext uri="{FF2B5EF4-FFF2-40B4-BE49-F238E27FC236}">
                <a16:creationId xmlns:a16="http://schemas.microsoft.com/office/drawing/2014/main" id="{BC8C19FF-EDEB-3E03-9838-3C068022151F}"/>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6.0  Process Risk and Control (PRC)</a:t>
            </a:r>
          </a:p>
        </p:txBody>
      </p:sp>
      <p:sp>
        <p:nvSpPr>
          <p:cNvPr id="8" name="TextBox 7">
            <a:extLst>
              <a:ext uri="{FF2B5EF4-FFF2-40B4-BE49-F238E27FC236}">
                <a16:creationId xmlns:a16="http://schemas.microsoft.com/office/drawing/2014/main" id="{C27F810D-13FD-DECF-A708-603DF25C3959}"/>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6.0 / 18</a:t>
            </a:r>
          </a:p>
        </p:txBody>
      </p:sp>
      <p:cxnSp>
        <p:nvCxnSpPr>
          <p:cNvPr id="9" name="Straight Connector 8">
            <a:extLst>
              <a:ext uri="{FF2B5EF4-FFF2-40B4-BE49-F238E27FC236}">
                <a16:creationId xmlns:a16="http://schemas.microsoft.com/office/drawing/2014/main" id="{33CF94AB-73AA-DC23-388A-B364BB6E22E6}"/>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9CA5D4F-F85D-619A-FF2A-198AF9DF445C}"/>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ADB2EB4-0B43-7F68-EA03-B2FC374FADC6}"/>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B1523ADE-451B-9312-2F56-12795666E550}"/>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89DD99C-30EC-A30C-0767-04AFED5AB928}"/>
              </a:ext>
            </a:extLst>
          </p:cNvPr>
          <p:cNvSpPr txBox="1"/>
          <p:nvPr/>
        </p:nvSpPr>
        <p:spPr>
          <a:xfrm>
            <a:off x="101600" y="889000"/>
            <a:ext cx="11988800" cy="369332"/>
          </a:xfrm>
          <a:prstGeom prst="rect">
            <a:avLst/>
          </a:prstGeom>
          <a:noFill/>
        </p:spPr>
        <p:txBody>
          <a:bodyPr vert="horz" wrap="square" rtlCol="0">
            <a:noAutofit/>
          </a:bodyPr>
          <a:lstStyle/>
          <a:p>
            <a:r>
              <a:rPr lang="en-US" sz="800">
                <a:solidFill>
                  <a:srgbClr val="4A2E1A"/>
                </a:solidFill>
              </a:rPr>
              <a:t>Original: 9-process enterprise PRC table covering full metadata lifecycle:
1. Onboarding: risks -- missing ownership/classification/PDPA; controls -- mandatory registration, </a:t>
            </a:r>
            <a:r>
              <a:rPr lang="en-US" sz="800">
                <a:solidFill>
                  <a:srgbClr val="CC0000"/>
                </a:solidFill>
              </a:rPr>
              <a:t>system-enforced fields</a:t>
            </a:r>
            <a:r>
              <a:rPr lang="en-US" sz="800">
                <a:solidFill>
                  <a:srgbClr val="4A2E1A"/>
                </a:solidFill>
              </a:rPr>
              <a:t>, </a:t>
            </a:r>
            <a:r>
              <a:rPr lang="en-US" sz="800">
                <a:solidFill>
                  <a:srgbClr val="CC0000"/>
                </a:solidFill>
              </a:rPr>
              <a:t>DPO escalation</a:t>
            </a:r>
            <a:r>
              <a:rPr lang="en-US" sz="800">
                <a:solidFill>
                  <a:srgbClr val="4A2E1A"/>
                </a:solidFill>
              </a:rPr>
              <a:t>
2. Enrichment: risks -- inconsistent definitions, incomplete technical metadata; controls -- approved data dictionary, lineage capture, usage context
3. Validation: risks -- incomplete/wrong classification; controls -- </a:t>
            </a:r>
            <a:r>
              <a:rPr lang="en-US" sz="800">
                <a:solidFill>
                  <a:srgbClr val="CC0000"/>
                </a:solidFill>
              </a:rPr>
              <a:t>system checklist</a:t>
            </a:r>
            <a:r>
              <a:rPr lang="en-US" sz="800">
                <a:solidFill>
                  <a:srgbClr val="4A2E1A"/>
                </a:solidFill>
              </a:rPr>
              <a:t>, escalation before approval
4. Approval: risks -- no accountability, missed escalation, no audit trail; controls -- </a:t>
            </a:r>
            <a:r>
              <a:rPr lang="en-US" sz="800">
                <a:solidFill>
                  <a:srgbClr val="CC0000"/>
                </a:solidFill>
              </a:rPr>
              <a:t>system workflow SOD</a:t>
            </a:r>
            <a:r>
              <a:rPr lang="en-US" sz="800">
                <a:solidFill>
                  <a:srgbClr val="4A2E1A"/>
                </a:solidFill>
              </a:rPr>
              <a:t>, </a:t>
            </a:r>
            <a:r>
              <a:rPr lang="en-US" sz="800">
                <a:solidFill>
                  <a:srgbClr val="CC0000"/>
                </a:solidFill>
              </a:rPr>
              <a:t>DGC escalation</a:t>
            </a:r>
            <a:r>
              <a:rPr lang="en-US" sz="800">
                <a:solidFill>
                  <a:srgbClr val="4A2E1A"/>
                </a:solidFill>
              </a:rPr>
              <a:t>, </a:t>
            </a:r>
            <a:r>
              <a:rPr lang="en-US" sz="800">
                <a:solidFill>
                  <a:srgbClr val="CC0000"/>
                </a:solidFill>
              </a:rPr>
              <a:t>system-logged approvals</a:t>
            </a:r>
            <a:r>
              <a:rPr lang="en-US" sz="800">
                <a:solidFill>
                  <a:srgbClr val="4A2E1A"/>
                </a:solidFill>
              </a:rPr>
              <a:t>
5. Publication: risks -- unapproved metadata in production; controls -- </a:t>
            </a:r>
            <a:r>
              <a:rPr lang="en-US" sz="800">
                <a:solidFill>
                  <a:srgbClr val="CC0000"/>
                </a:solidFill>
              </a:rPr>
              <a:t>RBAC, catalog access control</a:t>
            </a:r>
            <a:r>
              <a:rPr lang="en-US" sz="800">
                <a:solidFill>
                  <a:srgbClr val="4A2E1A"/>
                </a:solidFill>
              </a:rPr>
              <a:t>
6. Change Mgmt: risks -- outdated metadata, unauthorized changes; controls -- </a:t>
            </a:r>
            <a:r>
              <a:rPr lang="en-US" sz="800">
                <a:solidFill>
                  <a:srgbClr val="CC0000"/>
                </a:solidFill>
              </a:rPr>
              <a:t>system workflow, SOD, version control</a:t>
            </a:r>
            <a:r>
              <a:rPr lang="en-US" sz="800">
                <a:solidFill>
                  <a:srgbClr val="4A2E1A"/>
                </a:solidFill>
              </a:rPr>
              <a:t>
7. Quality: risks -- quality deteriorates, issues unresolved; controls -- </a:t>
            </a:r>
            <a:r>
              <a:rPr lang="en-US" sz="800">
                <a:solidFill>
                  <a:srgbClr val="CC0000"/>
                </a:solidFill>
              </a:rPr>
              <a:t>system dashboards, SLA tracking, DGC escalation</a:t>
            </a:r>
            <a:r>
              <a:rPr lang="en-US" sz="800">
                <a:solidFill>
                  <a:srgbClr val="4A2E1A"/>
                </a:solidFill>
              </a:rPr>
              <a:t>
8. Retirement: risks -- obsolete metadata in use; controls -- </a:t>
            </a:r>
            <a:r>
              <a:rPr lang="en-US" sz="800">
                <a:solidFill>
                  <a:srgbClr val="CC0000"/>
                </a:solidFill>
              </a:rPr>
              <a:t>deprecation workflow, read-only archive</a:t>
            </a:r>
            <a:r>
              <a:rPr lang="en-US" sz="800">
                <a:solidFill>
                  <a:srgbClr val="4A2E1A"/>
                </a:solidFill>
              </a:rPr>
              <a:t>
9. Compliance: risks -- cannot demonstrate compliance; controls -- </a:t>
            </a:r>
            <a:r>
              <a:rPr lang="en-US" sz="800">
                <a:solidFill>
                  <a:srgbClr val="CC0000"/>
                </a:solidFill>
              </a:rPr>
              <a:t>system logs, immutable records, version history</a:t>
            </a:r>
          </a:p>
        </p:txBody>
      </p:sp>
      <p:sp>
        <p:nvSpPr>
          <p:cNvPr id="14" name="Rectangle 13">
            <a:extLst>
              <a:ext uri="{FF2B5EF4-FFF2-40B4-BE49-F238E27FC236}">
                <a16:creationId xmlns:a16="http://schemas.microsoft.com/office/drawing/2014/main" id="{B59A6D27-C444-394C-1CC6-E5117EBA67B9}"/>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6BA9CB-6B98-3D4C-1469-EAD620675C3E}"/>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9AC0CD44-96C0-90AD-3BBA-2815A3BACE9F}"/>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D701224-48C4-DFEB-8E88-B1111BE7EF8B}"/>
              </a:ext>
            </a:extLst>
          </p:cNvPr>
          <p:cNvSpPr txBox="1"/>
          <p:nvPr/>
        </p:nvSpPr>
        <p:spPr>
          <a:xfrm>
            <a:off x="101600" y="2971800"/>
            <a:ext cx="11988800" cy="369332"/>
          </a:xfrm>
          <a:prstGeom prst="rect">
            <a:avLst/>
          </a:prstGeom>
          <a:noFill/>
        </p:spPr>
        <p:txBody>
          <a:bodyPr vert="horz" wrap="square" rtlCol="0">
            <a:noAutofit/>
          </a:bodyPr>
          <a:lstStyle/>
          <a:p>
            <a:r>
              <a:rPr lang="en-US" sz="800">
                <a:solidFill>
                  <a:srgbClr val="4A2E1A"/>
                </a:solidFill>
              </a:rPr>
              <a:t>Revised: 5 practical query-level risks with targeted controls:
1. </a:t>
            </a:r>
            <a:r>
              <a:rPr lang="en-US" sz="800">
                <a:solidFill>
                  <a:srgbClr val="006400"/>
                </a:solidFill>
              </a:rPr>
              <a:t>Wrong Metric Risk</a:t>
            </a:r>
            <a:r>
              <a:rPr lang="en-US" sz="800">
                <a:solidFill>
                  <a:srgbClr val="4A2E1A"/>
                </a:solidFill>
              </a:rPr>
              <a:t> -- queries use wrong formula; control: document </a:t>
            </a:r>
            <a:r>
              <a:rPr lang="en-US" sz="800">
                <a:solidFill>
                  <a:srgbClr val="006400"/>
                </a:solidFill>
              </a:rPr>
              <a:t>canonical metric definitions</a:t>
            </a:r>
            <a:r>
              <a:rPr lang="en-US" sz="800">
                <a:solidFill>
                  <a:srgbClr val="4A2E1A"/>
                </a:solidFill>
              </a:rPr>
              <a:t> and mandatory filter predicates
2. </a:t>
            </a:r>
            <a:r>
              <a:rPr lang="en-US" sz="800">
                <a:solidFill>
                  <a:srgbClr val="006400"/>
                </a:solidFill>
              </a:rPr>
              <a:t>Sensitive Data Risk</a:t>
            </a:r>
            <a:r>
              <a:rPr lang="en-US" sz="800">
                <a:solidFill>
                  <a:srgbClr val="4A2E1A"/>
                </a:solidFill>
              </a:rPr>
              <a:t> -- restricted columns exposed; control: mark </a:t>
            </a:r>
            <a:r>
              <a:rPr lang="en-US" sz="800">
                <a:solidFill>
                  <a:srgbClr val="006400"/>
                </a:solidFill>
              </a:rPr>
              <a:t>pdpa_flag, restricted_columns</a:t>
            </a:r>
            <a:r>
              <a:rPr lang="en-US" sz="800">
                <a:solidFill>
                  <a:srgbClr val="4A2E1A"/>
                </a:solidFill>
              </a:rPr>
              <a:t>, allowed_usage; applications must refuse when flagged
3. </a:t>
            </a:r>
            <a:r>
              <a:rPr lang="en-US" sz="800">
                <a:solidFill>
                  <a:srgbClr val="006400"/>
                </a:solidFill>
              </a:rPr>
              <a:t>Stale Data Risk</a:t>
            </a:r>
            <a:r>
              <a:rPr lang="en-US" sz="800">
                <a:solidFill>
                  <a:srgbClr val="4A2E1A"/>
                </a:solidFill>
              </a:rPr>
              <a:t> -- outdated data served without warning; control: document </a:t>
            </a:r>
            <a:r>
              <a:rPr lang="en-US" sz="800">
                <a:solidFill>
                  <a:srgbClr val="006400"/>
                </a:solidFill>
              </a:rPr>
              <a:t>refresh_frequency, last_successful_refresh</a:t>
            </a:r>
            <a:r>
              <a:rPr lang="en-US" sz="800">
                <a:solidFill>
                  <a:srgbClr val="4A2E1A"/>
                </a:solidFill>
              </a:rPr>
              <a:t>, known_latency
4. </a:t>
            </a:r>
            <a:r>
              <a:rPr lang="en-US" sz="800">
                <a:solidFill>
                  <a:srgbClr val="006400"/>
                </a:solidFill>
              </a:rPr>
              <a:t>Join Duplication Risk</a:t>
            </a:r>
            <a:r>
              <a:rPr lang="en-US" sz="800">
                <a:solidFill>
                  <a:srgbClr val="4A2E1A"/>
                </a:solidFill>
              </a:rPr>
              <a:t> -- wrong joins cause row multiplication; control: document </a:t>
            </a:r>
            <a:r>
              <a:rPr lang="en-US" sz="800">
                <a:solidFill>
                  <a:srgbClr val="006400"/>
                </a:solidFill>
              </a:rPr>
              <a:t>join keys and cardinality</a:t>
            </a:r>
            <a:r>
              <a:rPr lang="en-US" sz="800">
                <a:solidFill>
                  <a:srgbClr val="4A2E1A"/>
                </a:solidFill>
              </a:rPr>
              <a:t> (1:1, 1:N) per asset pair
5. </a:t>
            </a:r>
            <a:r>
              <a:rPr lang="en-US" sz="800">
                <a:solidFill>
                  <a:srgbClr val="006400"/>
                </a:solidFill>
              </a:rPr>
              <a:t>Incorrect Filter Risk</a:t>
            </a:r>
            <a:r>
              <a:rPr lang="en-US" sz="800">
                <a:solidFill>
                  <a:srgbClr val="4A2E1A"/>
                </a:solidFill>
              </a:rPr>
              <a:t> -- wrong subsets returned; control: document </a:t>
            </a:r>
            <a:r>
              <a:rPr lang="en-US" sz="800">
                <a:solidFill>
                  <a:srgbClr val="006400"/>
                </a:solidFill>
              </a:rPr>
              <a:t>canonical filter predicates</a:t>
            </a:r>
            <a:r>
              <a:rPr lang="en-US" sz="800">
                <a:solidFill>
                  <a:srgbClr val="4A2E1A"/>
                </a:solidFill>
              </a:rPr>
              <a:t> and mandatory WHERE conditions</a:t>
            </a:r>
          </a:p>
        </p:txBody>
      </p:sp>
      <p:sp>
        <p:nvSpPr>
          <p:cNvPr id="18" name="Rectangle 17">
            <a:extLst>
              <a:ext uri="{FF2B5EF4-FFF2-40B4-BE49-F238E27FC236}">
                <a16:creationId xmlns:a16="http://schemas.microsoft.com/office/drawing/2014/main" id="{8913438D-B93D-E340-294B-A3BAB4D87EF3}"/>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24BFDA3-916E-66BF-D223-BEBED739DD3B}"/>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54202952-1130-410F-7F17-8F44E5D3950D}"/>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8152FB3-B17C-6E37-4CED-75D798CEC366}"/>
              </a:ext>
            </a:extLst>
          </p:cNvPr>
          <p:cNvSpPr txBox="1"/>
          <p:nvPr/>
        </p:nvSpPr>
        <p:spPr>
          <a:xfrm>
            <a:off x="101600" y="5054600"/>
            <a:ext cx="11988800" cy="369332"/>
          </a:xfrm>
          <a:prstGeom prst="rect">
            <a:avLst/>
          </a:prstGeom>
          <a:noFill/>
        </p:spPr>
        <p:txBody>
          <a:bodyPr vert="horz" wrap="square" rtlCol="0">
            <a:noAutofit/>
          </a:bodyPr>
          <a:lstStyle/>
          <a:p>
            <a:r>
              <a:rPr lang="en-US" sz="800">
                <a:solidFill>
                  <a:srgbClr val="4A2E1A"/>
                </a:solidFill>
              </a:rPr>
              <a:t>The 9-process enterprise PRC covers process-governance risks. Many controls reference system infrastructure (workflow, RBAC, SOD, dashboards) not yet built, making them currently unenforceable. The 5 revised risks are data-consumer risks the working team can act on today with no additional tooling. They protect against the most common causes of wrong query results and sensitive data exposure.</a:t>
            </a:r>
          </a:p>
        </p:txBody>
      </p:sp>
    </p:spTree>
    <p:extLst>
      <p:ext uri="{BB962C8B-B14F-4D97-AF65-F5344CB8AC3E}">
        <p14:creationId xmlns:p14="http://schemas.microsoft.com/office/powerpoint/2010/main" val="4089661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2D0419-CBB8-A837-0A0B-15008D8E37A8}"/>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FE2B33-E3C8-1771-1ACC-B5B44703D204}"/>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9DE4641-E3BB-1CE9-DE3C-C9A5B5823EDA}"/>
              </a:ext>
            </a:extLst>
          </p:cNvPr>
          <p:cNvSpPr/>
          <p:nvPr/>
        </p:nvSpPr>
        <p:spPr>
          <a:xfrm>
            <a:off x="0" y="0"/>
            <a:ext cx="12192000" cy="533400"/>
          </a:xfrm>
          <a:prstGeom prst="rect">
            <a:avLst/>
          </a:prstGeom>
          <a:solidFill>
            <a:srgbClr val="FBF7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182B888-5DFD-0BF8-C85D-B441A2432DDD}"/>
              </a:ext>
            </a:extLst>
          </p:cNvPr>
          <p:cNvSpPr/>
          <p:nvPr/>
        </p:nvSpPr>
        <p:spPr>
          <a:xfrm>
            <a:off x="508000" y="114300"/>
            <a:ext cx="660400" cy="3048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C4BB74D-5FFC-4DA1-4F6C-4C2D8102B9B4}"/>
              </a:ext>
            </a:extLst>
          </p:cNvPr>
          <p:cNvSpPr txBox="1"/>
          <p:nvPr/>
        </p:nvSpPr>
        <p:spPr>
          <a:xfrm>
            <a:off x="508000" y="114300"/>
            <a:ext cx="660400" cy="369332"/>
          </a:xfrm>
          <a:prstGeom prst="rect">
            <a:avLst/>
          </a:prstGeom>
          <a:noFill/>
        </p:spPr>
        <p:txBody>
          <a:bodyPr vert="horz" wrap="square" rtlCol="0">
            <a:noAutofit/>
          </a:bodyPr>
          <a:lstStyle/>
          <a:p>
            <a:pPr algn="ctr"/>
            <a:r>
              <a:rPr lang="en-US" sz="1000" b="1">
                <a:solidFill>
                  <a:srgbClr val="FFFFFF"/>
                </a:solidFill>
              </a:rPr>
              <a:t>App.A</a:t>
            </a:r>
          </a:p>
        </p:txBody>
      </p:sp>
      <p:sp>
        <p:nvSpPr>
          <p:cNvPr id="7" name="TextBox 6">
            <a:extLst>
              <a:ext uri="{FF2B5EF4-FFF2-40B4-BE49-F238E27FC236}">
                <a16:creationId xmlns:a16="http://schemas.microsoft.com/office/drawing/2014/main" id="{804AB22B-7F71-17A7-9719-6A9F6A26EC04}"/>
              </a:ext>
            </a:extLst>
          </p:cNvPr>
          <p:cNvSpPr txBox="1"/>
          <p:nvPr/>
        </p:nvSpPr>
        <p:spPr>
          <a:xfrm>
            <a:off x="1270000" y="114300"/>
            <a:ext cx="8636000" cy="369332"/>
          </a:xfrm>
          <a:prstGeom prst="rect">
            <a:avLst/>
          </a:prstGeom>
          <a:noFill/>
        </p:spPr>
        <p:txBody>
          <a:bodyPr vert="horz" wrap="square" rtlCol="0">
            <a:noAutofit/>
          </a:bodyPr>
          <a:lstStyle/>
          <a:p>
            <a:r>
              <a:rPr lang="en-US" sz="1200" b="1">
                <a:solidFill>
                  <a:srgbClr val="4A2E1A"/>
                </a:solidFill>
              </a:rPr>
              <a:t>Appendix A  --  RACI Matrix -&gt; Field Register</a:t>
            </a:r>
          </a:p>
        </p:txBody>
      </p:sp>
      <p:sp>
        <p:nvSpPr>
          <p:cNvPr id="8" name="TextBox 7">
            <a:extLst>
              <a:ext uri="{FF2B5EF4-FFF2-40B4-BE49-F238E27FC236}">
                <a16:creationId xmlns:a16="http://schemas.microsoft.com/office/drawing/2014/main" id="{AB14EAB1-3393-2B3E-E715-DA3C59FD59D8}"/>
              </a:ext>
            </a:extLst>
          </p:cNvPr>
          <p:cNvSpPr txBox="1"/>
          <p:nvPr/>
        </p:nvSpPr>
        <p:spPr>
          <a:xfrm>
            <a:off x="10414000" y="177800"/>
            <a:ext cx="1524000" cy="369332"/>
          </a:xfrm>
          <a:prstGeom prst="rect">
            <a:avLst/>
          </a:prstGeom>
          <a:noFill/>
        </p:spPr>
        <p:txBody>
          <a:bodyPr vert="horz" wrap="square" rtlCol="0">
            <a:noAutofit/>
          </a:bodyPr>
          <a:lstStyle/>
          <a:p>
            <a:pPr algn="r"/>
            <a:r>
              <a:rPr lang="en-US" sz="900">
                <a:solidFill>
                  <a:srgbClr val="8D7A6B"/>
                </a:solidFill>
              </a:rPr>
              <a:t>Change App.A / 18</a:t>
            </a:r>
          </a:p>
        </p:txBody>
      </p:sp>
      <p:cxnSp>
        <p:nvCxnSpPr>
          <p:cNvPr id="9" name="Straight Connector 8">
            <a:extLst>
              <a:ext uri="{FF2B5EF4-FFF2-40B4-BE49-F238E27FC236}">
                <a16:creationId xmlns:a16="http://schemas.microsoft.com/office/drawing/2014/main" id="{AB079CC4-9AE3-C3CB-CA7B-91A7EF4D741B}"/>
              </a:ext>
            </a:extLst>
          </p:cNvPr>
          <p:cNvCxnSpPr/>
          <p:nvPr/>
        </p:nvCxnSpPr>
        <p:spPr>
          <a:xfrm>
            <a:off x="0" y="533400"/>
            <a:ext cx="12192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5E4B98C-9CC2-DCB5-5E94-0E6FFB6DC120}"/>
              </a:ext>
            </a:extLst>
          </p:cNvPr>
          <p:cNvSpPr/>
          <p:nvPr/>
        </p:nvSpPr>
        <p:spPr>
          <a:xfrm>
            <a:off x="0" y="546100"/>
            <a:ext cx="12192000" cy="2070100"/>
          </a:xfrm>
          <a:prstGeom prst="rect">
            <a:avLst/>
          </a:prstGeom>
          <a:solidFill>
            <a:srgbClr val="ECECF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4EBB927-CD23-2006-1AA2-A57DB46E0F4E}"/>
              </a:ext>
            </a:extLst>
          </p:cNvPr>
          <p:cNvSpPr txBox="1"/>
          <p:nvPr/>
        </p:nvSpPr>
        <p:spPr>
          <a:xfrm>
            <a:off x="101600" y="609600"/>
            <a:ext cx="863600" cy="369332"/>
          </a:xfrm>
          <a:prstGeom prst="rect">
            <a:avLst/>
          </a:prstGeom>
          <a:noFill/>
        </p:spPr>
        <p:txBody>
          <a:bodyPr vert="horz" wrap="square" rtlCol="0">
            <a:noAutofit/>
          </a:bodyPr>
          <a:lstStyle/>
          <a:p>
            <a:r>
              <a:rPr lang="en-US" sz="700" b="1">
                <a:solidFill>
                  <a:srgbClr val="4A2E1A"/>
                </a:solidFill>
              </a:rPr>
              <a:t>ORIGINAL</a:t>
            </a:r>
          </a:p>
        </p:txBody>
      </p:sp>
      <p:cxnSp>
        <p:nvCxnSpPr>
          <p:cNvPr id="12" name="Straight Connector 11">
            <a:extLst>
              <a:ext uri="{FF2B5EF4-FFF2-40B4-BE49-F238E27FC236}">
                <a16:creationId xmlns:a16="http://schemas.microsoft.com/office/drawing/2014/main" id="{E628BB0E-1431-F8F8-E119-3EE984F5CC1A}"/>
              </a:ext>
            </a:extLst>
          </p:cNvPr>
          <p:cNvCxnSpPr/>
          <p:nvPr/>
        </p:nvCxnSpPr>
        <p:spPr>
          <a:xfrm>
            <a:off x="101600" y="8382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1466D45-452C-4F78-6382-3286C641A7C8}"/>
              </a:ext>
            </a:extLst>
          </p:cNvPr>
          <p:cNvSpPr txBox="1"/>
          <p:nvPr/>
        </p:nvSpPr>
        <p:spPr>
          <a:xfrm>
            <a:off x="101600" y="889000"/>
            <a:ext cx="11988800" cy="369332"/>
          </a:xfrm>
          <a:prstGeom prst="rect">
            <a:avLst/>
          </a:prstGeom>
          <a:noFill/>
        </p:spPr>
        <p:txBody>
          <a:bodyPr vert="horz" wrap="square" rtlCol="0">
            <a:noAutofit/>
          </a:bodyPr>
          <a:lstStyle/>
          <a:p>
            <a:r>
              <a:rPr lang="en-US" sz="800">
                <a:solidFill>
                  <a:srgbClr val="4A2E1A"/>
                </a:solidFill>
              </a:rPr>
              <a:t>Original Appendix A: Detailed RACI Matrix (R=Responsible A=Accountable C=Consulted I=Informed)
Activity               | Data Steward | Data Owner | Custodian/IT/XPO | </a:t>
            </a:r>
            <a:r>
              <a:rPr lang="en-US" sz="800">
                <a:solidFill>
                  <a:srgbClr val="CC0000"/>
                </a:solidFill>
              </a:rPr>
              <a:t>DGC</a:t>
            </a:r>
            <a:r>
              <a:rPr lang="en-US" sz="800">
                <a:solidFill>
                  <a:srgbClr val="4A2E1A"/>
                </a:solidFill>
              </a:rPr>
              <a:t>
Define standards       |     R        |     C      |        C         |  A
Identify new assets    |     R        |     A      |        C         |  I
Create business meta   |     R        |     A      |        C         |  I
Capture technical meta |     C        |     I      |       R/A        |  I
Validate completeness  |     R        |     C      |        C         |  I
Approve classification |     C        |     A      |        I         |  I
</a:t>
            </a:r>
            <a:r>
              <a:rPr lang="en-US" sz="800">
                <a:solidFill>
                  <a:srgbClr val="CC0000"/>
                </a:solidFill>
              </a:rPr>
              <a:t>Escalate high-risk     |     R        |     C      |        C         |  A</a:t>
            </a:r>
            <a:r>
              <a:rPr lang="en-US" sz="800">
                <a:solidFill>
                  <a:srgbClr val="4A2E1A"/>
                </a:solidFill>
              </a:rPr>
              <a:t>
Publish metadata       |     R        |     A      |        R         |  I
Maintain and update    |     R        |     A      |        R         |  I
Monitor quality        |     R        |     C      |        C         |  I
</a:t>
            </a:r>
            <a:r>
              <a:rPr lang="en-US" sz="800">
                <a:solidFill>
                  <a:srgbClr val="CC0000"/>
                </a:solidFill>
              </a:rPr>
              <a:t>Retire / archive       |     R        |     A      |        R         |  I</a:t>
            </a:r>
          </a:p>
        </p:txBody>
      </p:sp>
      <p:sp>
        <p:nvSpPr>
          <p:cNvPr id="14" name="Rectangle 13">
            <a:extLst>
              <a:ext uri="{FF2B5EF4-FFF2-40B4-BE49-F238E27FC236}">
                <a16:creationId xmlns:a16="http://schemas.microsoft.com/office/drawing/2014/main" id="{65CE7C67-A4BE-15A9-DA54-52BB7ADE4DA7}"/>
              </a:ext>
            </a:extLst>
          </p:cNvPr>
          <p:cNvSpPr/>
          <p:nvPr/>
        </p:nvSpPr>
        <p:spPr>
          <a:xfrm>
            <a:off x="0" y="2628900"/>
            <a:ext cx="12192000" cy="2070100"/>
          </a:xfrm>
          <a:prstGeom prst="rect">
            <a:avLst/>
          </a:prstGeom>
          <a:solidFill>
            <a:srgbClr val="CDF3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F8ACAAF-F3FA-2D5F-5614-D54DF53B45CB}"/>
              </a:ext>
            </a:extLst>
          </p:cNvPr>
          <p:cNvSpPr txBox="1"/>
          <p:nvPr/>
        </p:nvSpPr>
        <p:spPr>
          <a:xfrm>
            <a:off x="101600" y="2692400"/>
            <a:ext cx="863600" cy="369332"/>
          </a:xfrm>
          <a:prstGeom prst="rect">
            <a:avLst/>
          </a:prstGeom>
          <a:noFill/>
        </p:spPr>
        <p:txBody>
          <a:bodyPr vert="horz" wrap="square" rtlCol="0">
            <a:noAutofit/>
          </a:bodyPr>
          <a:lstStyle/>
          <a:p>
            <a:r>
              <a:rPr lang="en-US" sz="700" b="1">
                <a:solidFill>
                  <a:srgbClr val="4A2E1A"/>
                </a:solidFill>
              </a:rPr>
              <a:t>CHANGE</a:t>
            </a:r>
          </a:p>
        </p:txBody>
      </p:sp>
      <p:cxnSp>
        <p:nvCxnSpPr>
          <p:cNvPr id="16" name="Straight Connector 15">
            <a:extLst>
              <a:ext uri="{FF2B5EF4-FFF2-40B4-BE49-F238E27FC236}">
                <a16:creationId xmlns:a16="http://schemas.microsoft.com/office/drawing/2014/main" id="{99E65097-7028-BF85-0964-AE6283217493}"/>
              </a:ext>
            </a:extLst>
          </p:cNvPr>
          <p:cNvCxnSpPr/>
          <p:nvPr/>
        </p:nvCxnSpPr>
        <p:spPr>
          <a:xfrm>
            <a:off x="101600" y="29210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B0953E1-CB31-3144-2A24-842BED217F58}"/>
              </a:ext>
            </a:extLst>
          </p:cNvPr>
          <p:cNvSpPr txBox="1"/>
          <p:nvPr/>
        </p:nvSpPr>
        <p:spPr>
          <a:xfrm>
            <a:off x="101600" y="2971800"/>
            <a:ext cx="11988800" cy="369332"/>
          </a:xfrm>
          <a:prstGeom prst="rect">
            <a:avLst/>
          </a:prstGeom>
          <a:noFill/>
        </p:spPr>
        <p:txBody>
          <a:bodyPr vert="horz" wrap="square" rtlCol="0">
            <a:noAutofit/>
          </a:bodyPr>
          <a:lstStyle/>
          <a:p>
            <a:r>
              <a:rPr lang="en-US" sz="800">
                <a:solidFill>
                  <a:srgbClr val="4A2E1A"/>
                </a:solidFill>
              </a:rPr>
              <a:t>Revised Appendix A: Metadata Fields Required Per Data Asset (* = mandatory before asset may be used)
Ownership: </a:t>
            </a:r>
            <a:r>
              <a:rPr lang="en-US" sz="800">
                <a:solidFill>
                  <a:srgbClr val="006400"/>
                </a:solidFill>
              </a:rPr>
              <a:t>table_name*</a:t>
            </a:r>
            <a:r>
              <a:rPr lang="en-US" sz="800">
                <a:solidFill>
                  <a:srgbClr val="4A2E1A"/>
                </a:solidFill>
              </a:rPr>
              <a:t> | schema_name* | </a:t>
            </a:r>
            <a:r>
              <a:rPr lang="en-US" sz="800">
                <a:solidFill>
                  <a:srgbClr val="006400"/>
                </a:solidFill>
              </a:rPr>
              <a:t>business_owner*</a:t>
            </a:r>
            <a:r>
              <a:rPr lang="en-US" sz="800">
                <a:solidFill>
                  <a:srgbClr val="4A2E1A"/>
                </a:solidFill>
              </a:rPr>
              <a:t> | </a:t>
            </a:r>
            <a:r>
              <a:rPr lang="en-US" sz="800">
                <a:solidFill>
                  <a:srgbClr val="006400"/>
                </a:solidFill>
              </a:rPr>
              <a:t>technical_owner*</a:t>
            </a:r>
            <a:r>
              <a:rPr lang="en-US" sz="800">
                <a:solidFill>
                  <a:srgbClr val="4A2E1A"/>
                </a:solidFill>
              </a:rPr>
              <a:t> | </a:t>
            </a:r>
            <a:r>
              <a:rPr lang="en-US" sz="800">
                <a:solidFill>
                  <a:srgbClr val="006400"/>
                </a:solidFill>
              </a:rPr>
              <a:t>data_steward_contact*</a:t>
            </a:r>
            <a:r>
              <a:rPr lang="en-US" sz="800">
                <a:solidFill>
                  <a:srgbClr val="4A2E1A"/>
                </a:solidFill>
              </a:rPr>
              <a:t> | upstream_job_owner
Business: table_purpose* | row_grain* | primary_keys* | date_column*
Technical: refresh_frequency* | last_successful_refresh | known_latency | upstream_dependencies
Review: </a:t>
            </a:r>
            <a:r>
              <a:rPr lang="en-US" sz="800">
                <a:solidFill>
                  <a:srgbClr val="006400"/>
                </a:solidFill>
              </a:rPr>
              <a:t>metadata_status*</a:t>
            </a:r>
            <a:r>
              <a:rPr lang="en-US" sz="800">
                <a:solidFill>
                  <a:srgbClr val="4A2E1A"/>
                </a:solidFill>
              </a:rPr>
              <a:t> | last_reviewed_date* | reviewer_name* | owner_contact* | last_updated* | source_verified_from | change_summary | validated_against_live_schema*
Usage: usage_status* | </a:t>
            </a:r>
            <a:r>
              <a:rPr lang="en-US" sz="800">
                <a:solidFill>
                  <a:srgbClr val="006400"/>
                </a:solidFill>
              </a:rPr>
              <a:t>safe_for_use*</a:t>
            </a:r>
            <a:r>
              <a:rPr lang="en-US" sz="800">
                <a:solidFill>
                  <a:srgbClr val="4A2E1A"/>
                </a:solidFill>
              </a:rPr>
              <a:t> | reason_if_restricted | restricted_columns | </a:t>
            </a:r>
            <a:r>
              <a:rPr lang="en-US" sz="800">
                <a:solidFill>
                  <a:srgbClr val="006400"/>
                </a:solidFill>
              </a:rPr>
              <a:t>pdpa_flag*</a:t>
            </a:r>
            <a:r>
              <a:rPr lang="en-US" sz="800">
                <a:solidFill>
                  <a:srgbClr val="4A2E1A"/>
                </a:solidFill>
              </a:rPr>
              <a:t> | risk_level | allowed_usage | status* | replacement_asset | do_not_use_reason
Quality: </a:t>
            </a:r>
            <a:r>
              <a:rPr lang="en-US" sz="800">
                <a:solidFill>
                  <a:srgbClr val="006400"/>
                </a:solidFill>
              </a:rPr>
              <a:t>known_data_quality_issues</a:t>
            </a:r>
            <a:r>
              <a:rPr lang="en-US" sz="800">
                <a:solidFill>
                  <a:srgbClr val="4A2E1A"/>
                </a:solidFill>
              </a:rPr>
              <a:t> | columns_not_trusted | open_questions | caveats
Plus per column/metric: definitions, synonyms, metric formulas, join rules, example query patterns</a:t>
            </a:r>
          </a:p>
        </p:txBody>
      </p:sp>
      <p:sp>
        <p:nvSpPr>
          <p:cNvPr id="18" name="Rectangle 17">
            <a:extLst>
              <a:ext uri="{FF2B5EF4-FFF2-40B4-BE49-F238E27FC236}">
                <a16:creationId xmlns:a16="http://schemas.microsoft.com/office/drawing/2014/main" id="{9752C8ED-8F44-84D9-52C0-E1147F5F8C4E}"/>
              </a:ext>
            </a:extLst>
          </p:cNvPr>
          <p:cNvSpPr/>
          <p:nvPr/>
        </p:nvSpPr>
        <p:spPr>
          <a:xfrm>
            <a:off x="0" y="4711700"/>
            <a:ext cx="12192000" cy="2070100"/>
          </a:xfrm>
          <a:prstGeom prst="rect">
            <a:avLst/>
          </a:prstGeom>
          <a:solidFill>
            <a:srgbClr val="E9F5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C1FFAB6-02F7-B2A8-472A-81592BD90950}"/>
              </a:ext>
            </a:extLst>
          </p:cNvPr>
          <p:cNvSpPr txBox="1"/>
          <p:nvPr/>
        </p:nvSpPr>
        <p:spPr>
          <a:xfrm>
            <a:off x="101600" y="4775200"/>
            <a:ext cx="863600" cy="369332"/>
          </a:xfrm>
          <a:prstGeom prst="rect">
            <a:avLst/>
          </a:prstGeom>
          <a:noFill/>
        </p:spPr>
        <p:txBody>
          <a:bodyPr vert="horz" wrap="square" rtlCol="0">
            <a:noAutofit/>
          </a:bodyPr>
          <a:lstStyle/>
          <a:p>
            <a:r>
              <a:rPr lang="en-US" sz="700" b="1">
                <a:solidFill>
                  <a:srgbClr val="4A2E1A"/>
                </a:solidFill>
              </a:rPr>
              <a:t>REASON</a:t>
            </a:r>
          </a:p>
        </p:txBody>
      </p:sp>
      <p:cxnSp>
        <p:nvCxnSpPr>
          <p:cNvPr id="20" name="Straight Connector 19">
            <a:extLst>
              <a:ext uri="{FF2B5EF4-FFF2-40B4-BE49-F238E27FC236}">
                <a16:creationId xmlns:a16="http://schemas.microsoft.com/office/drawing/2014/main" id="{690F9602-A9B4-7C63-B0A0-7C92E79192AF}"/>
              </a:ext>
            </a:extLst>
          </p:cNvPr>
          <p:cNvCxnSpPr/>
          <p:nvPr/>
        </p:nvCxnSpPr>
        <p:spPr>
          <a:xfrm>
            <a:off x="101600" y="5003800"/>
            <a:ext cx="119888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C8E365-B3E1-32F9-E0BE-1A6EB9C2855C}"/>
              </a:ext>
            </a:extLst>
          </p:cNvPr>
          <p:cNvSpPr txBox="1"/>
          <p:nvPr/>
        </p:nvSpPr>
        <p:spPr>
          <a:xfrm>
            <a:off x="101600" y="5054600"/>
            <a:ext cx="11988800" cy="369332"/>
          </a:xfrm>
          <a:prstGeom prst="rect">
            <a:avLst/>
          </a:prstGeom>
          <a:noFill/>
        </p:spPr>
        <p:txBody>
          <a:bodyPr vert="horz" wrap="square" rtlCol="0">
            <a:noAutofit/>
          </a:bodyPr>
          <a:lstStyle/>
          <a:p>
            <a:r>
              <a:rPr lang="en-US" sz="800">
                <a:solidFill>
                  <a:srgbClr val="4A2E1A"/>
                </a:solidFill>
              </a:rPr>
              <a:t>Full RACI matrix assumes all 11 governance activities are active and DGC is operationally engaged. Most activities (escalation, retirement, monitoring) are not yet at that maturity. Replaced with a practical field register: every field that must be completed per data asset. This gives the working team a clear, actionable checklist to execute against, rather than a responsibility matrix for a governance process not yet fully operational.</a:t>
            </a:r>
          </a:p>
        </p:txBody>
      </p:sp>
    </p:spTree>
    <p:extLst>
      <p:ext uri="{BB962C8B-B14F-4D97-AF65-F5344CB8AC3E}">
        <p14:creationId xmlns:p14="http://schemas.microsoft.com/office/powerpoint/2010/main" val="115108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AFBFE3-7A72-2819-AE19-6A9E5C86F39C}"/>
              </a:ext>
            </a:extLst>
          </p:cNvPr>
          <p:cNvSpPr/>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C8EA37-F844-C6B1-42D9-CB2A017260DB}"/>
              </a:ext>
            </a:extLst>
          </p:cNvPr>
          <p:cNvSpPr/>
          <p:nvPr/>
        </p:nvSpPr>
        <p:spPr>
          <a:xfrm>
            <a:off x="0" y="0"/>
            <a:ext cx="76200" cy="6858000"/>
          </a:xfrm>
          <a:prstGeom prst="rect">
            <a:avLst/>
          </a:prstGeom>
          <a:solidFill>
            <a:srgbClr val="A8632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305A870-64EE-AA67-5BAE-543036E6BCA1}"/>
              </a:ext>
            </a:extLst>
          </p:cNvPr>
          <p:cNvCxnSpPr/>
          <p:nvPr/>
        </p:nvCxnSpPr>
        <p:spPr>
          <a:xfrm>
            <a:off x="508000" y="3683000"/>
            <a:ext cx="11176000" cy="0"/>
          </a:xfrm>
          <a:prstGeom prst="line">
            <a:avLst/>
          </a:prstGeom>
          <a:ln w="12700">
            <a:solidFill>
              <a:srgbClr val="EAE3DD"/>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2650F16-D105-42EF-E02F-006354FF4A5F}"/>
              </a:ext>
            </a:extLst>
          </p:cNvPr>
          <p:cNvSpPr txBox="1"/>
          <p:nvPr/>
        </p:nvSpPr>
        <p:spPr>
          <a:xfrm>
            <a:off x="508000" y="1143000"/>
            <a:ext cx="11176000" cy="369332"/>
          </a:xfrm>
          <a:prstGeom prst="rect">
            <a:avLst/>
          </a:prstGeom>
          <a:noFill/>
        </p:spPr>
        <p:txBody>
          <a:bodyPr vert="horz" wrap="square" rtlCol="0">
            <a:noAutofit/>
          </a:bodyPr>
          <a:lstStyle/>
          <a:p>
            <a:r>
              <a:rPr lang="en-US" sz="2000" b="1">
                <a:solidFill>
                  <a:srgbClr val="4A2E1A"/>
                </a:solidFill>
              </a:rPr>
              <a:t>Summary</a:t>
            </a:r>
          </a:p>
        </p:txBody>
      </p:sp>
      <p:sp>
        <p:nvSpPr>
          <p:cNvPr id="6" name="TextBox 5">
            <a:extLst>
              <a:ext uri="{FF2B5EF4-FFF2-40B4-BE49-F238E27FC236}">
                <a16:creationId xmlns:a16="http://schemas.microsoft.com/office/drawing/2014/main" id="{7B30DFBD-8E17-28DA-30D9-2263F4AC1835}"/>
              </a:ext>
            </a:extLst>
          </p:cNvPr>
          <p:cNvSpPr txBox="1"/>
          <p:nvPr/>
        </p:nvSpPr>
        <p:spPr>
          <a:xfrm>
            <a:off x="508000" y="1676400"/>
            <a:ext cx="11176000" cy="369332"/>
          </a:xfrm>
          <a:prstGeom prst="rect">
            <a:avLst/>
          </a:prstGeom>
          <a:noFill/>
        </p:spPr>
        <p:txBody>
          <a:bodyPr vert="horz" wrap="square" rtlCol="0">
            <a:noAutofit/>
          </a:bodyPr>
          <a:lstStyle/>
          <a:p>
            <a:r>
              <a:rPr lang="en-US" sz="1300">
                <a:solidFill>
                  <a:srgbClr val="4A2E1A"/>
                </a:solidFill>
              </a:rPr>
              <a:t>18 sections reviewed.  Governance intent preserved.  Controls proportionate and actionable.</a:t>
            </a:r>
          </a:p>
        </p:txBody>
      </p:sp>
      <p:sp>
        <p:nvSpPr>
          <p:cNvPr id="7" name="TextBox 6">
            <a:extLst>
              <a:ext uri="{FF2B5EF4-FFF2-40B4-BE49-F238E27FC236}">
                <a16:creationId xmlns:a16="http://schemas.microsoft.com/office/drawing/2014/main" id="{86AAFC94-B199-7409-27C4-5758F65B4419}"/>
              </a:ext>
            </a:extLst>
          </p:cNvPr>
          <p:cNvSpPr txBox="1"/>
          <p:nvPr/>
        </p:nvSpPr>
        <p:spPr>
          <a:xfrm>
            <a:off x="508000" y="3911600"/>
            <a:ext cx="5080000" cy="369332"/>
          </a:xfrm>
          <a:prstGeom prst="rect">
            <a:avLst/>
          </a:prstGeom>
          <a:noFill/>
        </p:spPr>
        <p:txBody>
          <a:bodyPr vert="horz" wrap="square" rtlCol="0">
            <a:noAutofit/>
          </a:bodyPr>
          <a:lstStyle/>
          <a:p>
            <a:r>
              <a:rPr lang="en-US" sz="1000" b="1">
                <a:solidFill>
                  <a:srgbClr val="8D7A6B"/>
                </a:solidFill>
              </a:rPr>
              <a:t>Reference documents:</a:t>
            </a:r>
          </a:p>
        </p:txBody>
      </p:sp>
      <p:sp>
        <p:nvSpPr>
          <p:cNvPr id="8" name="TextBox 7">
            <a:extLst>
              <a:ext uri="{FF2B5EF4-FFF2-40B4-BE49-F238E27FC236}">
                <a16:creationId xmlns:a16="http://schemas.microsoft.com/office/drawing/2014/main" id="{7F444FEC-1BB8-832D-DC8C-EC1BB7B1D97A}"/>
              </a:ext>
            </a:extLst>
          </p:cNvPr>
          <p:cNvSpPr txBox="1"/>
          <p:nvPr/>
        </p:nvSpPr>
        <p:spPr>
          <a:xfrm>
            <a:off x="508000" y="4191000"/>
            <a:ext cx="11176000" cy="369332"/>
          </a:xfrm>
          <a:prstGeom prst="rect">
            <a:avLst/>
          </a:prstGeom>
          <a:noFill/>
        </p:spPr>
        <p:txBody>
          <a:bodyPr vert="horz" wrap="square" rtlCol="0">
            <a:noAutofit/>
          </a:bodyPr>
          <a:lstStyle/>
          <a:p>
            <a:r>
              <a:rPr lang="en-US" sz="1100">
                <a:solidFill>
                  <a:srgbClr val="4A2E1A"/>
                </a:solidFill>
              </a:rPr>
              <a:t>SOP_Change_Summary.xlsx           -- printable change table</a:t>
            </a:r>
          </a:p>
        </p:txBody>
      </p:sp>
      <p:sp>
        <p:nvSpPr>
          <p:cNvPr id="9" name="TextBox 8">
            <a:extLst>
              <a:ext uri="{FF2B5EF4-FFF2-40B4-BE49-F238E27FC236}">
                <a16:creationId xmlns:a16="http://schemas.microsoft.com/office/drawing/2014/main" id="{6430EBF0-0940-73F2-0BBE-7ED348CBCE62}"/>
              </a:ext>
            </a:extLst>
          </p:cNvPr>
          <p:cNvSpPr txBox="1"/>
          <p:nvPr/>
        </p:nvSpPr>
        <p:spPr>
          <a:xfrm>
            <a:off x="508000" y="4470400"/>
            <a:ext cx="11176000" cy="369332"/>
          </a:xfrm>
          <a:prstGeom prst="rect">
            <a:avLst/>
          </a:prstGeom>
          <a:noFill/>
        </p:spPr>
        <p:txBody>
          <a:bodyPr vert="horz" wrap="square" rtlCol="0">
            <a:noAutofit/>
          </a:bodyPr>
          <a:lstStyle/>
          <a:p>
            <a:r>
              <a:rPr lang="en-US" sz="1100">
                <a:solidFill>
                  <a:srgbClr val="4A2E1A"/>
                </a:solidFill>
              </a:rPr>
              <a:t>Metadata_SOP_Revised_Phase1.docx  -- updated SOP with yellow-highlighted change points</a:t>
            </a:r>
          </a:p>
        </p:txBody>
      </p:sp>
      <p:sp>
        <p:nvSpPr>
          <p:cNvPr id="10" name="TextBox 9">
            <a:extLst>
              <a:ext uri="{FF2B5EF4-FFF2-40B4-BE49-F238E27FC236}">
                <a16:creationId xmlns:a16="http://schemas.microsoft.com/office/drawing/2014/main" id="{D727AA2A-A9D5-0014-8E0D-D595FEFCFAB9}"/>
              </a:ext>
            </a:extLst>
          </p:cNvPr>
          <p:cNvSpPr txBox="1"/>
          <p:nvPr/>
        </p:nvSpPr>
        <p:spPr>
          <a:xfrm>
            <a:off x="508000" y="4749800"/>
            <a:ext cx="11176000" cy="369332"/>
          </a:xfrm>
          <a:prstGeom prst="rect">
            <a:avLst/>
          </a:prstGeom>
          <a:noFill/>
        </p:spPr>
        <p:txBody>
          <a:bodyPr vert="horz" wrap="square" rtlCol="0">
            <a:noAutofit/>
          </a:bodyPr>
          <a:lstStyle/>
          <a:p>
            <a:r>
              <a:rPr lang="en-US" sz="1100">
                <a:solidFill>
                  <a:srgbClr val="4A2E1A"/>
                </a:solidFill>
              </a:rPr>
              <a:t>Metadata_SOP_Scope_Review.pptx    -- governance team context deck</a:t>
            </a:r>
          </a:p>
        </p:txBody>
      </p:sp>
      <p:sp>
        <p:nvSpPr>
          <p:cNvPr id="11" name="TextBox 10">
            <a:extLst>
              <a:ext uri="{FF2B5EF4-FFF2-40B4-BE49-F238E27FC236}">
                <a16:creationId xmlns:a16="http://schemas.microsoft.com/office/drawing/2014/main" id="{6E840B9B-6689-2454-E8E7-74339EB4AC23}"/>
              </a:ext>
            </a:extLst>
          </p:cNvPr>
          <p:cNvSpPr txBox="1"/>
          <p:nvPr/>
        </p:nvSpPr>
        <p:spPr>
          <a:xfrm>
            <a:off x="508000" y="5715000"/>
            <a:ext cx="11176000" cy="369332"/>
          </a:xfrm>
          <a:prstGeom prst="rect">
            <a:avLst/>
          </a:prstGeom>
          <a:noFill/>
        </p:spPr>
        <p:txBody>
          <a:bodyPr vert="horz" wrap="square" rtlCol="0">
            <a:noAutofit/>
          </a:bodyPr>
          <a:lstStyle/>
          <a:p>
            <a:pPr algn="r"/>
            <a:r>
              <a:rPr lang="en-US" sz="1000">
                <a:solidFill>
                  <a:srgbClr val="8D7A6B"/>
                </a:solidFill>
              </a:rPr>
              <a:t>SPW-BDSI-SP-002  |  May 2026</a:t>
            </a:r>
          </a:p>
        </p:txBody>
      </p:sp>
    </p:spTree>
    <p:extLst>
      <p:ext uri="{BB962C8B-B14F-4D97-AF65-F5344CB8AC3E}">
        <p14:creationId xmlns:p14="http://schemas.microsoft.com/office/powerpoint/2010/main" val="1105505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5103</Words>
  <Application>Microsoft Office PowerPoint</Application>
  <PresentationFormat>Custom</PresentationFormat>
  <Paragraphs>237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Sowan Yuthyuenyong</dc:creator>
  <cp:lastModifiedBy>Sowan Yuthyuenyong</cp:lastModifiedBy>
  <cp:revision>1</cp:revision>
  <dcterms:created xsi:type="dcterms:W3CDTF">2026-05-13T07:27:40Z</dcterms:created>
  <dcterms:modified xsi:type="dcterms:W3CDTF">2026-05-13T07:27:40Z</dcterms:modified>
</cp:coreProperties>
</file>