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352" autoAdjust="0"/>
  </p:normalViewPr>
  <p:slideViewPr>
    <p:cSldViewPr snapToGrid="0">
      <p:cViewPr varScale="1">
        <p:scale>
          <a:sx n="89" d="100"/>
          <a:sy n="89" d="100"/>
        </p:scale>
        <p:origin x="18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4950E-0A3F-0861-C793-523CA5BEE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1406A-03B9-3B26-950C-1E62FD08D5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6545B-6D2E-11F8-C030-B87733003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75E7-6712-4930-AC80-D2E02F46EA02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E8096-235C-D2D8-2091-CCF347F70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1F064-8110-131B-394C-86488D099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976-5BFA-4FE0-81BF-CDBA8682C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314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0ED7B-06AF-3E74-32B9-2A1EB8958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440C7-DC31-6E04-DB9C-5F9AFD72A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F300B-D8E4-AB4A-D3F7-9A9C20012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75E7-6712-4930-AC80-D2E02F46EA02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507FB-62A1-542D-21C2-458D9690B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9B71B-72E8-05F1-C28C-F2F7F7032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976-5BFA-4FE0-81BF-CDBA8682C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9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37448-82F1-65B3-3A92-C95ECD9FD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03D3E-CA48-8E48-C6BF-1D5C0E0CB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4082-8031-6FBD-FA1A-73AF972C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75E7-6712-4930-AC80-D2E02F46EA02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B2AF0-0420-2B5C-11C6-14E138330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676C4-A735-C627-4FDB-6E24F3FE7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976-5BFA-4FE0-81BF-CDBA8682C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06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41AA7-1103-8051-91B7-4428C0B26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E2C70-A11B-E774-F7C4-B8500CFC3C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638F98-DF69-DB79-3BA8-97B69AC12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92AE3-78D0-21CC-EF52-FCBA2B8B9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75E7-6712-4930-AC80-D2E02F46EA02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63997-42CB-A3D3-C80C-55AB68E4D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5B407-187D-A4E1-E707-E7D3DF291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976-5BFA-4FE0-81BF-CDBA8682C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02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7D437-65FF-E91D-7858-713FD37D0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2196C-F5D4-61B7-95B6-374D17E78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AA945E-EF6C-1EAB-C248-60E14855E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9165F3-DFBE-CFA8-4B0C-6073F70AA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57A48B-A6F1-B9CA-BFBE-66F7EE0894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30DB71-9E00-A34D-4DCB-8860D34C5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75E7-6712-4930-AC80-D2E02F46EA02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BFF703-E856-3DE8-D731-0F18BA40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27D2-327E-89B2-C1E6-F3F2989AB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976-5BFA-4FE0-81BF-CDBA8682C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09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35E94-9BF5-EFA5-DB8E-D51475E16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A5FEF4-742D-5E21-E008-8D476BECE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75E7-6712-4930-AC80-D2E02F46EA02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5FB854-4E27-2A86-A0E3-909D45695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D79890-E9B1-04B6-598E-E6C310D8D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976-5BFA-4FE0-81BF-CDBA8682C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043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3972A2-C631-4EC9-6026-4945D6A92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75E7-6712-4930-AC80-D2E02F46EA02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F6D74D-78F4-1A75-72B2-F62AF4CD0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684B8-B076-9E49-7D93-A3D89E263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976-5BFA-4FE0-81BF-CDBA8682C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3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DCAA6-CFC9-EE5C-07F3-9CC01302A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24F18-9BA2-FA50-928E-AA9ED0203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09BCCF-54BD-69A2-9D08-CFDFE7EC1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2A456-63C9-8BD5-380B-121E36E45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75E7-6712-4930-AC80-D2E02F46EA02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E8075-4739-8C70-FD8B-73196B49F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D03630-5A90-75F2-FE89-02EBD67F8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976-5BFA-4FE0-81BF-CDBA8682C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81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611D6-6356-4460-234D-85F48B94D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F1E47A-EB1B-61BD-AAFE-A9D5C437CC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218A1-3B06-D409-6BED-49529E11D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001BD-6D3F-1DFA-1DAB-B0C62E874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75E7-6712-4930-AC80-D2E02F46EA02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CBF37-6954-A031-AD4C-1B68E5A17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B1C8D-0084-7733-29C6-32785250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976-5BFA-4FE0-81BF-CDBA8682C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966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E6E62-5BB2-9E9C-3301-F23442944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7C5328-4C77-A98A-D011-173E5084D0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22832-4F20-6F6A-8190-AC5F4DFD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75E7-6712-4930-AC80-D2E02F46EA02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B1485-0AB6-86F9-900C-CCEAEE075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6FBFC-3D0A-C566-461A-0A4A27195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976-5BFA-4FE0-81BF-CDBA8682C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25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F9549E-C45D-004C-4407-D9E6AA8FD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3AEC6B-C8E1-5E4C-8276-47DDEF947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05516-5261-DD83-CB11-8385814A7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75E7-6712-4930-AC80-D2E02F46EA02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5698A-BD53-77B8-0F73-40C4E0935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9DF2A-BBC1-6CCB-BDAD-17A1C58D5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976-5BFA-4FE0-81BF-CDBA8682C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58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1EF05-1714-FB81-0A7C-1383657B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2602-760D-38E4-D636-C11C5F898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F38A5-89B1-3BD7-7439-C099124B4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475E7-6712-4930-AC80-D2E02F46EA02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DDBB7-2E7C-BCE5-2C73-B2E76FBA16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B1D57-82E2-F5B9-2A27-B26317017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3B976-5BFA-4FE0-81BF-CDBA8682C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67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0672D4-02FA-B78B-C719-40A8A0ABE9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93A9F0-43AA-8FCE-C655-CF7736E1CAA2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02CBB-C66D-055E-9ABF-4F0A66AC6A42}"/>
              </a:ext>
            </a:extLst>
          </p:cNvPr>
          <p:cNvSpPr/>
          <p:nvPr/>
        </p:nvSpPr>
        <p:spPr>
          <a:xfrm>
            <a:off x="508000" y="3810000"/>
            <a:ext cx="11176000" cy="127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2190C6-246A-68C5-D438-FCABB6EABA48}"/>
              </a:ext>
            </a:extLst>
          </p:cNvPr>
          <p:cNvSpPr txBox="1"/>
          <p:nvPr/>
        </p:nvSpPr>
        <p:spPr>
          <a:xfrm>
            <a:off x="508000" y="1016000"/>
            <a:ext cx="1117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100">
                <a:solidFill>
                  <a:srgbClr val="8D7A6B"/>
                </a:solidFill>
              </a:rPr>
              <a:t>SPW-BDSI  |  Data Quality &amp; Incident Management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4ECDFE-463B-6716-C044-6DC404CFDD7B}"/>
              </a:ext>
            </a:extLst>
          </p:cNvPr>
          <p:cNvSpPr txBox="1"/>
          <p:nvPr/>
        </p:nvSpPr>
        <p:spPr>
          <a:xfrm>
            <a:off x="508000" y="1422400"/>
            <a:ext cx="1117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3800" b="1">
                <a:solidFill>
                  <a:srgbClr val="FFFFFF"/>
                </a:solidFill>
              </a:rPr>
              <a:t>Incident Management 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E3D94D-9467-4250-6A4D-3B010785582B}"/>
              </a:ext>
            </a:extLst>
          </p:cNvPr>
          <p:cNvSpPr txBox="1"/>
          <p:nvPr/>
        </p:nvSpPr>
        <p:spPr>
          <a:xfrm>
            <a:off x="508000" y="2349500"/>
            <a:ext cx="1117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>
                <a:solidFill>
                  <a:srgbClr val="A86325"/>
                </a:solidFill>
              </a:rPr>
              <a:t>Reactive Response  +  Proactive Monitoring  --  DE DataMart &amp; VLC DataMart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DC9388-CA43-7860-5F97-24E4F50F3F4B}"/>
              </a:ext>
            </a:extLst>
          </p:cNvPr>
          <p:cNvSpPr txBox="1"/>
          <p:nvPr/>
        </p:nvSpPr>
        <p:spPr>
          <a:xfrm>
            <a:off x="508000" y="4013200"/>
            <a:ext cx="1117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100">
                <a:solidFill>
                  <a:srgbClr val="8D7A6B"/>
                </a:solidFill>
              </a:rPr>
              <a:t>7 Data Quality Dimensions  |  Service Desk Plus  |  Problem Management with RCA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635FAE-B90F-8D18-9F84-9C493E32748B}"/>
              </a:ext>
            </a:extLst>
          </p:cNvPr>
          <p:cNvSpPr txBox="1"/>
          <p:nvPr/>
        </p:nvSpPr>
        <p:spPr>
          <a:xfrm>
            <a:off x="508000" y="4445000"/>
            <a:ext cx="1117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100">
                <a:solidFill>
                  <a:srgbClr val="8D7A6B"/>
                </a:solidFill>
              </a:rPr>
              <a:t>BDSI Data Team  |  May 2026</a:t>
            </a:r>
          </a:p>
        </p:txBody>
      </p:sp>
    </p:spTree>
    <p:extLst>
      <p:ext uri="{BB962C8B-B14F-4D97-AF65-F5344CB8AC3E}">
        <p14:creationId xmlns:p14="http://schemas.microsoft.com/office/powerpoint/2010/main" val="866939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6F2088-D7C9-A342-69EA-851072720A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D09103-F858-FD9E-1170-BE807E359F51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05CCA3-2C39-604E-8D35-B50A30B4471D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59AF77-C466-AC0A-A7A5-CF3472F57E63}"/>
              </a:ext>
            </a:extLst>
          </p:cNvPr>
          <p:cNvSpPr txBox="1"/>
          <p:nvPr/>
        </p:nvSpPr>
        <p:spPr>
          <a:xfrm>
            <a:off x="114300" y="177800"/>
            <a:ext cx="11430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Two-Track Model: Reactive + Proactive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57B7C6-A7E3-265D-1C3B-C0663F730842}"/>
              </a:ext>
            </a:extLst>
          </p:cNvPr>
          <p:cNvCxnSpPr/>
          <p:nvPr/>
        </p:nvCxnSpPr>
        <p:spPr>
          <a:xfrm>
            <a:off x="0" y="660400"/>
            <a:ext cx="121920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FC30251-9D5E-A082-5880-FAE9937EB469}"/>
              </a:ext>
            </a:extLst>
          </p:cNvPr>
          <p:cNvSpPr/>
          <p:nvPr/>
        </p:nvSpPr>
        <p:spPr>
          <a:xfrm>
            <a:off x="114300" y="736600"/>
            <a:ext cx="5854700" cy="4953000"/>
          </a:xfrm>
          <a:prstGeom prst="rect">
            <a:avLst/>
          </a:prstGeom>
          <a:solidFill>
            <a:srgbClr val="ECEC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1000D-0C4E-46ED-51C6-2303451F19EE}"/>
              </a:ext>
            </a:extLst>
          </p:cNvPr>
          <p:cNvSpPr/>
          <p:nvPr/>
        </p:nvSpPr>
        <p:spPr>
          <a:xfrm>
            <a:off x="114300" y="736600"/>
            <a:ext cx="5854700" cy="355600"/>
          </a:xfrm>
          <a:prstGeom prst="rect">
            <a:avLst/>
          </a:prstGeom>
          <a:solidFill>
            <a:srgbClr val="2B39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5D4ACD-DC8E-B472-16B5-A34F52A26556}"/>
              </a:ext>
            </a:extLst>
          </p:cNvPr>
          <p:cNvSpPr txBox="1"/>
          <p:nvPr/>
        </p:nvSpPr>
        <p:spPr>
          <a:xfrm>
            <a:off x="114300" y="787400"/>
            <a:ext cx="58547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REACTIVE TRACK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D405CA-CF6A-8446-7990-696E1ACE1C9A}"/>
              </a:ext>
            </a:extLst>
          </p:cNvPr>
          <p:cNvSpPr txBox="1"/>
          <p:nvPr/>
        </p:nvSpPr>
        <p:spPr>
          <a:xfrm>
            <a:off x="203200" y="1168400"/>
            <a:ext cx="56515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000">
                <a:solidFill>
                  <a:srgbClr val="8D7A6B"/>
                </a:solidFill>
              </a:rPr>
              <a:t>Triggered after a user reports an issue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CB306B-60A7-B1DB-D101-216C003F7A60}"/>
              </a:ext>
            </a:extLst>
          </p:cNvPr>
          <p:cNvCxnSpPr/>
          <p:nvPr/>
        </p:nvCxnSpPr>
        <p:spPr>
          <a:xfrm>
            <a:off x="203200" y="1447800"/>
            <a:ext cx="55499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2A7B372-129D-6BC9-DB5A-9CC72CE3AA64}"/>
              </a:ext>
            </a:extLst>
          </p:cNvPr>
          <p:cNvSpPr txBox="1"/>
          <p:nvPr/>
        </p:nvSpPr>
        <p:spPr>
          <a:xfrm>
            <a:off x="203200" y="1524000"/>
            <a:ext cx="56515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>
                <a:solidFill>
                  <a:srgbClr val="4A2E1A"/>
                </a:solidFill>
              </a:rPr>
              <a:t>1  User reports issue via Service Desk Plus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004F2-5EDD-EC98-4B34-0A0ED0DEC6FD}"/>
              </a:ext>
            </a:extLst>
          </p:cNvPr>
          <p:cNvSpPr txBox="1"/>
          <p:nvPr/>
        </p:nvSpPr>
        <p:spPr>
          <a:xfrm>
            <a:off x="203200" y="1828800"/>
            <a:ext cx="56515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>
                <a:solidFill>
                  <a:srgbClr val="4A2E1A"/>
                </a:solidFill>
              </a:rPr>
              <a:t>2  Incident ticket opened and categorized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95E88D-65B3-7127-C24E-C89DB18DA553}"/>
              </a:ext>
            </a:extLst>
          </p:cNvPr>
          <p:cNvSpPr txBox="1"/>
          <p:nvPr/>
        </p:nvSpPr>
        <p:spPr>
          <a:xfrm>
            <a:off x="203200" y="2133600"/>
            <a:ext cx="56515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>
                <a:solidFill>
                  <a:srgbClr val="4A2E1A"/>
                </a:solidFill>
              </a:rPr>
              <a:t>3  Assigned to responsible team for investigation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56BE75-D63D-25DB-FB6C-488E6F2D9994}"/>
              </a:ext>
            </a:extLst>
          </p:cNvPr>
          <p:cNvSpPr txBox="1"/>
          <p:nvPr/>
        </p:nvSpPr>
        <p:spPr>
          <a:xfrm>
            <a:off x="203200" y="2438400"/>
            <a:ext cx="56515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>
                <a:solidFill>
                  <a:srgbClr val="4A2E1A"/>
                </a:solidFill>
              </a:rPr>
              <a:t>4  Root cause identified, fix implemented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1AF2C8-BFBE-7CBD-856B-BE43E832A2D1}"/>
              </a:ext>
            </a:extLst>
          </p:cNvPr>
          <p:cNvSpPr txBox="1"/>
          <p:nvPr/>
        </p:nvSpPr>
        <p:spPr>
          <a:xfrm>
            <a:off x="203200" y="2743200"/>
            <a:ext cx="56515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>
                <a:solidFill>
                  <a:srgbClr val="4A2E1A"/>
                </a:solidFill>
              </a:rPr>
              <a:t>5  Ticket resolved and closed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364048-73A0-7C50-9ED2-BB3FBA74FECB}"/>
              </a:ext>
            </a:extLst>
          </p:cNvPr>
          <p:cNvSpPr txBox="1"/>
          <p:nvPr/>
        </p:nvSpPr>
        <p:spPr>
          <a:xfrm>
            <a:off x="203200" y="3048000"/>
            <a:ext cx="56515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>
                <a:solidFill>
                  <a:srgbClr val="4A2E1A"/>
                </a:solidFill>
              </a:rPr>
              <a:t>6  Issue monitored for recurrence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EE230F-E551-873A-3794-C7C0126C0586}"/>
              </a:ext>
            </a:extLst>
          </p:cNvPr>
          <p:cNvSpPr txBox="1"/>
          <p:nvPr/>
        </p:nvSpPr>
        <p:spPr>
          <a:xfrm>
            <a:off x="203200" y="3352800"/>
            <a:ext cx="56515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dirty="0">
                <a:solidFill>
                  <a:srgbClr val="4A2E1A"/>
                </a:solidFill>
              </a:rPr>
              <a:t>7  If recurring: Problem opened -&gt; RCA + Countermeasure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A8E068-48E3-8B1A-2736-B39CDDA8C9C4}"/>
              </a:ext>
            </a:extLst>
          </p:cNvPr>
          <p:cNvSpPr txBox="1"/>
          <p:nvPr/>
        </p:nvSpPr>
        <p:spPr>
          <a:xfrm>
            <a:off x="203200" y="3886200"/>
            <a:ext cx="56515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 b="1" dirty="0">
                <a:solidFill>
                  <a:srgbClr val="2222B2"/>
                </a:solidFill>
              </a:rPr>
              <a:t>Severity: P1 (user impacted - requires urgent fix)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8B3426-869C-FA21-FF15-B1341F3043ED}"/>
              </a:ext>
            </a:extLst>
          </p:cNvPr>
          <p:cNvSpPr/>
          <p:nvPr/>
        </p:nvSpPr>
        <p:spPr>
          <a:xfrm>
            <a:off x="6223000" y="736600"/>
            <a:ext cx="5854700" cy="4953000"/>
          </a:xfrm>
          <a:prstGeom prst="rect">
            <a:avLst/>
          </a:prstGeom>
          <a:solidFill>
            <a:srgbClr val="EEF7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493A2F-520B-BEF3-0420-AC2E4F407C9D}"/>
              </a:ext>
            </a:extLst>
          </p:cNvPr>
          <p:cNvSpPr/>
          <p:nvPr/>
        </p:nvSpPr>
        <p:spPr>
          <a:xfrm>
            <a:off x="6223000" y="736600"/>
            <a:ext cx="5854700" cy="355600"/>
          </a:xfrm>
          <a:prstGeom prst="rect">
            <a:avLst/>
          </a:prstGeom>
          <a:solidFill>
            <a:srgbClr val="60AE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C55150-50A7-1FB6-841C-8308173435E7}"/>
              </a:ext>
            </a:extLst>
          </p:cNvPr>
          <p:cNvSpPr txBox="1"/>
          <p:nvPr/>
        </p:nvSpPr>
        <p:spPr>
          <a:xfrm>
            <a:off x="6223000" y="787400"/>
            <a:ext cx="58547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PROACTIVE TRACK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7A6FF2-413F-5D06-1F6A-CB2B7A274563}"/>
              </a:ext>
            </a:extLst>
          </p:cNvPr>
          <p:cNvSpPr txBox="1"/>
          <p:nvPr/>
        </p:nvSpPr>
        <p:spPr>
          <a:xfrm>
            <a:off x="6311900" y="1168400"/>
            <a:ext cx="56515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000">
                <a:solidFill>
                  <a:srgbClr val="8D7A6B"/>
                </a:solidFill>
              </a:rPr>
              <a:t>Automated monitoring before users encounter issues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D5C8938-94B8-2337-E388-D0127C4121A0}"/>
              </a:ext>
            </a:extLst>
          </p:cNvPr>
          <p:cNvCxnSpPr/>
          <p:nvPr/>
        </p:nvCxnSpPr>
        <p:spPr>
          <a:xfrm>
            <a:off x="6311900" y="1447800"/>
            <a:ext cx="55499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AD163AB-2448-6456-AF27-051D7051675E}"/>
              </a:ext>
            </a:extLst>
          </p:cNvPr>
          <p:cNvSpPr txBox="1"/>
          <p:nvPr/>
        </p:nvSpPr>
        <p:spPr>
          <a:xfrm>
            <a:off x="6311900" y="1524000"/>
            <a:ext cx="56515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>
                <a:solidFill>
                  <a:srgbClr val="4A2E1A"/>
                </a:solidFill>
              </a:rPr>
              <a:t>1  Scheduled check runs on DE DataMart &amp; VLC DataMart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FD365B-1CBC-0598-38CB-5DF97A67BB77}"/>
              </a:ext>
            </a:extLst>
          </p:cNvPr>
          <p:cNvSpPr txBox="1"/>
          <p:nvPr/>
        </p:nvSpPr>
        <p:spPr>
          <a:xfrm>
            <a:off x="6311900" y="1828800"/>
            <a:ext cx="56515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>
                <a:solidFill>
                  <a:srgbClr val="4A2E1A"/>
                </a:solidFill>
              </a:rPr>
              <a:t>2  7 data quality dimensions evaluated per table/job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075F53-0A5F-1F7A-D5DC-4350E90DC4B9}"/>
              </a:ext>
            </a:extLst>
          </p:cNvPr>
          <p:cNvSpPr txBox="1"/>
          <p:nvPr/>
        </p:nvSpPr>
        <p:spPr>
          <a:xfrm>
            <a:off x="6311900" y="2133600"/>
            <a:ext cx="56515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>
                <a:solidFill>
                  <a:srgbClr val="4A2E1A"/>
                </a:solidFill>
              </a:rPr>
              <a:t>3  Result classified: PASS / WARN / FAIL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226DAA-2983-0A75-37ED-915773F695A9}"/>
              </a:ext>
            </a:extLst>
          </p:cNvPr>
          <p:cNvSpPr txBox="1"/>
          <p:nvPr/>
        </p:nvSpPr>
        <p:spPr>
          <a:xfrm>
            <a:off x="6311900" y="2438400"/>
            <a:ext cx="56515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>
                <a:solidFill>
                  <a:srgbClr val="4A2E1A"/>
                </a:solidFill>
              </a:rPr>
              <a:t>4  PASS: log result, continue to next cycle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26156E-0F6F-B5A9-7234-4853D528E7CC}"/>
              </a:ext>
            </a:extLst>
          </p:cNvPr>
          <p:cNvSpPr txBox="1"/>
          <p:nvPr/>
        </p:nvSpPr>
        <p:spPr>
          <a:xfrm>
            <a:off x="6311900" y="2743200"/>
            <a:ext cx="56515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>
                <a:solidFill>
                  <a:srgbClr val="4A2E1A"/>
                </a:solidFill>
              </a:rPr>
              <a:t>5  WARN: alert assigned team, re-check in 24h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582E92-BC6C-D6AA-8B5B-165577D0256F}"/>
              </a:ext>
            </a:extLst>
          </p:cNvPr>
          <p:cNvSpPr txBox="1"/>
          <p:nvPr/>
        </p:nvSpPr>
        <p:spPr>
          <a:xfrm>
            <a:off x="6311900" y="3048000"/>
            <a:ext cx="56515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>
                <a:solidFill>
                  <a:srgbClr val="4A2E1A"/>
                </a:solidFill>
              </a:rPr>
              <a:t>6  FAIL: auto-create SDP incident ticket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362E82-E1A2-8A9B-F811-990F403C2082}"/>
              </a:ext>
            </a:extLst>
          </p:cNvPr>
          <p:cNvSpPr txBox="1"/>
          <p:nvPr/>
        </p:nvSpPr>
        <p:spPr>
          <a:xfrm>
            <a:off x="6311900" y="3352800"/>
            <a:ext cx="56515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>
                <a:solidFill>
                  <a:srgbClr val="4A2E1A"/>
                </a:solidFill>
              </a:rPr>
              <a:t>7  Issue resolved before user encounters data problem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590BD2-7386-EFBA-9A91-514C5E773965}"/>
              </a:ext>
            </a:extLst>
          </p:cNvPr>
          <p:cNvSpPr txBox="1"/>
          <p:nvPr/>
        </p:nvSpPr>
        <p:spPr>
          <a:xfrm>
            <a:off x="6311900" y="3886200"/>
            <a:ext cx="56515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 b="1">
                <a:solidFill>
                  <a:srgbClr val="3A6B1A"/>
                </a:solidFill>
              </a:rPr>
              <a:t>Severity: P2/P3 (caught before user impact)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BC664F-E7BA-8727-EB0B-3E2B946B0DDF}"/>
              </a:ext>
            </a:extLst>
          </p:cNvPr>
          <p:cNvSpPr/>
          <p:nvPr/>
        </p:nvSpPr>
        <p:spPr>
          <a:xfrm>
            <a:off x="114300" y="5765800"/>
            <a:ext cx="11963400" cy="7874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AC4E51-72DE-53FF-DA23-091E0D2F0927}"/>
              </a:ext>
            </a:extLst>
          </p:cNvPr>
          <p:cNvSpPr txBox="1"/>
          <p:nvPr/>
        </p:nvSpPr>
        <p:spPr>
          <a:xfrm>
            <a:off x="203200" y="5867400"/>
            <a:ext cx="101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A86325"/>
                </a:solidFill>
              </a:rPr>
              <a:t>Integration: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7A9C38-BD9D-2116-706F-4B8141F32ED4}"/>
              </a:ext>
            </a:extLst>
          </p:cNvPr>
          <p:cNvSpPr txBox="1"/>
          <p:nvPr/>
        </p:nvSpPr>
        <p:spPr>
          <a:xfrm>
            <a:off x="1270000" y="5829300"/>
            <a:ext cx="107188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dirty="0">
                <a:solidFill>
                  <a:srgbClr val="4A2E1A"/>
                </a:solidFill>
              </a:rPr>
              <a:t>When proactive monitoring misses an issue, it enters the Reactive Track when the user reports it. After resolution, the team adds or tightens a check rule so the same issue is caught proactively next time. Prevention Rate = proactively caught / total issues. Target: &gt;70%.</a:t>
            </a:r>
          </a:p>
        </p:txBody>
      </p:sp>
    </p:spTree>
    <p:extLst>
      <p:ext uri="{BB962C8B-B14F-4D97-AF65-F5344CB8AC3E}">
        <p14:creationId xmlns:p14="http://schemas.microsoft.com/office/powerpoint/2010/main" val="2389943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B4F645-CF3F-C2A1-A447-3238658383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D3168A-D75A-4486-8384-371291D73EA5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99349F-D67F-B1FF-FAA2-CDBFCFC30287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A1BBBB-A660-45E9-96C6-7049583DAA81}"/>
              </a:ext>
            </a:extLst>
          </p:cNvPr>
          <p:cNvSpPr txBox="1"/>
          <p:nvPr/>
        </p:nvSpPr>
        <p:spPr>
          <a:xfrm>
            <a:off x="114300" y="177800"/>
            <a:ext cx="11430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Reactive Track: Incident Lifecycle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A6B1E2D-2352-D547-92B0-90E2ED45B512}"/>
              </a:ext>
            </a:extLst>
          </p:cNvPr>
          <p:cNvCxnSpPr/>
          <p:nvPr/>
        </p:nvCxnSpPr>
        <p:spPr>
          <a:xfrm>
            <a:off x="0" y="660400"/>
            <a:ext cx="121920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7A8F266-7FEC-923C-E357-80E05D28C90D}"/>
              </a:ext>
            </a:extLst>
          </p:cNvPr>
          <p:cNvSpPr/>
          <p:nvPr/>
        </p:nvSpPr>
        <p:spPr>
          <a:xfrm>
            <a:off x="215900" y="736600"/>
            <a:ext cx="1549400" cy="22225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428B6C-3B6E-1865-6351-370B0D54D61B}"/>
              </a:ext>
            </a:extLst>
          </p:cNvPr>
          <p:cNvSpPr/>
          <p:nvPr/>
        </p:nvSpPr>
        <p:spPr>
          <a:xfrm>
            <a:off x="215900" y="736600"/>
            <a:ext cx="1549400" cy="3302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814019-A532-1B2C-6C66-E78646C1CE1D}"/>
              </a:ext>
            </a:extLst>
          </p:cNvPr>
          <p:cNvSpPr txBox="1"/>
          <p:nvPr/>
        </p:nvSpPr>
        <p:spPr>
          <a:xfrm>
            <a:off x="241300" y="787400"/>
            <a:ext cx="14986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7E19FD-7192-36F2-5224-3D94D00EFEAD}"/>
              </a:ext>
            </a:extLst>
          </p:cNvPr>
          <p:cNvSpPr txBox="1"/>
          <p:nvPr/>
        </p:nvSpPr>
        <p:spPr>
          <a:xfrm>
            <a:off x="266700" y="1117600"/>
            <a:ext cx="1447800" cy="38100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4A2E1A"/>
                </a:solidFill>
              </a:rPr>
              <a:t>User Reports Issue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6B2AAD-73F5-7AFB-47AB-FBF68A55FD92}"/>
              </a:ext>
            </a:extLst>
          </p:cNvPr>
          <p:cNvSpPr txBox="1"/>
          <p:nvPr/>
        </p:nvSpPr>
        <p:spPr>
          <a:xfrm>
            <a:off x="266700" y="1524000"/>
            <a:ext cx="14478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User contacts team or submits in Service Desk Plus. Describes symptom and affected report/table/DataMart.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4648C8-AE9A-380A-80FC-733521DF4E05}"/>
              </a:ext>
            </a:extLst>
          </p:cNvPr>
          <p:cNvSpPr txBox="1"/>
          <p:nvPr/>
        </p:nvSpPr>
        <p:spPr>
          <a:xfrm>
            <a:off x="1803400" y="1790700"/>
            <a:ext cx="127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200" b="1">
                <a:solidFill>
                  <a:srgbClr val="A86325"/>
                </a:solidFill>
              </a:rPr>
              <a:t>&gt;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8855DD-1874-CD7D-E12A-8A7E0BA61184}"/>
              </a:ext>
            </a:extLst>
          </p:cNvPr>
          <p:cNvSpPr/>
          <p:nvPr/>
        </p:nvSpPr>
        <p:spPr>
          <a:xfrm>
            <a:off x="1917700" y="736600"/>
            <a:ext cx="1549400" cy="22225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4DD4C7-08D9-6232-C375-362058D1065B}"/>
              </a:ext>
            </a:extLst>
          </p:cNvPr>
          <p:cNvSpPr/>
          <p:nvPr/>
        </p:nvSpPr>
        <p:spPr>
          <a:xfrm>
            <a:off x="1917700" y="736600"/>
            <a:ext cx="1549400" cy="3302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85E89F-CACE-E33E-8505-DF0AB6780445}"/>
              </a:ext>
            </a:extLst>
          </p:cNvPr>
          <p:cNvSpPr txBox="1"/>
          <p:nvPr/>
        </p:nvSpPr>
        <p:spPr>
          <a:xfrm>
            <a:off x="1943100" y="787400"/>
            <a:ext cx="14986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0E872-3120-1126-1DC2-E0C0D19DEE14}"/>
              </a:ext>
            </a:extLst>
          </p:cNvPr>
          <p:cNvSpPr txBox="1"/>
          <p:nvPr/>
        </p:nvSpPr>
        <p:spPr>
          <a:xfrm>
            <a:off x="1968500" y="1117600"/>
            <a:ext cx="1447800" cy="38100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4A2E1A"/>
                </a:solidFill>
              </a:rPr>
              <a:t>Open SDP Ticket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AA31E8-CA4D-8E39-1B26-5E89B2378678}"/>
              </a:ext>
            </a:extLst>
          </p:cNvPr>
          <p:cNvSpPr txBox="1"/>
          <p:nvPr/>
        </p:nvSpPr>
        <p:spPr>
          <a:xfrm>
            <a:off x="1968500" y="1524000"/>
            <a:ext cx="14478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Incident created. Fields: Category, DataMart (DE/VLC), Dimension, Severity P1-P4, Assignee.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69AE97-C2EE-9E63-22CE-BEE5614B7BCC}"/>
              </a:ext>
            </a:extLst>
          </p:cNvPr>
          <p:cNvSpPr txBox="1"/>
          <p:nvPr/>
        </p:nvSpPr>
        <p:spPr>
          <a:xfrm>
            <a:off x="3505200" y="1790700"/>
            <a:ext cx="127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200" b="1">
                <a:solidFill>
                  <a:srgbClr val="A86325"/>
                </a:solidFill>
              </a:rPr>
              <a:t>&gt;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1F21A3-4CEC-DC9F-1BCD-C055C054D163}"/>
              </a:ext>
            </a:extLst>
          </p:cNvPr>
          <p:cNvSpPr/>
          <p:nvPr/>
        </p:nvSpPr>
        <p:spPr>
          <a:xfrm>
            <a:off x="3619500" y="736600"/>
            <a:ext cx="1549400" cy="22225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53185E-F68F-E11B-7C73-9212F8A6CDBA}"/>
              </a:ext>
            </a:extLst>
          </p:cNvPr>
          <p:cNvSpPr/>
          <p:nvPr/>
        </p:nvSpPr>
        <p:spPr>
          <a:xfrm>
            <a:off x="3619500" y="736600"/>
            <a:ext cx="1549400" cy="3302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59C5E2-94EE-E2CD-B224-8B887537E090}"/>
              </a:ext>
            </a:extLst>
          </p:cNvPr>
          <p:cNvSpPr txBox="1"/>
          <p:nvPr/>
        </p:nvSpPr>
        <p:spPr>
          <a:xfrm>
            <a:off x="3644900" y="787400"/>
            <a:ext cx="14986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432974-3BC6-649E-61D8-915A71F2D679}"/>
              </a:ext>
            </a:extLst>
          </p:cNvPr>
          <p:cNvSpPr txBox="1"/>
          <p:nvPr/>
        </p:nvSpPr>
        <p:spPr>
          <a:xfrm>
            <a:off x="3670300" y="1117600"/>
            <a:ext cx="1447800" cy="38100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4A2E1A"/>
                </a:solidFill>
              </a:rPr>
              <a:t>Categorize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75EF9F-9D52-4A9A-362A-D9390F2529B8}"/>
              </a:ext>
            </a:extLst>
          </p:cNvPr>
          <p:cNvSpPr txBox="1"/>
          <p:nvPr/>
        </p:nvSpPr>
        <p:spPr>
          <a:xfrm>
            <a:off x="3670300" y="1524000"/>
            <a:ext cx="14478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Identify affected data quality dimension. Assign to DE or VLC DataMart team. Link to job/table.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6C208D-74BA-4D78-17A5-1F4FF6854242}"/>
              </a:ext>
            </a:extLst>
          </p:cNvPr>
          <p:cNvSpPr txBox="1"/>
          <p:nvPr/>
        </p:nvSpPr>
        <p:spPr>
          <a:xfrm>
            <a:off x="5207000" y="1790700"/>
            <a:ext cx="127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200" b="1">
                <a:solidFill>
                  <a:srgbClr val="A86325"/>
                </a:solidFill>
              </a:rPr>
              <a:t>&gt;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144EB8-A08B-D133-5EBA-B96E2527650C}"/>
              </a:ext>
            </a:extLst>
          </p:cNvPr>
          <p:cNvSpPr/>
          <p:nvPr/>
        </p:nvSpPr>
        <p:spPr>
          <a:xfrm>
            <a:off x="5321300" y="736600"/>
            <a:ext cx="1549400" cy="22225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F34D40-CE61-2519-0E49-BA1235DBE6E9}"/>
              </a:ext>
            </a:extLst>
          </p:cNvPr>
          <p:cNvSpPr/>
          <p:nvPr/>
        </p:nvSpPr>
        <p:spPr>
          <a:xfrm>
            <a:off x="5321300" y="736600"/>
            <a:ext cx="1549400" cy="3302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699CAC-C040-1AC6-AC4F-8534F2EB4B6C}"/>
              </a:ext>
            </a:extLst>
          </p:cNvPr>
          <p:cNvSpPr txBox="1"/>
          <p:nvPr/>
        </p:nvSpPr>
        <p:spPr>
          <a:xfrm>
            <a:off x="5346700" y="787400"/>
            <a:ext cx="14986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1D997D-A45B-9107-0832-34EBB1488303}"/>
              </a:ext>
            </a:extLst>
          </p:cNvPr>
          <p:cNvSpPr txBox="1"/>
          <p:nvPr/>
        </p:nvSpPr>
        <p:spPr>
          <a:xfrm>
            <a:off x="5372100" y="1117600"/>
            <a:ext cx="1447800" cy="38100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4A2E1A"/>
                </a:solidFill>
              </a:rPr>
              <a:t>Investigate &amp; Resolve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123F37-A5E2-9651-3C7C-7520343256A8}"/>
              </a:ext>
            </a:extLst>
          </p:cNvPr>
          <p:cNvSpPr txBox="1"/>
          <p:nvPr/>
        </p:nvSpPr>
        <p:spPr>
          <a:xfrm>
            <a:off x="5372100" y="1524000"/>
            <a:ext cx="14478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Root cause found. Fix applied to pipeline, source, or config. Verify fix with test query.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642DD5-BD6A-B218-03DF-12EEFFD58A3F}"/>
              </a:ext>
            </a:extLst>
          </p:cNvPr>
          <p:cNvSpPr txBox="1"/>
          <p:nvPr/>
        </p:nvSpPr>
        <p:spPr>
          <a:xfrm>
            <a:off x="6908800" y="1790700"/>
            <a:ext cx="127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200" b="1">
                <a:solidFill>
                  <a:srgbClr val="A86325"/>
                </a:solidFill>
              </a:rPr>
              <a:t>&gt;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81880E-A9F2-CB1E-39CB-C38A7925C42D}"/>
              </a:ext>
            </a:extLst>
          </p:cNvPr>
          <p:cNvSpPr/>
          <p:nvPr/>
        </p:nvSpPr>
        <p:spPr>
          <a:xfrm>
            <a:off x="7023100" y="736600"/>
            <a:ext cx="1549400" cy="22225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1244068-5319-6684-63BF-FD6E0E104C41}"/>
              </a:ext>
            </a:extLst>
          </p:cNvPr>
          <p:cNvSpPr/>
          <p:nvPr/>
        </p:nvSpPr>
        <p:spPr>
          <a:xfrm>
            <a:off x="7023100" y="736600"/>
            <a:ext cx="1549400" cy="3302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8ED55D-754A-1CBA-B8B8-5C3BCCA86DB5}"/>
              </a:ext>
            </a:extLst>
          </p:cNvPr>
          <p:cNvSpPr txBox="1"/>
          <p:nvPr/>
        </p:nvSpPr>
        <p:spPr>
          <a:xfrm>
            <a:off x="7048500" y="787400"/>
            <a:ext cx="14986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BF3769-8D1B-58F2-0D58-78A94395CAF1}"/>
              </a:ext>
            </a:extLst>
          </p:cNvPr>
          <p:cNvSpPr txBox="1"/>
          <p:nvPr/>
        </p:nvSpPr>
        <p:spPr>
          <a:xfrm>
            <a:off x="7073900" y="1117600"/>
            <a:ext cx="1447800" cy="38100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4A2E1A"/>
                </a:solidFill>
              </a:rPr>
              <a:t>Repeat Check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8A4ED4-CF29-E734-1B44-06DB1ACB1AB9}"/>
              </a:ext>
            </a:extLst>
          </p:cNvPr>
          <p:cNvSpPr txBox="1"/>
          <p:nvPr/>
        </p:nvSpPr>
        <p:spPr>
          <a:xfrm>
            <a:off x="7073900" y="1524000"/>
            <a:ext cx="14478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Run relevant health check rules post-fix. Confirm PASS result before closing ticket.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EC1D66-C6B7-6F68-7F8A-CA443196C0BE}"/>
              </a:ext>
            </a:extLst>
          </p:cNvPr>
          <p:cNvSpPr txBox="1"/>
          <p:nvPr/>
        </p:nvSpPr>
        <p:spPr>
          <a:xfrm>
            <a:off x="8610600" y="1790700"/>
            <a:ext cx="127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200" b="1">
                <a:solidFill>
                  <a:srgbClr val="A86325"/>
                </a:solidFill>
              </a:rPr>
              <a:t>&gt;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3AB8C94-3ADB-7D44-331C-1D84C4C12D59}"/>
              </a:ext>
            </a:extLst>
          </p:cNvPr>
          <p:cNvSpPr/>
          <p:nvPr/>
        </p:nvSpPr>
        <p:spPr>
          <a:xfrm>
            <a:off x="8724900" y="736600"/>
            <a:ext cx="1549400" cy="22225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16620C5-A9E9-78E9-541C-B5639359F2E9}"/>
              </a:ext>
            </a:extLst>
          </p:cNvPr>
          <p:cNvSpPr/>
          <p:nvPr/>
        </p:nvSpPr>
        <p:spPr>
          <a:xfrm>
            <a:off x="8724900" y="736600"/>
            <a:ext cx="1549400" cy="3302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584E34-A282-6FDD-ACEA-9886C65C208D}"/>
              </a:ext>
            </a:extLst>
          </p:cNvPr>
          <p:cNvSpPr txBox="1"/>
          <p:nvPr/>
        </p:nvSpPr>
        <p:spPr>
          <a:xfrm>
            <a:off x="8750300" y="787400"/>
            <a:ext cx="14986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DAE612-70C8-0F9F-1631-45FC92829EEA}"/>
              </a:ext>
            </a:extLst>
          </p:cNvPr>
          <p:cNvSpPr txBox="1"/>
          <p:nvPr/>
        </p:nvSpPr>
        <p:spPr>
          <a:xfrm>
            <a:off x="8775700" y="1117600"/>
            <a:ext cx="1447800" cy="38100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4A2E1A"/>
                </a:solidFill>
              </a:rPr>
              <a:t>Close Ticket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146A2F-97B0-1B7E-600F-3F0FA2D92F91}"/>
              </a:ext>
            </a:extLst>
          </p:cNvPr>
          <p:cNvSpPr txBox="1"/>
          <p:nvPr/>
        </p:nvSpPr>
        <p:spPr>
          <a:xfrm>
            <a:off x="8775700" y="1524000"/>
            <a:ext cx="14478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Ticket closed. Resolution documented. Link to fix commit or config change recorded.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D74B98-CFF1-BB21-AB76-8C466D7F5CBC}"/>
              </a:ext>
            </a:extLst>
          </p:cNvPr>
          <p:cNvSpPr txBox="1"/>
          <p:nvPr/>
        </p:nvSpPr>
        <p:spPr>
          <a:xfrm>
            <a:off x="10312400" y="1790700"/>
            <a:ext cx="127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200" b="1">
                <a:solidFill>
                  <a:srgbClr val="A86325"/>
                </a:solidFill>
              </a:rPr>
              <a:t>&gt;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0C38280-8F0C-7222-F1B8-81E0241BEDBC}"/>
              </a:ext>
            </a:extLst>
          </p:cNvPr>
          <p:cNvSpPr/>
          <p:nvPr/>
        </p:nvSpPr>
        <p:spPr>
          <a:xfrm>
            <a:off x="10426700" y="736600"/>
            <a:ext cx="1549400" cy="22225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7A17BBF-8268-70AA-0A36-BFE2919C5329}"/>
              </a:ext>
            </a:extLst>
          </p:cNvPr>
          <p:cNvSpPr/>
          <p:nvPr/>
        </p:nvSpPr>
        <p:spPr>
          <a:xfrm>
            <a:off x="10426700" y="736600"/>
            <a:ext cx="1549400" cy="3302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9F3A50-3822-E0CC-3779-0CC9ACA302C2}"/>
              </a:ext>
            </a:extLst>
          </p:cNvPr>
          <p:cNvSpPr txBox="1"/>
          <p:nvPr/>
        </p:nvSpPr>
        <p:spPr>
          <a:xfrm>
            <a:off x="10452100" y="787400"/>
            <a:ext cx="14986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47ACEB-B2AE-6BF1-EFB8-A791B1ED6289}"/>
              </a:ext>
            </a:extLst>
          </p:cNvPr>
          <p:cNvSpPr txBox="1"/>
          <p:nvPr/>
        </p:nvSpPr>
        <p:spPr>
          <a:xfrm>
            <a:off x="10477500" y="1117600"/>
            <a:ext cx="1447800" cy="38100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4A2E1A"/>
                </a:solidFill>
              </a:rPr>
              <a:t>Monitor Recurrence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C7B9AF-4491-81A1-994A-47B5372831BE}"/>
              </a:ext>
            </a:extLst>
          </p:cNvPr>
          <p:cNvSpPr txBox="1"/>
          <p:nvPr/>
        </p:nvSpPr>
        <p:spPr>
          <a:xfrm>
            <a:off x="10477500" y="1524000"/>
            <a:ext cx="14478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Track Col H in Incident Log. If same category + same table recurs within 30 days, flag for Problem.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EAA1581-AE1F-3D60-CF79-450DA581E86F}"/>
              </a:ext>
            </a:extLst>
          </p:cNvPr>
          <p:cNvSpPr/>
          <p:nvPr/>
        </p:nvSpPr>
        <p:spPr>
          <a:xfrm>
            <a:off x="8636000" y="3073400"/>
            <a:ext cx="3441700" cy="914400"/>
          </a:xfrm>
          <a:prstGeom prst="rect">
            <a:avLst/>
          </a:prstGeom>
          <a:solidFill>
            <a:srgbClr val="E7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B448A9-60DA-D996-D0A5-9CA1444A2ED9}"/>
              </a:ext>
            </a:extLst>
          </p:cNvPr>
          <p:cNvSpPr/>
          <p:nvPr/>
        </p:nvSpPr>
        <p:spPr>
          <a:xfrm>
            <a:off x="8636000" y="3073400"/>
            <a:ext cx="3441700" cy="279400"/>
          </a:xfrm>
          <a:prstGeom prst="rect">
            <a:avLst/>
          </a:prstGeom>
          <a:solidFill>
            <a:srgbClr val="0677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C6D38B-3C58-3D85-19E2-104C4BF3A332}"/>
              </a:ext>
            </a:extLst>
          </p:cNvPr>
          <p:cNvSpPr txBox="1"/>
          <p:nvPr/>
        </p:nvSpPr>
        <p:spPr>
          <a:xfrm>
            <a:off x="8636000" y="3098800"/>
            <a:ext cx="34417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If Recurring (Col H Flag)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CEF2D1-ED7B-51EC-031F-98BF243EE660}"/>
              </a:ext>
            </a:extLst>
          </p:cNvPr>
          <p:cNvSpPr txBox="1"/>
          <p:nvPr/>
        </p:nvSpPr>
        <p:spPr>
          <a:xfrm>
            <a:off x="8686800" y="3390900"/>
            <a:ext cx="33401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4A2E1A"/>
                </a:solidFill>
              </a:rPr>
              <a:t>Open Problem Record -&gt; Root Cause Analysis -&gt; Countermeasure -&gt; Verify Fix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1948FA9-F5EC-DF06-2FCF-00E929EE9B46}"/>
              </a:ext>
            </a:extLst>
          </p:cNvPr>
          <p:cNvSpPr txBox="1"/>
          <p:nvPr/>
        </p:nvSpPr>
        <p:spPr>
          <a:xfrm>
            <a:off x="10210800" y="2946400"/>
            <a:ext cx="1778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400" b="1">
                <a:solidFill>
                  <a:srgbClr val="E7F8FF"/>
                </a:solidFill>
              </a:rPr>
              <a:t>|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88D0C52-7B36-E9E4-C116-048EE6539585}"/>
              </a:ext>
            </a:extLst>
          </p:cNvPr>
          <p:cNvSpPr/>
          <p:nvPr/>
        </p:nvSpPr>
        <p:spPr>
          <a:xfrm>
            <a:off x="114300" y="4089400"/>
            <a:ext cx="11963400" cy="10414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52AD4C-2FE9-B1CD-A605-5E5E2257C519}"/>
              </a:ext>
            </a:extLst>
          </p:cNvPr>
          <p:cNvSpPr txBox="1"/>
          <p:nvPr/>
        </p:nvSpPr>
        <p:spPr>
          <a:xfrm>
            <a:off x="203200" y="4191000"/>
            <a:ext cx="14224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A86325"/>
                </a:solidFill>
              </a:rPr>
              <a:t>SDP Ticket Fields: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5C894B0-4E42-8CE2-D3BE-B2996A256541}"/>
              </a:ext>
            </a:extLst>
          </p:cNvPr>
          <p:cNvSpPr txBox="1"/>
          <p:nvPr/>
        </p:nvSpPr>
        <p:spPr>
          <a:xfrm>
            <a:off x="203200" y="4445000"/>
            <a:ext cx="11684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4A2E1A"/>
                </a:solidFill>
              </a:rPr>
              <a:t>Category (Data Issue / System Error / Other)  |  DataMart Stream (DE / VLC)  |  Dimension (Completeness / Consistency / Integrity / Timeliness / Freshness / Validity / Accuracy)  |  Severity (P1-P4)  |  Assignee  |  Resolution  |  Problem Link (Col H flag)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8CA9735-B5EE-1D68-B6A0-B35373E0E3E7}"/>
              </a:ext>
            </a:extLst>
          </p:cNvPr>
          <p:cNvSpPr/>
          <p:nvPr/>
        </p:nvSpPr>
        <p:spPr>
          <a:xfrm>
            <a:off x="114300" y="5207000"/>
            <a:ext cx="11963400" cy="635000"/>
          </a:xfrm>
          <a:prstGeom prst="rect">
            <a:avLst/>
          </a:prstGeom>
          <a:solidFill>
            <a:srgbClr val="CDF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4D123C-134F-F1C5-A11E-405E6AFC81D2}"/>
              </a:ext>
            </a:extLst>
          </p:cNvPr>
          <p:cNvSpPr txBox="1"/>
          <p:nvPr/>
        </p:nvSpPr>
        <p:spPr>
          <a:xfrm>
            <a:off x="114300" y="5334000"/>
            <a:ext cx="119634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400">
                <a:solidFill>
                  <a:srgbClr val="4A2E1A"/>
                </a:solidFill>
              </a:rPr>
              <a:t>See Slide 4 for the full Problem Management flow (RCA + Countermeasure)</a:t>
            </a:r>
          </a:p>
        </p:txBody>
      </p:sp>
    </p:spTree>
    <p:extLst>
      <p:ext uri="{BB962C8B-B14F-4D97-AF65-F5344CB8AC3E}">
        <p14:creationId xmlns:p14="http://schemas.microsoft.com/office/powerpoint/2010/main" val="2827454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E9D512-A814-6FFB-4BE9-D10F75FAC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8B150D-7A60-198A-DE05-5CF8679F767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E65975-922E-C7FC-1ECE-75CA2D8ED5BD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27B903-9709-E575-E9E5-4EED74B9EE8F}"/>
              </a:ext>
            </a:extLst>
          </p:cNvPr>
          <p:cNvSpPr txBox="1"/>
          <p:nvPr/>
        </p:nvSpPr>
        <p:spPr>
          <a:xfrm>
            <a:off x="114300" y="177800"/>
            <a:ext cx="11430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</a:rPr>
              <a:t>Problem Management: Recurring Incident -&gt; RCA -&gt; Countermeasure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B61C659-CC72-72AF-7B79-73298192CDBC}"/>
              </a:ext>
            </a:extLst>
          </p:cNvPr>
          <p:cNvCxnSpPr/>
          <p:nvPr/>
        </p:nvCxnSpPr>
        <p:spPr>
          <a:xfrm>
            <a:off x="0" y="660400"/>
            <a:ext cx="121920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7B1ECF1-CD4F-8708-4C92-DD777F82164F}"/>
              </a:ext>
            </a:extLst>
          </p:cNvPr>
          <p:cNvSpPr/>
          <p:nvPr/>
        </p:nvSpPr>
        <p:spPr>
          <a:xfrm>
            <a:off x="114300" y="736600"/>
            <a:ext cx="11963400" cy="1168400"/>
          </a:xfrm>
          <a:prstGeom prst="rect">
            <a:avLst/>
          </a:prstGeom>
          <a:solidFill>
            <a:srgbClr val="ECEC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84C2D1-CE2D-4FF9-FDD4-BAE96527F85F}"/>
              </a:ext>
            </a:extLst>
          </p:cNvPr>
          <p:cNvSpPr/>
          <p:nvPr/>
        </p:nvSpPr>
        <p:spPr>
          <a:xfrm>
            <a:off x="114300" y="736600"/>
            <a:ext cx="812800" cy="1168400"/>
          </a:xfrm>
          <a:prstGeom prst="rect">
            <a:avLst/>
          </a:prstGeom>
          <a:solidFill>
            <a:srgbClr val="2B39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EC490B-EFEC-ED59-778B-19F4B25158DC}"/>
              </a:ext>
            </a:extLst>
          </p:cNvPr>
          <p:cNvSpPr txBox="1"/>
          <p:nvPr/>
        </p:nvSpPr>
        <p:spPr>
          <a:xfrm>
            <a:off x="114300" y="1168400"/>
            <a:ext cx="8128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1AFA91-303C-497D-C6BE-F33729F84F69}"/>
              </a:ext>
            </a:extLst>
          </p:cNvPr>
          <p:cNvSpPr txBox="1"/>
          <p:nvPr/>
        </p:nvSpPr>
        <p:spPr>
          <a:xfrm>
            <a:off x="1016000" y="838200"/>
            <a:ext cx="10871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b="1">
                <a:solidFill>
                  <a:srgbClr val="4A2E1A"/>
                </a:solidFill>
              </a:rPr>
              <a:t>Recurring Issue Detected (Col H Flag)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A766D7-05B1-DEA6-FE41-2C0DDB8B03E7}"/>
              </a:ext>
            </a:extLst>
          </p:cNvPr>
          <p:cNvCxnSpPr/>
          <p:nvPr/>
        </p:nvCxnSpPr>
        <p:spPr>
          <a:xfrm>
            <a:off x="1016000" y="1117600"/>
            <a:ext cx="109474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A68A5FD-4F61-7C9B-245A-BC72023D79DE}"/>
              </a:ext>
            </a:extLst>
          </p:cNvPr>
          <p:cNvSpPr txBox="1"/>
          <p:nvPr/>
        </p:nvSpPr>
        <p:spPr>
          <a:xfrm>
            <a:off x="1016000" y="1168400"/>
            <a:ext cx="10871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4A2E1A"/>
                </a:solidFill>
              </a:rPr>
              <a:t>Same error category + same table/job recurs within 30 days of a previous close. Col H in Incident Log is flagged. A Problem record is opened and linked to all related incident ticket numbers.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BE3B8-C972-A99B-E8C4-1DC910CAB1E0}"/>
              </a:ext>
            </a:extLst>
          </p:cNvPr>
          <p:cNvCxnSpPr/>
          <p:nvPr/>
        </p:nvCxnSpPr>
        <p:spPr>
          <a:xfrm>
            <a:off x="0" y="1905000"/>
            <a:ext cx="121920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633404B-CBCC-D672-85B9-FD3FA6CA844E}"/>
              </a:ext>
            </a:extLst>
          </p:cNvPr>
          <p:cNvSpPr/>
          <p:nvPr/>
        </p:nvSpPr>
        <p:spPr>
          <a:xfrm>
            <a:off x="114300" y="1917700"/>
            <a:ext cx="11963400" cy="1168400"/>
          </a:xfrm>
          <a:prstGeom prst="rect">
            <a:avLst/>
          </a:prstGeom>
          <a:solidFill>
            <a:srgbClr val="E7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DE7EC8-5099-A322-BA80-CC194466B62B}"/>
              </a:ext>
            </a:extLst>
          </p:cNvPr>
          <p:cNvSpPr/>
          <p:nvPr/>
        </p:nvSpPr>
        <p:spPr>
          <a:xfrm>
            <a:off x="114300" y="1917700"/>
            <a:ext cx="812800" cy="1168400"/>
          </a:xfrm>
          <a:prstGeom prst="rect">
            <a:avLst/>
          </a:prstGeom>
          <a:solidFill>
            <a:srgbClr val="0677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9A22BC-F28F-C596-28B5-16786CE357F8}"/>
              </a:ext>
            </a:extLst>
          </p:cNvPr>
          <p:cNvSpPr txBox="1"/>
          <p:nvPr/>
        </p:nvSpPr>
        <p:spPr>
          <a:xfrm>
            <a:off x="114300" y="2349500"/>
            <a:ext cx="8128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205B12-CD32-8F75-F1C5-623266C0233F}"/>
              </a:ext>
            </a:extLst>
          </p:cNvPr>
          <p:cNvSpPr txBox="1"/>
          <p:nvPr/>
        </p:nvSpPr>
        <p:spPr>
          <a:xfrm>
            <a:off x="1016000" y="2019300"/>
            <a:ext cx="10871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b="1">
                <a:solidFill>
                  <a:srgbClr val="4A2E1A"/>
                </a:solidFill>
              </a:rPr>
              <a:t>Open Problem Record in Service Desk Plus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5B022C-051E-B860-0E5E-FCE8F66D4377}"/>
              </a:ext>
            </a:extLst>
          </p:cNvPr>
          <p:cNvCxnSpPr/>
          <p:nvPr/>
        </p:nvCxnSpPr>
        <p:spPr>
          <a:xfrm>
            <a:off x="1016000" y="2298700"/>
            <a:ext cx="109474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7627B48-72DB-B3AC-15CA-381E33515986}"/>
              </a:ext>
            </a:extLst>
          </p:cNvPr>
          <p:cNvSpPr txBox="1"/>
          <p:nvPr/>
        </p:nvSpPr>
        <p:spPr>
          <a:xfrm>
            <a:off x="1016000" y="2349500"/>
            <a:ext cx="10871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4A2E1A"/>
                </a:solidFill>
              </a:rPr>
              <a:t>Link all related incident ticket IDs. Assign Problem Owner (team lead for the affected DataMart stream). Set status: Under Investigation. Notify relevant stakeholders.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2FD6418-03E4-6465-473C-79FFF047C4C9}"/>
              </a:ext>
            </a:extLst>
          </p:cNvPr>
          <p:cNvCxnSpPr/>
          <p:nvPr/>
        </p:nvCxnSpPr>
        <p:spPr>
          <a:xfrm>
            <a:off x="0" y="3086100"/>
            <a:ext cx="121920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3C72FB6-671D-F61E-19DB-E54A443322EF}"/>
              </a:ext>
            </a:extLst>
          </p:cNvPr>
          <p:cNvSpPr/>
          <p:nvPr/>
        </p:nvSpPr>
        <p:spPr>
          <a:xfrm>
            <a:off x="114300" y="3098800"/>
            <a:ext cx="11963400" cy="11684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17DBE8-2F1A-25B8-6FE8-4A905B45A631}"/>
              </a:ext>
            </a:extLst>
          </p:cNvPr>
          <p:cNvSpPr/>
          <p:nvPr/>
        </p:nvSpPr>
        <p:spPr>
          <a:xfrm>
            <a:off x="114300" y="3098800"/>
            <a:ext cx="812800" cy="11684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3855FB-FD4D-A85C-E5E6-820033730252}"/>
              </a:ext>
            </a:extLst>
          </p:cNvPr>
          <p:cNvSpPr txBox="1"/>
          <p:nvPr/>
        </p:nvSpPr>
        <p:spPr>
          <a:xfrm>
            <a:off x="114300" y="3530600"/>
            <a:ext cx="8128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6AD7A6-AFAA-685A-A3D4-B77D55ED5C3F}"/>
              </a:ext>
            </a:extLst>
          </p:cNvPr>
          <p:cNvSpPr txBox="1"/>
          <p:nvPr/>
        </p:nvSpPr>
        <p:spPr>
          <a:xfrm>
            <a:off x="1016000" y="3200400"/>
            <a:ext cx="10871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b="1">
                <a:solidFill>
                  <a:srgbClr val="4A2E1A"/>
                </a:solidFill>
              </a:rPr>
              <a:t>Root Cause Analysis (RCA)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CF9B76-254D-28B5-6AE8-2E921ABF6A45}"/>
              </a:ext>
            </a:extLst>
          </p:cNvPr>
          <p:cNvCxnSpPr/>
          <p:nvPr/>
        </p:nvCxnSpPr>
        <p:spPr>
          <a:xfrm>
            <a:off x="1016000" y="3479800"/>
            <a:ext cx="109474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DF2E96A-EE0B-581B-89D3-13ECFC76AC08}"/>
              </a:ext>
            </a:extLst>
          </p:cNvPr>
          <p:cNvSpPr txBox="1"/>
          <p:nvPr/>
        </p:nvSpPr>
        <p:spPr>
          <a:xfrm>
            <a:off x="1016000" y="3530600"/>
            <a:ext cx="10871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4A2E1A"/>
                </a:solidFill>
              </a:rPr>
              <a:t>Identify root cause category: Pipeline Defect / Source Data Issue / Rule Gap / Config Error / External Dependency. Document: affected tables, affected dimension, impact scope (DE / VLC / both), and timeline.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1870059-D807-2D73-294C-01516FC203E9}"/>
              </a:ext>
            </a:extLst>
          </p:cNvPr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B6CA2B50-4D3C-D064-F940-EB7BE24653A0}"/>
              </a:ext>
            </a:extLst>
          </p:cNvPr>
          <p:cNvSpPr/>
          <p:nvPr/>
        </p:nvSpPr>
        <p:spPr>
          <a:xfrm>
            <a:off x="114300" y="4279900"/>
            <a:ext cx="11963400" cy="1168400"/>
          </a:xfrm>
          <a:prstGeom prst="rect">
            <a:avLst/>
          </a:prstGeom>
          <a:solidFill>
            <a:srgbClr val="EEF7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7929CA-1D98-AD59-A42A-9BE979BA0712}"/>
              </a:ext>
            </a:extLst>
          </p:cNvPr>
          <p:cNvSpPr/>
          <p:nvPr/>
        </p:nvSpPr>
        <p:spPr>
          <a:xfrm>
            <a:off x="114300" y="4279900"/>
            <a:ext cx="812800" cy="1168400"/>
          </a:xfrm>
          <a:prstGeom prst="rect">
            <a:avLst/>
          </a:prstGeom>
          <a:solidFill>
            <a:srgbClr val="60AE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909F03-8EA9-A4DC-72C0-68ED00E0A405}"/>
              </a:ext>
            </a:extLst>
          </p:cNvPr>
          <p:cNvSpPr txBox="1"/>
          <p:nvPr/>
        </p:nvSpPr>
        <p:spPr>
          <a:xfrm>
            <a:off x="114300" y="4711700"/>
            <a:ext cx="8128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AFB9E0-07DE-005D-638A-A481774235FF}"/>
              </a:ext>
            </a:extLst>
          </p:cNvPr>
          <p:cNvSpPr txBox="1"/>
          <p:nvPr/>
        </p:nvSpPr>
        <p:spPr>
          <a:xfrm>
            <a:off x="1016000" y="4381500"/>
            <a:ext cx="10871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b="1">
                <a:solidFill>
                  <a:srgbClr val="4A2E1A"/>
                </a:solidFill>
              </a:rPr>
              <a:t>Countermeasure + Verification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E185BDF-468F-6E1A-425F-181E15D49A6F}"/>
              </a:ext>
            </a:extLst>
          </p:cNvPr>
          <p:cNvCxnSpPr/>
          <p:nvPr/>
        </p:nvCxnSpPr>
        <p:spPr>
          <a:xfrm>
            <a:off x="1016000" y="4660900"/>
            <a:ext cx="109474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09C594B-9CCC-07F6-1440-5705157486DC}"/>
              </a:ext>
            </a:extLst>
          </p:cNvPr>
          <p:cNvSpPr txBox="1"/>
          <p:nvPr/>
        </p:nvSpPr>
        <p:spPr>
          <a:xfrm>
            <a:off x="1016000" y="4711700"/>
            <a:ext cx="10871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4A2E1A"/>
                </a:solidFill>
              </a:rPr>
              <a:t>Implement fix. Add or tighten the relevant data quality check rule for the affected dimension. Run health check suite and confirm PASS. Update Problem status: Resolved. Confirm no recurrence in next 30 days.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B196522-31D9-77FD-ED27-41D84D4F5267}"/>
              </a:ext>
            </a:extLst>
          </p:cNvPr>
          <p:cNvCxnSpPr/>
          <p:nvPr/>
        </p:nvCxnSpPr>
        <p:spPr>
          <a:xfrm>
            <a:off x="0" y="5448300"/>
            <a:ext cx="121920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F563D356-F6F7-CB22-C88E-1EFC40487963}"/>
              </a:ext>
            </a:extLst>
          </p:cNvPr>
          <p:cNvSpPr/>
          <p:nvPr/>
        </p:nvSpPr>
        <p:spPr>
          <a:xfrm>
            <a:off x="114300" y="5461000"/>
            <a:ext cx="11963400" cy="1168400"/>
          </a:xfrm>
          <a:prstGeom prst="rect">
            <a:avLst/>
          </a:prstGeom>
          <a:solidFill>
            <a:srgbClr val="EAE3D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25C9E71-4D2F-96C8-4700-5733BDF9CA14}"/>
              </a:ext>
            </a:extLst>
          </p:cNvPr>
          <p:cNvSpPr/>
          <p:nvPr/>
        </p:nvSpPr>
        <p:spPr>
          <a:xfrm>
            <a:off x="114300" y="5461000"/>
            <a:ext cx="812800" cy="1168400"/>
          </a:xfrm>
          <a:prstGeom prst="rect">
            <a:avLst/>
          </a:prstGeom>
          <a:solidFill>
            <a:srgbClr val="8D7A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E7FBC0-E906-5681-123D-44E8DE9244FE}"/>
              </a:ext>
            </a:extLst>
          </p:cNvPr>
          <p:cNvSpPr txBox="1"/>
          <p:nvPr/>
        </p:nvSpPr>
        <p:spPr>
          <a:xfrm>
            <a:off x="114300" y="5892800"/>
            <a:ext cx="8128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NOTE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EFCA96-D392-F7F3-463A-196159266BE5}"/>
              </a:ext>
            </a:extLst>
          </p:cNvPr>
          <p:cNvSpPr txBox="1"/>
          <p:nvPr/>
        </p:nvSpPr>
        <p:spPr>
          <a:xfrm>
            <a:off x="1016000" y="5562600"/>
            <a:ext cx="10871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b="1">
                <a:solidFill>
                  <a:srgbClr val="4A2E1A"/>
                </a:solidFill>
              </a:rPr>
              <a:t>All four steps are tracked in the Problem Tracker sheet of the Monitoring Report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1F0FEB6-9A42-85A3-876A-2282846AC970}"/>
              </a:ext>
            </a:extLst>
          </p:cNvPr>
          <p:cNvCxnSpPr/>
          <p:nvPr/>
        </p:nvCxnSpPr>
        <p:spPr>
          <a:xfrm>
            <a:off x="1016000" y="5842000"/>
            <a:ext cx="109474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314C39C-9D2C-03DC-8B08-DB06E34B0B4C}"/>
              </a:ext>
            </a:extLst>
          </p:cNvPr>
          <p:cNvSpPr txBox="1"/>
          <p:nvPr/>
        </p:nvSpPr>
        <p:spPr>
          <a:xfrm>
            <a:off x="1016000" y="5892800"/>
            <a:ext cx="10871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4A2E1A"/>
                </a:solidFill>
              </a:rPr>
              <a:t>Problem ID  |  Linked Incidents  |  Root Cause Category  |  Countermeasure  |  Check Rule Added (Y/N)  |  Status  |  Days Open  |  Recurrence After Fix?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3803290-FC35-6725-6E8F-0A737BCAC7A0}"/>
              </a:ext>
            </a:extLst>
          </p:cNvPr>
          <p:cNvCxnSpPr/>
          <p:nvPr/>
        </p:nvCxnSpPr>
        <p:spPr>
          <a:xfrm>
            <a:off x="0" y="6629400"/>
            <a:ext cx="121920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9350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E1E5E7-7364-AFCA-64FB-7A8C030365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6B37BA-7460-5984-52C7-0398E079E783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8CC7E4-F237-C8E4-CF0C-D67240DE9CDE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1958F3-E7E0-37C5-6A80-5A0C9803458E}"/>
              </a:ext>
            </a:extLst>
          </p:cNvPr>
          <p:cNvSpPr txBox="1"/>
          <p:nvPr/>
        </p:nvSpPr>
        <p:spPr>
          <a:xfrm>
            <a:off x="114300" y="177800"/>
            <a:ext cx="11430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Proactive Track: 7 Data Quality Dimensions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8FEFB8-4182-6B6A-99EA-9FD8F49EF8D2}"/>
              </a:ext>
            </a:extLst>
          </p:cNvPr>
          <p:cNvCxnSpPr/>
          <p:nvPr/>
        </p:nvCxnSpPr>
        <p:spPr>
          <a:xfrm>
            <a:off x="0" y="660400"/>
            <a:ext cx="121920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BB7C08F-90B6-16BA-388E-16B5F079046D}"/>
              </a:ext>
            </a:extLst>
          </p:cNvPr>
          <p:cNvSpPr/>
          <p:nvPr/>
        </p:nvSpPr>
        <p:spPr>
          <a:xfrm>
            <a:off x="114300" y="736600"/>
            <a:ext cx="2844800" cy="14986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BB65BC-5DA0-F2DF-20CC-8DA30913E502}"/>
              </a:ext>
            </a:extLst>
          </p:cNvPr>
          <p:cNvSpPr/>
          <p:nvPr/>
        </p:nvSpPr>
        <p:spPr>
          <a:xfrm>
            <a:off x="114300" y="736600"/>
            <a:ext cx="2844800" cy="3556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9175B9-A058-F92B-967D-928A729E9204}"/>
              </a:ext>
            </a:extLst>
          </p:cNvPr>
          <p:cNvSpPr txBox="1"/>
          <p:nvPr/>
        </p:nvSpPr>
        <p:spPr>
          <a:xfrm>
            <a:off x="165100" y="812800"/>
            <a:ext cx="2743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1  Completeness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EF52C3-7E35-27E8-E452-B3768547B0C6}"/>
              </a:ext>
            </a:extLst>
          </p:cNvPr>
          <p:cNvSpPr txBox="1"/>
          <p:nvPr/>
        </p:nvSpPr>
        <p:spPr>
          <a:xfrm>
            <a:off x="165100" y="1143000"/>
            <a:ext cx="2743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cid IS NOT NULL
Required fields not blank
Threshold: &gt;= 99% of rows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6831B8-06F9-17FF-074B-B347AE8B4E2C}"/>
              </a:ext>
            </a:extLst>
          </p:cNvPr>
          <p:cNvSpPr/>
          <p:nvPr/>
        </p:nvSpPr>
        <p:spPr>
          <a:xfrm>
            <a:off x="3060700" y="736600"/>
            <a:ext cx="2844800" cy="14986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C447E9-AD23-65EC-524A-1F10FD7CFDEF}"/>
              </a:ext>
            </a:extLst>
          </p:cNvPr>
          <p:cNvSpPr/>
          <p:nvPr/>
        </p:nvSpPr>
        <p:spPr>
          <a:xfrm>
            <a:off x="3060700" y="736600"/>
            <a:ext cx="2844800" cy="3556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70ED3B-5129-9C99-06AF-947CB47B6450}"/>
              </a:ext>
            </a:extLst>
          </p:cNvPr>
          <p:cNvSpPr txBox="1"/>
          <p:nvPr/>
        </p:nvSpPr>
        <p:spPr>
          <a:xfrm>
            <a:off x="3111500" y="812800"/>
            <a:ext cx="2743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2  Consistency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AD829E-E5D3-27E8-8766-A9C1AF80F4C5}"/>
              </a:ext>
            </a:extLst>
          </p:cNvPr>
          <p:cNvSpPr txBox="1"/>
          <p:nvPr/>
        </p:nvSpPr>
        <p:spPr>
          <a:xfrm>
            <a:off x="3111500" y="1143000"/>
            <a:ext cx="2743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cid in table_A = cid in table_B
Cross-table match validation
DE vs VLC propagation check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AF5B64-365A-C876-A1A6-CDD482D83526}"/>
              </a:ext>
            </a:extLst>
          </p:cNvPr>
          <p:cNvSpPr/>
          <p:nvPr/>
        </p:nvSpPr>
        <p:spPr>
          <a:xfrm>
            <a:off x="6007100" y="736600"/>
            <a:ext cx="2844800" cy="14986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2D8262-06DE-84A9-26D8-8D25C2C781C2}"/>
              </a:ext>
            </a:extLst>
          </p:cNvPr>
          <p:cNvSpPr/>
          <p:nvPr/>
        </p:nvSpPr>
        <p:spPr>
          <a:xfrm>
            <a:off x="6007100" y="736600"/>
            <a:ext cx="2844800" cy="3556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BBA92F-B36F-4DAA-2D4A-67E3CC6F172C}"/>
              </a:ext>
            </a:extLst>
          </p:cNvPr>
          <p:cNvSpPr txBox="1"/>
          <p:nvPr/>
        </p:nvSpPr>
        <p:spPr>
          <a:xfrm>
            <a:off x="6057900" y="812800"/>
            <a:ext cx="2743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3  Integrity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11FA1D-0B7E-67AE-3E92-BD94916DEBEA}"/>
              </a:ext>
            </a:extLst>
          </p:cNvPr>
          <p:cNvSpPr txBox="1"/>
          <p:nvPr/>
        </p:nvSpPr>
        <p:spPr>
          <a:xfrm>
            <a:off x="6057900" y="1143000"/>
            <a:ext cx="2743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member_id exists in member master
FK reference validity
Orphan record detection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3B4234-0986-E05A-F14A-A6E70F693A28}"/>
              </a:ext>
            </a:extLst>
          </p:cNvPr>
          <p:cNvSpPr/>
          <p:nvPr/>
        </p:nvSpPr>
        <p:spPr>
          <a:xfrm>
            <a:off x="8953500" y="736600"/>
            <a:ext cx="2844800" cy="14986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0E1673-896B-0612-4D9A-376A92DFA7A6}"/>
              </a:ext>
            </a:extLst>
          </p:cNvPr>
          <p:cNvSpPr/>
          <p:nvPr/>
        </p:nvSpPr>
        <p:spPr>
          <a:xfrm>
            <a:off x="8953500" y="736600"/>
            <a:ext cx="2844800" cy="3556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5E364F-40E9-F505-4ABB-18BB30F4B0CF}"/>
              </a:ext>
            </a:extLst>
          </p:cNvPr>
          <p:cNvSpPr txBox="1"/>
          <p:nvPr/>
        </p:nvSpPr>
        <p:spPr>
          <a:xfrm>
            <a:off x="9004300" y="812800"/>
            <a:ext cx="2743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4  Timeliness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2736FC-E0A3-82D0-1ACE-1BB688FBD1F8}"/>
              </a:ext>
            </a:extLst>
          </p:cNvPr>
          <p:cNvSpPr txBox="1"/>
          <p:nvPr/>
        </p:nvSpPr>
        <p:spPr>
          <a:xfrm>
            <a:off x="9004300" y="1143000"/>
            <a:ext cx="2743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Data loaded by SLA time (07:00)
Scheduled job completed on time
Max(load_dt) within SLA window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4D3B02-78DF-BDF4-2EF4-1DA0EC04DC39}"/>
              </a:ext>
            </a:extLst>
          </p:cNvPr>
          <p:cNvSpPr/>
          <p:nvPr/>
        </p:nvSpPr>
        <p:spPr>
          <a:xfrm>
            <a:off x="114300" y="2336800"/>
            <a:ext cx="2844800" cy="14986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9CD156-8811-12A7-B3FF-3D853CA07CB8}"/>
              </a:ext>
            </a:extLst>
          </p:cNvPr>
          <p:cNvSpPr/>
          <p:nvPr/>
        </p:nvSpPr>
        <p:spPr>
          <a:xfrm>
            <a:off x="114300" y="2336800"/>
            <a:ext cx="2844800" cy="3556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8C3452-0289-E152-3A3B-49A9D74220BE}"/>
              </a:ext>
            </a:extLst>
          </p:cNvPr>
          <p:cNvSpPr txBox="1"/>
          <p:nvPr/>
        </p:nvSpPr>
        <p:spPr>
          <a:xfrm>
            <a:off x="165100" y="2413000"/>
            <a:ext cx="2743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5  Freshness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A5EA1F-D849-C2AE-D512-0ECF3C7962F0}"/>
              </a:ext>
            </a:extLst>
          </p:cNvPr>
          <p:cNvSpPr txBox="1"/>
          <p:nvPr/>
        </p:nvSpPr>
        <p:spPr>
          <a:xfrm>
            <a:off x="165100" y="2743200"/>
            <a:ext cx="2743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max(updated_date) &gt;= today - 1
Latest partition/snapshot available
No stale data served to users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9EFA36-87C9-FA66-E10E-A89CCA7399E2}"/>
              </a:ext>
            </a:extLst>
          </p:cNvPr>
          <p:cNvSpPr/>
          <p:nvPr/>
        </p:nvSpPr>
        <p:spPr>
          <a:xfrm>
            <a:off x="3060700" y="2336800"/>
            <a:ext cx="2844800" cy="14986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95AA28-FE83-15AA-348F-3A6930948B9E}"/>
              </a:ext>
            </a:extLst>
          </p:cNvPr>
          <p:cNvSpPr/>
          <p:nvPr/>
        </p:nvSpPr>
        <p:spPr>
          <a:xfrm>
            <a:off x="3060700" y="2336800"/>
            <a:ext cx="2844800" cy="3556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655B94-8354-0F11-F5A5-A8962F2C6DE9}"/>
              </a:ext>
            </a:extLst>
          </p:cNvPr>
          <p:cNvSpPr txBox="1"/>
          <p:nvPr/>
        </p:nvSpPr>
        <p:spPr>
          <a:xfrm>
            <a:off x="3111500" y="2413000"/>
            <a:ext cx="2743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6  Validity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712C70-BAE8-5855-936D-17482A8E4649}"/>
              </a:ext>
            </a:extLst>
          </p:cNvPr>
          <p:cNvSpPr txBox="1"/>
          <p:nvPr/>
        </p:nvSpPr>
        <p:spPr>
          <a:xfrm>
            <a:off x="3111500" y="2743200"/>
            <a:ext cx="2743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cid LIKE 'F%' OR cid LIKE 'CUS%'
Business format rules enforced
Phone: 10 digits, correct format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CDAA30-F644-8157-BEB4-D518875EDE8C}"/>
              </a:ext>
            </a:extLst>
          </p:cNvPr>
          <p:cNvSpPr/>
          <p:nvPr/>
        </p:nvSpPr>
        <p:spPr>
          <a:xfrm>
            <a:off x="6007100" y="2336800"/>
            <a:ext cx="2844800" cy="14986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FDC2E64-EA28-FE62-6D16-5599F6C55FF1}"/>
              </a:ext>
            </a:extLst>
          </p:cNvPr>
          <p:cNvSpPr/>
          <p:nvPr/>
        </p:nvSpPr>
        <p:spPr>
          <a:xfrm>
            <a:off x="6007100" y="2336800"/>
            <a:ext cx="2844800" cy="3556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356C82-8CDB-B3A7-22D6-221757BB1457}"/>
              </a:ext>
            </a:extLst>
          </p:cNvPr>
          <p:cNvSpPr txBox="1"/>
          <p:nvPr/>
        </p:nvSpPr>
        <p:spPr>
          <a:xfrm>
            <a:off x="6057900" y="2413000"/>
            <a:ext cx="2743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7  Accuracy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7F26FB-C6FD-7D29-5106-F87E1CC09B90}"/>
              </a:ext>
            </a:extLst>
          </p:cNvPr>
          <p:cNvSpPr txBox="1"/>
          <p:nvPr/>
        </p:nvSpPr>
        <p:spPr>
          <a:xfrm>
            <a:off x="6057900" y="2743200"/>
            <a:ext cx="2743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Phone: 10 numeric digits
Birthdate: not future, not &gt;120 yrs
Field values match business reality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EED0FA6-AC73-68A7-D921-2D4F288BD185}"/>
              </a:ext>
            </a:extLst>
          </p:cNvPr>
          <p:cNvSpPr/>
          <p:nvPr/>
        </p:nvSpPr>
        <p:spPr>
          <a:xfrm>
            <a:off x="114300" y="3937000"/>
            <a:ext cx="11963400" cy="10414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028C7E6-CB7F-99D7-3265-EFFE58F224AA}"/>
              </a:ext>
            </a:extLst>
          </p:cNvPr>
          <p:cNvCxnSpPr/>
          <p:nvPr/>
        </p:nvCxnSpPr>
        <p:spPr>
          <a:xfrm>
            <a:off x="114300" y="3937000"/>
            <a:ext cx="119634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AEF2D4F-6B4F-3D38-2DCF-21289C81857C}"/>
              </a:ext>
            </a:extLst>
          </p:cNvPr>
          <p:cNvSpPr/>
          <p:nvPr/>
        </p:nvSpPr>
        <p:spPr>
          <a:xfrm>
            <a:off x="114300" y="3937000"/>
            <a:ext cx="5981700" cy="3302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BE3D9F-890B-060D-B3F1-2F98E4245782}"/>
              </a:ext>
            </a:extLst>
          </p:cNvPr>
          <p:cNvSpPr txBox="1"/>
          <p:nvPr/>
        </p:nvSpPr>
        <p:spPr>
          <a:xfrm>
            <a:off x="114300" y="3975100"/>
            <a:ext cx="59817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DE DataMart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E206EA-5C5F-CEFC-8B17-DD1C231A78D6}"/>
              </a:ext>
            </a:extLst>
          </p:cNvPr>
          <p:cNvSpPr txBox="1"/>
          <p:nvPr/>
        </p:nvSpPr>
        <p:spPr>
          <a:xfrm>
            <a:off x="203200" y="4292600"/>
            <a:ext cx="57785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>
                <a:solidFill>
                  <a:srgbClr val="4A2E1A"/>
                </a:solidFill>
              </a:rPr>
              <a:t>Checks run directly against DE source tables. Primary source of truth for all 7 dimensions.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A9C5467-534B-4C8A-DF8A-31D639A80C37}"/>
              </a:ext>
            </a:extLst>
          </p:cNvPr>
          <p:cNvSpPr/>
          <p:nvPr/>
        </p:nvSpPr>
        <p:spPr>
          <a:xfrm>
            <a:off x="6223000" y="3937000"/>
            <a:ext cx="5854700" cy="3302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3A673C-11E6-7087-2B9F-6DE965DF1CF2}"/>
              </a:ext>
            </a:extLst>
          </p:cNvPr>
          <p:cNvSpPr txBox="1"/>
          <p:nvPr/>
        </p:nvSpPr>
        <p:spPr>
          <a:xfrm>
            <a:off x="6223000" y="3975100"/>
            <a:ext cx="58547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VLC DataMart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A53079-2801-A84F-DFB4-AB7D65425ECA}"/>
              </a:ext>
            </a:extLst>
          </p:cNvPr>
          <p:cNvSpPr txBox="1"/>
          <p:nvPr/>
        </p:nvSpPr>
        <p:spPr>
          <a:xfrm>
            <a:off x="6311900" y="4292600"/>
            <a:ext cx="56515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>
                <a:solidFill>
                  <a:srgbClr val="4A2E1A"/>
                </a:solidFill>
              </a:rPr>
              <a:t>Checks also validate DE-&gt;VLC propagation. Consistency dimension is critical: ensures VLC tables match DE source after each load.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FA2879D-950B-6B37-1D4E-7EC8957FA055}"/>
              </a:ext>
            </a:extLst>
          </p:cNvPr>
          <p:cNvSpPr/>
          <p:nvPr/>
        </p:nvSpPr>
        <p:spPr>
          <a:xfrm>
            <a:off x="114300" y="5080000"/>
            <a:ext cx="11963400" cy="736600"/>
          </a:xfrm>
          <a:prstGeom prst="rect">
            <a:avLst/>
          </a:prstGeom>
          <a:solidFill>
            <a:srgbClr val="E7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D47C22-30FE-8A15-9AEC-9A8256D5A327}"/>
              </a:ext>
            </a:extLst>
          </p:cNvPr>
          <p:cNvSpPr txBox="1"/>
          <p:nvPr/>
        </p:nvSpPr>
        <p:spPr>
          <a:xfrm>
            <a:off x="203200" y="5181600"/>
            <a:ext cx="13716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0677D9"/>
                </a:solidFill>
              </a:rPr>
              <a:t>Check Results: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F17850-1BFA-FFCD-7AD8-33DD300BE7DD}"/>
              </a:ext>
            </a:extLst>
          </p:cNvPr>
          <p:cNvSpPr txBox="1"/>
          <p:nvPr/>
        </p:nvSpPr>
        <p:spPr>
          <a:xfrm>
            <a:off x="1625600" y="5143500"/>
            <a:ext cx="10363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>
                <a:solidFill>
                  <a:srgbClr val="4A2E1A"/>
                </a:solidFill>
              </a:rPr>
              <a:t>PASS -&gt; log result in DQ Health Check Log  |  WARN -&gt; alert job owner, re-check in 24h  |  FAIL -&gt; auto-create SDP incident ticket (enters Reactive Track)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D1EF851-064B-0CA5-0D78-0106AC605FE9}"/>
              </a:ext>
            </a:extLst>
          </p:cNvPr>
          <p:cNvSpPr/>
          <p:nvPr/>
        </p:nvSpPr>
        <p:spPr>
          <a:xfrm>
            <a:off x="114300" y="5892800"/>
            <a:ext cx="11963400" cy="533400"/>
          </a:xfrm>
          <a:prstGeom prst="rect">
            <a:avLst/>
          </a:prstGeom>
          <a:solidFill>
            <a:srgbClr val="EAE3D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EE6BE2-4A0B-0DFA-ABA3-87C5EE9E9F98}"/>
              </a:ext>
            </a:extLst>
          </p:cNvPr>
          <p:cNvSpPr txBox="1"/>
          <p:nvPr/>
        </p:nvSpPr>
        <p:spPr>
          <a:xfrm>
            <a:off x="203200" y="5994400"/>
            <a:ext cx="11684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400">
                <a:solidFill>
                  <a:srgbClr val="4A2E1A"/>
                </a:solidFill>
              </a:rPr>
              <a:t>Check frequency:  Daily = Completeness, Freshness, Timeliness  |  Weekly = Consistency, Integrity  |  Monthly = Validity, Accuracy</a:t>
            </a:r>
          </a:p>
        </p:txBody>
      </p:sp>
    </p:spTree>
    <p:extLst>
      <p:ext uri="{BB962C8B-B14F-4D97-AF65-F5344CB8AC3E}">
        <p14:creationId xmlns:p14="http://schemas.microsoft.com/office/powerpoint/2010/main" val="2555589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C097FB-7FEE-7831-2FBE-870F4269B3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E05804-FEBC-AC9D-25E9-CABD6650AF1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801E2A-E6A1-A157-1B8B-2F2635530874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4DCB17-67A9-2E14-1845-75B493FA8271}"/>
              </a:ext>
            </a:extLst>
          </p:cNvPr>
          <p:cNvSpPr txBox="1"/>
          <p:nvPr/>
        </p:nvSpPr>
        <p:spPr>
          <a:xfrm>
            <a:off x="114300" y="177800"/>
            <a:ext cx="11430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Proactive Track: Check Execution &amp; Alert Logic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9B07D1C-D530-2B47-0042-4A9E710E3A70}"/>
              </a:ext>
            </a:extLst>
          </p:cNvPr>
          <p:cNvCxnSpPr/>
          <p:nvPr/>
        </p:nvCxnSpPr>
        <p:spPr>
          <a:xfrm>
            <a:off x="0" y="660400"/>
            <a:ext cx="121920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FEC2415-AADA-A049-211A-CCDEA9F2B1CC}"/>
              </a:ext>
            </a:extLst>
          </p:cNvPr>
          <p:cNvSpPr/>
          <p:nvPr/>
        </p:nvSpPr>
        <p:spPr>
          <a:xfrm>
            <a:off x="114300" y="736600"/>
            <a:ext cx="3759200" cy="54610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C92FAE-5FA6-6AF0-CAE4-01E50CBED0AC}"/>
              </a:ext>
            </a:extLst>
          </p:cNvPr>
          <p:cNvSpPr/>
          <p:nvPr/>
        </p:nvSpPr>
        <p:spPr>
          <a:xfrm>
            <a:off x="114300" y="736600"/>
            <a:ext cx="3759200" cy="3302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E169AE-162D-AF41-5CF5-9BD22DF2455E}"/>
              </a:ext>
            </a:extLst>
          </p:cNvPr>
          <p:cNvSpPr txBox="1"/>
          <p:nvPr/>
        </p:nvSpPr>
        <p:spPr>
          <a:xfrm>
            <a:off x="114300" y="787400"/>
            <a:ext cx="3759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Check Schedule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5BAB6A-3C2D-0259-D0B9-9D818AEC22B9}"/>
              </a:ext>
            </a:extLst>
          </p:cNvPr>
          <p:cNvSpPr/>
          <p:nvPr/>
        </p:nvSpPr>
        <p:spPr>
          <a:xfrm>
            <a:off x="165100" y="1143000"/>
            <a:ext cx="3657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561634-35C4-0600-90FE-9AD8460C2DBE}"/>
              </a:ext>
            </a:extLst>
          </p:cNvPr>
          <p:cNvSpPr txBox="1"/>
          <p:nvPr/>
        </p:nvSpPr>
        <p:spPr>
          <a:xfrm>
            <a:off x="215900" y="1206500"/>
            <a:ext cx="355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4A2E1A"/>
                </a:solidFill>
              </a:rPr>
              <a:t>Daily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913230-2551-99C0-9035-6E58FD11B8CF}"/>
              </a:ext>
            </a:extLst>
          </p:cNvPr>
          <p:cNvCxnSpPr/>
          <p:nvPr/>
        </p:nvCxnSpPr>
        <p:spPr>
          <a:xfrm>
            <a:off x="215900" y="1460500"/>
            <a:ext cx="35560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4F0D1F8-5A9E-EDD0-C1A9-89785B3B04D6}"/>
              </a:ext>
            </a:extLst>
          </p:cNvPr>
          <p:cNvSpPr txBox="1"/>
          <p:nvPr/>
        </p:nvSpPr>
        <p:spPr>
          <a:xfrm>
            <a:off x="215900" y="1511300"/>
            <a:ext cx="355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Completeness -- null checks on all key IDs
Freshness -- max date &gt;= yesterday
Timeliness -- job completed by SLA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12E62A-F83C-7DE6-A633-BCBD679AFB92}"/>
              </a:ext>
            </a:extLst>
          </p:cNvPr>
          <p:cNvSpPr/>
          <p:nvPr/>
        </p:nvSpPr>
        <p:spPr>
          <a:xfrm>
            <a:off x="165100" y="2336800"/>
            <a:ext cx="3657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7EE422-5772-647A-96DF-709DEF52FC73}"/>
              </a:ext>
            </a:extLst>
          </p:cNvPr>
          <p:cNvSpPr txBox="1"/>
          <p:nvPr/>
        </p:nvSpPr>
        <p:spPr>
          <a:xfrm>
            <a:off x="215900" y="2400300"/>
            <a:ext cx="355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4A2E1A"/>
                </a:solidFill>
              </a:rPr>
              <a:t>Weekly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B09722-1849-FBE0-B738-804514CB4DE2}"/>
              </a:ext>
            </a:extLst>
          </p:cNvPr>
          <p:cNvCxnSpPr/>
          <p:nvPr/>
        </p:nvCxnSpPr>
        <p:spPr>
          <a:xfrm>
            <a:off x="215900" y="2654300"/>
            <a:ext cx="35560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812A1F2-4E54-4D3E-EFED-3CC3E2C1F521}"/>
              </a:ext>
            </a:extLst>
          </p:cNvPr>
          <p:cNvSpPr txBox="1"/>
          <p:nvPr/>
        </p:nvSpPr>
        <p:spPr>
          <a:xfrm>
            <a:off x="215900" y="2705100"/>
            <a:ext cx="355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 dirty="0">
                <a:solidFill>
                  <a:srgbClr val="8D7A6B"/>
                </a:solidFill>
              </a:rPr>
              <a:t>Consistency -- DE vs VLC match rate
Integrity -- FK / reference validity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FE581B-FBBA-0D5E-2E0D-6F24E8E550F9}"/>
              </a:ext>
            </a:extLst>
          </p:cNvPr>
          <p:cNvSpPr/>
          <p:nvPr/>
        </p:nvSpPr>
        <p:spPr>
          <a:xfrm>
            <a:off x="165100" y="3530600"/>
            <a:ext cx="3657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D55FE-FC6A-E110-5A3C-37987A225E83}"/>
              </a:ext>
            </a:extLst>
          </p:cNvPr>
          <p:cNvSpPr txBox="1"/>
          <p:nvPr/>
        </p:nvSpPr>
        <p:spPr>
          <a:xfrm>
            <a:off x="215900" y="3594100"/>
            <a:ext cx="355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4A2E1A"/>
                </a:solidFill>
              </a:rPr>
              <a:t>Monthly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AC6210-67BA-EDA2-BAE6-CAF30A6E890A}"/>
              </a:ext>
            </a:extLst>
          </p:cNvPr>
          <p:cNvCxnSpPr/>
          <p:nvPr/>
        </p:nvCxnSpPr>
        <p:spPr>
          <a:xfrm>
            <a:off x="215900" y="3848100"/>
            <a:ext cx="35560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45A90E4-47E0-B171-CAA9-CE035F3F4E8A}"/>
              </a:ext>
            </a:extLst>
          </p:cNvPr>
          <p:cNvSpPr txBox="1"/>
          <p:nvPr/>
        </p:nvSpPr>
        <p:spPr>
          <a:xfrm>
            <a:off x="215900" y="3898900"/>
            <a:ext cx="355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 dirty="0">
                <a:solidFill>
                  <a:srgbClr val="8D7A6B"/>
                </a:solidFill>
              </a:rPr>
              <a:t>Validity -- business format rules
Accuracy -- field value sanity checks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CDF5F0-89B0-8584-3C5D-D1D0FA8CF2BA}"/>
              </a:ext>
            </a:extLst>
          </p:cNvPr>
          <p:cNvSpPr/>
          <p:nvPr/>
        </p:nvSpPr>
        <p:spPr>
          <a:xfrm>
            <a:off x="165100" y="4724400"/>
            <a:ext cx="3657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EC3973-031B-10B3-2F06-E53E52754FE1}"/>
              </a:ext>
            </a:extLst>
          </p:cNvPr>
          <p:cNvSpPr txBox="1"/>
          <p:nvPr/>
        </p:nvSpPr>
        <p:spPr>
          <a:xfrm>
            <a:off x="215900" y="4787900"/>
            <a:ext cx="355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4A2E1A"/>
                </a:solidFill>
              </a:rPr>
              <a:t>On Demand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A9CC8C5-6E0F-F6DC-A515-F2DC8EF06B4E}"/>
              </a:ext>
            </a:extLst>
          </p:cNvPr>
          <p:cNvCxnSpPr/>
          <p:nvPr/>
        </p:nvCxnSpPr>
        <p:spPr>
          <a:xfrm>
            <a:off x="215900" y="5041900"/>
            <a:ext cx="35560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2B8E80D-FC0D-80D2-9F04-A83BC18EA10A}"/>
              </a:ext>
            </a:extLst>
          </p:cNvPr>
          <p:cNvSpPr txBox="1"/>
          <p:nvPr/>
        </p:nvSpPr>
        <p:spPr>
          <a:xfrm>
            <a:off x="215900" y="5092700"/>
            <a:ext cx="355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Triggered manually after a fix, data reload, or config change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B7F075-9198-FF13-85BE-E2943E1CFD56}"/>
              </a:ext>
            </a:extLst>
          </p:cNvPr>
          <p:cNvSpPr/>
          <p:nvPr/>
        </p:nvSpPr>
        <p:spPr>
          <a:xfrm>
            <a:off x="4000500" y="736600"/>
            <a:ext cx="3759200" cy="54610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3F2595-D309-A167-2C74-45E54195FFCC}"/>
              </a:ext>
            </a:extLst>
          </p:cNvPr>
          <p:cNvSpPr/>
          <p:nvPr/>
        </p:nvSpPr>
        <p:spPr>
          <a:xfrm>
            <a:off x="4000500" y="736600"/>
            <a:ext cx="3759200" cy="3302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2825AF-E396-2B51-9C62-23722D269634}"/>
              </a:ext>
            </a:extLst>
          </p:cNvPr>
          <p:cNvSpPr txBox="1"/>
          <p:nvPr/>
        </p:nvSpPr>
        <p:spPr>
          <a:xfrm>
            <a:off x="4000500" y="787400"/>
            <a:ext cx="3759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Result Classification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1F8FC9-D5C2-3AC0-376C-60D580EACA00}"/>
              </a:ext>
            </a:extLst>
          </p:cNvPr>
          <p:cNvSpPr/>
          <p:nvPr/>
        </p:nvSpPr>
        <p:spPr>
          <a:xfrm>
            <a:off x="4051300" y="1143000"/>
            <a:ext cx="3657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6AFA2C-CD9A-1600-66E9-1AEF5570F064}"/>
              </a:ext>
            </a:extLst>
          </p:cNvPr>
          <p:cNvSpPr txBox="1"/>
          <p:nvPr/>
        </p:nvSpPr>
        <p:spPr>
          <a:xfrm>
            <a:off x="4102100" y="1206500"/>
            <a:ext cx="355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4A2E1A"/>
                </a:solidFill>
              </a:rPr>
              <a:t>PASS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A07C6A3-B6BC-D8A3-2580-55219E1FA496}"/>
              </a:ext>
            </a:extLst>
          </p:cNvPr>
          <p:cNvCxnSpPr/>
          <p:nvPr/>
        </p:nvCxnSpPr>
        <p:spPr>
          <a:xfrm>
            <a:off x="4102100" y="1460500"/>
            <a:ext cx="35560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95061ED-8C5B-9608-5489-77B741554342}"/>
              </a:ext>
            </a:extLst>
          </p:cNvPr>
          <p:cNvSpPr txBox="1"/>
          <p:nvPr/>
        </p:nvSpPr>
        <p:spPr>
          <a:xfrm>
            <a:off x="4102100" y="1511300"/>
            <a:ext cx="355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All checks within threshold. Log result. No action needed.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022ABB-D36D-10F0-65E9-304CA724BEBB}"/>
              </a:ext>
            </a:extLst>
          </p:cNvPr>
          <p:cNvSpPr/>
          <p:nvPr/>
        </p:nvSpPr>
        <p:spPr>
          <a:xfrm>
            <a:off x="4051300" y="2336800"/>
            <a:ext cx="3657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2928B6-3AF3-ECFD-774E-B8962240A890}"/>
              </a:ext>
            </a:extLst>
          </p:cNvPr>
          <p:cNvSpPr txBox="1"/>
          <p:nvPr/>
        </p:nvSpPr>
        <p:spPr>
          <a:xfrm>
            <a:off x="4102100" y="2400300"/>
            <a:ext cx="355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4A2E1A"/>
                </a:solidFill>
              </a:rPr>
              <a:t>WARN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63A5667-36D2-DA1E-E7F9-4D8D0CE40954}"/>
              </a:ext>
            </a:extLst>
          </p:cNvPr>
          <p:cNvCxnSpPr/>
          <p:nvPr/>
        </p:nvCxnSpPr>
        <p:spPr>
          <a:xfrm>
            <a:off x="4102100" y="2654300"/>
            <a:ext cx="35560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4AA23C5-A1DF-B285-19AE-95FAED0B2352}"/>
              </a:ext>
            </a:extLst>
          </p:cNvPr>
          <p:cNvSpPr txBox="1"/>
          <p:nvPr/>
        </p:nvSpPr>
        <p:spPr>
          <a:xfrm>
            <a:off x="4102100" y="2705100"/>
            <a:ext cx="355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Threshold breached but not critical (e.g., 95-99% completeness). Alert assigned DE/VLC team. Re-check in 24h.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4D09B29-0423-17BB-7FC5-71990A6A2D55}"/>
              </a:ext>
            </a:extLst>
          </p:cNvPr>
          <p:cNvSpPr/>
          <p:nvPr/>
        </p:nvSpPr>
        <p:spPr>
          <a:xfrm>
            <a:off x="4051300" y="3530600"/>
            <a:ext cx="3657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DD4259-A642-5F4A-14B9-A47192C6D52D}"/>
              </a:ext>
            </a:extLst>
          </p:cNvPr>
          <p:cNvSpPr txBox="1"/>
          <p:nvPr/>
        </p:nvSpPr>
        <p:spPr>
          <a:xfrm>
            <a:off x="4102100" y="3594100"/>
            <a:ext cx="355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4A2E1A"/>
                </a:solidFill>
              </a:rPr>
              <a:t>FAIL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D67B3A4-D322-D9D5-DBF7-5E994A49F8C5}"/>
              </a:ext>
            </a:extLst>
          </p:cNvPr>
          <p:cNvCxnSpPr/>
          <p:nvPr/>
        </p:nvCxnSpPr>
        <p:spPr>
          <a:xfrm>
            <a:off x="4102100" y="3848100"/>
            <a:ext cx="35560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B37E63D-4D38-3B0A-A5A7-FCC6B06E4272}"/>
              </a:ext>
            </a:extLst>
          </p:cNvPr>
          <p:cNvSpPr txBox="1"/>
          <p:nvPr/>
        </p:nvSpPr>
        <p:spPr>
          <a:xfrm>
            <a:off x="4102100" y="3898900"/>
            <a:ext cx="355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Critical threshold breached (e.g., &lt;95% completeness, stale data, FK broken). Create SDP incident ticket automatically.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A9BA9D4-3D85-10F9-00FF-C165E3575805}"/>
              </a:ext>
            </a:extLst>
          </p:cNvPr>
          <p:cNvSpPr/>
          <p:nvPr/>
        </p:nvSpPr>
        <p:spPr>
          <a:xfrm>
            <a:off x="4051300" y="4724400"/>
            <a:ext cx="3657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05360A-75F4-D257-9A34-44E440FC04BC}"/>
              </a:ext>
            </a:extLst>
          </p:cNvPr>
          <p:cNvSpPr txBox="1"/>
          <p:nvPr/>
        </p:nvSpPr>
        <p:spPr>
          <a:xfrm>
            <a:off x="4102100" y="4787900"/>
            <a:ext cx="355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4A2E1A"/>
                </a:solidFill>
              </a:rPr>
              <a:t>ERROR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46619BF-455C-008E-B9FE-7DBD02C013F7}"/>
              </a:ext>
            </a:extLst>
          </p:cNvPr>
          <p:cNvCxnSpPr/>
          <p:nvPr/>
        </p:nvCxnSpPr>
        <p:spPr>
          <a:xfrm>
            <a:off x="4102100" y="5041900"/>
            <a:ext cx="35560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A49F39D-C69F-D3CC-418A-DBAEF4821A69}"/>
              </a:ext>
            </a:extLst>
          </p:cNvPr>
          <p:cNvSpPr txBox="1"/>
          <p:nvPr/>
        </p:nvSpPr>
        <p:spPr>
          <a:xfrm>
            <a:off x="4102100" y="5092700"/>
            <a:ext cx="355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Check script itself failed to run. Alert job owner to investigate monitoring pipeline.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70BF57F-40DB-4F8B-FDB0-19DB939D2C15}"/>
              </a:ext>
            </a:extLst>
          </p:cNvPr>
          <p:cNvSpPr/>
          <p:nvPr/>
        </p:nvSpPr>
        <p:spPr>
          <a:xfrm>
            <a:off x="7924800" y="736600"/>
            <a:ext cx="4152900" cy="5461000"/>
          </a:xfrm>
          <a:prstGeom prst="rect">
            <a:avLst/>
          </a:prstGeom>
          <a:solidFill>
            <a:srgbClr val="F8F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ACB2017-7A94-5DF4-6D54-08FD4A12571B}"/>
              </a:ext>
            </a:extLst>
          </p:cNvPr>
          <p:cNvSpPr/>
          <p:nvPr/>
        </p:nvSpPr>
        <p:spPr>
          <a:xfrm>
            <a:off x="7924800" y="736600"/>
            <a:ext cx="4152900" cy="330200"/>
          </a:xfrm>
          <a:prstGeom prst="rect">
            <a:avLst/>
          </a:prstGeom>
          <a:solidFill>
            <a:srgbClr val="506F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D7FCDB-A98A-CF23-35F6-8A4AF2B72584}"/>
              </a:ext>
            </a:extLst>
          </p:cNvPr>
          <p:cNvSpPr txBox="1"/>
          <p:nvPr/>
        </p:nvSpPr>
        <p:spPr>
          <a:xfrm>
            <a:off x="7924800" y="787400"/>
            <a:ext cx="41529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Escalation Path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3BA4AE9-B177-883D-61DF-FA1FDCEC26E3}"/>
              </a:ext>
            </a:extLst>
          </p:cNvPr>
          <p:cNvSpPr/>
          <p:nvPr/>
        </p:nvSpPr>
        <p:spPr>
          <a:xfrm>
            <a:off x="7975600" y="1143000"/>
            <a:ext cx="40513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20FD42-335A-7D3D-255B-F7F8696D9712}"/>
              </a:ext>
            </a:extLst>
          </p:cNvPr>
          <p:cNvSpPr txBox="1"/>
          <p:nvPr/>
        </p:nvSpPr>
        <p:spPr>
          <a:xfrm>
            <a:off x="8026400" y="1206500"/>
            <a:ext cx="39497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4A2E1A"/>
                </a:solidFill>
              </a:rPr>
              <a:t>PASS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A121CF5-3B35-80B6-F5EB-BCA46072A432}"/>
              </a:ext>
            </a:extLst>
          </p:cNvPr>
          <p:cNvCxnSpPr/>
          <p:nvPr/>
        </p:nvCxnSpPr>
        <p:spPr>
          <a:xfrm>
            <a:off x="8026400" y="1460500"/>
            <a:ext cx="39497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55E9D41-903E-C826-4252-EF0190D4FE04}"/>
              </a:ext>
            </a:extLst>
          </p:cNvPr>
          <p:cNvSpPr txBox="1"/>
          <p:nvPr/>
        </p:nvSpPr>
        <p:spPr>
          <a:xfrm>
            <a:off x="8026400" y="1511300"/>
            <a:ext cx="39497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Update DQ Health Check Log. Proceed to next scheduled cycle.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7826478-6F05-20ED-2F09-52E4C5CD2FCD}"/>
              </a:ext>
            </a:extLst>
          </p:cNvPr>
          <p:cNvSpPr/>
          <p:nvPr/>
        </p:nvSpPr>
        <p:spPr>
          <a:xfrm>
            <a:off x="7975600" y="2336800"/>
            <a:ext cx="40513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1535EF-3342-3FAF-E7A4-6937EFB00769}"/>
              </a:ext>
            </a:extLst>
          </p:cNvPr>
          <p:cNvSpPr txBox="1"/>
          <p:nvPr/>
        </p:nvSpPr>
        <p:spPr>
          <a:xfrm>
            <a:off x="8026400" y="2400300"/>
            <a:ext cx="39497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4A2E1A"/>
                </a:solidFill>
              </a:rPr>
              <a:t>WARN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C697FAF-98CF-D60D-6D6B-0BCB13981657}"/>
              </a:ext>
            </a:extLst>
          </p:cNvPr>
          <p:cNvCxnSpPr/>
          <p:nvPr/>
        </p:nvCxnSpPr>
        <p:spPr>
          <a:xfrm>
            <a:off x="8026400" y="2654300"/>
            <a:ext cx="39497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7CC9644-E2F4-964A-BEE5-F1BB2F536EEE}"/>
              </a:ext>
            </a:extLst>
          </p:cNvPr>
          <p:cNvSpPr txBox="1"/>
          <p:nvPr/>
        </p:nvSpPr>
        <p:spPr>
          <a:xfrm>
            <a:off x="8026400" y="2705100"/>
            <a:ext cx="39497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Notify job owner. Log WARN entry. Re-run check automatically in 24h. If still WARN after 3 days, escalate to FAIL.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1884084-55C4-98DD-8CC7-97AFC6FCEFA7}"/>
              </a:ext>
            </a:extLst>
          </p:cNvPr>
          <p:cNvSpPr/>
          <p:nvPr/>
        </p:nvSpPr>
        <p:spPr>
          <a:xfrm>
            <a:off x="7975600" y="3530600"/>
            <a:ext cx="40513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27270E5-09C1-B264-07C1-C543BD86F16D}"/>
              </a:ext>
            </a:extLst>
          </p:cNvPr>
          <p:cNvSpPr txBox="1"/>
          <p:nvPr/>
        </p:nvSpPr>
        <p:spPr>
          <a:xfrm>
            <a:off x="8026400" y="3594100"/>
            <a:ext cx="39497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4A2E1A"/>
                </a:solidFill>
              </a:rPr>
              <a:t>FAIL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5F2B3CA-F945-A4AD-083C-1513B80D3AF1}"/>
              </a:ext>
            </a:extLst>
          </p:cNvPr>
          <p:cNvCxnSpPr/>
          <p:nvPr/>
        </p:nvCxnSpPr>
        <p:spPr>
          <a:xfrm>
            <a:off x="8026400" y="3848100"/>
            <a:ext cx="39497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65DC6FE-1E4A-20CA-D605-125C1F5887F6}"/>
              </a:ext>
            </a:extLst>
          </p:cNvPr>
          <p:cNvSpPr txBox="1"/>
          <p:nvPr/>
        </p:nvSpPr>
        <p:spPr>
          <a:xfrm>
            <a:off x="8026400" y="3898900"/>
            <a:ext cx="39497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Open SDP incident ticket. Enters Reactive Track at Step 3 (Categorize). Assign P2 severity. Link to dimension + table.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EA3858A-14E8-3F91-6FA5-3BD0519E0ED4}"/>
              </a:ext>
            </a:extLst>
          </p:cNvPr>
          <p:cNvSpPr/>
          <p:nvPr/>
        </p:nvSpPr>
        <p:spPr>
          <a:xfrm>
            <a:off x="7975600" y="4724400"/>
            <a:ext cx="40513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84F4559-42A5-BFE9-96A5-038338E4626B}"/>
              </a:ext>
            </a:extLst>
          </p:cNvPr>
          <p:cNvSpPr txBox="1"/>
          <p:nvPr/>
        </p:nvSpPr>
        <p:spPr>
          <a:xfrm>
            <a:off x="8026400" y="4787900"/>
            <a:ext cx="39497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400" b="1">
                <a:solidFill>
                  <a:srgbClr val="4A2E1A"/>
                </a:solidFill>
              </a:rPr>
              <a:t>ERROR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64E3C0E-26FB-427B-3758-7B51083EA15D}"/>
              </a:ext>
            </a:extLst>
          </p:cNvPr>
          <p:cNvCxnSpPr/>
          <p:nvPr/>
        </p:nvCxnSpPr>
        <p:spPr>
          <a:xfrm>
            <a:off x="8026400" y="5041900"/>
            <a:ext cx="39497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403DEF1-3F0D-20E4-98F8-57B8007118F4}"/>
              </a:ext>
            </a:extLst>
          </p:cNvPr>
          <p:cNvSpPr txBox="1"/>
          <p:nvPr/>
        </p:nvSpPr>
        <p:spPr>
          <a:xfrm>
            <a:off x="8026400" y="5092700"/>
            <a:ext cx="39497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8D7A6B"/>
                </a:solidFill>
              </a:rPr>
              <a:t>Notify DataMart tech lead. Do not log as PASS. Investigate monitoring script before next run.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1D35D1F-C2BD-5E29-CC39-2BA8E6B38F97}"/>
              </a:ext>
            </a:extLst>
          </p:cNvPr>
          <p:cNvSpPr/>
          <p:nvPr/>
        </p:nvSpPr>
        <p:spPr>
          <a:xfrm>
            <a:off x="114300" y="6273800"/>
            <a:ext cx="11963400" cy="457200"/>
          </a:xfrm>
          <a:prstGeom prst="rect">
            <a:avLst/>
          </a:prstGeom>
          <a:solidFill>
            <a:srgbClr val="EAE3D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A1098B9-0746-4D58-2904-FD0194A41F3A}"/>
              </a:ext>
            </a:extLst>
          </p:cNvPr>
          <p:cNvSpPr txBox="1"/>
          <p:nvPr/>
        </p:nvSpPr>
        <p:spPr>
          <a:xfrm>
            <a:off x="203200" y="6375400"/>
            <a:ext cx="11684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900">
                <a:solidFill>
                  <a:srgbClr val="4A2E1A"/>
                </a:solidFill>
              </a:rPr>
              <a:t>All check results (PASS / WARN / FAIL / ERROR) are logged in the DQ Health Check Log sheet of the Monitoring Report regardless of outcome.</a:t>
            </a:r>
          </a:p>
        </p:txBody>
      </p:sp>
    </p:spTree>
    <p:extLst>
      <p:ext uri="{BB962C8B-B14F-4D97-AF65-F5344CB8AC3E}">
        <p14:creationId xmlns:p14="http://schemas.microsoft.com/office/powerpoint/2010/main" val="3533353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CE71AD-A2CF-1861-4256-430767527A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BCF14A-C35F-A3FE-C1C5-6160165D6FEF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2264D2-AFEE-1AE9-F817-78F88174DFD1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94B6F8-9EB4-26CE-D7C8-6CCEE33D8E80}"/>
              </a:ext>
            </a:extLst>
          </p:cNvPr>
          <p:cNvSpPr txBox="1"/>
          <p:nvPr/>
        </p:nvSpPr>
        <p:spPr>
          <a:xfrm>
            <a:off x="114300" y="177800"/>
            <a:ext cx="11430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Integration: How Proactive Monitoring Feeds Reactive Response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7387679-0D1C-E2BB-99F3-F8CFDF6E23C6}"/>
              </a:ext>
            </a:extLst>
          </p:cNvPr>
          <p:cNvCxnSpPr/>
          <p:nvPr/>
        </p:nvCxnSpPr>
        <p:spPr>
          <a:xfrm>
            <a:off x="0" y="660400"/>
            <a:ext cx="121920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135841F-14F0-19D7-D63D-99B7445A2E3E}"/>
              </a:ext>
            </a:extLst>
          </p:cNvPr>
          <p:cNvSpPr/>
          <p:nvPr/>
        </p:nvSpPr>
        <p:spPr>
          <a:xfrm>
            <a:off x="114300" y="736600"/>
            <a:ext cx="11963400" cy="1930400"/>
          </a:xfrm>
          <a:prstGeom prst="rect">
            <a:avLst/>
          </a:prstGeom>
          <a:solidFill>
            <a:srgbClr val="EEF7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A1540D-CE01-708D-9FAE-8A648DA07419}"/>
              </a:ext>
            </a:extLst>
          </p:cNvPr>
          <p:cNvSpPr/>
          <p:nvPr/>
        </p:nvSpPr>
        <p:spPr>
          <a:xfrm>
            <a:off x="114300" y="736600"/>
            <a:ext cx="63500" cy="1930400"/>
          </a:xfrm>
          <a:prstGeom prst="rect">
            <a:avLst/>
          </a:prstGeom>
          <a:solidFill>
            <a:srgbClr val="60AE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22C162-0531-5B0D-F340-A6B99522232F}"/>
              </a:ext>
            </a:extLst>
          </p:cNvPr>
          <p:cNvSpPr/>
          <p:nvPr/>
        </p:nvSpPr>
        <p:spPr>
          <a:xfrm>
            <a:off x="11074400" y="787400"/>
            <a:ext cx="863600" cy="330200"/>
          </a:xfrm>
          <a:prstGeom prst="rect">
            <a:avLst/>
          </a:prstGeom>
          <a:solidFill>
            <a:srgbClr val="60AE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76CD72-356A-4E7C-03D5-38E8447AE1D8}"/>
              </a:ext>
            </a:extLst>
          </p:cNvPr>
          <p:cNvSpPr txBox="1"/>
          <p:nvPr/>
        </p:nvSpPr>
        <p:spPr>
          <a:xfrm>
            <a:off x="11074400" y="787400"/>
            <a:ext cx="8636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P2/P3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C5A5C5-3279-D854-03C4-28C7A492BF2B}"/>
              </a:ext>
            </a:extLst>
          </p:cNvPr>
          <p:cNvSpPr txBox="1"/>
          <p:nvPr/>
        </p:nvSpPr>
        <p:spPr>
          <a:xfrm>
            <a:off x="203200" y="787400"/>
            <a:ext cx="101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 b="1">
                <a:solidFill>
                  <a:srgbClr val="4A2E1A"/>
                </a:solidFill>
              </a:rPr>
              <a:t>PROACTIVE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D33F78-390E-F551-5370-FF197977A3F1}"/>
              </a:ext>
            </a:extLst>
          </p:cNvPr>
          <p:cNvCxnSpPr/>
          <p:nvPr/>
        </p:nvCxnSpPr>
        <p:spPr>
          <a:xfrm>
            <a:off x="203200" y="1066800"/>
            <a:ext cx="117856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AD1AA35-4767-84CF-2B42-F8530E8BF4DE}"/>
              </a:ext>
            </a:extLst>
          </p:cNvPr>
          <p:cNvSpPr txBox="1"/>
          <p:nvPr/>
        </p:nvSpPr>
        <p:spPr>
          <a:xfrm>
            <a:off x="203200" y="1117600"/>
            <a:ext cx="10795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>
                <a:solidFill>
                  <a:srgbClr val="4A2E1A"/>
                </a:solidFill>
              </a:rPr>
              <a:t>Monitoring checks detect a FAIL on DE/VLC DataMart table (e.g., Completeness &lt; 99%, Freshness stale, FK broken).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C791FE-167E-A2BB-21EF-84826697EBAB}"/>
              </a:ext>
            </a:extLst>
          </p:cNvPr>
          <p:cNvSpPr txBox="1"/>
          <p:nvPr/>
        </p:nvSpPr>
        <p:spPr>
          <a:xfrm>
            <a:off x="203200" y="1397000"/>
            <a:ext cx="117856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>
                <a:solidFill>
                  <a:srgbClr val="4A2E1A"/>
                </a:solidFill>
              </a:rPr>
              <a:t>Action: Auto-create SDP incident ticket -&gt; Categorized as P2/P3 -&gt; Assigned to DataMart team -&gt; Investigate &amp; resolve -&gt; Update check rule.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0CE1B1-67DA-7358-4E3C-90764AA01199}"/>
              </a:ext>
            </a:extLst>
          </p:cNvPr>
          <p:cNvSpPr txBox="1"/>
          <p:nvPr/>
        </p:nvSpPr>
        <p:spPr>
          <a:xfrm>
            <a:off x="203200" y="1689100"/>
            <a:ext cx="117856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 b="1">
                <a:solidFill>
                  <a:srgbClr val="3A6B1A"/>
                </a:solidFill>
              </a:rPr>
              <a:t>Outcome: Issue resolved before any user encounters a data problem. No user impact.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A3A526-49EA-7127-61E5-87ADD9D5305F}"/>
              </a:ext>
            </a:extLst>
          </p:cNvPr>
          <p:cNvSpPr/>
          <p:nvPr/>
        </p:nvSpPr>
        <p:spPr>
          <a:xfrm>
            <a:off x="114300" y="2768600"/>
            <a:ext cx="11963400" cy="1930400"/>
          </a:xfrm>
          <a:prstGeom prst="rect">
            <a:avLst/>
          </a:prstGeom>
          <a:solidFill>
            <a:srgbClr val="ECEC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7CAB6B-4AA8-9E5D-6AD0-8AA9DF3BE6E9}"/>
              </a:ext>
            </a:extLst>
          </p:cNvPr>
          <p:cNvSpPr/>
          <p:nvPr/>
        </p:nvSpPr>
        <p:spPr>
          <a:xfrm>
            <a:off x="114300" y="2768600"/>
            <a:ext cx="63500" cy="1930400"/>
          </a:xfrm>
          <a:prstGeom prst="rect">
            <a:avLst/>
          </a:prstGeom>
          <a:solidFill>
            <a:srgbClr val="2B39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A13B3B-C4F3-9F07-6F7E-789A97243095}"/>
              </a:ext>
            </a:extLst>
          </p:cNvPr>
          <p:cNvSpPr/>
          <p:nvPr/>
        </p:nvSpPr>
        <p:spPr>
          <a:xfrm>
            <a:off x="11074400" y="2819400"/>
            <a:ext cx="863600" cy="330200"/>
          </a:xfrm>
          <a:prstGeom prst="rect">
            <a:avLst/>
          </a:prstGeom>
          <a:solidFill>
            <a:srgbClr val="2B39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39E1F4-3EB7-740A-7856-DAEA839C5B0B}"/>
              </a:ext>
            </a:extLst>
          </p:cNvPr>
          <p:cNvSpPr txBox="1"/>
          <p:nvPr/>
        </p:nvSpPr>
        <p:spPr>
          <a:xfrm>
            <a:off x="11074400" y="2819400"/>
            <a:ext cx="8636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8F4B56-7397-01AD-68F9-DD4FB6B710CB}"/>
              </a:ext>
            </a:extLst>
          </p:cNvPr>
          <p:cNvSpPr txBox="1"/>
          <p:nvPr/>
        </p:nvSpPr>
        <p:spPr>
          <a:xfrm>
            <a:off x="203200" y="2819400"/>
            <a:ext cx="101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 b="1">
                <a:solidFill>
                  <a:srgbClr val="4A2E1A"/>
                </a:solidFill>
              </a:rPr>
              <a:t>REACTIVE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9A64303-DF3D-5DC5-38AC-7308AB8E61A0}"/>
              </a:ext>
            </a:extLst>
          </p:cNvPr>
          <p:cNvCxnSpPr/>
          <p:nvPr/>
        </p:nvCxnSpPr>
        <p:spPr>
          <a:xfrm>
            <a:off x="203200" y="3098800"/>
            <a:ext cx="117856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7AECEB2-CB6D-D1FC-693D-55AFFB28DBEE}"/>
              </a:ext>
            </a:extLst>
          </p:cNvPr>
          <p:cNvSpPr txBox="1"/>
          <p:nvPr/>
        </p:nvSpPr>
        <p:spPr>
          <a:xfrm>
            <a:off x="203200" y="3149600"/>
            <a:ext cx="117856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>
                <a:solidFill>
                  <a:srgbClr val="4A2E1A"/>
                </a:solidFill>
              </a:rPr>
              <a:t>User reports data issue through Service Desk Plus. Proactive check did not catch it -- either the check was not in place or the threshold was not tight enough.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A3B3FD-8F21-B19F-7CD9-396C894933A2}"/>
              </a:ext>
            </a:extLst>
          </p:cNvPr>
          <p:cNvSpPr txBox="1"/>
          <p:nvPr/>
        </p:nvSpPr>
        <p:spPr>
          <a:xfrm>
            <a:off x="165100" y="3694670"/>
            <a:ext cx="117856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 dirty="0">
                <a:solidFill>
                  <a:srgbClr val="4A2E1A"/>
                </a:solidFill>
              </a:rPr>
              <a:t>Action: SDP ticket opened -&gt; Linked to dimension + DataMart -&gt; Investigate -&gt; Resolve -&gt; Post-fix: add or tighten proactive check rule to catch this next time.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0D5239-5C5C-0354-423E-545E025E97AC}"/>
              </a:ext>
            </a:extLst>
          </p:cNvPr>
          <p:cNvSpPr txBox="1"/>
          <p:nvPr/>
        </p:nvSpPr>
        <p:spPr>
          <a:xfrm>
            <a:off x="165100" y="4259302"/>
            <a:ext cx="117856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 b="1" dirty="0">
                <a:solidFill>
                  <a:srgbClr val="2222B2"/>
                </a:solidFill>
              </a:rPr>
              <a:t>Outcome: User was impacted. After resolution, proactive coverage improves so the same issue is caught before reaching users next time.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1193F6-D9AA-C9D4-7C1D-DE019469C42A}"/>
              </a:ext>
            </a:extLst>
          </p:cNvPr>
          <p:cNvSpPr/>
          <p:nvPr/>
        </p:nvSpPr>
        <p:spPr>
          <a:xfrm>
            <a:off x="114300" y="4800600"/>
            <a:ext cx="11963400" cy="1498600"/>
          </a:xfrm>
          <a:prstGeom prst="rect">
            <a:avLst/>
          </a:prstGeom>
          <a:solidFill>
            <a:srgbClr val="E7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E48EBC-58ED-EBC8-65BF-82A4797318C8}"/>
              </a:ext>
            </a:extLst>
          </p:cNvPr>
          <p:cNvSpPr/>
          <p:nvPr/>
        </p:nvSpPr>
        <p:spPr>
          <a:xfrm>
            <a:off x="114300" y="4800600"/>
            <a:ext cx="63500" cy="1498600"/>
          </a:xfrm>
          <a:prstGeom prst="rect">
            <a:avLst/>
          </a:prstGeom>
          <a:solidFill>
            <a:srgbClr val="0677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C0F6FA-846C-A241-7DD8-B96A49AC5A6C}"/>
              </a:ext>
            </a:extLst>
          </p:cNvPr>
          <p:cNvSpPr txBox="1"/>
          <p:nvPr/>
        </p:nvSpPr>
        <p:spPr>
          <a:xfrm>
            <a:off x="203200" y="4851400"/>
            <a:ext cx="1270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 b="1">
                <a:solidFill>
                  <a:srgbClr val="4A2E1A"/>
                </a:solidFill>
              </a:rPr>
              <a:t>SHARED KPIs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064F30D-14C4-77B5-128C-E42210D536A0}"/>
              </a:ext>
            </a:extLst>
          </p:cNvPr>
          <p:cNvCxnSpPr/>
          <p:nvPr/>
        </p:nvCxnSpPr>
        <p:spPr>
          <a:xfrm>
            <a:off x="203200" y="5130800"/>
            <a:ext cx="11785600" cy="0"/>
          </a:xfrm>
          <a:prstGeom prst="line">
            <a:avLst/>
          </a:prstGeom>
          <a:ln w="9525">
            <a:solidFill>
              <a:srgbClr val="EAE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585A40C-CECA-0CB5-CD95-8D510DEA2D0D}"/>
              </a:ext>
            </a:extLst>
          </p:cNvPr>
          <p:cNvSpPr txBox="1"/>
          <p:nvPr/>
        </p:nvSpPr>
        <p:spPr>
          <a:xfrm>
            <a:off x="203200" y="5181600"/>
            <a:ext cx="7620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b="1">
                <a:solidFill>
                  <a:srgbClr val="4A2E1A"/>
                </a:solidFill>
              </a:rPr>
              <a:t>Prevention Rate  =  Proactively Caught  /  (Proactively Caught + User Reported)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6DC41-FBBE-DE5E-04E0-A43B87870303}"/>
              </a:ext>
            </a:extLst>
          </p:cNvPr>
          <p:cNvSpPr txBox="1"/>
          <p:nvPr/>
        </p:nvSpPr>
        <p:spPr>
          <a:xfrm>
            <a:off x="203200" y="5486400"/>
            <a:ext cx="7620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>
                <a:solidFill>
                  <a:srgbClr val="4A2E1A"/>
                </a:solidFill>
              </a:rPr>
              <a:t>Target: &gt; 70% of issues caught proactively (before user reports)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2442C8-BC8F-9D9E-F460-AE0ECB3B91AD}"/>
              </a:ext>
            </a:extLst>
          </p:cNvPr>
          <p:cNvSpPr txBox="1"/>
          <p:nvPr/>
        </p:nvSpPr>
        <p:spPr>
          <a:xfrm>
            <a:off x="203200" y="5765800"/>
            <a:ext cx="7620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>
                <a:solidFill>
                  <a:srgbClr val="4A2E1A"/>
                </a:solidFill>
              </a:rPr>
              <a:t>Problem Rate  =  Problems Opened  /  Total Incidents  (recurring issue ratio)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618902-C362-E054-D97F-136212DC8BDC}"/>
              </a:ext>
            </a:extLst>
          </p:cNvPr>
          <p:cNvSpPr txBox="1"/>
          <p:nvPr/>
        </p:nvSpPr>
        <p:spPr>
          <a:xfrm>
            <a:off x="203200" y="5994400"/>
            <a:ext cx="7620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 dirty="0">
                <a:solidFill>
                  <a:srgbClr val="4A2E1A"/>
                </a:solidFill>
              </a:rPr>
              <a:t>Avg Days to Resolve Problems  (RCA + fix + verify)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C18D0D-62BC-CAE8-21E8-082FD9E015CC}"/>
              </a:ext>
            </a:extLst>
          </p:cNvPr>
          <p:cNvSpPr/>
          <p:nvPr/>
        </p:nvSpPr>
        <p:spPr>
          <a:xfrm>
            <a:off x="7975600" y="4927600"/>
            <a:ext cx="18796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272130-95E5-9E60-DE2D-688BEEED31B1}"/>
              </a:ext>
            </a:extLst>
          </p:cNvPr>
          <p:cNvSpPr txBox="1"/>
          <p:nvPr/>
        </p:nvSpPr>
        <p:spPr>
          <a:xfrm>
            <a:off x="8051800" y="4978400"/>
            <a:ext cx="1727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200">
                <a:solidFill>
                  <a:srgbClr val="8D7A6B"/>
                </a:solidFill>
              </a:rPr>
              <a:t>Prevention Rate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1F075D-288B-82F2-8831-DB85EED48CC0}"/>
              </a:ext>
            </a:extLst>
          </p:cNvPr>
          <p:cNvSpPr txBox="1"/>
          <p:nvPr/>
        </p:nvSpPr>
        <p:spPr>
          <a:xfrm>
            <a:off x="8051800" y="5181600"/>
            <a:ext cx="17272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2000" b="1">
                <a:solidFill>
                  <a:srgbClr val="3A6B1A"/>
                </a:solidFill>
              </a:rPr>
              <a:t>&gt; 70% Target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77E1458-418B-FFCC-9403-29544C4A0EBC}"/>
              </a:ext>
            </a:extLst>
          </p:cNvPr>
          <p:cNvSpPr/>
          <p:nvPr/>
        </p:nvSpPr>
        <p:spPr>
          <a:xfrm>
            <a:off x="9982200" y="4927600"/>
            <a:ext cx="19812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6524BF-6550-CDA1-ACC4-778C56DA62AC}"/>
              </a:ext>
            </a:extLst>
          </p:cNvPr>
          <p:cNvSpPr txBox="1"/>
          <p:nvPr/>
        </p:nvSpPr>
        <p:spPr>
          <a:xfrm>
            <a:off x="10058400" y="4978400"/>
            <a:ext cx="18288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200">
                <a:solidFill>
                  <a:srgbClr val="8D7A6B"/>
                </a:solidFill>
              </a:rPr>
              <a:t>Problem Rate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4B9BF1-C894-E4B2-D2FE-86C960ECD0C6}"/>
              </a:ext>
            </a:extLst>
          </p:cNvPr>
          <p:cNvSpPr txBox="1"/>
          <p:nvPr/>
        </p:nvSpPr>
        <p:spPr>
          <a:xfrm>
            <a:off x="10058400" y="5181600"/>
            <a:ext cx="18288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2000" b="1">
                <a:solidFill>
                  <a:srgbClr val="A86325"/>
                </a:solidFill>
              </a:rPr>
              <a:t>Track monthly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1E03DCE-77C1-7166-DC2F-08E3EA4A3E60}"/>
              </a:ext>
            </a:extLst>
          </p:cNvPr>
          <p:cNvSpPr/>
          <p:nvPr/>
        </p:nvSpPr>
        <p:spPr>
          <a:xfrm>
            <a:off x="7975600" y="5588000"/>
            <a:ext cx="3987800" cy="584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ED15B6-7079-2B34-56A8-BE18578FD4AF}"/>
              </a:ext>
            </a:extLst>
          </p:cNvPr>
          <p:cNvSpPr txBox="1"/>
          <p:nvPr/>
        </p:nvSpPr>
        <p:spPr>
          <a:xfrm>
            <a:off x="8051800" y="5638800"/>
            <a:ext cx="38354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ctr"/>
            <a:r>
              <a:rPr lang="en-US" sz="1200">
                <a:solidFill>
                  <a:srgbClr val="8D7A6B"/>
                </a:solidFill>
              </a:rPr>
              <a:t>All KPIs tracked in Prevention_KPI sheet of the Monitoring Report</a:t>
            </a:r>
          </a:p>
        </p:txBody>
      </p:sp>
    </p:spTree>
    <p:extLst>
      <p:ext uri="{BB962C8B-B14F-4D97-AF65-F5344CB8AC3E}">
        <p14:creationId xmlns:p14="http://schemas.microsoft.com/office/powerpoint/2010/main" val="618555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06BBCA-5025-A710-8423-F488C90EAE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FE1714-3E2F-8FA4-282B-CFE4814F3689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EC5D70-9AF9-DA65-71D7-3C3FB65F218B}"/>
              </a:ext>
            </a:extLst>
          </p:cNvPr>
          <p:cNvSpPr/>
          <p:nvPr/>
        </p:nvSpPr>
        <p:spPr>
          <a:xfrm>
            <a:off x="508000" y="3810000"/>
            <a:ext cx="11176000" cy="127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7128F4-E2C6-E712-02E4-8FD21E65CC73}"/>
              </a:ext>
            </a:extLst>
          </p:cNvPr>
          <p:cNvSpPr txBox="1"/>
          <p:nvPr/>
        </p:nvSpPr>
        <p:spPr>
          <a:xfrm>
            <a:off x="508000" y="1079500"/>
            <a:ext cx="1117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CFE7E1-2821-2E1C-602A-889C3AD12D87}"/>
              </a:ext>
            </a:extLst>
          </p:cNvPr>
          <p:cNvSpPr txBox="1"/>
          <p:nvPr/>
        </p:nvSpPr>
        <p:spPr>
          <a:xfrm>
            <a:off x="508000" y="1651000"/>
            <a:ext cx="1117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>
                <a:solidFill>
                  <a:srgbClr val="EAE3DD"/>
                </a:solidFill>
              </a:rPr>
              <a:t>8 slides  |  2 tracks  |  7 dimensions  |  1 prevention KPI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211C84-F6F1-4AFA-102E-F25305C519D2}"/>
              </a:ext>
            </a:extLst>
          </p:cNvPr>
          <p:cNvSpPr/>
          <p:nvPr/>
        </p:nvSpPr>
        <p:spPr>
          <a:xfrm>
            <a:off x="508000" y="2133600"/>
            <a:ext cx="101600" cy="1016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5CB47D-EB0A-4CF8-0E43-55037255F18F}"/>
              </a:ext>
            </a:extLst>
          </p:cNvPr>
          <p:cNvSpPr txBox="1"/>
          <p:nvPr/>
        </p:nvSpPr>
        <p:spPr>
          <a:xfrm>
            <a:off x="736600" y="2108200"/>
            <a:ext cx="10414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>
                <a:solidFill>
                  <a:srgbClr val="FFFFFF"/>
                </a:solidFill>
              </a:rPr>
              <a:t>Reactive Track handles user-reported issues end-to-end through Service Desk Plus with full lifecycle tracking.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EA2781-B550-1AFE-DFC9-369A3AF32EC7}"/>
              </a:ext>
            </a:extLst>
          </p:cNvPr>
          <p:cNvSpPr/>
          <p:nvPr/>
        </p:nvSpPr>
        <p:spPr>
          <a:xfrm>
            <a:off x="508000" y="2463800"/>
            <a:ext cx="101600" cy="1016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EF8F1-1FE9-D1F0-DF3B-6B2C7C739472}"/>
              </a:ext>
            </a:extLst>
          </p:cNvPr>
          <p:cNvSpPr txBox="1"/>
          <p:nvPr/>
        </p:nvSpPr>
        <p:spPr>
          <a:xfrm>
            <a:off x="736600" y="2438400"/>
            <a:ext cx="10414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>
                <a:solidFill>
                  <a:srgbClr val="FFFFFF"/>
                </a:solidFill>
              </a:rPr>
              <a:t>Proactive Track monitors all 7 data quality dimensions (DE &amp; VLC DataMart) on daily, weekly, and monthly schedules.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9FCAE7-16D7-2741-5717-D66E7E636F30}"/>
              </a:ext>
            </a:extLst>
          </p:cNvPr>
          <p:cNvSpPr/>
          <p:nvPr/>
        </p:nvSpPr>
        <p:spPr>
          <a:xfrm>
            <a:off x="508000" y="2794000"/>
            <a:ext cx="101600" cy="1016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F8377D-30C4-C402-6DFB-6754A0E41C77}"/>
              </a:ext>
            </a:extLst>
          </p:cNvPr>
          <p:cNvSpPr txBox="1"/>
          <p:nvPr/>
        </p:nvSpPr>
        <p:spPr>
          <a:xfrm>
            <a:off x="736600" y="2768600"/>
            <a:ext cx="10414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>
                <a:solidFill>
                  <a:srgbClr val="FFFFFF"/>
                </a:solidFill>
              </a:rPr>
              <a:t>Recurring incidents trigger Problem Management: Col H flag -&gt; Problem Record -&gt; RCA -&gt; Countermeasure -&gt; Verify.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CD33CF-D10E-5807-5E7F-4CC223B8E23A}"/>
              </a:ext>
            </a:extLst>
          </p:cNvPr>
          <p:cNvSpPr/>
          <p:nvPr/>
        </p:nvSpPr>
        <p:spPr>
          <a:xfrm>
            <a:off x="508000" y="3124200"/>
            <a:ext cx="101600" cy="1016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879B52-E0E4-8761-AA19-F97BCE9448D7}"/>
              </a:ext>
            </a:extLst>
          </p:cNvPr>
          <p:cNvSpPr txBox="1"/>
          <p:nvPr/>
        </p:nvSpPr>
        <p:spPr>
          <a:xfrm>
            <a:off x="736600" y="3098800"/>
            <a:ext cx="10414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600">
                <a:solidFill>
                  <a:srgbClr val="FFFFFF"/>
                </a:solidFill>
              </a:rPr>
              <a:t>Prevention Rate KPI measures effectiveness: target &gt;70% of issues caught proactively before user impact.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41A6FA-C4CE-FAE6-1522-A9C4676D163E}"/>
              </a:ext>
            </a:extLst>
          </p:cNvPr>
          <p:cNvSpPr txBox="1"/>
          <p:nvPr/>
        </p:nvSpPr>
        <p:spPr>
          <a:xfrm>
            <a:off x="508000" y="4038600"/>
            <a:ext cx="5080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 b="1">
                <a:solidFill>
                  <a:srgbClr val="8D7A6B"/>
                </a:solidFill>
              </a:rPr>
              <a:t>Reference documents: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3ABB1F-DB17-A550-3106-A7E056BB339E}"/>
              </a:ext>
            </a:extLst>
          </p:cNvPr>
          <p:cNvSpPr txBox="1"/>
          <p:nvPr/>
        </p:nvSpPr>
        <p:spPr>
          <a:xfrm>
            <a:off x="508000" y="4318000"/>
            <a:ext cx="1117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EAE3DD"/>
                </a:solidFill>
              </a:rPr>
              <a:t>Incident_Management_Flow.pptx                  --  this deck (8 slides)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18025A-E589-EDF6-24CA-3A77CFCBE174}"/>
              </a:ext>
            </a:extLst>
          </p:cNvPr>
          <p:cNvSpPr txBox="1"/>
          <p:nvPr/>
        </p:nvSpPr>
        <p:spPr>
          <a:xfrm>
            <a:off x="508000" y="4572000"/>
            <a:ext cx="1117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EAE3DD"/>
                </a:solidFill>
              </a:rPr>
              <a:t>Data_Quality_Monitoring_Report.xlsx            --  4-sheet monitoring workbook (Incident / Health Check / Problem / KPI)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AB5AC9-8940-9953-E298-23178CF96A2D}"/>
              </a:ext>
            </a:extLst>
          </p:cNvPr>
          <p:cNvSpPr txBox="1"/>
          <p:nvPr/>
        </p:nvSpPr>
        <p:spPr>
          <a:xfrm>
            <a:off x="508000" y="4826000"/>
            <a:ext cx="1117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EAE3DD"/>
                </a:solidFill>
              </a:rPr>
              <a:t>Draft Incident Management Track.xlsx           --  live incident log (SDP feed, Col H problem flag)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C66E01-0F07-45C3-84FC-EBAB697CE675}"/>
              </a:ext>
            </a:extLst>
          </p:cNvPr>
          <p:cNvSpPr txBox="1"/>
          <p:nvPr/>
        </p:nvSpPr>
        <p:spPr>
          <a:xfrm>
            <a:off x="508000" y="5080000"/>
            <a:ext cx="1117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r>
              <a:rPr lang="en-US" sz="1200">
                <a:solidFill>
                  <a:srgbClr val="EAE3DD"/>
                </a:solidFill>
              </a:rPr>
              <a:t>Service Desk Plus                              --  incident &amp; problem ticket system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ABC8F1-879B-18A5-5AE0-CF0F5AFEE44C}"/>
              </a:ext>
            </a:extLst>
          </p:cNvPr>
          <p:cNvSpPr txBox="1"/>
          <p:nvPr/>
        </p:nvSpPr>
        <p:spPr>
          <a:xfrm>
            <a:off x="508000" y="5969000"/>
            <a:ext cx="11176000" cy="36933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noAutofit/>
          </a:bodyPr>
          <a:lstStyle/>
          <a:p>
            <a:pPr algn="r"/>
            <a:r>
              <a:rPr lang="en-US" sz="1000">
                <a:solidFill>
                  <a:srgbClr val="8D7A6B"/>
                </a:solidFill>
              </a:rPr>
              <a:t>BDSI Data Team  |  May 2026</a:t>
            </a:r>
          </a:p>
        </p:txBody>
      </p:sp>
    </p:spTree>
    <p:extLst>
      <p:ext uri="{BB962C8B-B14F-4D97-AF65-F5344CB8AC3E}">
        <p14:creationId xmlns:p14="http://schemas.microsoft.com/office/powerpoint/2010/main" val="2102368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1681</Words>
  <Application>Microsoft Office PowerPoint</Application>
  <PresentationFormat>Widescreen</PresentationFormat>
  <Paragraphs>162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Sowan Yuthyuenyong</dc:creator>
  <cp:lastModifiedBy>Sowan Yuthyuenyong</cp:lastModifiedBy>
  <cp:revision>3</cp:revision>
  <dcterms:created xsi:type="dcterms:W3CDTF">2026-05-14T10:06:43Z</dcterms:created>
  <dcterms:modified xsi:type="dcterms:W3CDTF">2026-05-16T11:44:09Z</dcterms:modified>
</cp:coreProperties>
</file>