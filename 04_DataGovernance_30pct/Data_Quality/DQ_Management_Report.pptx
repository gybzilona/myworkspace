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44116-343A-F1E3-38EB-51F97C06F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6F245-EC3B-A8F7-F7D5-3E3D6FA06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9A1C-58DC-7E89-55CF-496889D93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A44E6-68EE-8032-2642-ACCAFD74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C7FC1-C1E9-A43D-7075-DBD057FB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6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D9BD-2281-AC1E-83DF-640FE3BC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80C6-CE17-298D-8ED5-D7C0304C9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842D4-0709-E0C1-9017-5FAD0CC9F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DF729-B2A8-FB43-9FF9-D50D6181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5A93F-E836-5775-F0DC-36F5946E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49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2571-C906-23F1-7D6E-F98329BA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ADE27-BEDF-7B96-5A92-482F066DA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03CA3-F6E8-B186-F782-5F0B9FAB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B0DDF-A676-FB19-A09B-3727C44ED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A55FC-B152-20D4-501C-1A7629BC6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9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928D-EA7E-B1D8-4204-0D44C325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9F7C6-8BE5-002A-6D00-D5BB602A0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BAAD8-1F33-94C8-4285-907FE650B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4585-DCC3-AAD3-B3C8-F79E4467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4CD23-97DF-B6A2-6AD9-DB3BD0D4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5850F-84DE-38EC-A0B2-5807D4C43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81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C266-E5CF-1473-D3F0-F7A436B2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5FF7E-5E63-174D-0E1E-A485F480F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CCA76F-B880-1833-0CFA-F612CA923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846EE-94C9-6144-4BB5-8C22B1606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2DBDF-3752-C4E4-C9E7-A2D857299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2FA9C-0CD0-24F8-0CE6-A12BE87D3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95BF6-4CAC-B8F3-2F52-9A2EBB05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E1D792-2F12-280C-E420-35BB7F82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591D6-820B-2A42-051A-F9E3D8654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D8362-0BD5-73E7-BDE4-CDED35A7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503EE-5271-16AF-87B7-F1FBF55E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F3D3B-3730-4481-EE4C-E0CA13D5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227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EB120C-BCA0-1E01-B1E1-EB2FC529A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ADA60-E7A3-57EB-D4ED-1D568F39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418CB-8AAE-3ACA-A244-1E31E5A3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5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F597-EE9D-4E2F-8C01-60D58716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A792-E6B5-76C5-1291-E7825A2D8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8E8A86-D7DC-D09D-42E0-BEC0E4A39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A348B-E064-475F-22CA-8A92C837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78293-82DA-F433-E50B-7200BA199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F33A2-EB1C-62DD-6559-F4E28160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3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318B8-6A7F-DA97-B2F4-493CCC432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4150D-B946-3B43-5CD8-D286B5676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8C340-A4AE-8314-38FB-7CE1FB180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512EA-3DB6-08BC-0228-000C2384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71CE9-E7AA-02CC-1BBA-96F475BED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4E49A-2B3D-475F-C134-9C83E8EB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130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0345-F10A-335C-C6F4-4935C67B6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A9862-4FB4-0647-FBDB-A05ACA123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8E9E5-A5B5-0957-C079-724E8B78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E385B-E166-0042-B7A5-17D822D5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90EE-1CE4-C15B-D9BE-B2CB12820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2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A0F30-4E7B-22AE-C527-6865CDCDF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30662-F472-0839-8FF0-190F860C6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F6206-91B6-7B31-CF6F-492BA62F1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5F29-42BB-39DF-FE8C-F896479E6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9F22-017E-7F81-40F6-4A460501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61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9AEED-7C0E-CBC6-0B3C-0C66D5468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281ED-BD1B-C41C-88E8-66B622AB0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845AF-02A5-DDC2-ADC3-63A269808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AF11F-565D-48E4-900F-A3307F6BE0FC}" type="datetimeFigureOut">
              <a:rPr lang="en-US" smtClean="0"/>
              <a:t>16/05/2026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0F6F0-D901-5A3F-FE62-A818C9422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3FC26-EC0B-CE79-AD60-9F4D19110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F7778-8F6A-4AB6-9676-5831DC4D9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4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62D5B0-20CB-D9B4-7328-BE94263979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D91FE-48D8-D968-E663-A2B56ABA92BD}"/>
              </a:ext>
            </a:extLst>
          </p:cNvPr>
          <p:cNvSpPr txBox="1"/>
          <p:nvPr/>
        </p:nvSpPr>
        <p:spPr>
          <a:xfrm>
            <a:off x="1016000" y="17780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Data Quality Monitoring Report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8217D6-847C-B9BF-D49B-2E2E56DD101C}"/>
              </a:ext>
            </a:extLst>
          </p:cNvPr>
          <p:cNvCxnSpPr/>
          <p:nvPr/>
        </p:nvCxnSpPr>
        <p:spPr>
          <a:xfrm>
            <a:off x="1016000" y="2667000"/>
            <a:ext cx="10160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5B5A472-036A-2493-7E37-C6D0B02F9513}"/>
              </a:ext>
            </a:extLst>
          </p:cNvPr>
          <p:cNvSpPr txBox="1"/>
          <p:nvPr/>
        </p:nvSpPr>
        <p:spPr>
          <a:xfrm>
            <a:off x="1016000" y="27940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300">
                <a:solidFill>
                  <a:srgbClr val="CCCCCC"/>
                </a:solidFill>
              </a:rPr>
              <a:t>BDSI Data Team  |  Q2 2026  |  Siam Piwat Group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02423-77E4-FDD5-3BA7-9147DEF03072}"/>
              </a:ext>
            </a:extLst>
          </p:cNvPr>
          <p:cNvSpPr txBox="1"/>
          <p:nvPr/>
        </p:nvSpPr>
        <p:spPr>
          <a:xfrm>
            <a:off x="1016000" y="3238500"/>
            <a:ext cx="1016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>
                <a:solidFill>
                  <a:srgbClr val="DDBB99"/>
                </a:solidFill>
              </a:rPr>
              <a:t>Proactive DQ Monitoring + Incident Management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C97FA-652D-8001-A489-BEC5AD8E4A60}"/>
              </a:ext>
            </a:extLst>
          </p:cNvPr>
          <p:cNvSpPr/>
          <p:nvPr/>
        </p:nvSpPr>
        <p:spPr>
          <a:xfrm>
            <a:off x="2794000" y="4318000"/>
            <a:ext cx="2032000" cy="635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B085E-93D6-FE58-E0C4-7F5CA3DBA6C9}"/>
              </a:ext>
            </a:extLst>
          </p:cNvPr>
          <p:cNvSpPr txBox="1"/>
          <p:nvPr/>
        </p:nvSpPr>
        <p:spPr>
          <a:xfrm>
            <a:off x="2844800" y="4419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DE DataMart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FC2CE6-EB6B-0208-C5A1-6FA59F209B41}"/>
              </a:ext>
            </a:extLst>
          </p:cNvPr>
          <p:cNvSpPr/>
          <p:nvPr/>
        </p:nvSpPr>
        <p:spPr>
          <a:xfrm>
            <a:off x="5080000" y="4318000"/>
            <a:ext cx="2032000" cy="635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44C4A-3EF0-C5A9-1B37-4851AFCEF5B3}"/>
              </a:ext>
            </a:extLst>
          </p:cNvPr>
          <p:cNvSpPr txBox="1"/>
          <p:nvPr/>
        </p:nvSpPr>
        <p:spPr>
          <a:xfrm>
            <a:off x="5130800" y="4419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VLC DataMart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D9B89D-D30B-0225-BB55-3CC451939996}"/>
              </a:ext>
            </a:extLst>
          </p:cNvPr>
          <p:cNvSpPr/>
          <p:nvPr/>
        </p:nvSpPr>
        <p:spPr>
          <a:xfrm>
            <a:off x="7366000" y="4318000"/>
            <a:ext cx="2032000" cy="6350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2624FE-D78F-677A-E731-80332C890B70}"/>
              </a:ext>
            </a:extLst>
          </p:cNvPr>
          <p:cNvSpPr txBox="1"/>
          <p:nvPr/>
        </p:nvSpPr>
        <p:spPr>
          <a:xfrm>
            <a:off x="7416800" y="4419600"/>
            <a:ext cx="19304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7 DQ Dimensions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290D1E-2837-4E16-867C-67ED7415C490}"/>
              </a:ext>
            </a:extLst>
          </p:cNvPr>
          <p:cNvSpPr txBox="1"/>
          <p:nvPr/>
        </p:nvSpPr>
        <p:spPr>
          <a:xfrm>
            <a:off x="0" y="6477000"/>
            <a:ext cx="1219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86666"/>
                </a:solidFill>
              </a:rPr>
              <a:t>Confidential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7147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30A039-BA76-5B64-6349-87DC176AF2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44C39-9DD6-D39D-2B45-1B9AFD9EF354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B3B9C1-259F-CBD5-AE8E-A9E355D22857}"/>
              </a:ext>
            </a:extLst>
          </p:cNvPr>
          <p:cNvSpPr txBox="1"/>
          <p:nvPr/>
        </p:nvSpPr>
        <p:spPr>
          <a:xfrm>
            <a:off x="228600" y="127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6E83A5-A0F1-766E-049D-CBB6FEDDB940}"/>
              </a:ext>
            </a:extLst>
          </p:cNvPr>
          <p:cNvSpPr txBox="1"/>
          <p:nvPr/>
        </p:nvSpPr>
        <p:spPr>
          <a:xfrm>
            <a:off x="228600" y="4826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Data Quality Performance at a Glance -- Q2 2026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FDA48F-FE95-3B47-D2CA-84302DF84EEF}"/>
              </a:ext>
            </a:extLst>
          </p:cNvPr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04BC787-1587-1F9C-590C-F6DA19867EEF}"/>
              </a:ext>
            </a:extLst>
          </p:cNvPr>
          <p:cNvSpPr/>
          <p:nvPr/>
        </p:nvSpPr>
        <p:spPr>
          <a:xfrm>
            <a:off x="381000" y="1143000"/>
            <a:ext cx="3429000" cy="1397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910F02-F72A-729F-F607-33C4F595EF8D}"/>
              </a:ext>
            </a:extLst>
          </p:cNvPr>
          <p:cNvSpPr/>
          <p:nvPr/>
        </p:nvSpPr>
        <p:spPr>
          <a:xfrm>
            <a:off x="381000" y="1143000"/>
            <a:ext cx="3429000" cy="76200"/>
          </a:xfrm>
          <a:prstGeom prst="rect">
            <a:avLst/>
          </a:prstGeom>
          <a:solidFill>
            <a:srgbClr val="0050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B3A71-927F-2573-CC0D-FD7913A23214}"/>
              </a:ext>
            </a:extLst>
          </p:cNvPr>
          <p:cNvSpPr txBox="1"/>
          <p:nvPr/>
        </p:nvSpPr>
        <p:spPr>
          <a:xfrm>
            <a:off x="482600" y="1320800"/>
            <a:ext cx="3225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</a:rPr>
              <a:t>68%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B4291-D82C-5F8D-DF5A-468FB6AE04AD}"/>
              </a:ext>
            </a:extLst>
          </p:cNvPr>
          <p:cNvSpPr txBox="1"/>
          <p:nvPr/>
        </p:nvSpPr>
        <p:spPr>
          <a:xfrm>
            <a:off x="482600" y="1854200"/>
            <a:ext cx="3225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Prevention Rate (Target: &gt;70%)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5FEF2D-F686-7643-8EBC-2CF348389F33}"/>
              </a:ext>
            </a:extLst>
          </p:cNvPr>
          <p:cNvSpPr/>
          <p:nvPr/>
        </p:nvSpPr>
        <p:spPr>
          <a:xfrm>
            <a:off x="4318000" y="1143000"/>
            <a:ext cx="3429000" cy="1397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DF059-2924-80CE-E174-A6F5CC442957}"/>
              </a:ext>
            </a:extLst>
          </p:cNvPr>
          <p:cNvSpPr/>
          <p:nvPr/>
        </p:nvSpPr>
        <p:spPr>
          <a:xfrm>
            <a:off x="4318000" y="1143000"/>
            <a:ext cx="3429000" cy="76200"/>
          </a:xfrm>
          <a:prstGeom prst="rect">
            <a:avLst/>
          </a:prstGeom>
          <a:solidFill>
            <a:srgbClr val="2222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63182-B4C8-F5F6-F057-5C6F52212C2F}"/>
              </a:ext>
            </a:extLst>
          </p:cNvPr>
          <p:cNvSpPr txBox="1"/>
          <p:nvPr/>
        </p:nvSpPr>
        <p:spPr>
          <a:xfrm>
            <a:off x="4419600" y="1320800"/>
            <a:ext cx="3225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03D60-D851-B947-906B-56A0A65AD140}"/>
              </a:ext>
            </a:extLst>
          </p:cNvPr>
          <p:cNvSpPr txBox="1"/>
          <p:nvPr/>
        </p:nvSpPr>
        <p:spPr>
          <a:xfrm>
            <a:off x="4419600" y="1854200"/>
            <a:ext cx="3225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Open Incidents (DQ-related)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50230E-C82B-7995-E8AF-B8619A7AAE57}"/>
              </a:ext>
            </a:extLst>
          </p:cNvPr>
          <p:cNvSpPr/>
          <p:nvPr/>
        </p:nvSpPr>
        <p:spPr>
          <a:xfrm>
            <a:off x="8255000" y="1143000"/>
            <a:ext cx="3429000" cy="1397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B3E980-9FB6-505D-EE06-BAD1FB6FC814}"/>
              </a:ext>
            </a:extLst>
          </p:cNvPr>
          <p:cNvSpPr/>
          <p:nvPr/>
        </p:nvSpPr>
        <p:spPr>
          <a:xfrm>
            <a:off x="8255000" y="1143000"/>
            <a:ext cx="3429000" cy="76200"/>
          </a:xfrm>
          <a:prstGeom prst="rect">
            <a:avLst/>
          </a:prstGeom>
          <a:solidFill>
            <a:srgbClr val="00507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2779A9-F864-7E3D-7D3A-5656E607061D}"/>
              </a:ext>
            </a:extLst>
          </p:cNvPr>
          <p:cNvSpPr txBox="1"/>
          <p:nvPr/>
        </p:nvSpPr>
        <p:spPr>
          <a:xfrm>
            <a:off x="8356600" y="1320800"/>
            <a:ext cx="32258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B5D39E-5620-35A7-7B3A-1B4B38D2F462}"/>
              </a:ext>
            </a:extLst>
          </p:cNvPr>
          <p:cNvSpPr txBox="1"/>
          <p:nvPr/>
        </p:nvSpPr>
        <p:spPr>
          <a:xfrm>
            <a:off x="8356600" y="1854200"/>
            <a:ext cx="3225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Open Problem Records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85BA5A-41A7-E3B9-7F8B-D8B097BD8774}"/>
              </a:ext>
            </a:extLst>
          </p:cNvPr>
          <p:cNvSpPr txBox="1"/>
          <p:nvPr/>
        </p:nvSpPr>
        <p:spPr>
          <a:xfrm>
            <a:off x="381000" y="27940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71CC2E"/>
                </a:solidFill>
              </a:rPr>
              <a:t>PROACTIVE:</a:t>
            </a:r>
            <a:r>
              <a:rPr lang="en-US" sz="1000">
                <a:solidFill>
                  <a:srgbClr val="FFFFFF"/>
                </a:solidFill>
              </a:rPr>
              <a:t>  Daily health checks running across 7 dimensions for DE and VLC DataMart.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1F0248-498C-56E7-ACDA-9FA79A6FA47B}"/>
              </a:ext>
            </a:extLst>
          </p:cNvPr>
          <p:cNvSpPr txBox="1"/>
          <p:nvPr/>
        </p:nvSpPr>
        <p:spPr>
          <a:xfrm>
            <a:off x="381000" y="32004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FFC800"/>
                </a:solidFill>
              </a:rPr>
              <a:t>REACTIVE:</a:t>
            </a:r>
            <a:r>
              <a:rPr lang="en-US" sz="1000">
                <a:solidFill>
                  <a:srgbClr val="FFFFFF"/>
                </a:solidFill>
              </a:rPr>
              <a:t>   4 user-reported incidents in Q2; all logged in Service Desk Plus.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1BFDB-1EAA-7476-0006-1FDD8C848369}"/>
              </a:ext>
            </a:extLst>
          </p:cNvPr>
          <p:cNvSpPr txBox="1"/>
          <p:nvPr/>
        </p:nvSpPr>
        <p:spPr>
          <a:xfrm>
            <a:off x="381000" y="36068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00AAFF"/>
                </a:solidFill>
              </a:rPr>
              <a:t>PROBLEM MGT:</a:t>
            </a:r>
            <a:r>
              <a:rPr lang="en-US" sz="1000">
                <a:solidFill>
                  <a:srgbClr val="FFFFFF"/>
                </a:solidFill>
              </a:rPr>
              <a:t> 2 recurring issues escalated to Problem records; RCA in progress.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4F3433-6C52-855A-CFB7-A9DA354414DD}"/>
              </a:ext>
            </a:extLst>
          </p:cNvPr>
          <p:cNvSpPr txBox="1"/>
          <p:nvPr/>
        </p:nvSpPr>
        <p:spPr>
          <a:xfrm>
            <a:off x="381000" y="4013200"/>
            <a:ext cx="1143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DDBB99"/>
                </a:solidFill>
              </a:rPr>
              <a:t>TREND:</a:t>
            </a:r>
            <a:r>
              <a:rPr lang="en-US" sz="1000">
                <a:solidFill>
                  <a:srgbClr val="FFFFFF"/>
                </a:solidFill>
              </a:rPr>
              <a:t>      Prevention rate improved from 52% (Q1) to 68% (Q2). Target: &gt;70% by Jun 30.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E5DD2D-F05A-CB3D-E5DC-C7A369344688}"/>
              </a:ext>
            </a:extLst>
          </p:cNvPr>
          <p:cNvSpPr txBox="1"/>
          <p:nvPr/>
        </p:nvSpPr>
        <p:spPr>
          <a:xfrm>
            <a:off x="381000" y="5461000"/>
            <a:ext cx="1143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00AAFF"/>
                </a:solidFill>
              </a:rPr>
              <a:t>Key Action: Close 2 open Problem records and add 2 missing check rules to reach &gt;70% prevention target.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84D09E-D5A9-B37D-8E0D-9D28C610171A}"/>
              </a:ext>
            </a:extLst>
          </p:cNvPr>
          <p:cNvSpPr/>
          <p:nvPr/>
        </p:nvSpPr>
        <p:spPr>
          <a:xfrm>
            <a:off x="0" y="5384800"/>
            <a:ext cx="76200" cy="635000"/>
          </a:xfrm>
          <a:prstGeom prst="rect">
            <a:avLst/>
          </a:prstGeom>
          <a:solidFill>
            <a:srgbClr val="00A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4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2A4673-6F6D-9D8F-A098-60E71FC0F8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51CCB5-BA1C-C946-A724-EA8C200A77C2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F3155-B50D-B25F-9261-A93245C4E3BD}"/>
              </a:ext>
            </a:extLst>
          </p:cNvPr>
          <p:cNvSpPr txBox="1"/>
          <p:nvPr/>
        </p:nvSpPr>
        <p:spPr>
          <a:xfrm>
            <a:off x="228600" y="127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Prevention Effectiveness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9BCCC-932E-6C64-A31E-6510AD0BC941}"/>
              </a:ext>
            </a:extLst>
          </p:cNvPr>
          <p:cNvSpPr txBox="1"/>
          <p:nvPr/>
        </p:nvSpPr>
        <p:spPr>
          <a:xfrm>
            <a:off x="228600" y="4826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Proactive catches vs user-reported incidents -- Q2 2026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4B501D-7590-2745-CC89-882C802D79E9}"/>
              </a:ext>
            </a:extLst>
          </p:cNvPr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917A222-55A5-CB60-4D3E-DCF2B46C2673}"/>
              </a:ext>
            </a:extLst>
          </p:cNvPr>
          <p:cNvSpPr/>
          <p:nvPr/>
        </p:nvSpPr>
        <p:spPr>
          <a:xfrm>
            <a:off x="1270000" y="4483100"/>
            <a:ext cx="762000" cy="850900"/>
          </a:xfrm>
          <a:prstGeom prst="rect">
            <a:avLst/>
          </a:prstGeom>
          <a:solidFill>
            <a:srgbClr val="3A6B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A82C6-751C-A236-2F1C-0837E29B9214}"/>
              </a:ext>
            </a:extLst>
          </p:cNvPr>
          <p:cNvSpPr txBox="1"/>
          <p:nvPr/>
        </p:nvSpPr>
        <p:spPr>
          <a:xfrm>
            <a:off x="1295400" y="42545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8924BD-6654-195B-5F54-5FCB557DCB58}"/>
              </a:ext>
            </a:extLst>
          </p:cNvPr>
          <p:cNvSpPr/>
          <p:nvPr/>
        </p:nvSpPr>
        <p:spPr>
          <a:xfrm>
            <a:off x="2082800" y="3848100"/>
            <a:ext cx="762000" cy="1485900"/>
          </a:xfrm>
          <a:prstGeom prst="rect">
            <a:avLst/>
          </a:prstGeom>
          <a:solidFill>
            <a:srgbClr val="0000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68FA84-0941-B0B2-ACA3-D2A52090022F}"/>
              </a:ext>
            </a:extLst>
          </p:cNvPr>
          <p:cNvSpPr txBox="1"/>
          <p:nvPr/>
        </p:nvSpPr>
        <p:spPr>
          <a:xfrm>
            <a:off x="2108200" y="36195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6666FF"/>
                </a:solidFill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AEC4B2-E780-493C-3738-2CCD02306C53}"/>
              </a:ext>
            </a:extLst>
          </p:cNvPr>
          <p:cNvSpPr txBox="1"/>
          <p:nvPr/>
        </p:nvSpPr>
        <p:spPr>
          <a:xfrm>
            <a:off x="1206500" y="5410200"/>
            <a:ext cx="1701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Jan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71DD22-60CC-2AA9-0C24-939D13A02602}"/>
              </a:ext>
            </a:extLst>
          </p:cNvPr>
          <p:cNvSpPr/>
          <p:nvPr/>
        </p:nvSpPr>
        <p:spPr>
          <a:xfrm>
            <a:off x="3048000" y="4279900"/>
            <a:ext cx="762000" cy="1054100"/>
          </a:xfrm>
          <a:prstGeom prst="rect">
            <a:avLst/>
          </a:prstGeom>
          <a:solidFill>
            <a:srgbClr val="3A6B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603E8-2A1A-182E-EBDE-784FAA109ED8}"/>
              </a:ext>
            </a:extLst>
          </p:cNvPr>
          <p:cNvSpPr txBox="1"/>
          <p:nvPr/>
        </p:nvSpPr>
        <p:spPr>
          <a:xfrm>
            <a:off x="3073400" y="40513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5689F6-5C02-D477-0019-E3779D7569BD}"/>
              </a:ext>
            </a:extLst>
          </p:cNvPr>
          <p:cNvSpPr/>
          <p:nvPr/>
        </p:nvSpPr>
        <p:spPr>
          <a:xfrm>
            <a:off x="3860800" y="4064000"/>
            <a:ext cx="762000" cy="1270000"/>
          </a:xfrm>
          <a:prstGeom prst="rect">
            <a:avLst/>
          </a:prstGeom>
          <a:solidFill>
            <a:srgbClr val="0000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5720CD-3500-3234-8871-CF6A9A3685B9}"/>
              </a:ext>
            </a:extLst>
          </p:cNvPr>
          <p:cNvSpPr txBox="1"/>
          <p:nvPr/>
        </p:nvSpPr>
        <p:spPr>
          <a:xfrm>
            <a:off x="3886200" y="38354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6666FF"/>
                </a:solidFill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873BD0-4A8C-8A63-5D91-6B27E9964BDE}"/>
              </a:ext>
            </a:extLst>
          </p:cNvPr>
          <p:cNvSpPr txBox="1"/>
          <p:nvPr/>
        </p:nvSpPr>
        <p:spPr>
          <a:xfrm>
            <a:off x="2984500" y="5410200"/>
            <a:ext cx="1701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Feb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F3D233-8DED-29BC-63BF-A7524F0D3F8B}"/>
              </a:ext>
            </a:extLst>
          </p:cNvPr>
          <p:cNvSpPr/>
          <p:nvPr/>
        </p:nvSpPr>
        <p:spPr>
          <a:xfrm>
            <a:off x="4826000" y="4064000"/>
            <a:ext cx="762000" cy="1270000"/>
          </a:xfrm>
          <a:prstGeom prst="rect">
            <a:avLst/>
          </a:prstGeom>
          <a:solidFill>
            <a:srgbClr val="3A6B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C34FC2-8446-ABE7-D442-5C4836C2BB40}"/>
              </a:ext>
            </a:extLst>
          </p:cNvPr>
          <p:cNvSpPr txBox="1"/>
          <p:nvPr/>
        </p:nvSpPr>
        <p:spPr>
          <a:xfrm>
            <a:off x="4851400" y="38354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9A23AA-1FC0-DBC8-1111-3131D3F6D23B}"/>
              </a:ext>
            </a:extLst>
          </p:cNvPr>
          <p:cNvSpPr/>
          <p:nvPr/>
        </p:nvSpPr>
        <p:spPr>
          <a:xfrm>
            <a:off x="5638800" y="4279900"/>
            <a:ext cx="762000" cy="1054100"/>
          </a:xfrm>
          <a:prstGeom prst="rect">
            <a:avLst/>
          </a:prstGeom>
          <a:solidFill>
            <a:srgbClr val="0000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F022D3-C12C-9E60-7F08-A8642806689D}"/>
              </a:ext>
            </a:extLst>
          </p:cNvPr>
          <p:cNvSpPr txBox="1"/>
          <p:nvPr/>
        </p:nvSpPr>
        <p:spPr>
          <a:xfrm>
            <a:off x="5664200" y="40513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6666FF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847D60-21B8-81F6-8356-F933C21527F4}"/>
              </a:ext>
            </a:extLst>
          </p:cNvPr>
          <p:cNvSpPr txBox="1"/>
          <p:nvPr/>
        </p:nvSpPr>
        <p:spPr>
          <a:xfrm>
            <a:off x="4762500" y="5410200"/>
            <a:ext cx="1701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Mar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563B6C-892F-2F56-4255-AB1138EE7490}"/>
              </a:ext>
            </a:extLst>
          </p:cNvPr>
          <p:cNvSpPr/>
          <p:nvPr/>
        </p:nvSpPr>
        <p:spPr>
          <a:xfrm>
            <a:off x="6604000" y="3848100"/>
            <a:ext cx="762000" cy="1485900"/>
          </a:xfrm>
          <a:prstGeom prst="rect">
            <a:avLst/>
          </a:prstGeom>
          <a:solidFill>
            <a:srgbClr val="3A6B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70300F-BE35-B749-F969-CD19D019825E}"/>
              </a:ext>
            </a:extLst>
          </p:cNvPr>
          <p:cNvSpPr txBox="1"/>
          <p:nvPr/>
        </p:nvSpPr>
        <p:spPr>
          <a:xfrm>
            <a:off x="6629400" y="36195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0B464B-4B97-680F-E62B-93C2235E944D}"/>
              </a:ext>
            </a:extLst>
          </p:cNvPr>
          <p:cNvSpPr/>
          <p:nvPr/>
        </p:nvSpPr>
        <p:spPr>
          <a:xfrm>
            <a:off x="7416800" y="4483100"/>
            <a:ext cx="762000" cy="850900"/>
          </a:xfrm>
          <a:prstGeom prst="rect">
            <a:avLst/>
          </a:prstGeom>
          <a:solidFill>
            <a:srgbClr val="0000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61C93D-383D-8D9F-B98A-B395235CB519}"/>
              </a:ext>
            </a:extLst>
          </p:cNvPr>
          <p:cNvSpPr txBox="1"/>
          <p:nvPr/>
        </p:nvSpPr>
        <p:spPr>
          <a:xfrm>
            <a:off x="7442200" y="42545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6666FF"/>
                </a:solidFill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B7DAF9-FDD5-2AC7-9355-7C77F2947973}"/>
              </a:ext>
            </a:extLst>
          </p:cNvPr>
          <p:cNvSpPr txBox="1"/>
          <p:nvPr/>
        </p:nvSpPr>
        <p:spPr>
          <a:xfrm>
            <a:off x="6540500" y="5410200"/>
            <a:ext cx="1701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Apr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986BBE-C53F-76FB-19A0-188A9DA26EA4}"/>
              </a:ext>
            </a:extLst>
          </p:cNvPr>
          <p:cNvSpPr/>
          <p:nvPr/>
        </p:nvSpPr>
        <p:spPr>
          <a:xfrm>
            <a:off x="8382000" y="3429000"/>
            <a:ext cx="762000" cy="1905000"/>
          </a:xfrm>
          <a:prstGeom prst="rect">
            <a:avLst/>
          </a:prstGeom>
          <a:solidFill>
            <a:srgbClr val="3A6B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80729C-7343-0115-E180-AB33C429DBE5}"/>
              </a:ext>
            </a:extLst>
          </p:cNvPr>
          <p:cNvSpPr txBox="1"/>
          <p:nvPr/>
        </p:nvSpPr>
        <p:spPr>
          <a:xfrm>
            <a:off x="8407400" y="32004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CA8A1A-B008-D50E-106E-0559724D0B7A}"/>
              </a:ext>
            </a:extLst>
          </p:cNvPr>
          <p:cNvSpPr/>
          <p:nvPr/>
        </p:nvSpPr>
        <p:spPr>
          <a:xfrm>
            <a:off x="9194800" y="4483100"/>
            <a:ext cx="762000" cy="850900"/>
          </a:xfrm>
          <a:prstGeom prst="rect">
            <a:avLst/>
          </a:prstGeom>
          <a:solidFill>
            <a:srgbClr val="0000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65D22D-8F61-4ACA-9279-77B979122049}"/>
              </a:ext>
            </a:extLst>
          </p:cNvPr>
          <p:cNvSpPr txBox="1"/>
          <p:nvPr/>
        </p:nvSpPr>
        <p:spPr>
          <a:xfrm>
            <a:off x="9220200" y="42545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6666FF"/>
                </a:solidFill>
              </a:rPr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B7B29E-F338-2BC1-1891-8D116C7755FE}"/>
              </a:ext>
            </a:extLst>
          </p:cNvPr>
          <p:cNvSpPr txBox="1"/>
          <p:nvPr/>
        </p:nvSpPr>
        <p:spPr>
          <a:xfrm>
            <a:off x="8318500" y="5410200"/>
            <a:ext cx="1701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May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61916B-C752-D4EC-922E-CE07DDD64662}"/>
              </a:ext>
            </a:extLst>
          </p:cNvPr>
          <p:cNvSpPr/>
          <p:nvPr/>
        </p:nvSpPr>
        <p:spPr>
          <a:xfrm>
            <a:off x="10160000" y="3644900"/>
            <a:ext cx="762000" cy="1689100"/>
          </a:xfrm>
          <a:prstGeom prst="rect">
            <a:avLst/>
          </a:prstGeom>
          <a:solidFill>
            <a:srgbClr val="3A6B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9CB0E3-FC1B-466F-11FE-529E7B5EC1E2}"/>
              </a:ext>
            </a:extLst>
          </p:cNvPr>
          <p:cNvSpPr txBox="1"/>
          <p:nvPr/>
        </p:nvSpPr>
        <p:spPr>
          <a:xfrm>
            <a:off x="10185400" y="34163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71F1D1-96CC-0634-6793-FC62325DCB24}"/>
              </a:ext>
            </a:extLst>
          </p:cNvPr>
          <p:cNvSpPr/>
          <p:nvPr/>
        </p:nvSpPr>
        <p:spPr>
          <a:xfrm>
            <a:off x="10972800" y="4699000"/>
            <a:ext cx="762000" cy="635000"/>
          </a:xfrm>
          <a:prstGeom prst="rect">
            <a:avLst/>
          </a:prstGeom>
          <a:solidFill>
            <a:srgbClr val="0000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66568C-943E-E08A-1424-4482A497296F}"/>
              </a:ext>
            </a:extLst>
          </p:cNvPr>
          <p:cNvSpPr txBox="1"/>
          <p:nvPr/>
        </p:nvSpPr>
        <p:spPr>
          <a:xfrm>
            <a:off x="10998200" y="4470400"/>
            <a:ext cx="7112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6666FF"/>
                </a:solidFill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26E1E27-442B-D23D-0571-28B26FF93D79}"/>
              </a:ext>
            </a:extLst>
          </p:cNvPr>
          <p:cNvSpPr txBox="1"/>
          <p:nvPr/>
        </p:nvSpPr>
        <p:spPr>
          <a:xfrm>
            <a:off x="10096500" y="5410200"/>
            <a:ext cx="1701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Jun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9CFCE3-CF32-968C-72C4-4D8887A5F627}"/>
              </a:ext>
            </a:extLst>
          </p:cNvPr>
          <p:cNvSpPr/>
          <p:nvPr/>
        </p:nvSpPr>
        <p:spPr>
          <a:xfrm>
            <a:off x="381000" y="5842000"/>
            <a:ext cx="177800" cy="152400"/>
          </a:xfrm>
          <a:prstGeom prst="rect">
            <a:avLst/>
          </a:prstGeom>
          <a:solidFill>
            <a:srgbClr val="3A6B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24B0EF-DB86-E23F-7772-16AD47104F72}"/>
              </a:ext>
            </a:extLst>
          </p:cNvPr>
          <p:cNvSpPr txBox="1"/>
          <p:nvPr/>
        </p:nvSpPr>
        <p:spPr>
          <a:xfrm>
            <a:off x="635000" y="57912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Proactively Caught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EFDC2E-23BA-DC5C-54FB-4170ACC88372}"/>
              </a:ext>
            </a:extLst>
          </p:cNvPr>
          <p:cNvSpPr/>
          <p:nvPr/>
        </p:nvSpPr>
        <p:spPr>
          <a:xfrm>
            <a:off x="2794000" y="5842000"/>
            <a:ext cx="177800" cy="152400"/>
          </a:xfrm>
          <a:prstGeom prst="rect">
            <a:avLst/>
          </a:prstGeom>
          <a:solidFill>
            <a:srgbClr val="00008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01825F-EB3B-6A53-BA0C-F590A9B7ABDF}"/>
              </a:ext>
            </a:extLst>
          </p:cNvPr>
          <p:cNvSpPr txBox="1"/>
          <p:nvPr/>
        </p:nvSpPr>
        <p:spPr>
          <a:xfrm>
            <a:off x="3048000" y="57912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User Reported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01A340A-0EAD-328F-5484-C040C99D38D5}"/>
              </a:ext>
            </a:extLst>
          </p:cNvPr>
          <p:cNvCxnSpPr/>
          <p:nvPr/>
        </p:nvCxnSpPr>
        <p:spPr>
          <a:xfrm>
            <a:off x="1016000" y="4064000"/>
            <a:ext cx="10160000" cy="0"/>
          </a:xfrm>
          <a:prstGeom prst="line">
            <a:avLst/>
          </a:prstGeom>
          <a:ln w="19050">
            <a:solidFill>
              <a:srgbClr val="00AA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6A10275-02B8-3320-5C76-3B35321236E5}"/>
              </a:ext>
            </a:extLst>
          </p:cNvPr>
          <p:cNvSpPr txBox="1"/>
          <p:nvPr/>
        </p:nvSpPr>
        <p:spPr>
          <a:xfrm>
            <a:off x="1117600" y="38354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00AAFF"/>
                </a:solidFill>
              </a:rPr>
              <a:t>70% Target Line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A17D39-0F40-13C6-C4AD-C8C262B52B38}"/>
              </a:ext>
            </a:extLst>
          </p:cNvPr>
          <p:cNvSpPr txBox="1"/>
          <p:nvPr/>
        </p:nvSpPr>
        <p:spPr>
          <a:xfrm>
            <a:off x="381000" y="6324600"/>
            <a:ext cx="1143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Q2 prevention rate: 68%  (+16pp vs Q1).  Improvement driven by 3 new check rules added Apr-May.</a:t>
            </a:r>
          </a:p>
        </p:txBody>
      </p:sp>
    </p:spTree>
    <p:extLst>
      <p:ext uri="{BB962C8B-B14F-4D97-AF65-F5344CB8AC3E}">
        <p14:creationId xmlns:p14="http://schemas.microsoft.com/office/powerpoint/2010/main" val="133663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16E202-E799-7062-7A90-84E8657904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1A88B1-9710-8F26-FBB2-F00D8E40894B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0C60D-46FA-D29B-606A-AC5658B7A343}"/>
              </a:ext>
            </a:extLst>
          </p:cNvPr>
          <p:cNvSpPr txBox="1"/>
          <p:nvPr/>
        </p:nvSpPr>
        <p:spPr>
          <a:xfrm>
            <a:off x="228600" y="127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7-Dimension Health Scorecard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A5661-D1B0-E750-77A2-B7BFB9885526}"/>
              </a:ext>
            </a:extLst>
          </p:cNvPr>
          <p:cNvSpPr txBox="1"/>
          <p:nvPr/>
        </p:nvSpPr>
        <p:spPr>
          <a:xfrm>
            <a:off x="228600" y="4826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Current check coverage and pass rate -- DE + VLC DataMart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A84989-5077-2EDC-92DB-66CFC148E6D7}"/>
              </a:ext>
            </a:extLst>
          </p:cNvPr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729BD64-1E0B-8F03-22C8-E57ABE0FC2BA}"/>
              </a:ext>
            </a:extLst>
          </p:cNvPr>
          <p:cNvSpPr/>
          <p:nvPr/>
        </p:nvSpPr>
        <p:spPr>
          <a:xfrm>
            <a:off x="228600" y="863600"/>
            <a:ext cx="11734800" cy="355600"/>
          </a:xfrm>
          <a:prstGeom prst="rect">
            <a:avLst/>
          </a:prstGeom>
          <a:solidFill>
            <a:srgbClr val="543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AAC09-40CF-17F5-EB17-4352596AA4E1}"/>
              </a:ext>
            </a:extLst>
          </p:cNvPr>
          <p:cNvSpPr txBox="1"/>
          <p:nvPr/>
        </p:nvSpPr>
        <p:spPr>
          <a:xfrm>
            <a:off x="2794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B1AD5E-9CBC-EDA5-A751-56AD0B9E5E28}"/>
              </a:ext>
            </a:extLst>
          </p:cNvPr>
          <p:cNvSpPr txBox="1"/>
          <p:nvPr/>
        </p:nvSpPr>
        <p:spPr>
          <a:xfrm>
            <a:off x="23622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Checks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AF27E-51FB-6E83-7E84-3F9AC9A0278E}"/>
              </a:ext>
            </a:extLst>
          </p:cNvPr>
          <p:cNvSpPr txBox="1"/>
          <p:nvPr/>
        </p:nvSpPr>
        <p:spPr>
          <a:xfrm>
            <a:off x="32258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97AFD-5462-8579-038B-7C483F32047D}"/>
              </a:ext>
            </a:extLst>
          </p:cNvPr>
          <p:cNvSpPr txBox="1"/>
          <p:nvPr/>
        </p:nvSpPr>
        <p:spPr>
          <a:xfrm>
            <a:off x="41148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WARN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6E8D0-23A8-A899-70FB-8504C4A2158F}"/>
              </a:ext>
            </a:extLst>
          </p:cNvPr>
          <p:cNvSpPr txBox="1"/>
          <p:nvPr/>
        </p:nvSpPr>
        <p:spPr>
          <a:xfrm>
            <a:off x="50038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A0FF4E-FFD2-A55C-F987-D4245D5AC46F}"/>
              </a:ext>
            </a:extLst>
          </p:cNvPr>
          <p:cNvSpPr txBox="1"/>
          <p:nvPr/>
        </p:nvSpPr>
        <p:spPr>
          <a:xfrm>
            <a:off x="58928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82097C-2C3B-79EE-1359-04BFC6771769}"/>
              </a:ext>
            </a:extLst>
          </p:cNvPr>
          <p:cNvSpPr txBox="1"/>
          <p:nvPr/>
        </p:nvSpPr>
        <p:spPr>
          <a:xfrm>
            <a:off x="69596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338B29-6C70-BB53-B2C5-56D8609619E0}"/>
              </a:ext>
            </a:extLst>
          </p:cNvPr>
          <p:cNvSpPr txBox="1"/>
          <p:nvPr/>
        </p:nvSpPr>
        <p:spPr>
          <a:xfrm>
            <a:off x="7924800" y="889000"/>
            <a:ext cx="990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F70E65-D034-9D88-63E6-80F363AC18EA}"/>
              </a:ext>
            </a:extLst>
          </p:cNvPr>
          <p:cNvSpPr/>
          <p:nvPr/>
        </p:nvSpPr>
        <p:spPr>
          <a:xfrm>
            <a:off x="228600" y="1244600"/>
            <a:ext cx="11734800" cy="5588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2BC9FD-7E51-C777-96EE-5B8CD6FD7FE9}"/>
              </a:ext>
            </a:extLst>
          </p:cNvPr>
          <p:cNvSpPr txBox="1"/>
          <p:nvPr/>
        </p:nvSpPr>
        <p:spPr>
          <a:xfrm>
            <a:off x="279400" y="13208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Completeness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85B27-9330-9130-0D6A-8D1E99A9F6FE}"/>
              </a:ext>
            </a:extLst>
          </p:cNvPr>
          <p:cNvSpPr txBox="1"/>
          <p:nvPr/>
        </p:nvSpPr>
        <p:spPr>
          <a:xfrm>
            <a:off x="2413000" y="1320800"/>
            <a:ext cx="736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18F0A2-5BD3-1A35-0410-C9D3249CC0A0}"/>
              </a:ext>
            </a:extLst>
          </p:cNvPr>
          <p:cNvSpPr txBox="1"/>
          <p:nvPr/>
        </p:nvSpPr>
        <p:spPr>
          <a:xfrm>
            <a:off x="3276600" y="1320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1B7E1B-F44F-5C94-25D1-D795C4121857}"/>
              </a:ext>
            </a:extLst>
          </p:cNvPr>
          <p:cNvSpPr txBox="1"/>
          <p:nvPr/>
        </p:nvSpPr>
        <p:spPr>
          <a:xfrm>
            <a:off x="4165600" y="1320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19CE7D-C799-2CC3-583C-16F0D668868E}"/>
              </a:ext>
            </a:extLst>
          </p:cNvPr>
          <p:cNvSpPr txBox="1"/>
          <p:nvPr/>
        </p:nvSpPr>
        <p:spPr>
          <a:xfrm>
            <a:off x="5054600" y="1320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401E65-0CB4-FA3F-A31B-9A35F6B08CC6}"/>
              </a:ext>
            </a:extLst>
          </p:cNvPr>
          <p:cNvSpPr txBox="1"/>
          <p:nvPr/>
        </p:nvSpPr>
        <p:spPr>
          <a:xfrm>
            <a:off x="5943600" y="1320800"/>
            <a:ext cx="914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92%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4986A8-9D58-1603-285C-8E88D7DF269C}"/>
              </a:ext>
            </a:extLst>
          </p:cNvPr>
          <p:cNvSpPr txBox="1"/>
          <p:nvPr/>
        </p:nvSpPr>
        <p:spPr>
          <a:xfrm>
            <a:off x="7010400" y="1320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UP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DA72D6-7C46-EC4F-C86B-543DC8AE6295}"/>
              </a:ext>
            </a:extLst>
          </p:cNvPr>
          <p:cNvSpPr txBox="1"/>
          <p:nvPr/>
        </p:nvSpPr>
        <p:spPr>
          <a:xfrm>
            <a:off x="7975600" y="13208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WARN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C60E3FA-7068-A544-4E71-C6486C6B4238}"/>
              </a:ext>
            </a:extLst>
          </p:cNvPr>
          <p:cNvSpPr/>
          <p:nvPr/>
        </p:nvSpPr>
        <p:spPr>
          <a:xfrm>
            <a:off x="228600" y="1803400"/>
            <a:ext cx="11734800" cy="5588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270284-BF0C-D38A-590D-323C8656940C}"/>
              </a:ext>
            </a:extLst>
          </p:cNvPr>
          <p:cNvSpPr txBox="1"/>
          <p:nvPr/>
        </p:nvSpPr>
        <p:spPr>
          <a:xfrm>
            <a:off x="279400" y="18796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Consistency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EBBC1C-5E60-A75E-009A-5F64B251AA7A}"/>
              </a:ext>
            </a:extLst>
          </p:cNvPr>
          <p:cNvSpPr txBox="1"/>
          <p:nvPr/>
        </p:nvSpPr>
        <p:spPr>
          <a:xfrm>
            <a:off x="2413000" y="1879600"/>
            <a:ext cx="736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2531F5-8C97-C780-E52C-8387AC07410B}"/>
              </a:ext>
            </a:extLst>
          </p:cNvPr>
          <p:cNvSpPr txBox="1"/>
          <p:nvPr/>
        </p:nvSpPr>
        <p:spPr>
          <a:xfrm>
            <a:off x="3276600" y="1879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7B38DC-98A9-2A9A-7345-13792AF9F4AE}"/>
              </a:ext>
            </a:extLst>
          </p:cNvPr>
          <p:cNvSpPr txBox="1"/>
          <p:nvPr/>
        </p:nvSpPr>
        <p:spPr>
          <a:xfrm>
            <a:off x="4165600" y="1879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4DD21A-5B3D-B16A-306C-D57030DDA732}"/>
              </a:ext>
            </a:extLst>
          </p:cNvPr>
          <p:cNvSpPr txBox="1"/>
          <p:nvPr/>
        </p:nvSpPr>
        <p:spPr>
          <a:xfrm>
            <a:off x="5054600" y="1879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030883-A142-DC01-311F-A99010811A07}"/>
              </a:ext>
            </a:extLst>
          </p:cNvPr>
          <p:cNvSpPr txBox="1"/>
          <p:nvPr/>
        </p:nvSpPr>
        <p:spPr>
          <a:xfrm>
            <a:off x="5943600" y="1879600"/>
            <a:ext cx="914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75%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FFFA7A-72CB-B8B4-EE04-8A37D846CA2B}"/>
              </a:ext>
            </a:extLst>
          </p:cNvPr>
          <p:cNvSpPr txBox="1"/>
          <p:nvPr/>
        </p:nvSpPr>
        <p:spPr>
          <a:xfrm>
            <a:off x="7010400" y="1879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STABLE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493C0E-96D3-D2A7-E2FE-20B0E6DD9FD5}"/>
              </a:ext>
            </a:extLst>
          </p:cNvPr>
          <p:cNvSpPr txBox="1"/>
          <p:nvPr/>
        </p:nvSpPr>
        <p:spPr>
          <a:xfrm>
            <a:off x="7975600" y="187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WARN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0349E8-CE79-D9FF-F36C-9A1E7D065A0B}"/>
              </a:ext>
            </a:extLst>
          </p:cNvPr>
          <p:cNvSpPr/>
          <p:nvPr/>
        </p:nvSpPr>
        <p:spPr>
          <a:xfrm>
            <a:off x="228600" y="2362200"/>
            <a:ext cx="11734800" cy="5588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7ACBAB-1664-1352-C272-3F5DCF57064F}"/>
              </a:ext>
            </a:extLst>
          </p:cNvPr>
          <p:cNvSpPr txBox="1"/>
          <p:nvPr/>
        </p:nvSpPr>
        <p:spPr>
          <a:xfrm>
            <a:off x="279400" y="24384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Integrity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B7E925-3E92-B987-B7A9-AC38AB9AAF84}"/>
              </a:ext>
            </a:extLst>
          </p:cNvPr>
          <p:cNvSpPr txBox="1"/>
          <p:nvPr/>
        </p:nvSpPr>
        <p:spPr>
          <a:xfrm>
            <a:off x="2413000" y="2438400"/>
            <a:ext cx="736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6CCBD1-C1AE-4903-3701-E83F4992DA41}"/>
              </a:ext>
            </a:extLst>
          </p:cNvPr>
          <p:cNvSpPr txBox="1"/>
          <p:nvPr/>
        </p:nvSpPr>
        <p:spPr>
          <a:xfrm>
            <a:off x="3276600" y="24384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0841ED-FE2F-E384-E9D6-C3F3599954BD}"/>
              </a:ext>
            </a:extLst>
          </p:cNvPr>
          <p:cNvSpPr txBox="1"/>
          <p:nvPr/>
        </p:nvSpPr>
        <p:spPr>
          <a:xfrm>
            <a:off x="4165600" y="24384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7CDA67-B35C-7D3A-AB4C-585A149761F4}"/>
              </a:ext>
            </a:extLst>
          </p:cNvPr>
          <p:cNvSpPr txBox="1"/>
          <p:nvPr/>
        </p:nvSpPr>
        <p:spPr>
          <a:xfrm>
            <a:off x="5054600" y="24384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ADE138-73A5-AC2A-F863-1BFCF5D1B171}"/>
              </a:ext>
            </a:extLst>
          </p:cNvPr>
          <p:cNvSpPr txBox="1"/>
          <p:nvPr/>
        </p:nvSpPr>
        <p:spPr>
          <a:xfrm>
            <a:off x="5943600" y="2438400"/>
            <a:ext cx="914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90%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4F40AC-EC4A-8F54-1751-9108BAC51AD3}"/>
              </a:ext>
            </a:extLst>
          </p:cNvPr>
          <p:cNvSpPr txBox="1"/>
          <p:nvPr/>
        </p:nvSpPr>
        <p:spPr>
          <a:xfrm>
            <a:off x="7010400" y="24384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UP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C7B1C6-DEA1-F57C-D12F-E4D06C544343}"/>
              </a:ext>
            </a:extLst>
          </p:cNvPr>
          <p:cNvSpPr txBox="1"/>
          <p:nvPr/>
        </p:nvSpPr>
        <p:spPr>
          <a:xfrm>
            <a:off x="7975600" y="24384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FAIL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569CC35-249D-8EB3-F5F9-EE8D4C2E5A80}"/>
              </a:ext>
            </a:extLst>
          </p:cNvPr>
          <p:cNvSpPr/>
          <p:nvPr/>
        </p:nvSpPr>
        <p:spPr>
          <a:xfrm>
            <a:off x="228600" y="2921000"/>
            <a:ext cx="11734800" cy="5588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DE1C73-302E-46EC-C32C-FBD56EB6F05F}"/>
              </a:ext>
            </a:extLst>
          </p:cNvPr>
          <p:cNvSpPr txBox="1"/>
          <p:nvPr/>
        </p:nvSpPr>
        <p:spPr>
          <a:xfrm>
            <a:off x="279400" y="29972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Timeliness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90B4B7-088E-AD63-CD02-EBB5550EB36E}"/>
              </a:ext>
            </a:extLst>
          </p:cNvPr>
          <p:cNvSpPr txBox="1"/>
          <p:nvPr/>
        </p:nvSpPr>
        <p:spPr>
          <a:xfrm>
            <a:off x="2413000" y="2997200"/>
            <a:ext cx="736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E3A22C-0BA7-4038-733E-11E0907A0369}"/>
              </a:ext>
            </a:extLst>
          </p:cNvPr>
          <p:cNvSpPr txBox="1"/>
          <p:nvPr/>
        </p:nvSpPr>
        <p:spPr>
          <a:xfrm>
            <a:off x="3276600" y="29972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C65FF9-C2F7-AD34-FBDA-68B51DDF62D1}"/>
              </a:ext>
            </a:extLst>
          </p:cNvPr>
          <p:cNvSpPr txBox="1"/>
          <p:nvPr/>
        </p:nvSpPr>
        <p:spPr>
          <a:xfrm>
            <a:off x="4165600" y="29972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72975F-5962-C201-424E-9170620FB61E}"/>
              </a:ext>
            </a:extLst>
          </p:cNvPr>
          <p:cNvSpPr txBox="1"/>
          <p:nvPr/>
        </p:nvSpPr>
        <p:spPr>
          <a:xfrm>
            <a:off x="5054600" y="29972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BE839A-8D85-CE07-A079-6909E3982AB4}"/>
              </a:ext>
            </a:extLst>
          </p:cNvPr>
          <p:cNvSpPr txBox="1"/>
          <p:nvPr/>
        </p:nvSpPr>
        <p:spPr>
          <a:xfrm>
            <a:off x="5943600" y="2997200"/>
            <a:ext cx="914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83%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31B0F74-5337-025C-0E9E-B8916F0A13B6}"/>
              </a:ext>
            </a:extLst>
          </p:cNvPr>
          <p:cNvSpPr txBox="1"/>
          <p:nvPr/>
        </p:nvSpPr>
        <p:spPr>
          <a:xfrm>
            <a:off x="7010400" y="29972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UP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891C14-9E12-270B-F1DC-CD04024758E4}"/>
              </a:ext>
            </a:extLst>
          </p:cNvPr>
          <p:cNvSpPr txBox="1"/>
          <p:nvPr/>
        </p:nvSpPr>
        <p:spPr>
          <a:xfrm>
            <a:off x="7975600" y="29972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WARN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E00DBBB-A90F-96CC-41F6-623B9096049A}"/>
              </a:ext>
            </a:extLst>
          </p:cNvPr>
          <p:cNvSpPr/>
          <p:nvPr/>
        </p:nvSpPr>
        <p:spPr>
          <a:xfrm>
            <a:off x="228600" y="3479800"/>
            <a:ext cx="11734800" cy="5588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88F9BF-0CEB-043A-64CA-076C2C9B8785}"/>
              </a:ext>
            </a:extLst>
          </p:cNvPr>
          <p:cNvSpPr txBox="1"/>
          <p:nvPr/>
        </p:nvSpPr>
        <p:spPr>
          <a:xfrm>
            <a:off x="279400" y="35560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Freshness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F53951-94B0-A506-8B8D-69538E7A2561}"/>
              </a:ext>
            </a:extLst>
          </p:cNvPr>
          <p:cNvSpPr txBox="1"/>
          <p:nvPr/>
        </p:nvSpPr>
        <p:spPr>
          <a:xfrm>
            <a:off x="2413000" y="3556000"/>
            <a:ext cx="736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E1FA31-A5DB-7248-8953-AE473FAB22E5}"/>
              </a:ext>
            </a:extLst>
          </p:cNvPr>
          <p:cNvSpPr txBox="1"/>
          <p:nvPr/>
        </p:nvSpPr>
        <p:spPr>
          <a:xfrm>
            <a:off x="3276600" y="35560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1E2ADB-7F28-2381-EBDC-570997C6EACC}"/>
              </a:ext>
            </a:extLst>
          </p:cNvPr>
          <p:cNvSpPr txBox="1"/>
          <p:nvPr/>
        </p:nvSpPr>
        <p:spPr>
          <a:xfrm>
            <a:off x="4165600" y="35560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FA6E5D-56D2-C411-A073-E4BB954EEFAA}"/>
              </a:ext>
            </a:extLst>
          </p:cNvPr>
          <p:cNvSpPr txBox="1"/>
          <p:nvPr/>
        </p:nvSpPr>
        <p:spPr>
          <a:xfrm>
            <a:off x="5054600" y="35560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B904DB-C6D0-F9A2-F417-B832DDEE53D3}"/>
              </a:ext>
            </a:extLst>
          </p:cNvPr>
          <p:cNvSpPr txBox="1"/>
          <p:nvPr/>
        </p:nvSpPr>
        <p:spPr>
          <a:xfrm>
            <a:off x="5943600" y="3556000"/>
            <a:ext cx="914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83%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87D06EF-C6D4-C8B6-6A76-1B75D23EE057}"/>
              </a:ext>
            </a:extLst>
          </p:cNvPr>
          <p:cNvSpPr txBox="1"/>
          <p:nvPr/>
        </p:nvSpPr>
        <p:spPr>
          <a:xfrm>
            <a:off x="7010400" y="35560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DOWN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C683763-F968-8298-5B72-8E10D66F148E}"/>
              </a:ext>
            </a:extLst>
          </p:cNvPr>
          <p:cNvSpPr txBox="1"/>
          <p:nvPr/>
        </p:nvSpPr>
        <p:spPr>
          <a:xfrm>
            <a:off x="7975600" y="35560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FAIL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9F42FB4-10B4-60CA-9FC0-614505CE830A}"/>
              </a:ext>
            </a:extLst>
          </p:cNvPr>
          <p:cNvSpPr/>
          <p:nvPr/>
        </p:nvSpPr>
        <p:spPr>
          <a:xfrm>
            <a:off x="228600" y="4038600"/>
            <a:ext cx="11734800" cy="5588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F58070-115B-D498-46C9-2B40351444F2}"/>
              </a:ext>
            </a:extLst>
          </p:cNvPr>
          <p:cNvSpPr txBox="1"/>
          <p:nvPr/>
        </p:nvSpPr>
        <p:spPr>
          <a:xfrm>
            <a:off x="279400" y="41148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Validity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3C6263-C6A6-06EC-DBFC-B74355BB5A53}"/>
              </a:ext>
            </a:extLst>
          </p:cNvPr>
          <p:cNvSpPr txBox="1"/>
          <p:nvPr/>
        </p:nvSpPr>
        <p:spPr>
          <a:xfrm>
            <a:off x="2413000" y="4114800"/>
            <a:ext cx="736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CE3EC7-AB0D-E6DC-E3F1-C57901F356E4}"/>
              </a:ext>
            </a:extLst>
          </p:cNvPr>
          <p:cNvSpPr txBox="1"/>
          <p:nvPr/>
        </p:nvSpPr>
        <p:spPr>
          <a:xfrm>
            <a:off x="3276600" y="4114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3ABF37-763E-B56B-1B1C-203A81277006}"/>
              </a:ext>
            </a:extLst>
          </p:cNvPr>
          <p:cNvSpPr txBox="1"/>
          <p:nvPr/>
        </p:nvSpPr>
        <p:spPr>
          <a:xfrm>
            <a:off x="4165600" y="4114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5CF118-5B62-440E-A925-9C83C23994D8}"/>
              </a:ext>
            </a:extLst>
          </p:cNvPr>
          <p:cNvSpPr txBox="1"/>
          <p:nvPr/>
        </p:nvSpPr>
        <p:spPr>
          <a:xfrm>
            <a:off x="5054600" y="4114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B44BCB-0058-C83F-141D-85D94C0889C7}"/>
              </a:ext>
            </a:extLst>
          </p:cNvPr>
          <p:cNvSpPr txBox="1"/>
          <p:nvPr/>
        </p:nvSpPr>
        <p:spPr>
          <a:xfrm>
            <a:off x="5943600" y="4114800"/>
            <a:ext cx="914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88%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FC5B64E-2E1A-B1FC-4408-EE0EA66323BA}"/>
              </a:ext>
            </a:extLst>
          </p:cNvPr>
          <p:cNvSpPr txBox="1"/>
          <p:nvPr/>
        </p:nvSpPr>
        <p:spPr>
          <a:xfrm>
            <a:off x="7010400" y="41148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STABLE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3B37A6-E2D1-5603-5CF8-BC678B448409}"/>
              </a:ext>
            </a:extLst>
          </p:cNvPr>
          <p:cNvSpPr txBox="1"/>
          <p:nvPr/>
        </p:nvSpPr>
        <p:spPr>
          <a:xfrm>
            <a:off x="7975600" y="41148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WARN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9D91612-0DC3-EE0A-4506-5FE09C9A25EF}"/>
              </a:ext>
            </a:extLst>
          </p:cNvPr>
          <p:cNvSpPr/>
          <p:nvPr/>
        </p:nvSpPr>
        <p:spPr>
          <a:xfrm>
            <a:off x="228600" y="4597400"/>
            <a:ext cx="11734800" cy="5588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6D9F39-FE92-CAAE-6568-82DB34DFF718}"/>
              </a:ext>
            </a:extLst>
          </p:cNvPr>
          <p:cNvSpPr txBox="1"/>
          <p:nvPr/>
        </p:nvSpPr>
        <p:spPr>
          <a:xfrm>
            <a:off x="279400" y="4673600"/>
            <a:ext cx="203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605ADE-2D72-F9D3-8284-2C6B91A10946}"/>
              </a:ext>
            </a:extLst>
          </p:cNvPr>
          <p:cNvSpPr txBox="1"/>
          <p:nvPr/>
        </p:nvSpPr>
        <p:spPr>
          <a:xfrm>
            <a:off x="2413000" y="4673600"/>
            <a:ext cx="736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CCCCCC"/>
                </a:solidFill>
              </a:rPr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84E043-33F2-D3DD-D032-7F2A4E8DC686}"/>
              </a:ext>
            </a:extLst>
          </p:cNvPr>
          <p:cNvSpPr txBox="1"/>
          <p:nvPr/>
        </p:nvSpPr>
        <p:spPr>
          <a:xfrm>
            <a:off x="3276600" y="4673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E20DB8-F54F-263C-373B-4DFA8AFE15C7}"/>
              </a:ext>
            </a:extLst>
          </p:cNvPr>
          <p:cNvSpPr txBox="1"/>
          <p:nvPr/>
        </p:nvSpPr>
        <p:spPr>
          <a:xfrm>
            <a:off x="4165600" y="4673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08E4A3-71C3-1ACF-D667-02D5EFFC42DB}"/>
              </a:ext>
            </a:extLst>
          </p:cNvPr>
          <p:cNvSpPr txBox="1"/>
          <p:nvPr/>
        </p:nvSpPr>
        <p:spPr>
          <a:xfrm>
            <a:off x="5054600" y="4673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4444"/>
                </a:solidFill>
              </a:rPr>
              <a:t>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2268319-1204-38EB-40A9-3FEAD22C9238}"/>
              </a:ext>
            </a:extLst>
          </p:cNvPr>
          <p:cNvSpPr txBox="1"/>
          <p:nvPr/>
        </p:nvSpPr>
        <p:spPr>
          <a:xfrm>
            <a:off x="5943600" y="4673600"/>
            <a:ext cx="9144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75%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6A46EE-FDEE-89E8-27A0-644151D5C65E}"/>
              </a:ext>
            </a:extLst>
          </p:cNvPr>
          <p:cNvSpPr txBox="1"/>
          <p:nvPr/>
        </p:nvSpPr>
        <p:spPr>
          <a:xfrm>
            <a:off x="7010400" y="4673600"/>
            <a:ext cx="736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STABLE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CC4C5CD-395B-365A-5F5D-1C6E8D1A1950}"/>
              </a:ext>
            </a:extLst>
          </p:cNvPr>
          <p:cNvSpPr txBox="1"/>
          <p:nvPr/>
        </p:nvSpPr>
        <p:spPr>
          <a:xfrm>
            <a:off x="7975600" y="4673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WARN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D0683C-EFC7-4FD9-F98A-B8C744B42078}"/>
              </a:ext>
            </a:extLst>
          </p:cNvPr>
          <p:cNvSpPr txBox="1"/>
          <p:nvPr/>
        </p:nvSpPr>
        <p:spPr>
          <a:xfrm>
            <a:off x="228600" y="5257800"/>
            <a:ext cx="11734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54 total checks running  |  46 PASS  |  6 WARN  |  2 FAIL  |  Overall pass rate: 85%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116112F-2BDC-DCDF-9A16-B2CC669F12CD}"/>
              </a:ext>
            </a:extLst>
          </p:cNvPr>
          <p:cNvSpPr/>
          <p:nvPr/>
        </p:nvSpPr>
        <p:spPr>
          <a:xfrm>
            <a:off x="0" y="5181600"/>
            <a:ext cx="12192000" cy="254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8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E06802-EDCD-3A93-B3E9-DB9A4EB643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5BA0A7-5E67-CEFC-8D56-F3653D568EF6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5595F-4531-441B-249B-0FB723FF84AF}"/>
              </a:ext>
            </a:extLst>
          </p:cNvPr>
          <p:cNvSpPr txBox="1"/>
          <p:nvPr/>
        </p:nvSpPr>
        <p:spPr>
          <a:xfrm>
            <a:off x="228600" y="127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Incident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14A4F-7511-F344-9F54-881680BF8C1F}"/>
              </a:ext>
            </a:extLst>
          </p:cNvPr>
          <p:cNvSpPr txBox="1"/>
          <p:nvPr/>
        </p:nvSpPr>
        <p:spPr>
          <a:xfrm>
            <a:off x="228600" y="4826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User-reported incidents by dimension and data stream -- Q2 2026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35B069-B186-BE49-8278-69C7AFF954A3}"/>
              </a:ext>
            </a:extLst>
          </p:cNvPr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B5246A0-78ED-5752-ECA1-5D7E65CCB997}"/>
              </a:ext>
            </a:extLst>
          </p:cNvPr>
          <p:cNvSpPr/>
          <p:nvPr/>
        </p:nvSpPr>
        <p:spPr>
          <a:xfrm>
            <a:off x="228600" y="863600"/>
            <a:ext cx="5588000" cy="43180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B4819-68D4-0951-FEC5-B0F5A407F70E}"/>
              </a:ext>
            </a:extLst>
          </p:cNvPr>
          <p:cNvSpPr txBox="1"/>
          <p:nvPr/>
        </p:nvSpPr>
        <p:spPr>
          <a:xfrm>
            <a:off x="355600" y="939800"/>
            <a:ext cx="5334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</a:rPr>
              <a:t>By Dimension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60B1D9-5F6B-3421-9F46-1E2F2C8CC651}"/>
              </a:ext>
            </a:extLst>
          </p:cNvPr>
          <p:cNvSpPr/>
          <p:nvPr/>
        </p:nvSpPr>
        <p:spPr>
          <a:xfrm>
            <a:off x="228600" y="1219200"/>
            <a:ext cx="5588000" cy="254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EA3E0D-240C-FA42-ED99-47CA679FB013}"/>
              </a:ext>
            </a:extLst>
          </p:cNvPr>
          <p:cNvSpPr txBox="1"/>
          <p:nvPr/>
        </p:nvSpPr>
        <p:spPr>
          <a:xfrm>
            <a:off x="355600" y="13716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Completeness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22534-003C-02CA-293B-8ACBB7D73F54}"/>
              </a:ext>
            </a:extLst>
          </p:cNvPr>
          <p:cNvSpPr txBox="1"/>
          <p:nvPr/>
        </p:nvSpPr>
        <p:spPr>
          <a:xfrm>
            <a:off x="2730500" y="13716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DE: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726016-CA82-D5D2-8F9F-ED123426EA84}"/>
              </a:ext>
            </a:extLst>
          </p:cNvPr>
          <p:cNvSpPr txBox="1"/>
          <p:nvPr/>
        </p:nvSpPr>
        <p:spPr>
          <a:xfrm>
            <a:off x="3810000" y="13716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VLC: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494AC6-9181-465E-BCE7-E1EDF645A021}"/>
              </a:ext>
            </a:extLst>
          </p:cNvPr>
          <p:cNvSpPr txBox="1"/>
          <p:nvPr/>
        </p:nvSpPr>
        <p:spPr>
          <a:xfrm>
            <a:off x="4953000" y="13716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00AAFF"/>
                </a:solidFill>
              </a:rPr>
              <a:t>Total: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DFFD97-9767-05DC-7E3D-BFE8FF5DE86E}"/>
              </a:ext>
            </a:extLst>
          </p:cNvPr>
          <p:cNvSpPr txBox="1"/>
          <p:nvPr/>
        </p:nvSpPr>
        <p:spPr>
          <a:xfrm>
            <a:off x="355600" y="19050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Freshness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73D54-9DD2-6C96-12CB-E37C9D9C8C95}"/>
              </a:ext>
            </a:extLst>
          </p:cNvPr>
          <p:cNvSpPr txBox="1"/>
          <p:nvPr/>
        </p:nvSpPr>
        <p:spPr>
          <a:xfrm>
            <a:off x="2730500" y="19050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DE: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3FA655-2F49-BBED-E682-32574ADAB5D0}"/>
              </a:ext>
            </a:extLst>
          </p:cNvPr>
          <p:cNvSpPr txBox="1"/>
          <p:nvPr/>
        </p:nvSpPr>
        <p:spPr>
          <a:xfrm>
            <a:off x="3810000" y="19050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VLC: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14B75F-91F6-5AD5-BF8F-1FD15B8CD9D9}"/>
              </a:ext>
            </a:extLst>
          </p:cNvPr>
          <p:cNvSpPr txBox="1"/>
          <p:nvPr/>
        </p:nvSpPr>
        <p:spPr>
          <a:xfrm>
            <a:off x="4953000" y="19050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00AAFF"/>
                </a:solidFill>
              </a:rPr>
              <a:t>Total: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6A3D96-3F63-07A0-A952-B7F332432B66}"/>
              </a:ext>
            </a:extLst>
          </p:cNvPr>
          <p:cNvSpPr txBox="1"/>
          <p:nvPr/>
        </p:nvSpPr>
        <p:spPr>
          <a:xfrm>
            <a:off x="355600" y="24384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F95C41-C2A6-9CE0-221D-5994F682F99A}"/>
              </a:ext>
            </a:extLst>
          </p:cNvPr>
          <p:cNvSpPr txBox="1"/>
          <p:nvPr/>
        </p:nvSpPr>
        <p:spPr>
          <a:xfrm>
            <a:off x="2730500" y="24384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DE: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0C255E-CECB-3584-01B2-C8CAC96E9345}"/>
              </a:ext>
            </a:extLst>
          </p:cNvPr>
          <p:cNvSpPr txBox="1"/>
          <p:nvPr/>
        </p:nvSpPr>
        <p:spPr>
          <a:xfrm>
            <a:off x="3810000" y="24384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VLC: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4EDE73-BF0D-B4F8-73F1-C75BDCCC131E}"/>
              </a:ext>
            </a:extLst>
          </p:cNvPr>
          <p:cNvSpPr txBox="1"/>
          <p:nvPr/>
        </p:nvSpPr>
        <p:spPr>
          <a:xfrm>
            <a:off x="4953000" y="24384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Total: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C363CB-5636-92E3-E954-B3BC6DF0F93B}"/>
              </a:ext>
            </a:extLst>
          </p:cNvPr>
          <p:cNvSpPr txBox="1"/>
          <p:nvPr/>
        </p:nvSpPr>
        <p:spPr>
          <a:xfrm>
            <a:off x="355600" y="29718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Consistency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217498-6209-29AC-6371-D98B5D4BD70D}"/>
              </a:ext>
            </a:extLst>
          </p:cNvPr>
          <p:cNvSpPr txBox="1"/>
          <p:nvPr/>
        </p:nvSpPr>
        <p:spPr>
          <a:xfrm>
            <a:off x="2730500" y="29718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DE: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149617-3CDB-8CD5-8CAF-2F374531ED86}"/>
              </a:ext>
            </a:extLst>
          </p:cNvPr>
          <p:cNvSpPr txBox="1"/>
          <p:nvPr/>
        </p:nvSpPr>
        <p:spPr>
          <a:xfrm>
            <a:off x="3810000" y="29718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VLC: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1FEEDD-A0B3-B0F2-5568-24EECEFF604C}"/>
              </a:ext>
            </a:extLst>
          </p:cNvPr>
          <p:cNvSpPr txBox="1"/>
          <p:nvPr/>
        </p:nvSpPr>
        <p:spPr>
          <a:xfrm>
            <a:off x="4953000" y="29718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Total: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A86EAE-55D1-F8FA-55AA-5D073445EB22}"/>
              </a:ext>
            </a:extLst>
          </p:cNvPr>
          <p:cNvSpPr txBox="1"/>
          <p:nvPr/>
        </p:nvSpPr>
        <p:spPr>
          <a:xfrm>
            <a:off x="355600" y="3505200"/>
            <a:ext cx="228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Others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296A59-ECF9-3199-B95B-D2078FFD4F2E}"/>
              </a:ext>
            </a:extLst>
          </p:cNvPr>
          <p:cNvSpPr txBox="1"/>
          <p:nvPr/>
        </p:nvSpPr>
        <p:spPr>
          <a:xfrm>
            <a:off x="2730500" y="35052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DE: 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916FE5-A7E9-6336-DC86-128DA275BE97}"/>
              </a:ext>
            </a:extLst>
          </p:cNvPr>
          <p:cNvSpPr txBox="1"/>
          <p:nvPr/>
        </p:nvSpPr>
        <p:spPr>
          <a:xfrm>
            <a:off x="3810000" y="3505200"/>
            <a:ext cx="1016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VLC: 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0E3DC6-2978-C4B2-017E-49C33514E173}"/>
              </a:ext>
            </a:extLst>
          </p:cNvPr>
          <p:cNvSpPr txBox="1"/>
          <p:nvPr/>
        </p:nvSpPr>
        <p:spPr>
          <a:xfrm>
            <a:off x="4953000" y="3505200"/>
            <a:ext cx="76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Total: 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D4002D-E0CF-8A81-534E-47BC18C06B58}"/>
              </a:ext>
            </a:extLst>
          </p:cNvPr>
          <p:cNvSpPr/>
          <p:nvPr/>
        </p:nvSpPr>
        <p:spPr>
          <a:xfrm>
            <a:off x="6096000" y="863600"/>
            <a:ext cx="5842000" cy="43180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182693-CE51-F1AE-9B2D-9D42DBA857A3}"/>
              </a:ext>
            </a:extLst>
          </p:cNvPr>
          <p:cNvSpPr txBox="1"/>
          <p:nvPr/>
        </p:nvSpPr>
        <p:spPr>
          <a:xfrm>
            <a:off x="6223000" y="939800"/>
            <a:ext cx="5588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</a:rPr>
              <a:t>Incident Status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0A5A4D-1353-9748-C2ED-0EC335CEF775}"/>
              </a:ext>
            </a:extLst>
          </p:cNvPr>
          <p:cNvSpPr/>
          <p:nvPr/>
        </p:nvSpPr>
        <p:spPr>
          <a:xfrm>
            <a:off x="6096000" y="1219200"/>
            <a:ext cx="5842000" cy="254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D226A3-7AA1-6943-8ED7-427BC97B11F8}"/>
              </a:ext>
            </a:extLst>
          </p:cNvPr>
          <p:cNvSpPr/>
          <p:nvPr/>
        </p:nvSpPr>
        <p:spPr>
          <a:xfrm>
            <a:off x="6223000" y="1409700"/>
            <a:ext cx="177800" cy="177800"/>
          </a:xfrm>
          <a:prstGeom prst="rect">
            <a:avLst/>
          </a:prstGeom>
          <a:solidFill>
            <a:srgbClr val="71CC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178F31-8CA8-79D1-683F-4B7B97C99CF9}"/>
              </a:ext>
            </a:extLst>
          </p:cNvPr>
          <p:cNvSpPr txBox="1"/>
          <p:nvPr/>
        </p:nvSpPr>
        <p:spPr>
          <a:xfrm>
            <a:off x="6502400" y="1371600"/>
            <a:ext cx="330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Resolved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3C8BA0-D73E-3F31-FD0D-5CE347F9C8E9}"/>
              </a:ext>
            </a:extLst>
          </p:cNvPr>
          <p:cNvSpPr txBox="1"/>
          <p:nvPr/>
        </p:nvSpPr>
        <p:spPr>
          <a:xfrm>
            <a:off x="9906000" y="13716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71CC2E"/>
                </a:solidFill>
              </a:rPr>
              <a:t>3 incidents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738DBF-644E-3BCA-462B-55BA9F50E5B4}"/>
              </a:ext>
            </a:extLst>
          </p:cNvPr>
          <p:cNvSpPr/>
          <p:nvPr/>
        </p:nvSpPr>
        <p:spPr>
          <a:xfrm>
            <a:off x="6223000" y="1943100"/>
            <a:ext cx="177800" cy="1778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7AFB6F-8D19-8CCC-2352-EAA2E518E00C}"/>
              </a:ext>
            </a:extLst>
          </p:cNvPr>
          <p:cNvSpPr txBox="1"/>
          <p:nvPr/>
        </p:nvSpPr>
        <p:spPr>
          <a:xfrm>
            <a:off x="6502400" y="1905000"/>
            <a:ext cx="330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Open - In Progress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E2191B-E711-1376-DDD4-93F1CD700094}"/>
              </a:ext>
            </a:extLst>
          </p:cNvPr>
          <p:cNvSpPr txBox="1"/>
          <p:nvPr/>
        </p:nvSpPr>
        <p:spPr>
          <a:xfrm>
            <a:off x="9906000" y="19050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FFC800"/>
                </a:solidFill>
              </a:rPr>
              <a:t>3 incidents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9B1F219-5FE7-3928-C9F7-BB3D9625998E}"/>
              </a:ext>
            </a:extLst>
          </p:cNvPr>
          <p:cNvSpPr/>
          <p:nvPr/>
        </p:nvSpPr>
        <p:spPr>
          <a:xfrm>
            <a:off x="6223000" y="2476500"/>
            <a:ext cx="177800" cy="177800"/>
          </a:xfrm>
          <a:prstGeom prst="rect">
            <a:avLst/>
          </a:prstGeom>
          <a:solidFill>
            <a:srgbClr val="00A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D5F899-8589-6974-7FBB-763182851503}"/>
              </a:ext>
            </a:extLst>
          </p:cNvPr>
          <p:cNvSpPr txBox="1"/>
          <p:nvPr/>
        </p:nvSpPr>
        <p:spPr>
          <a:xfrm>
            <a:off x="6502400" y="2438400"/>
            <a:ext cx="330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Open - Pending RCA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0D7159-5EB9-16B6-FC3D-A77DB9DCB1F3}"/>
              </a:ext>
            </a:extLst>
          </p:cNvPr>
          <p:cNvSpPr txBox="1"/>
          <p:nvPr/>
        </p:nvSpPr>
        <p:spPr>
          <a:xfrm>
            <a:off x="9906000" y="24384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00AAFF"/>
                </a:solidFill>
              </a:rPr>
              <a:t>1 incidents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D941FC-39D5-8111-49A0-6EFFB66C9B39}"/>
              </a:ext>
            </a:extLst>
          </p:cNvPr>
          <p:cNvSpPr/>
          <p:nvPr/>
        </p:nvSpPr>
        <p:spPr>
          <a:xfrm>
            <a:off x="6223000" y="3009900"/>
            <a:ext cx="177800" cy="177800"/>
          </a:xfrm>
          <a:prstGeom prst="rect">
            <a:avLst/>
          </a:prstGeom>
          <a:solidFill>
            <a:srgbClr val="F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A7A56-7724-9F5C-B997-9A4283EFA8D9}"/>
              </a:ext>
            </a:extLst>
          </p:cNvPr>
          <p:cNvSpPr txBox="1"/>
          <p:nvPr/>
        </p:nvSpPr>
        <p:spPr>
          <a:xfrm>
            <a:off x="6502400" y="2971800"/>
            <a:ext cx="330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FFFFFF"/>
                </a:solidFill>
              </a:rPr>
              <a:t>Escalated to Problem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039521-4472-FB70-8EEB-24F36BF7457B}"/>
              </a:ext>
            </a:extLst>
          </p:cNvPr>
          <p:cNvSpPr txBox="1"/>
          <p:nvPr/>
        </p:nvSpPr>
        <p:spPr>
          <a:xfrm>
            <a:off x="9906000" y="2971800"/>
            <a:ext cx="177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900" b="1">
                <a:solidFill>
                  <a:srgbClr val="FF4444"/>
                </a:solidFill>
              </a:rPr>
              <a:t>2 incidents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890AFC-AB28-8D8F-7646-C4040AB0D062}"/>
              </a:ext>
            </a:extLst>
          </p:cNvPr>
          <p:cNvSpPr/>
          <p:nvPr/>
        </p:nvSpPr>
        <p:spPr>
          <a:xfrm>
            <a:off x="0" y="5283200"/>
            <a:ext cx="12192000" cy="25400"/>
          </a:xfrm>
          <a:prstGeom prst="rect">
            <a:avLst/>
          </a:prstGeom>
          <a:solidFill>
            <a:srgbClr val="A8632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C63D5A-E1A2-836F-D167-EE89D84B7C8D}"/>
              </a:ext>
            </a:extLst>
          </p:cNvPr>
          <p:cNvSpPr txBox="1"/>
          <p:nvPr/>
        </p:nvSpPr>
        <p:spPr>
          <a:xfrm>
            <a:off x="228600" y="5359400"/>
            <a:ext cx="11734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DDBB99"/>
                </a:solidFill>
              </a:rPr>
              <a:t>Total Q2 incidents: 9  |  Proactively caught: 6  |  User reported: 3  |  Prevention rate: 67%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251F83-3F0D-354C-5FD6-2A82441F7A8F}"/>
              </a:ext>
            </a:extLst>
          </p:cNvPr>
          <p:cNvSpPr txBox="1"/>
          <p:nvPr/>
        </p:nvSpPr>
        <p:spPr>
          <a:xfrm>
            <a:off x="228600" y="5765800"/>
            <a:ext cx="11734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86666"/>
                </a:solidFill>
              </a:rPr>
              <a:t>All incidents logged in Service Desk Plus with Dimension tag and DataMart field populated.</a:t>
            </a:r>
          </a:p>
        </p:txBody>
      </p:sp>
    </p:spTree>
    <p:extLst>
      <p:ext uri="{BB962C8B-B14F-4D97-AF65-F5344CB8AC3E}">
        <p14:creationId xmlns:p14="http://schemas.microsoft.com/office/powerpoint/2010/main" val="256788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62884C-8804-D3F6-B1EA-C4D62A7442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17714A-2F90-228E-1833-C68CD9A9AD92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2688B-0067-5441-15C4-3933C74307B2}"/>
              </a:ext>
            </a:extLst>
          </p:cNvPr>
          <p:cNvSpPr txBox="1"/>
          <p:nvPr/>
        </p:nvSpPr>
        <p:spPr>
          <a:xfrm>
            <a:off x="228600" y="127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Problem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3F1FE-E3A3-70AC-9F91-DA686D91FB5A}"/>
              </a:ext>
            </a:extLst>
          </p:cNvPr>
          <p:cNvSpPr txBox="1"/>
          <p:nvPr/>
        </p:nvSpPr>
        <p:spPr>
          <a:xfrm>
            <a:off x="228600" y="4826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Recurring incidents escalated to root cause analysis -- Q2 2026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675197-7DA8-DC42-3793-711E100A0F39}"/>
              </a:ext>
            </a:extLst>
          </p:cNvPr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20D05CE-E72B-4EA3-AF86-C2DBCD559CAB}"/>
              </a:ext>
            </a:extLst>
          </p:cNvPr>
          <p:cNvSpPr/>
          <p:nvPr/>
        </p:nvSpPr>
        <p:spPr>
          <a:xfrm>
            <a:off x="228600" y="914400"/>
            <a:ext cx="11734800" cy="13716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5B61D3-F90C-FA79-78D1-317F471019CF}"/>
              </a:ext>
            </a:extLst>
          </p:cNvPr>
          <p:cNvSpPr/>
          <p:nvPr/>
        </p:nvSpPr>
        <p:spPr>
          <a:xfrm>
            <a:off x="228600" y="914400"/>
            <a:ext cx="76200" cy="1371600"/>
          </a:xfrm>
          <a:prstGeom prst="rect">
            <a:avLst/>
          </a:prstGeom>
          <a:solidFill>
            <a:srgbClr val="00A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6D58B-9F71-1587-89F4-78B7311E5421}"/>
              </a:ext>
            </a:extLst>
          </p:cNvPr>
          <p:cNvSpPr txBox="1"/>
          <p:nvPr/>
        </p:nvSpPr>
        <p:spPr>
          <a:xfrm>
            <a:off x="355600" y="990600"/>
            <a:ext cx="1117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</a:rPr>
              <a:t>PRB-001  |  Freshness: DE DataMart - Daily load job intermittently skips partitions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2CD8B-1586-CFA4-00EA-FD86D66CC69B}"/>
              </a:ext>
            </a:extLst>
          </p:cNvPr>
          <p:cNvSpPr txBox="1"/>
          <p:nvPr/>
        </p:nvSpPr>
        <p:spPr>
          <a:xfrm>
            <a:off x="355600" y="1295400"/>
            <a:ext cx="127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00AAFF"/>
                </a:solidFill>
              </a:rPr>
              <a:t>Root Cause: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2EC05-2F94-62AB-3F9F-E58FD3B46E6E}"/>
              </a:ext>
            </a:extLst>
          </p:cNvPr>
          <p:cNvSpPr txBox="1"/>
          <p:nvPr/>
        </p:nvSpPr>
        <p:spPr>
          <a:xfrm>
            <a:off x="1651000" y="1295400"/>
            <a:ext cx="965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Airflow schedule conflict with upstream ETL; no alert on empty partition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60BE0F-7B60-CC29-B969-D4367B570CFA}"/>
              </a:ext>
            </a:extLst>
          </p:cNvPr>
          <p:cNvSpPr txBox="1"/>
          <p:nvPr/>
        </p:nvSpPr>
        <p:spPr>
          <a:xfrm>
            <a:off x="355600" y="1549400"/>
            <a:ext cx="1524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71CC2E"/>
                </a:solidFill>
              </a:rPr>
              <a:t>Countermeasure: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2A89E-0F43-F62B-15B0-E482F135BF1C}"/>
              </a:ext>
            </a:extLst>
          </p:cNvPr>
          <p:cNvSpPr txBox="1"/>
          <p:nvPr/>
        </p:nvSpPr>
        <p:spPr>
          <a:xfrm>
            <a:off x="1930400" y="1549400"/>
            <a:ext cx="965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Add partition-count check rule to DQ framework; configure Airflow on_failure_callback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0E0EFE-A480-333C-C8EE-DD9368266539}"/>
              </a:ext>
            </a:extLst>
          </p:cNvPr>
          <p:cNvSpPr txBox="1"/>
          <p:nvPr/>
        </p:nvSpPr>
        <p:spPr>
          <a:xfrm>
            <a:off x="355600" y="18034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DDBB99"/>
                </a:solidFill>
              </a:rPr>
              <a:t>Status: RCA Complete -- implementing countermeasure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5B282D-5589-5948-B981-8020E258F384}"/>
              </a:ext>
            </a:extLst>
          </p:cNvPr>
          <p:cNvSpPr txBox="1"/>
          <p:nvPr/>
        </p:nvSpPr>
        <p:spPr>
          <a:xfrm>
            <a:off x="7620000" y="18034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886666"/>
                </a:solidFill>
              </a:rPr>
              <a:t>Opened: Apr 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BD146-205B-B9B3-A4D7-A1D7A478A01C}"/>
              </a:ext>
            </a:extLst>
          </p:cNvPr>
          <p:cNvSpPr txBox="1"/>
          <p:nvPr/>
        </p:nvSpPr>
        <p:spPr>
          <a:xfrm>
            <a:off x="10033000" y="18034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886666"/>
                </a:solidFill>
              </a:rPr>
              <a:t>Owner: DE Team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38A098-B79B-FB38-D733-A50B85EA54AE}"/>
              </a:ext>
            </a:extLst>
          </p:cNvPr>
          <p:cNvSpPr/>
          <p:nvPr/>
        </p:nvSpPr>
        <p:spPr>
          <a:xfrm>
            <a:off x="228600" y="2489200"/>
            <a:ext cx="11734800" cy="13716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C4A058-93AF-078E-5E42-BAD30F7E2517}"/>
              </a:ext>
            </a:extLst>
          </p:cNvPr>
          <p:cNvSpPr/>
          <p:nvPr/>
        </p:nvSpPr>
        <p:spPr>
          <a:xfrm>
            <a:off x="228600" y="2489200"/>
            <a:ext cx="76200" cy="1371600"/>
          </a:xfrm>
          <a:prstGeom prst="rect">
            <a:avLst/>
          </a:prstGeom>
          <a:solidFill>
            <a:srgbClr val="F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46F9C9-496B-C348-315E-B60E24E4FA5C}"/>
              </a:ext>
            </a:extLst>
          </p:cNvPr>
          <p:cNvSpPr txBox="1"/>
          <p:nvPr/>
        </p:nvSpPr>
        <p:spPr>
          <a:xfrm>
            <a:off x="355600" y="2565400"/>
            <a:ext cx="11176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</a:rPr>
              <a:t>PRB-002  |  Completeness: VLC DataMart - Sales transaction records missing for store 07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579388-F606-39CC-F099-A24427879A8E}"/>
              </a:ext>
            </a:extLst>
          </p:cNvPr>
          <p:cNvSpPr txBox="1"/>
          <p:nvPr/>
        </p:nvSpPr>
        <p:spPr>
          <a:xfrm>
            <a:off x="355600" y="2870200"/>
            <a:ext cx="127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00AAFF"/>
                </a:solidFill>
              </a:rPr>
              <a:t>Root Cause: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69DD29-0E2B-D1E2-FDC7-98BCFAE6BCC0}"/>
              </a:ext>
            </a:extLst>
          </p:cNvPr>
          <p:cNvSpPr txBox="1"/>
          <p:nvPr/>
        </p:nvSpPr>
        <p:spPr>
          <a:xfrm>
            <a:off x="1651000" y="2870200"/>
            <a:ext cx="965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POS system upgrade changed output schema; pipeline not updated to handle new field mapping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B6CC97-8EAC-EB06-BF17-EE87D81681DF}"/>
              </a:ext>
            </a:extLst>
          </p:cNvPr>
          <p:cNvSpPr txBox="1"/>
          <p:nvPr/>
        </p:nvSpPr>
        <p:spPr>
          <a:xfrm>
            <a:off x="355600" y="3124200"/>
            <a:ext cx="1524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71CC2E"/>
                </a:solidFill>
              </a:rPr>
              <a:t>Countermeasure: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051336-07FF-9C96-22F4-BFF810DDA595}"/>
              </a:ext>
            </a:extLst>
          </p:cNvPr>
          <p:cNvSpPr txBox="1"/>
          <p:nvPr/>
        </p:nvSpPr>
        <p:spPr>
          <a:xfrm>
            <a:off x="1930400" y="3124200"/>
            <a:ext cx="9652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Schema change detection rule + pipeline schema validation step before load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F6EEC6-DD46-B85E-AA69-4C9B1DD33544}"/>
              </a:ext>
            </a:extLst>
          </p:cNvPr>
          <p:cNvSpPr txBox="1"/>
          <p:nvPr/>
        </p:nvSpPr>
        <p:spPr>
          <a:xfrm>
            <a:off x="355600" y="3378200"/>
            <a:ext cx="635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DDBB99"/>
                </a:solidFill>
              </a:rPr>
              <a:t>Status: Open -- RCA in progress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8F13BE-DD54-F91D-6CD3-B0A673D3B009}"/>
              </a:ext>
            </a:extLst>
          </p:cNvPr>
          <p:cNvSpPr txBox="1"/>
          <p:nvPr/>
        </p:nvSpPr>
        <p:spPr>
          <a:xfrm>
            <a:off x="7620000" y="33782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886666"/>
                </a:solidFill>
              </a:rPr>
              <a:t>Opened: May 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DAE7D1-D691-FF0B-DD83-C70B6F74A632}"/>
              </a:ext>
            </a:extLst>
          </p:cNvPr>
          <p:cNvSpPr txBox="1"/>
          <p:nvPr/>
        </p:nvSpPr>
        <p:spPr>
          <a:xfrm>
            <a:off x="10033000" y="33782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800">
                <a:solidFill>
                  <a:srgbClr val="886666"/>
                </a:solidFill>
              </a:rPr>
              <a:t>Owner: VLC Team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6EC168-FEF1-E798-B86B-86EE3DFB1B13}"/>
              </a:ext>
            </a:extLst>
          </p:cNvPr>
          <p:cNvSpPr/>
          <p:nvPr/>
        </p:nvSpPr>
        <p:spPr>
          <a:xfrm>
            <a:off x="228600" y="4013200"/>
            <a:ext cx="11734800" cy="889000"/>
          </a:xfrm>
          <a:prstGeom prst="rect">
            <a:avLst/>
          </a:prstGeom>
          <a:solidFill>
            <a:srgbClr val="543E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EFEDBA-C072-785B-A417-076BA62CD0A3}"/>
              </a:ext>
            </a:extLst>
          </p:cNvPr>
          <p:cNvSpPr txBox="1"/>
          <p:nvPr/>
        </p:nvSpPr>
        <p:spPr>
          <a:xfrm>
            <a:off x="355600" y="4038600"/>
            <a:ext cx="508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</a:rPr>
              <a:t>Problem Management Process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C11311-E3E6-697C-0B0A-8F6FF3966998}"/>
              </a:ext>
            </a:extLst>
          </p:cNvPr>
          <p:cNvSpPr txBox="1"/>
          <p:nvPr/>
        </p:nvSpPr>
        <p:spPr>
          <a:xfrm>
            <a:off x="355600" y="4343400"/>
            <a:ext cx="16002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CCCCCC"/>
                </a:solidFill>
              </a:rPr>
              <a:t>1. Incident recurs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A5A3ECA-FED0-DC26-B0B3-CDEF627B16E9}"/>
              </a:ext>
            </a:extLst>
          </p:cNvPr>
          <p:cNvSpPr txBox="1"/>
          <p:nvPr/>
        </p:nvSpPr>
        <p:spPr>
          <a:xfrm>
            <a:off x="2006600" y="4343400"/>
            <a:ext cx="16002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CCCCCC"/>
                </a:solidFill>
              </a:rPr>
              <a:t>2. Flag Col H in SDP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1C62E7-CFB9-B904-0EBE-03617086072B}"/>
              </a:ext>
            </a:extLst>
          </p:cNvPr>
          <p:cNvSpPr txBox="1"/>
          <p:nvPr/>
        </p:nvSpPr>
        <p:spPr>
          <a:xfrm>
            <a:off x="3657600" y="4343400"/>
            <a:ext cx="16002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CCCCCC"/>
                </a:solidFill>
              </a:rPr>
              <a:t>3. Open Problem Record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305D06-3B88-9B9B-B3B5-A6DBE3633EFE}"/>
              </a:ext>
            </a:extLst>
          </p:cNvPr>
          <p:cNvSpPr txBox="1"/>
          <p:nvPr/>
        </p:nvSpPr>
        <p:spPr>
          <a:xfrm>
            <a:off x="5308600" y="4343400"/>
            <a:ext cx="16002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CCCCCC"/>
                </a:solidFill>
              </a:rPr>
              <a:t>4. RCA (5-Why)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ECA100-7AB8-549F-DE01-F83EF7DEB564}"/>
              </a:ext>
            </a:extLst>
          </p:cNvPr>
          <p:cNvSpPr txBox="1"/>
          <p:nvPr/>
        </p:nvSpPr>
        <p:spPr>
          <a:xfrm>
            <a:off x="6959600" y="4343400"/>
            <a:ext cx="16002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CCCCCC"/>
                </a:solidFill>
              </a:rPr>
              <a:t>5. Countermeasure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C7A54C-0A91-991A-76CC-59963C187AFF}"/>
              </a:ext>
            </a:extLst>
          </p:cNvPr>
          <p:cNvSpPr txBox="1"/>
          <p:nvPr/>
        </p:nvSpPr>
        <p:spPr>
          <a:xfrm>
            <a:off x="8610600" y="4343400"/>
            <a:ext cx="16002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CCCCCC"/>
                </a:solidFill>
              </a:rPr>
              <a:t>6. Add Check Rule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C151D7-F3B4-7CCB-6CB9-BF2CAA68E18F}"/>
              </a:ext>
            </a:extLst>
          </p:cNvPr>
          <p:cNvSpPr txBox="1"/>
          <p:nvPr/>
        </p:nvSpPr>
        <p:spPr>
          <a:xfrm>
            <a:off x="10261600" y="4343400"/>
            <a:ext cx="16002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CCCCCC"/>
                </a:solidFill>
              </a:rPr>
              <a:t>7. Verify + Close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BFF6E1-2282-233D-6E57-2E48A17DBD0E}"/>
              </a:ext>
            </a:extLst>
          </p:cNvPr>
          <p:cNvSpPr txBox="1"/>
          <p:nvPr/>
        </p:nvSpPr>
        <p:spPr>
          <a:xfrm>
            <a:off x="228600" y="5080000"/>
            <a:ext cx="117348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>
                <a:solidFill>
                  <a:srgbClr val="00AAFF"/>
                </a:solidFill>
              </a:rPr>
              <a:t>Prevention goal: every closed Problem record adds at least 1 new automated check rule to the DQ framework.</a:t>
            </a:r>
          </a:p>
        </p:txBody>
      </p:sp>
    </p:spTree>
    <p:extLst>
      <p:ext uri="{BB962C8B-B14F-4D97-AF65-F5344CB8AC3E}">
        <p14:creationId xmlns:p14="http://schemas.microsoft.com/office/powerpoint/2010/main" val="204540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717C05-FB3D-23EB-49F8-0D243D10B2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7DAC46-5F81-6893-96FF-3410E6452EEF}"/>
              </a:ext>
            </a:extLst>
          </p:cNvPr>
          <p:cNvSpPr/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6182C-1B1B-F680-8BAB-8DBDEB470CBE}"/>
              </a:ext>
            </a:extLst>
          </p:cNvPr>
          <p:cNvSpPr txBox="1"/>
          <p:nvPr/>
        </p:nvSpPr>
        <p:spPr>
          <a:xfrm>
            <a:off x="228600" y="127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</a:rPr>
              <a:t>Key Actions &amp; Roadmap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029590-4D32-3339-79CB-82AEF176CA67}"/>
              </a:ext>
            </a:extLst>
          </p:cNvPr>
          <p:cNvSpPr txBox="1"/>
          <p:nvPr/>
        </p:nvSpPr>
        <p:spPr>
          <a:xfrm>
            <a:off x="228600" y="4826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CCCCCC"/>
                </a:solidFill>
              </a:rPr>
              <a:t>What we are doing, who owns it, and when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9FFE25-7CBC-D33C-9C22-7302B2B89D3E}"/>
              </a:ext>
            </a:extLst>
          </p:cNvPr>
          <p:cNvCxnSpPr/>
          <p:nvPr/>
        </p:nvCxnSpPr>
        <p:spPr>
          <a:xfrm>
            <a:off x="0" y="711200"/>
            <a:ext cx="12192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5D973A7-E0EB-DB2D-B336-05F18891DDF9}"/>
              </a:ext>
            </a:extLst>
          </p:cNvPr>
          <p:cNvSpPr/>
          <p:nvPr/>
        </p:nvSpPr>
        <p:spPr>
          <a:xfrm>
            <a:off x="228600" y="889000"/>
            <a:ext cx="11734800" cy="6604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43FF2C-AF0D-6959-B357-483EE55A2592}"/>
              </a:ext>
            </a:extLst>
          </p:cNvPr>
          <p:cNvSpPr/>
          <p:nvPr/>
        </p:nvSpPr>
        <p:spPr>
          <a:xfrm>
            <a:off x="228600" y="889000"/>
            <a:ext cx="76200" cy="6604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4CB78F-4CD2-8AD4-1C43-64A41B1531B8}"/>
              </a:ext>
            </a:extLst>
          </p:cNvPr>
          <p:cNvSpPr txBox="1"/>
          <p:nvPr/>
        </p:nvSpPr>
        <p:spPr>
          <a:xfrm>
            <a:off x="330200" y="965200"/>
            <a:ext cx="355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P1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11BA0-A5DF-C0FB-7A23-74A1E7762E0A}"/>
              </a:ext>
            </a:extLst>
          </p:cNvPr>
          <p:cNvSpPr txBox="1"/>
          <p:nvPr/>
        </p:nvSpPr>
        <p:spPr>
          <a:xfrm>
            <a:off x="762000" y="939800"/>
            <a:ext cx="762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Close PRB-001: implement partition-count check rule in Airflow + DQ framework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30F08-9347-68FB-F456-C6F00E74E29A}"/>
              </a:ext>
            </a:extLst>
          </p:cNvPr>
          <p:cNvSpPr txBox="1"/>
          <p:nvPr/>
        </p:nvSpPr>
        <p:spPr>
          <a:xfrm>
            <a:off x="762000" y="12192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Owner: DE Team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AAF44-8088-8C40-9684-0A26AD9B6B05}"/>
              </a:ext>
            </a:extLst>
          </p:cNvPr>
          <p:cNvSpPr txBox="1"/>
          <p:nvPr/>
        </p:nvSpPr>
        <p:spPr>
          <a:xfrm>
            <a:off x="3175000" y="12192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ETA: May 31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1FE877-252B-4E8D-DB78-A70E01E01E6A}"/>
              </a:ext>
            </a:extLst>
          </p:cNvPr>
          <p:cNvSpPr txBox="1"/>
          <p:nvPr/>
        </p:nvSpPr>
        <p:spPr>
          <a:xfrm>
            <a:off x="9271000" y="10668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900" b="1">
                <a:solidFill>
                  <a:srgbClr val="FFC800"/>
                </a:solidFill>
              </a:rPr>
              <a:t>In Progress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DE0E4B-71A5-ED1E-0159-576CF00C4514}"/>
              </a:ext>
            </a:extLst>
          </p:cNvPr>
          <p:cNvSpPr/>
          <p:nvPr/>
        </p:nvSpPr>
        <p:spPr>
          <a:xfrm>
            <a:off x="228600" y="1651000"/>
            <a:ext cx="11734800" cy="6604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9C508C-A768-9B10-5945-8B46BC7D025A}"/>
              </a:ext>
            </a:extLst>
          </p:cNvPr>
          <p:cNvSpPr/>
          <p:nvPr/>
        </p:nvSpPr>
        <p:spPr>
          <a:xfrm>
            <a:off x="228600" y="1651000"/>
            <a:ext cx="76200" cy="660400"/>
          </a:xfrm>
          <a:prstGeom prst="rect">
            <a:avLst/>
          </a:prstGeom>
          <a:solidFill>
            <a:srgbClr val="FFC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6BE49E-DE51-6C43-522E-87F5BCB65838}"/>
              </a:ext>
            </a:extLst>
          </p:cNvPr>
          <p:cNvSpPr txBox="1"/>
          <p:nvPr/>
        </p:nvSpPr>
        <p:spPr>
          <a:xfrm>
            <a:off x="330200" y="1727200"/>
            <a:ext cx="355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FFC800"/>
                </a:solidFill>
              </a:rPr>
              <a:t>P2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531957-4C0C-72DA-EB60-A245E38A47A9}"/>
              </a:ext>
            </a:extLst>
          </p:cNvPr>
          <p:cNvSpPr txBox="1"/>
          <p:nvPr/>
        </p:nvSpPr>
        <p:spPr>
          <a:xfrm>
            <a:off x="762000" y="1701800"/>
            <a:ext cx="762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Close PRB-002: deploy schema change detection rule for VLC POS pipeline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50182F-31FC-0FD2-F537-BC93BFA7B35A}"/>
              </a:ext>
            </a:extLst>
          </p:cNvPr>
          <p:cNvSpPr txBox="1"/>
          <p:nvPr/>
        </p:nvSpPr>
        <p:spPr>
          <a:xfrm>
            <a:off x="762000" y="19812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Owner: VLC Team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A3B82E-29E9-A547-2776-06C8BCDFA8D8}"/>
              </a:ext>
            </a:extLst>
          </p:cNvPr>
          <p:cNvSpPr txBox="1"/>
          <p:nvPr/>
        </p:nvSpPr>
        <p:spPr>
          <a:xfrm>
            <a:off x="3175000" y="19812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ETA: Jun 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A0D04-0DF2-F9E4-5795-DBA8C2175870}"/>
              </a:ext>
            </a:extLst>
          </p:cNvPr>
          <p:cNvSpPr txBox="1"/>
          <p:nvPr/>
        </p:nvSpPr>
        <p:spPr>
          <a:xfrm>
            <a:off x="9271000" y="18288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900" b="1">
                <a:solidFill>
                  <a:srgbClr val="FFC800"/>
                </a:solidFill>
              </a:rPr>
              <a:t>In Progress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72ED1F-D141-7AC7-3DC1-A821578CE7D9}"/>
              </a:ext>
            </a:extLst>
          </p:cNvPr>
          <p:cNvSpPr/>
          <p:nvPr/>
        </p:nvSpPr>
        <p:spPr>
          <a:xfrm>
            <a:off x="228600" y="2413000"/>
            <a:ext cx="11734800" cy="6604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6804B1-489E-FFDE-3F91-4C1264963E19}"/>
              </a:ext>
            </a:extLst>
          </p:cNvPr>
          <p:cNvSpPr/>
          <p:nvPr/>
        </p:nvSpPr>
        <p:spPr>
          <a:xfrm>
            <a:off x="228600" y="2413000"/>
            <a:ext cx="76200" cy="660400"/>
          </a:xfrm>
          <a:prstGeom prst="rect">
            <a:avLst/>
          </a:prstGeom>
          <a:solidFill>
            <a:srgbClr val="00A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18E921-4D36-68D5-D35F-BB4598471CE7}"/>
              </a:ext>
            </a:extLst>
          </p:cNvPr>
          <p:cNvSpPr txBox="1"/>
          <p:nvPr/>
        </p:nvSpPr>
        <p:spPr>
          <a:xfrm>
            <a:off x="330200" y="2489200"/>
            <a:ext cx="355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00AAFF"/>
                </a:solidFill>
              </a:rPr>
              <a:t>P3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B34E2E-98DA-100F-6FB4-72C2924ADB2F}"/>
              </a:ext>
            </a:extLst>
          </p:cNvPr>
          <p:cNvSpPr txBox="1"/>
          <p:nvPr/>
        </p:nvSpPr>
        <p:spPr>
          <a:xfrm>
            <a:off x="762000" y="2463800"/>
            <a:ext cx="762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Add Accuracy checks for KPI formula columns (3 missing check rules)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16B1F-3F07-35A9-5613-8CDE860D813D}"/>
              </a:ext>
            </a:extLst>
          </p:cNvPr>
          <p:cNvSpPr txBox="1"/>
          <p:nvPr/>
        </p:nvSpPr>
        <p:spPr>
          <a:xfrm>
            <a:off x="762000" y="27432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Owner: Gift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BF1CFC-7152-5B6B-2435-96A1E2CEBC77}"/>
              </a:ext>
            </a:extLst>
          </p:cNvPr>
          <p:cNvSpPr txBox="1"/>
          <p:nvPr/>
        </p:nvSpPr>
        <p:spPr>
          <a:xfrm>
            <a:off x="3175000" y="27432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ETA: Jun 30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CF9248-5727-7F22-8F26-72EB2C8ADE9D}"/>
              </a:ext>
            </a:extLst>
          </p:cNvPr>
          <p:cNvSpPr txBox="1"/>
          <p:nvPr/>
        </p:nvSpPr>
        <p:spPr>
          <a:xfrm>
            <a:off x="9271000" y="25908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900" b="1">
                <a:solidFill>
                  <a:srgbClr val="00AAFF"/>
                </a:solidFill>
              </a:rPr>
              <a:t>Planned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E5B35E-43D5-8587-ED64-E7E83B2D6BB8}"/>
              </a:ext>
            </a:extLst>
          </p:cNvPr>
          <p:cNvSpPr/>
          <p:nvPr/>
        </p:nvSpPr>
        <p:spPr>
          <a:xfrm>
            <a:off x="228600" y="3175000"/>
            <a:ext cx="11734800" cy="6604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373628-9DB5-6879-4D62-FD412AB8933C}"/>
              </a:ext>
            </a:extLst>
          </p:cNvPr>
          <p:cNvSpPr/>
          <p:nvPr/>
        </p:nvSpPr>
        <p:spPr>
          <a:xfrm>
            <a:off x="228600" y="3175000"/>
            <a:ext cx="76200" cy="660400"/>
          </a:xfrm>
          <a:prstGeom prst="rect">
            <a:avLst/>
          </a:prstGeom>
          <a:solidFill>
            <a:srgbClr val="71CC2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AAE3A0-2496-34B7-B7FB-DF1573676B49}"/>
              </a:ext>
            </a:extLst>
          </p:cNvPr>
          <p:cNvSpPr txBox="1"/>
          <p:nvPr/>
        </p:nvSpPr>
        <p:spPr>
          <a:xfrm>
            <a:off x="330200" y="3251200"/>
            <a:ext cx="355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71CC2E"/>
                </a:solidFill>
              </a:rPr>
              <a:t>P4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D55B16-FA5F-8F0B-EC78-F233F79FBF01}"/>
              </a:ext>
            </a:extLst>
          </p:cNvPr>
          <p:cNvSpPr txBox="1"/>
          <p:nvPr/>
        </p:nvSpPr>
        <p:spPr>
          <a:xfrm>
            <a:off x="762000" y="3225800"/>
            <a:ext cx="762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Reach 70% Prevention Rate: needs 2 more proactive catches per month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C38262-FA0D-91F5-4C43-B8B091D73293}"/>
              </a:ext>
            </a:extLst>
          </p:cNvPr>
          <p:cNvSpPr txBox="1"/>
          <p:nvPr/>
        </p:nvSpPr>
        <p:spPr>
          <a:xfrm>
            <a:off x="762000" y="35052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Owner: Both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D6D24B-9DB8-2974-B8A4-3F99FDA27478}"/>
              </a:ext>
            </a:extLst>
          </p:cNvPr>
          <p:cNvSpPr txBox="1"/>
          <p:nvPr/>
        </p:nvSpPr>
        <p:spPr>
          <a:xfrm>
            <a:off x="3175000" y="35052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ETA: Jun 30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54DB0F-D69A-6798-20BF-9E9B4337F9CC}"/>
              </a:ext>
            </a:extLst>
          </p:cNvPr>
          <p:cNvSpPr txBox="1"/>
          <p:nvPr/>
        </p:nvSpPr>
        <p:spPr>
          <a:xfrm>
            <a:off x="9271000" y="33528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900" b="1">
                <a:solidFill>
                  <a:srgbClr val="71CC2E"/>
                </a:solidFill>
              </a:rPr>
              <a:t>On Track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457A799-7A10-09FF-D827-E947747685EF}"/>
              </a:ext>
            </a:extLst>
          </p:cNvPr>
          <p:cNvSpPr/>
          <p:nvPr/>
        </p:nvSpPr>
        <p:spPr>
          <a:xfrm>
            <a:off x="228600" y="3937000"/>
            <a:ext cx="11734800" cy="6604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B2A738-3CF6-468D-E26B-43C50E8EA302}"/>
              </a:ext>
            </a:extLst>
          </p:cNvPr>
          <p:cNvSpPr/>
          <p:nvPr/>
        </p:nvSpPr>
        <p:spPr>
          <a:xfrm>
            <a:off x="228600" y="3937000"/>
            <a:ext cx="76200" cy="660400"/>
          </a:xfrm>
          <a:prstGeom prst="rect">
            <a:avLst/>
          </a:prstGeom>
          <a:solidFill>
            <a:srgbClr val="00AA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A94C66-7800-494E-70CA-7B29F1FC005B}"/>
              </a:ext>
            </a:extLst>
          </p:cNvPr>
          <p:cNvSpPr txBox="1"/>
          <p:nvPr/>
        </p:nvSpPr>
        <p:spPr>
          <a:xfrm>
            <a:off x="330200" y="4013200"/>
            <a:ext cx="355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00AAFF"/>
                </a:solidFill>
              </a:rPr>
              <a:t>P5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E2CA53-BE25-7A02-8AF8-5152E8246466}"/>
              </a:ext>
            </a:extLst>
          </p:cNvPr>
          <p:cNvSpPr txBox="1"/>
          <p:nvPr/>
        </p:nvSpPr>
        <p:spPr>
          <a:xfrm>
            <a:off x="762000" y="3987800"/>
            <a:ext cx="762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Automate weekly DQ health summary email from monitoring workbook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AC513B-13FF-3626-A830-1A1B65EAB630}"/>
              </a:ext>
            </a:extLst>
          </p:cNvPr>
          <p:cNvSpPr txBox="1"/>
          <p:nvPr/>
        </p:nvSpPr>
        <p:spPr>
          <a:xfrm>
            <a:off x="762000" y="42672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Owner: Gift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C693D1-3479-1B1B-114B-44C1728F8473}"/>
              </a:ext>
            </a:extLst>
          </p:cNvPr>
          <p:cNvSpPr txBox="1"/>
          <p:nvPr/>
        </p:nvSpPr>
        <p:spPr>
          <a:xfrm>
            <a:off x="3175000" y="42672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ETA: Jun 30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0724E3-49D4-1A30-DA94-A7EF72FFD57A}"/>
              </a:ext>
            </a:extLst>
          </p:cNvPr>
          <p:cNvSpPr txBox="1"/>
          <p:nvPr/>
        </p:nvSpPr>
        <p:spPr>
          <a:xfrm>
            <a:off x="9271000" y="41148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900" b="1">
                <a:solidFill>
                  <a:srgbClr val="00AAFF"/>
                </a:solidFill>
              </a:rPr>
              <a:t>Planned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D0D4AF-654C-C1D6-C4FA-77094E3A65F1}"/>
              </a:ext>
            </a:extLst>
          </p:cNvPr>
          <p:cNvSpPr/>
          <p:nvPr/>
        </p:nvSpPr>
        <p:spPr>
          <a:xfrm>
            <a:off x="228600" y="4699000"/>
            <a:ext cx="11734800" cy="660400"/>
          </a:xfrm>
          <a:prstGeom prst="rect">
            <a:avLst/>
          </a:prstGeom>
          <a:solidFill>
            <a:srgbClr val="4832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05BD72-95DD-A15B-FDE8-2E74618F8135}"/>
              </a:ext>
            </a:extLst>
          </p:cNvPr>
          <p:cNvSpPr/>
          <p:nvPr/>
        </p:nvSpPr>
        <p:spPr>
          <a:xfrm>
            <a:off x="228600" y="4699000"/>
            <a:ext cx="76200" cy="660400"/>
          </a:xfrm>
          <a:prstGeom prst="rect">
            <a:avLst/>
          </a:prstGeom>
          <a:solidFill>
            <a:srgbClr val="8866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01ABCE-D8C1-1854-1DB1-F8A026659769}"/>
              </a:ext>
            </a:extLst>
          </p:cNvPr>
          <p:cNvSpPr txBox="1"/>
          <p:nvPr/>
        </p:nvSpPr>
        <p:spPr>
          <a:xfrm>
            <a:off x="330200" y="4775200"/>
            <a:ext cx="3556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900" b="1">
                <a:solidFill>
                  <a:srgbClr val="886666"/>
                </a:solidFill>
              </a:rPr>
              <a:t>P6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EE4398-34AF-BB7E-69FC-EF734B2A411B}"/>
              </a:ext>
            </a:extLst>
          </p:cNvPr>
          <p:cNvSpPr txBox="1"/>
          <p:nvPr/>
        </p:nvSpPr>
        <p:spPr>
          <a:xfrm>
            <a:off x="762000" y="4749800"/>
            <a:ext cx="762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 b="1">
                <a:solidFill>
                  <a:srgbClr val="FFFFFF"/>
                </a:solidFill>
              </a:rPr>
              <a:t>Onboard Q3 scope: expand check rules to 2 new DataMart streams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F011D4-653A-13EC-6140-75A18A8DDBBA}"/>
              </a:ext>
            </a:extLst>
          </p:cNvPr>
          <p:cNvSpPr txBox="1"/>
          <p:nvPr/>
        </p:nvSpPr>
        <p:spPr>
          <a:xfrm>
            <a:off x="762000" y="5029200"/>
            <a:ext cx="2286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Owner: Gift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3B1D245-E1B8-8C89-31BA-E1474E99D4DD}"/>
              </a:ext>
            </a:extLst>
          </p:cNvPr>
          <p:cNvSpPr txBox="1"/>
          <p:nvPr/>
        </p:nvSpPr>
        <p:spPr>
          <a:xfrm>
            <a:off x="3175000" y="5029200"/>
            <a:ext cx="1778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DDBB99"/>
                </a:solidFill>
              </a:rPr>
              <a:t>ETA: Jul 31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9563DF-E613-D019-CA81-859B46FB021F}"/>
              </a:ext>
            </a:extLst>
          </p:cNvPr>
          <p:cNvSpPr txBox="1"/>
          <p:nvPr/>
        </p:nvSpPr>
        <p:spPr>
          <a:xfrm>
            <a:off x="9271000" y="4876800"/>
            <a:ext cx="254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900" b="1">
                <a:solidFill>
                  <a:srgbClr val="886666"/>
                </a:solidFill>
              </a:rPr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1164689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8F0889-F4B3-B6A0-F95D-81A9500178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2E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3F45F-CB01-FECB-50C2-11FB1BA8F849}"/>
              </a:ext>
            </a:extLst>
          </p:cNvPr>
          <p:cNvSpPr txBox="1"/>
          <p:nvPr/>
        </p:nvSpPr>
        <p:spPr>
          <a:xfrm>
            <a:off x="1016000" y="762000"/>
            <a:ext cx="1016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Summary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2CE385-C546-2C46-C746-86771210A246}"/>
              </a:ext>
            </a:extLst>
          </p:cNvPr>
          <p:cNvCxnSpPr/>
          <p:nvPr/>
        </p:nvCxnSpPr>
        <p:spPr>
          <a:xfrm>
            <a:off x="1016000" y="1371600"/>
            <a:ext cx="10160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EC8AF2-6135-C75D-D81F-0817002BE861}"/>
              </a:ext>
            </a:extLst>
          </p:cNvPr>
          <p:cNvSpPr txBox="1"/>
          <p:nvPr/>
        </p:nvSpPr>
        <p:spPr>
          <a:xfrm>
            <a:off x="1270000" y="16510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1.  Prevention rate improved to 68% (Q1: 52%). Target 70%+ is within reach this quarter.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E8C6C-B5C4-43C7-BCB6-A452CE58CB6B}"/>
              </a:ext>
            </a:extLst>
          </p:cNvPr>
          <p:cNvSpPr txBox="1"/>
          <p:nvPr/>
        </p:nvSpPr>
        <p:spPr>
          <a:xfrm>
            <a:off x="1270000" y="23114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2.  54 automated checks now running across 7 dimensions for DE and VLC DataMart.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B9039-4838-DC97-F45F-07BE75171C90}"/>
              </a:ext>
            </a:extLst>
          </p:cNvPr>
          <p:cNvSpPr txBox="1"/>
          <p:nvPr/>
        </p:nvSpPr>
        <p:spPr>
          <a:xfrm>
            <a:off x="1270000" y="29718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3.  2 Problem records open: PRB-001 countermeasure in progress; PRB-002 RCA underway.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E8912-F238-4D73-51BB-749E0E59548C}"/>
              </a:ext>
            </a:extLst>
          </p:cNvPr>
          <p:cNvSpPr txBox="1"/>
          <p:nvPr/>
        </p:nvSpPr>
        <p:spPr>
          <a:xfrm>
            <a:off x="1270000" y="36322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FFFFFF"/>
                </a:solidFill>
              </a:rPr>
              <a:t>4.  Every resolved Problem record must produce at least 1 new check rule.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BE9D69-95B4-AE19-D1A1-A7B89429856E}"/>
              </a:ext>
            </a:extLst>
          </p:cNvPr>
          <p:cNvCxnSpPr/>
          <p:nvPr/>
        </p:nvCxnSpPr>
        <p:spPr>
          <a:xfrm>
            <a:off x="1016000" y="5080000"/>
            <a:ext cx="10160000" cy="0"/>
          </a:xfrm>
          <a:prstGeom prst="line">
            <a:avLst/>
          </a:prstGeom>
          <a:ln w="19050">
            <a:solidFill>
              <a:srgbClr val="A863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B151115-32D0-4F75-AB60-97DD3CB4F5D7}"/>
              </a:ext>
            </a:extLst>
          </p:cNvPr>
          <p:cNvSpPr txBox="1"/>
          <p:nvPr/>
        </p:nvSpPr>
        <p:spPr>
          <a:xfrm>
            <a:off x="1270000" y="5207000"/>
            <a:ext cx="7620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 b="1">
                <a:solidFill>
                  <a:srgbClr val="DDBB99"/>
                </a:solidFill>
              </a:rPr>
              <a:t>Reference Files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32297-CE34-2706-1D41-C48A073A5E62}"/>
              </a:ext>
            </a:extLst>
          </p:cNvPr>
          <p:cNvSpPr txBox="1"/>
          <p:nvPr/>
        </p:nvSpPr>
        <p:spPr>
          <a:xfrm>
            <a:off x="1270000" y="55118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DDBB99"/>
                </a:solidFill>
              </a:rPr>
              <a:t>Data_Quality_Monitoring_Report.xlsx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7C3EFC-802F-523B-C809-9C9F3426BCE3}"/>
              </a:ext>
            </a:extLst>
          </p:cNvPr>
          <p:cNvSpPr txBox="1"/>
          <p:nvPr/>
        </p:nvSpPr>
        <p:spPr>
          <a:xfrm>
            <a:off x="1270000" y="57658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DDBB99"/>
                </a:solidFill>
              </a:rPr>
              <a:t>Incident_Management_Flow.pptx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9D871-D6EF-B111-0746-2AC6CDFF0939}"/>
              </a:ext>
            </a:extLst>
          </p:cNvPr>
          <p:cNvSpPr txBox="1"/>
          <p:nvPr/>
        </p:nvSpPr>
        <p:spPr>
          <a:xfrm>
            <a:off x="1270000" y="6019800"/>
            <a:ext cx="8890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DDBB99"/>
                </a:solidFill>
              </a:rPr>
              <a:t>Draft Incident Management Track.xlsx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4E2A90-6AAE-3F50-8C06-F0E7435BE284}"/>
              </a:ext>
            </a:extLst>
          </p:cNvPr>
          <p:cNvSpPr txBox="1"/>
          <p:nvPr/>
        </p:nvSpPr>
        <p:spPr>
          <a:xfrm>
            <a:off x="0" y="6477000"/>
            <a:ext cx="12192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800">
                <a:solidFill>
                  <a:srgbClr val="886666"/>
                </a:solidFill>
              </a:rPr>
              <a:t>BDSI Data Team  |  Q2 2026  |  Next review: Jul 2026</a:t>
            </a:r>
          </a:p>
        </p:txBody>
      </p:sp>
    </p:spTree>
    <p:extLst>
      <p:ext uri="{BB962C8B-B14F-4D97-AF65-F5344CB8AC3E}">
        <p14:creationId xmlns:p14="http://schemas.microsoft.com/office/powerpoint/2010/main" val="149023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Custom</PresentationFormat>
  <Paragraphs>214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Sowan Yuthyuenyong</dc:creator>
  <cp:lastModifiedBy>Sowan Yuthyuenyong</cp:lastModifiedBy>
  <cp:revision>1</cp:revision>
  <dcterms:created xsi:type="dcterms:W3CDTF">2026-05-15T18:02:21Z</dcterms:created>
  <dcterms:modified xsi:type="dcterms:W3CDTF">2026-05-15T18:02:21Z</dcterms:modified>
</cp:coreProperties>
</file>